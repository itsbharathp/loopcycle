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12192000"/>
  <p:embeddedFontLst>
    <p:embeddedFont>
      <p:font typeface="Fraunces"/>
      <p:regular r:id="rId19"/>
      <p:bold r:id="rId20"/>
      <p:italic r:id="rId21"/>
      <p:boldItalic r:id="rId22"/>
    </p:embeddedFont>
    <p:embeddedFont>
      <p:font typeface="DM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Fraunces-bold.fntdata"/><Relationship Id="rId22" Type="http://schemas.openxmlformats.org/officeDocument/2006/relationships/font" Target="fonts/Fraunces-boldItalic.fntdata"/><Relationship Id="rId21" Type="http://schemas.openxmlformats.org/officeDocument/2006/relationships/font" Target="fonts/Fraunces-italic.fntdata"/><Relationship Id="rId24" Type="http://schemas.openxmlformats.org/officeDocument/2006/relationships/font" Target="fonts/DMSans-bold.fntdata"/><Relationship Id="rId23" Type="http://schemas.openxmlformats.org/officeDocument/2006/relationships/font" Target="fonts/DM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DMSans-boldItalic.fntdata"/><Relationship Id="rId25" Type="http://schemas.openxmlformats.org/officeDocument/2006/relationships/font" Target="fonts/DM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Fraunces-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pc="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pc="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pc="0" sz="1200" u="none" cap="none" strike="noStrike">
                <a:solidFill>
                  <a:schemeClr val="dk1"/>
                </a:solidFill>
                <a:latin typeface="Calibri"/>
                <a:ea typeface="Calibri"/>
                <a:cs typeface="Calibri"/>
                <a:sym typeface="Calibri"/>
              </a:rPr>
              <a:t>‹#›</a:t>
            </a:fld>
            <a:endParaRPr b="0" i="0" spc="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~30 sec. So far we used AI to write and to listen. Now we use it to decide. Same data the founder has; three decisions every small brand faces.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~30 sec. Recap the arc: we launched the Loop Tote, sold it on 9 platforms and listened to reviews. Reviews told us what customers feel. Sales data tells us what they do.</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h4b5965a5f336f43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h4b5965a5f336f43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~30 sec. Recap the arc: we launched the Loop Tote, sold it on 9 platforms and listened to reviews. Reviews told us what customers feel. Sales data tells us what they do.</a:t>
            </a:r>
            <a:endParaRPr/>
          </a:p>
        </p:txBody>
      </p:sp>
      <p:sp>
        <p:nvSpPr>
          <p:cNvPr id="41" name="Google Shape;41;h4b5965a5f336f43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 min. Each exercise is two prompts in the same chat: build the dashboard, then make the decision and stress-test it. The dashboard is the evidence. The decision is still yours.</a:t>
            </a:r>
            <a:endParaRPr/>
          </a:p>
        </p:txBody>
      </p:sp>
      <p:sp>
        <p:nvSpPr>
          <p:cNvPr id="57" name="Google Shape;5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~1.5 min. A pretty chart is not a decision tool. The fourth card matters most: AI will happily fill gaps, like an ad budget we never gave it. Every prompt today asks for all four.</a:t>
            </a:r>
            <a:endParaRPr/>
          </a:p>
        </p:txBody>
      </p:sp>
      <p:sp>
        <p:nvSpPr>
          <p:cNvPr id="80" name="Google Shape;80;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1" name="Google Shape;10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 min. Funnel files: shopify_checkout_funnel_daily, shopee_, tokopedia_, lazada_, blibli_ and tiktok_shop_product_funnel_daily. Say the right-hand column out loud; it is the trap in Exercise 1. If an AI quotes ROAS or cost per click, it invented it.</a:t>
            </a:r>
            <a:endParaRPr/>
          </a:p>
        </p:txBody>
      </p:sp>
      <p:sp>
        <p:nvSpPr>
          <p:cNvPr id="102" name="Google Shape;10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5" name="Google Shape;115;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~3 min. Paste once per chat. The rules are the point: profit not revenue, sample sizes, and no invented spend or demographics. The last rule is what makes every answer a dashboard.</a:t>
            </a:r>
            <a:endParaRPr/>
          </a:p>
        </p:txBody>
      </p:sp>
      <p:sp>
        <p:nvSpPr>
          <p:cNvPr id="116" name="Google Shape;116;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~10 min. Listen for: Instagram earns ~IDR 146k gross profit per order vs ~113k on marketplaces (margin 46.5% vs 40.5%). Singapore and Kuala Lumpur take ~7% of Instagram reach and almost never buy; Depok (1.81), Medan (1.72), Cimahi (1.59), Bekasi (1.52) and Bogor (1.41) over-convert, Jakarta city is 0.64. Gift Set and Quiz images earn ~119 orders per 1,000 reach; the Batik reel only 14.5 but drove 545 attributed orders. If an AI quotes ROAS or CPC, stop the room: that's invented.</a:t>
            </a:r>
            <a:endParaRPr/>
          </a:p>
        </p:txBody>
      </p:sp>
      <p:sp>
        <p:nvSpPr>
          <p:cNvPr id="134" name="Google Shape;13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~10 min. The trap is time. On totals Sea-green leads (IDR 123.5M gross profit). Batik launched 4 Sep and made IDR 59.7M in 24 days, about 2.5M a day vs Sea-green's 1.3M a day in September; in September Batik outsold Sea-green 449 to 299 orders. Gift Set: IDR 144k profit per unit, highest of all. If someone's AI puts Batik in Watch because it looks small, ask what question they actually asked.</a:t>
            </a:r>
            <a:endParaRPr/>
          </a:p>
        </p:txBody>
      </p:sp>
      <p:sp>
        <p:nvSpPr>
          <p:cNvPr id="152" name="Google Shape;15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~10 min. Good answers lean to Batik and Sea-green but hedge on novelty: core colours fell Aug to Sep (Sea-green 365 to 299, Indigo 263 to 204, Sand 217 to 168) while Batik launched, so some Batik sales may be borrowed. Batik and Gift Set are missing from Amazon, TikTok Shop and Lazada. Bulk: 6 orders, 7.6% of all gross profit, lowest margin; a B2B channel to develop, not a SKU to make more of.</a:t>
            </a:r>
            <a:endParaRPr/>
          </a:p>
        </p:txBody>
      </p:sp>
      <p:sp>
        <p:nvSpPr>
          <p:cNvPr id="170" name="Google Shape;170;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~10 min. The trap is geography. By province, West Java is 51% of orders: 'build near Bandung'. By zone, Jabodetabek is 960 orders (33.5%), IDR 138M gross profit, grew 3.95x and is served at a median 3 days from Bandung. Ask the room: who got West Java, who got Jakarta?</a:t>
            </a:r>
            <a:endParaRPr/>
          </a:p>
        </p:txBody>
      </p:sp>
      <p:sp>
        <p:nvSpPr>
          <p:cNvPr id="188" name="Google Shape;18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5" name="Google Shape;2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~10 min. The honest finding in question 2: slow delivery isn't visibly hurting yet. Returns don't rise with delivery days and abandonment reasons look the same near and far. So the case for Jabodetabek is growth, profit and same-day potential (15% already choose instant couriers), not fixing a pain. Outer islands are better served by marketplace fulfilment than an own warehouse.</a:t>
            </a:r>
            <a:endParaRPr/>
          </a:p>
        </p:txBody>
      </p:sp>
      <p:sp>
        <p:nvSpPr>
          <p:cNvPr id="206" name="Google Shape;20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~1 min. Every exercise had a hidden bottleneck: a leaking checkout, a launch date, a misleading column. The AI didn't find it on its own; the prompt did.</a:t>
            </a:r>
            <a:endParaRPr/>
          </a:p>
        </p:txBody>
      </p:sp>
      <p:sp>
        <p:nvSpPr>
          <p:cNvPr id="224" name="Google Shape;22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Calibri"/>
                <a:ea typeface="Calibri"/>
                <a:cs typeface="Calibri"/>
                <a:sym typeface="Calibri"/>
              </a:rPr>
              <a:t>Close. Thank participants; share the repo link and the prompts.</a:t>
            </a:r>
            <a:endParaRPr/>
          </a:p>
        </p:txBody>
      </p:sp>
      <p:sp>
        <p:nvSpPr>
          <p:cNvPr id="236" name="Google Shape;23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16.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5532B"/>
        </a:solidFill>
      </p:bgPr>
    </p:bg>
    <p:spTree>
      <p:nvGrpSpPr>
        <p:cNvPr id="15" name="Shape 15"/>
        <p:cNvGrpSpPr/>
        <p:nvPr/>
      </p:nvGrpSpPr>
      <p:grpSpPr>
        <a:xfrm>
          <a:off x="0" y="0"/>
          <a:ext cx="0" cy="0"/>
          <a:chOff x="0" y="0"/>
          <a:chExt cx="0" cy="0"/>
        </a:xfrm>
      </p:grpSpPr>
      <p:sp>
        <p:nvSpPr>
          <p:cNvPr id="16" name="Google Shape;16;p3"/>
          <p:cNvSpPr txBox="1"/>
          <p:nvPr/>
        </p:nvSpPr>
        <p:spPr>
          <a:xfrm>
            <a:off x="813816" y="1938528"/>
            <a:ext cx="10570464"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1200" u="none" cap="none" strike="noStrike">
                <a:solidFill>
                  <a:srgbClr val="FBF3E8"/>
                </a:solidFill>
                <a:latin typeface="DM Sans"/>
                <a:ea typeface="DM Sans"/>
                <a:cs typeface="DM Sans"/>
                <a:sym typeface="DM Sans"/>
              </a:rPr>
              <a:t>PART FIVE · STRATEGY DECISIONS</a:t>
            </a:r>
            <a:endParaRPr b="0" i="0" spc="0" sz="1200" u="none" cap="none" strike="noStrike">
              <a:solidFill>
                <a:srgbClr val="000000"/>
              </a:solidFill>
              <a:latin typeface="Arial"/>
              <a:ea typeface="Arial"/>
              <a:cs typeface="Arial"/>
              <a:sym typeface="Arial"/>
            </a:endParaRPr>
          </a:p>
        </p:txBody>
      </p:sp>
      <p:sp>
        <p:nvSpPr>
          <p:cNvPr id="17" name="Google Shape;17;p3"/>
          <p:cNvSpPr txBox="1"/>
          <p:nvPr/>
        </p:nvSpPr>
        <p:spPr>
          <a:xfrm>
            <a:off x="658173" y="3933542"/>
            <a:ext cx="10067544" cy="76944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2200" u="none" cap="none" strike="noStrike">
                <a:solidFill>
                  <a:srgbClr val="FBF3E8"/>
                </a:solidFill>
                <a:latin typeface="DM Sans"/>
                <a:ea typeface="DM Sans"/>
                <a:cs typeface="DM Sans"/>
                <a:sym typeface="DM Sans"/>
              </a:rPr>
              <a:t>3 questions, 3 dashboards — 2,867 orders · 9 platforms · 4 months</a:t>
            </a:r>
            <a:endParaRPr b="0" i="0" spc="0" sz="2200" u="none" cap="none" strike="noStrike">
              <a:solidFill>
                <a:srgbClr val="000000"/>
              </a:solidFill>
              <a:latin typeface="Arial"/>
              <a:ea typeface="Arial"/>
              <a:cs typeface="Arial"/>
              <a:sym typeface="Arial"/>
            </a:endParaRPr>
          </a:p>
        </p:txBody>
      </p:sp>
      <p:sp>
        <p:nvSpPr>
          <p:cNvPr id="18" name="Google Shape;18;p3"/>
          <p:cNvSpPr/>
          <p:nvPr/>
        </p:nvSpPr>
        <p:spPr>
          <a:xfrm>
            <a:off x="728494" y="2697480"/>
            <a:ext cx="10883392" cy="825500"/>
          </a:xfrm>
          <a:prstGeom prst="rect">
            <a:avLst/>
          </a:prstGeom>
          <a:noFill/>
          <a:ln>
            <a:noFill/>
          </a:ln>
        </p:spPr>
        <p:txBody>
          <a:bodyPr anchorCtr="0" anchor="t" bIns="0" lIns="0" spcFirstLastPara="1" rIns="0" wrap="square" tIns="0">
            <a:noAutofit/>
          </a:bodyPr>
          <a:lstStyle/>
          <a:p>
            <a:pPr indent="0" lvl="0" marL="0" marR="0" rtl="0" algn="l">
              <a:lnSpc>
                <a:spcPct val="104999"/>
              </a:lnSpc>
              <a:spcBef>
                <a:spcPts val="0"/>
              </a:spcBef>
              <a:spcAft>
                <a:spcPts val="0"/>
              </a:spcAft>
              <a:buClr>
                <a:srgbClr val="FBF3E8"/>
              </a:buClr>
              <a:buSzPts val="6000"/>
              <a:buFont typeface="Fraunces"/>
              <a:buNone/>
            </a:pPr>
            <a:r>
              <a:rPr b="0" i="0" lang="en-US" spc="0" sz="6000" u="none" cap="none" strike="noStrike">
                <a:solidFill>
                  <a:srgbClr val="FBF3E8"/>
                </a:solidFill>
                <a:latin typeface="Fraunces"/>
                <a:ea typeface="Fraunces"/>
                <a:cs typeface="Fraunces"/>
                <a:sym typeface="Fraunces"/>
              </a:rPr>
              <a:t>From data to decisions</a:t>
            </a:r>
            <a:endParaRPr b="0" i="0" spc="0" sz="6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23" name="Shape 23"/>
        <p:cNvGrpSpPr/>
        <p:nvPr/>
      </p:nvGrpSpPr>
      <p:grpSpPr>
        <a:xfrm>
          <a:off x="0" y="0"/>
          <a:ext cx="0" cy="0"/>
          <a:chOff x="0" y="0"/>
          <a:chExt cx="0" cy="0"/>
        </a:xfrm>
      </p:grpSpPr>
      <p:sp>
        <p:nvSpPr>
          <p:cNvPr id="24" name="Google Shape;24;p4"/>
          <p:cNvSpPr txBox="1"/>
          <p:nvPr/>
        </p:nvSpPr>
        <p:spPr>
          <a:xfrm>
            <a:off x="813816" y="813816"/>
            <a:ext cx="10570464" cy="23774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900" u="none" cap="none" strike="noStrike">
                <a:solidFill>
                  <a:srgbClr val="B5532B"/>
                </a:solidFill>
                <a:latin typeface="Arial"/>
                <a:ea typeface="Arial"/>
                <a:cs typeface="Arial"/>
                <a:sym typeface="Arial"/>
              </a:rPr>
              <a:t>STRATEGY DECISIONS · SETUP</a:t>
            </a:r>
            <a:endParaRPr b="0" i="0" spc="0" sz="900" u="none" cap="none" strike="noStrike">
              <a:solidFill>
                <a:srgbClr val="000000"/>
              </a:solidFill>
              <a:latin typeface="Arial"/>
              <a:ea typeface="Arial"/>
              <a:cs typeface="Arial"/>
              <a:sym typeface="Arial"/>
            </a:endParaRPr>
          </a:p>
        </p:txBody>
      </p:sp>
      <p:sp>
        <p:nvSpPr>
          <p:cNvPr id="25" name="Google Shape;25;p4"/>
          <p:cNvSpPr txBox="1"/>
          <p:nvPr/>
        </p:nvSpPr>
        <p:spPr>
          <a:xfrm>
            <a:off x="813816" y="1280160"/>
            <a:ext cx="10570464" cy="5078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2700" u="none" cap="none" strike="noStrike">
                <a:solidFill>
                  <a:srgbClr val="1E3A2F"/>
                </a:solidFill>
                <a:latin typeface="Arial"/>
                <a:ea typeface="Arial"/>
                <a:cs typeface="Arial"/>
                <a:sym typeface="Arial"/>
              </a:rPr>
              <a:t>The story so far… now, where do we put our money?</a:t>
            </a:r>
            <a:endParaRPr b="0" i="0" spc="0" sz="2700" u="none" cap="none" strike="noStrike">
              <a:solidFill>
                <a:srgbClr val="000000"/>
              </a:solidFill>
              <a:latin typeface="Arial"/>
              <a:ea typeface="Arial"/>
              <a:cs typeface="Arial"/>
              <a:sym typeface="Arial"/>
            </a:endParaRPr>
          </a:p>
        </p:txBody>
      </p:sp>
      <p:cxnSp>
        <p:nvCxnSpPr>
          <p:cNvPr id="26" name="Google Shape;26;p4"/>
          <p:cNvCxnSpPr/>
          <p:nvPr/>
        </p:nvCxnSpPr>
        <p:spPr>
          <a:xfrm>
            <a:off x="813816" y="2039112"/>
            <a:ext cx="10570464" cy="0"/>
          </a:xfrm>
          <a:prstGeom prst="straightConnector1">
            <a:avLst/>
          </a:prstGeom>
          <a:noFill/>
          <a:ln cap="flat" cmpd="sng" w="9525">
            <a:solidFill>
              <a:srgbClr val="CCC5B8"/>
            </a:solidFill>
            <a:prstDash val="solid"/>
            <a:round/>
            <a:headEnd len="sm" w="sm" type="none"/>
            <a:tailEnd len="sm" w="sm" type="none"/>
          </a:ln>
          <a:effectLst>
            <a:outerShdw blurRad="40000" rotWithShape="0" dir="5400000" dist="20000">
              <a:srgbClr val="000000">
                <a:alpha val="38039"/>
              </a:srgbClr>
            </a:outerShdw>
          </a:effectLst>
        </p:spPr>
      </p:cxnSp>
      <p:pic>
        <p:nvPicPr>
          <p:cNvPr id="27" name="Google Shape;27;p4"/>
          <p:cNvPicPr preferRelativeResize="0"/>
          <p:nvPr/>
        </p:nvPicPr>
        <p:blipFill rotWithShape="1">
          <a:blip r:embed="rId3">
            <a:alphaModFix/>
          </a:blip>
          <a:srcRect b="0" l="0" r="0" t="0"/>
          <a:stretch/>
        </p:blipFill>
        <p:spPr>
          <a:xfrm>
            <a:off x="2865547" y="3233759"/>
            <a:ext cx="2460341" cy="1684274"/>
          </a:xfrm>
          <a:prstGeom prst="rect">
            <a:avLst/>
          </a:prstGeom>
          <a:noFill/>
          <a:ln>
            <a:noFill/>
          </a:ln>
        </p:spPr>
      </p:pic>
      <p:pic>
        <p:nvPicPr>
          <p:cNvPr id="28" name="Google Shape;28;p4"/>
          <p:cNvPicPr preferRelativeResize="0"/>
          <p:nvPr/>
        </p:nvPicPr>
        <p:blipFill rotWithShape="1">
          <a:blip r:embed="rId4">
            <a:alphaModFix/>
          </a:blip>
          <a:srcRect b="0" l="0" r="0" t="0"/>
          <a:stretch/>
        </p:blipFill>
        <p:spPr>
          <a:xfrm>
            <a:off x="5889386" y="2368479"/>
            <a:ext cx="3454592" cy="3454592"/>
          </a:xfrm>
          <a:prstGeom prst="rect">
            <a:avLst/>
          </a:prstGeom>
          <a:noFill/>
          <a:ln>
            <a:noFill/>
          </a:ln>
        </p:spPr>
      </p:pic>
      <p:pic>
        <p:nvPicPr>
          <p:cNvPr id="29" name="Google Shape;29;p4"/>
          <p:cNvPicPr preferRelativeResize="0"/>
          <p:nvPr/>
        </p:nvPicPr>
        <p:blipFill rotWithShape="1">
          <a:blip r:embed="rId5">
            <a:alphaModFix/>
          </a:blip>
          <a:srcRect b="0" l="0" r="0" t="0"/>
          <a:stretch/>
        </p:blipFill>
        <p:spPr>
          <a:xfrm>
            <a:off x="303990" y="2615762"/>
            <a:ext cx="1806102" cy="3187430"/>
          </a:xfrm>
          <a:prstGeom prst="rect">
            <a:avLst/>
          </a:prstGeom>
          <a:noFill/>
          <a:ln>
            <a:noFill/>
          </a:ln>
        </p:spPr>
      </p:pic>
      <p:sp>
        <p:nvSpPr>
          <p:cNvPr id="30" name="Google Shape;30;p4"/>
          <p:cNvSpPr/>
          <p:nvPr/>
        </p:nvSpPr>
        <p:spPr>
          <a:xfrm>
            <a:off x="2194772" y="3898192"/>
            <a:ext cx="616533" cy="369651"/>
          </a:xfrm>
          <a:prstGeom prst="rightArrow">
            <a:avLst>
              <a:gd fmla="val 50000" name="adj1"/>
              <a:gd fmla="val 50000" name="adj2"/>
            </a:avLst>
          </a:prstGeom>
          <a:solidFill>
            <a:srgbClr val="E3A83E"/>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
        <p:nvSpPr>
          <p:cNvPr id="31" name="Google Shape;31;p4"/>
          <p:cNvSpPr txBox="1"/>
          <p:nvPr/>
        </p:nvSpPr>
        <p:spPr>
          <a:xfrm>
            <a:off x="232144" y="6300882"/>
            <a:ext cx="214529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200" u="none" cap="none" strike="noStrike">
                <a:solidFill>
                  <a:srgbClr val="000000"/>
                </a:solidFill>
                <a:latin typeface="Arial"/>
                <a:ea typeface="Arial"/>
                <a:cs typeface="Arial"/>
                <a:sym typeface="Arial"/>
              </a:rPr>
              <a:t>Designed an Insta Reel to launch Loop Tote</a:t>
            </a:r>
            <a:endParaRPr/>
          </a:p>
        </p:txBody>
      </p:sp>
      <p:sp>
        <p:nvSpPr>
          <p:cNvPr id="32" name="Google Shape;32;p4"/>
          <p:cNvSpPr txBox="1"/>
          <p:nvPr/>
        </p:nvSpPr>
        <p:spPr>
          <a:xfrm>
            <a:off x="3255588" y="6393216"/>
            <a:ext cx="1680258"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200" u="none" cap="none" strike="noStrike">
                <a:solidFill>
                  <a:srgbClr val="000000"/>
                </a:solidFill>
                <a:latin typeface="Arial"/>
                <a:ea typeface="Arial"/>
                <a:cs typeface="Arial"/>
                <a:sym typeface="Arial"/>
              </a:rPr>
              <a:t>Launched Loop Tote</a:t>
            </a:r>
            <a:endParaRPr/>
          </a:p>
        </p:txBody>
      </p:sp>
      <p:sp>
        <p:nvSpPr>
          <p:cNvPr id="33" name="Google Shape;33;p4"/>
          <p:cNvSpPr txBox="1"/>
          <p:nvPr/>
        </p:nvSpPr>
        <p:spPr>
          <a:xfrm>
            <a:off x="6266016" y="6393216"/>
            <a:ext cx="2701331"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200" u="none" cap="none" strike="noStrike">
                <a:solidFill>
                  <a:srgbClr val="000000"/>
                </a:solidFill>
                <a:latin typeface="Arial"/>
                <a:ea typeface="Arial"/>
                <a:cs typeface="Arial"/>
                <a:sym typeface="Arial"/>
              </a:rPr>
              <a:t>Loop Tote sold on various platforms</a:t>
            </a:r>
            <a:endParaRPr/>
          </a:p>
        </p:txBody>
      </p:sp>
      <p:pic>
        <p:nvPicPr>
          <p:cNvPr id="34" name="Google Shape;34;p4"/>
          <p:cNvPicPr preferRelativeResize="0"/>
          <p:nvPr/>
        </p:nvPicPr>
        <p:blipFill rotWithShape="1">
          <a:blip r:embed="rId6">
            <a:alphaModFix/>
          </a:blip>
          <a:srcRect b="0" l="0" r="0" t="0"/>
          <a:stretch/>
        </p:blipFill>
        <p:spPr>
          <a:xfrm>
            <a:off x="9775957" y="2391271"/>
            <a:ext cx="2215815" cy="3898192"/>
          </a:xfrm>
          <a:prstGeom prst="rect">
            <a:avLst/>
          </a:prstGeom>
          <a:noFill/>
          <a:ln>
            <a:noFill/>
          </a:ln>
        </p:spPr>
      </p:pic>
      <p:sp>
        <p:nvSpPr>
          <p:cNvPr id="35" name="Google Shape;35;p4"/>
          <p:cNvSpPr/>
          <p:nvPr/>
        </p:nvSpPr>
        <p:spPr>
          <a:xfrm>
            <a:off x="5380130" y="3891071"/>
            <a:ext cx="616533" cy="369651"/>
          </a:xfrm>
          <a:prstGeom prst="rightArrow">
            <a:avLst>
              <a:gd fmla="val 50000" name="adj1"/>
              <a:gd fmla="val 50000" name="adj2"/>
            </a:avLst>
          </a:prstGeom>
          <a:solidFill>
            <a:srgbClr val="E3A83E"/>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
        <p:nvSpPr>
          <p:cNvPr id="36" name="Google Shape;36;p4"/>
          <p:cNvSpPr/>
          <p:nvPr/>
        </p:nvSpPr>
        <p:spPr>
          <a:xfrm>
            <a:off x="9105182" y="3910949"/>
            <a:ext cx="616533" cy="369651"/>
          </a:xfrm>
          <a:prstGeom prst="rightArrow">
            <a:avLst>
              <a:gd fmla="val 50000" name="adj1"/>
              <a:gd fmla="val 50000" name="adj2"/>
            </a:avLst>
          </a:prstGeom>
          <a:solidFill>
            <a:srgbClr val="E3A83E"/>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
        <p:nvSpPr>
          <p:cNvPr id="37" name="Google Shape;37;p4"/>
          <p:cNvSpPr txBox="1"/>
          <p:nvPr/>
        </p:nvSpPr>
        <p:spPr>
          <a:xfrm>
            <a:off x="9533198" y="6369157"/>
            <a:ext cx="2701331"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200" u="none" cap="none" strike="noStrike">
                <a:solidFill>
                  <a:srgbClr val="000000"/>
                </a:solidFill>
                <a:latin typeface="Arial"/>
                <a:ea typeface="Arial"/>
                <a:cs typeface="Arial"/>
                <a:sym typeface="Arial"/>
              </a:rPr>
              <a:t>Listened to reviews &amp; comments</a:t>
            </a:r>
            <a:endParaRPr b="0" i="0" spc="0" sz="12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42" name="Shape 42"/>
        <p:cNvGrpSpPr/>
        <p:nvPr/>
      </p:nvGrpSpPr>
      <p:grpSpPr>
        <a:xfrm>
          <a:off x="0" y="0"/>
          <a:ext cx="0" cy="0"/>
          <a:chOff x="0" y="0"/>
          <a:chExt cx="0" cy="0"/>
        </a:xfrm>
      </p:grpSpPr>
      <p:sp>
        <p:nvSpPr>
          <p:cNvPr id="43" name="Google Shape;43;p5"/>
          <p:cNvSpPr txBox="1"/>
          <p:nvPr/>
        </p:nvSpPr>
        <p:spPr>
          <a:xfrm>
            <a:off x="813816" y="813816"/>
            <a:ext cx="10570500" cy="230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pc="0" sz="900" u="none" cap="none" strike="noStrike">
                <a:solidFill>
                  <a:srgbClr val="B5532B"/>
                </a:solidFill>
                <a:latin typeface="Arial"/>
                <a:ea typeface="Arial"/>
                <a:cs typeface="Arial"/>
                <a:sym typeface="Arial"/>
              </a:rPr>
              <a:t>STRATEGY DECISIONS · SETUP</a:t>
            </a:r>
            <a:endParaRPr b="0" i="0" spc="0" sz="900" u="none" cap="none" strike="noStrike">
              <a:solidFill>
                <a:srgbClr val="000000"/>
              </a:solidFill>
              <a:latin typeface="Arial"/>
              <a:ea typeface="Arial"/>
              <a:cs typeface="Arial"/>
              <a:sym typeface="Arial"/>
            </a:endParaRPr>
          </a:p>
        </p:txBody>
      </p:sp>
      <p:sp>
        <p:nvSpPr>
          <p:cNvPr id="44" name="Google Shape;44;p5"/>
          <p:cNvSpPr txBox="1"/>
          <p:nvPr/>
        </p:nvSpPr>
        <p:spPr>
          <a:xfrm>
            <a:off x="813816" y="1280160"/>
            <a:ext cx="10570500" cy="507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2700" u="none" cap="none" strike="noStrike">
                <a:solidFill>
                  <a:srgbClr val="1E3A2F"/>
                </a:solidFill>
                <a:latin typeface="Arial"/>
                <a:ea typeface="Arial"/>
                <a:cs typeface="Arial"/>
                <a:sym typeface="Arial"/>
              </a:rPr>
              <a:t>The story so far… now, where do we put our money?</a:t>
            </a:r>
            <a:endParaRPr b="0" i="0" spc="0" sz="2700" u="none" cap="none" strike="noStrike">
              <a:solidFill>
                <a:srgbClr val="000000"/>
              </a:solidFill>
              <a:latin typeface="Arial"/>
              <a:ea typeface="Arial"/>
              <a:cs typeface="Arial"/>
              <a:sym typeface="Arial"/>
            </a:endParaRPr>
          </a:p>
        </p:txBody>
      </p:sp>
      <p:cxnSp>
        <p:nvCxnSpPr>
          <p:cNvPr id="45" name="Google Shape;45;p5"/>
          <p:cNvCxnSpPr/>
          <p:nvPr/>
        </p:nvCxnSpPr>
        <p:spPr>
          <a:xfrm>
            <a:off x="813816" y="2039112"/>
            <a:ext cx="10570500" cy="0"/>
          </a:xfrm>
          <a:prstGeom prst="straightConnector1">
            <a:avLst/>
          </a:prstGeom>
          <a:noFill/>
          <a:ln cap="flat" cmpd="sng" w="9525">
            <a:solidFill>
              <a:srgbClr val="CCC5B8"/>
            </a:solidFill>
            <a:prstDash val="solid"/>
            <a:round/>
            <a:headEnd len="sm" w="sm" type="none"/>
            <a:tailEnd len="sm" w="sm" type="none"/>
          </a:ln>
          <a:effectLst>
            <a:outerShdw blurRad="40000" rotWithShape="0" dir="5400000" dist="20000">
              <a:srgbClr val="000000">
                <a:alpha val="38040"/>
              </a:srgbClr>
            </a:outerShdw>
          </a:effectLst>
        </p:spPr>
      </p:cxnSp>
      <p:pic>
        <p:nvPicPr>
          <p:cNvPr id="46" name="Google Shape;46;p5"/>
          <p:cNvPicPr preferRelativeResize="0"/>
          <p:nvPr/>
        </p:nvPicPr>
        <p:blipFill rotWithShape="1">
          <a:blip r:embed="rId3">
            <a:alphaModFix/>
          </a:blip>
          <a:srcRect b="0" l="0" r="0" t="0"/>
          <a:stretch/>
        </p:blipFill>
        <p:spPr>
          <a:xfrm>
            <a:off x="5112000" y="2793950"/>
            <a:ext cx="2438350" cy="2438350"/>
          </a:xfrm>
          <a:prstGeom prst="rect">
            <a:avLst/>
          </a:prstGeom>
          <a:noFill/>
          <a:ln>
            <a:noFill/>
          </a:ln>
        </p:spPr>
      </p:pic>
      <p:sp>
        <p:nvSpPr>
          <p:cNvPr id="47" name="Google Shape;47;p5"/>
          <p:cNvSpPr txBox="1"/>
          <p:nvPr/>
        </p:nvSpPr>
        <p:spPr>
          <a:xfrm>
            <a:off x="398525" y="5555750"/>
            <a:ext cx="37683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sz="1200"/>
              <a:t>Improved</a:t>
            </a:r>
            <a:r>
              <a:rPr lang="en-US" sz="1200"/>
              <a:t> the Quality &amp; </a:t>
            </a:r>
            <a:r>
              <a:rPr lang="en-US" sz="1200">
                <a:solidFill>
                  <a:schemeClr val="dk1"/>
                </a:solidFill>
              </a:rPr>
              <a:t>Launched Loop Tote 2.0</a:t>
            </a:r>
            <a:endParaRPr sz="1200"/>
          </a:p>
        </p:txBody>
      </p:sp>
      <p:sp>
        <p:nvSpPr>
          <p:cNvPr id="48" name="Google Shape;48;p5"/>
          <p:cNvSpPr txBox="1"/>
          <p:nvPr/>
        </p:nvSpPr>
        <p:spPr>
          <a:xfrm>
            <a:off x="4968126" y="5555750"/>
            <a:ext cx="30009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pc="0" sz="1200" u="none" cap="none" strike="noStrike">
                <a:solidFill>
                  <a:srgbClr val="000000"/>
                </a:solidFill>
                <a:latin typeface="Arial"/>
                <a:ea typeface="Arial"/>
                <a:cs typeface="Arial"/>
                <a:sym typeface="Arial"/>
              </a:rPr>
              <a:t>Loop Tote 2.0 sold on various platforms</a:t>
            </a:r>
            <a:endParaRPr/>
          </a:p>
        </p:txBody>
      </p:sp>
      <p:sp>
        <p:nvSpPr>
          <p:cNvPr id="49" name="Google Shape;49;p5"/>
          <p:cNvSpPr/>
          <p:nvPr/>
        </p:nvSpPr>
        <p:spPr>
          <a:xfrm>
            <a:off x="4439705" y="3912771"/>
            <a:ext cx="616500" cy="369600"/>
          </a:xfrm>
          <a:prstGeom prst="rightArrow">
            <a:avLst>
              <a:gd fmla="val 50000" name="adj1"/>
              <a:gd fmla="val 50000" name="adj2"/>
            </a:avLst>
          </a:prstGeom>
          <a:solidFill>
            <a:srgbClr val="E3A83E"/>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
        <p:nvSpPr>
          <p:cNvPr id="50" name="Google Shape;50;p5"/>
          <p:cNvSpPr txBox="1"/>
          <p:nvPr/>
        </p:nvSpPr>
        <p:spPr>
          <a:xfrm>
            <a:off x="9477799" y="5555750"/>
            <a:ext cx="1412100" cy="27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lang="en-US" sz="1200"/>
              <a:t>Do we Expand ?</a:t>
            </a:r>
            <a:endParaRPr b="1" i="0" spc="0" sz="1200" u="none" cap="none" strike="noStrike">
              <a:solidFill>
                <a:srgbClr val="000000"/>
              </a:solidFill>
            </a:endParaRPr>
          </a:p>
        </p:txBody>
      </p:sp>
      <p:pic>
        <p:nvPicPr>
          <p:cNvPr descr="A social enterprise company Loopcycle wants to expand its operations, generate a infographic for the same" id="51" name="Google Shape;51;p5"/>
          <p:cNvPicPr preferRelativeResize="0"/>
          <p:nvPr/>
        </p:nvPicPr>
        <p:blipFill rotWithShape="1">
          <a:blip r:embed="rId4">
            <a:alphaModFix/>
          </a:blip>
          <a:srcRect b="7440" l="0" r="22336" t="8300"/>
          <a:stretch/>
        </p:blipFill>
        <p:spPr>
          <a:xfrm>
            <a:off x="8150447" y="2793950"/>
            <a:ext cx="3995600" cy="2438350"/>
          </a:xfrm>
          <a:prstGeom prst="rect">
            <a:avLst/>
          </a:prstGeom>
          <a:noFill/>
          <a:ln>
            <a:noFill/>
          </a:ln>
        </p:spPr>
      </p:pic>
      <p:pic>
        <p:nvPicPr>
          <p:cNvPr id="52" name="Google Shape;52;p5" title="Screenshot 2026-10-11 at 6.05.21 PM.png"/>
          <p:cNvPicPr preferRelativeResize="0"/>
          <p:nvPr/>
        </p:nvPicPr>
        <p:blipFill>
          <a:blip r:embed="rId5">
            <a:alphaModFix/>
          </a:blip>
          <a:stretch>
            <a:fillRect/>
          </a:stretch>
        </p:blipFill>
        <p:spPr>
          <a:xfrm>
            <a:off x="300200" y="2805125"/>
            <a:ext cx="4083701" cy="2438349"/>
          </a:xfrm>
          <a:prstGeom prst="rect">
            <a:avLst/>
          </a:prstGeom>
          <a:noFill/>
          <a:ln>
            <a:noFill/>
          </a:ln>
        </p:spPr>
      </p:pic>
      <p:sp>
        <p:nvSpPr>
          <p:cNvPr id="53" name="Google Shape;53;p5"/>
          <p:cNvSpPr/>
          <p:nvPr/>
        </p:nvSpPr>
        <p:spPr>
          <a:xfrm>
            <a:off x="7606157" y="3828324"/>
            <a:ext cx="616500" cy="369600"/>
          </a:xfrm>
          <a:prstGeom prst="rightArrow">
            <a:avLst>
              <a:gd fmla="val 50000" name="adj1"/>
              <a:gd fmla="val 50000" name="adj2"/>
            </a:avLst>
          </a:prstGeom>
          <a:solidFill>
            <a:srgbClr val="E3A83E"/>
          </a:solidFill>
          <a:ln cap="flat" cmpd="sng" w="25400">
            <a:solidFill>
              <a:srgbClr val="1C305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pc="0" sz="1400" u="none" cap="none" strike="noStrik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58" name="Shape 58"/>
        <p:cNvGrpSpPr/>
        <p:nvPr/>
      </p:nvGrpSpPr>
      <p:grpSpPr>
        <a:xfrm>
          <a:off x="0" y="0"/>
          <a:ext cx="0" cy="0"/>
          <a:chOff x="0" y="0"/>
          <a:chExt cx="0" cy="0"/>
        </a:xfrm>
      </p:grpSpPr>
      <p:sp>
        <p:nvSpPr>
          <p:cNvPr id="59" name="Google Shape;59;p6"/>
          <p:cNvSpPr/>
          <p:nvPr/>
        </p:nvSpPr>
        <p:spPr>
          <a:xfrm>
            <a:off x="812800" y="812800"/>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Three decisions, three dashboards</a:t>
            </a:r>
            <a:endParaRPr b="0" i="0" spc="0" sz="3600" u="none" cap="none" strike="noStrike">
              <a:solidFill>
                <a:srgbClr val="000000"/>
              </a:solidFill>
              <a:latin typeface="Arial"/>
              <a:ea typeface="Arial"/>
              <a:cs typeface="Arial"/>
              <a:sym typeface="Arial"/>
            </a:endParaRPr>
          </a:p>
        </p:txBody>
      </p:sp>
      <p:sp>
        <p:nvSpPr>
          <p:cNvPr id="60" name="Google Shape;60;p6"/>
          <p:cNvSpPr/>
          <p:nvPr/>
        </p:nvSpPr>
        <p:spPr>
          <a:xfrm>
            <a:off x="815975" y="1997711"/>
            <a:ext cx="3041650" cy="2244090"/>
          </a:xfrm>
          <a:prstGeom prst="roundRect">
            <a:avLst>
              <a:gd fmla="val 5518"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1" name="Google Shape;61;p6"/>
          <p:cNvSpPr/>
          <p:nvPr/>
        </p:nvSpPr>
        <p:spPr>
          <a:xfrm>
            <a:off x="1073150" y="2254886"/>
            <a:ext cx="2603119" cy="4165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01</a:t>
            </a:r>
            <a:endParaRPr b="0" i="0" spc="0" sz="2200" u="none" cap="none" strike="noStrike">
              <a:solidFill>
                <a:srgbClr val="000000"/>
              </a:solidFill>
              <a:latin typeface="Arial"/>
              <a:ea typeface="Arial"/>
              <a:cs typeface="Arial"/>
              <a:sym typeface="Arial"/>
            </a:endParaRPr>
          </a:p>
        </p:txBody>
      </p:sp>
      <p:sp>
        <p:nvSpPr>
          <p:cNvPr id="62" name="Google Shape;62;p6"/>
          <p:cNvSpPr/>
          <p:nvPr/>
        </p:nvSpPr>
        <p:spPr>
          <a:xfrm>
            <a:off x="1073150" y="2747645"/>
            <a:ext cx="2603119"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3A2F"/>
              </a:buClr>
              <a:buSzPts val="2200"/>
              <a:buFont typeface="Fraunces"/>
              <a:buNone/>
            </a:pPr>
            <a:r>
              <a:rPr b="0" i="0" lang="en-US" spc="0" sz="2200" u="none" cap="none" strike="noStrike">
                <a:solidFill>
                  <a:srgbClr val="1E3A2F"/>
                </a:solidFill>
                <a:latin typeface="Fraunces"/>
                <a:ea typeface="Fraunces"/>
                <a:cs typeface="Fraunces"/>
                <a:sym typeface="Fraunces"/>
              </a:rPr>
              <a:t>Marketing</a:t>
            </a:r>
            <a:endParaRPr b="0" i="0" spc="0" sz="2200" u="none" cap="none" strike="noStrike">
              <a:solidFill>
                <a:srgbClr val="000000"/>
              </a:solidFill>
              <a:latin typeface="Arial"/>
              <a:ea typeface="Arial"/>
              <a:cs typeface="Arial"/>
              <a:sym typeface="Arial"/>
            </a:endParaRPr>
          </a:p>
        </p:txBody>
      </p:sp>
      <p:sp>
        <p:nvSpPr>
          <p:cNvPr id="63" name="Google Shape;63;p6"/>
          <p:cNvSpPr/>
          <p:nvPr/>
        </p:nvSpPr>
        <p:spPr>
          <a:xfrm>
            <a:off x="1073150" y="3184525"/>
            <a:ext cx="2603119" cy="82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760"/>
              </a:buClr>
              <a:buSzPts val="1500"/>
              <a:buFont typeface="DM Sans"/>
              <a:buNone/>
            </a:pPr>
            <a:r>
              <a:rPr b="0" i="0" lang="en-US" spc="0" sz="1500" u="none" cap="none" strike="noStrike">
                <a:solidFill>
                  <a:srgbClr val="5B6760"/>
                </a:solidFill>
                <a:latin typeface="DM Sans"/>
                <a:ea typeface="DM Sans"/>
                <a:cs typeface="DM Sans"/>
                <a:sym typeface="DM Sans"/>
              </a:rPr>
              <a:t>Where should our marketing budget go?</a:t>
            </a:r>
            <a:endParaRPr b="0" i="0" spc="0" sz="1500" u="none" cap="none" strike="noStrike">
              <a:solidFill>
                <a:srgbClr val="000000"/>
              </a:solidFill>
              <a:latin typeface="Arial"/>
              <a:ea typeface="Arial"/>
              <a:cs typeface="Arial"/>
              <a:sym typeface="Arial"/>
            </a:endParaRPr>
          </a:p>
        </p:txBody>
      </p:sp>
      <p:pic>
        <p:nvPicPr>
          <p:cNvPr descr="arrow-right" id="64" name="Google Shape;64;p6"/>
          <p:cNvPicPr preferRelativeResize="0"/>
          <p:nvPr/>
        </p:nvPicPr>
        <p:blipFill rotWithShape="1">
          <a:blip r:embed="rId3">
            <a:alphaModFix/>
          </a:blip>
          <a:srcRect b="0" l="0" r="0" t="0"/>
          <a:stretch/>
        </p:blipFill>
        <p:spPr>
          <a:xfrm>
            <a:off x="4013200" y="3018155"/>
            <a:ext cx="406400" cy="203200"/>
          </a:xfrm>
          <a:prstGeom prst="rect">
            <a:avLst/>
          </a:prstGeom>
          <a:noFill/>
          <a:ln>
            <a:noFill/>
          </a:ln>
        </p:spPr>
      </p:pic>
      <p:sp>
        <p:nvSpPr>
          <p:cNvPr id="65" name="Google Shape;65;p6"/>
          <p:cNvSpPr/>
          <p:nvPr/>
        </p:nvSpPr>
        <p:spPr>
          <a:xfrm>
            <a:off x="4575175" y="1997711"/>
            <a:ext cx="3041650" cy="2244090"/>
          </a:xfrm>
          <a:prstGeom prst="roundRect">
            <a:avLst>
              <a:gd fmla="val 5518"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66" name="Google Shape;66;p6"/>
          <p:cNvSpPr/>
          <p:nvPr/>
        </p:nvSpPr>
        <p:spPr>
          <a:xfrm>
            <a:off x="4832350" y="2254886"/>
            <a:ext cx="2603119" cy="4165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02</a:t>
            </a:r>
            <a:endParaRPr b="0" i="0" spc="0" sz="2200" u="none" cap="none" strike="noStrike">
              <a:solidFill>
                <a:srgbClr val="000000"/>
              </a:solidFill>
              <a:latin typeface="Arial"/>
              <a:ea typeface="Arial"/>
              <a:cs typeface="Arial"/>
              <a:sym typeface="Arial"/>
            </a:endParaRPr>
          </a:p>
        </p:txBody>
      </p:sp>
      <p:sp>
        <p:nvSpPr>
          <p:cNvPr id="67" name="Google Shape;67;p6"/>
          <p:cNvSpPr/>
          <p:nvPr/>
        </p:nvSpPr>
        <p:spPr>
          <a:xfrm>
            <a:off x="4832350" y="2747645"/>
            <a:ext cx="2603119"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3A2F"/>
              </a:buClr>
              <a:buSzPts val="2200"/>
              <a:buFont typeface="Fraunces"/>
              <a:buNone/>
            </a:pPr>
            <a:r>
              <a:rPr b="0" i="0" lang="en-US" spc="0" sz="2200" u="none" cap="none" strike="noStrike">
                <a:solidFill>
                  <a:srgbClr val="1E3A2F"/>
                </a:solidFill>
                <a:latin typeface="Fraunces"/>
                <a:ea typeface="Fraunces"/>
                <a:cs typeface="Fraunces"/>
                <a:sym typeface="Fraunces"/>
              </a:rPr>
              <a:t>Product</a:t>
            </a:r>
            <a:endParaRPr b="0" i="0" spc="0" sz="2200" u="none" cap="none" strike="noStrike">
              <a:solidFill>
                <a:srgbClr val="000000"/>
              </a:solidFill>
              <a:latin typeface="Arial"/>
              <a:ea typeface="Arial"/>
              <a:cs typeface="Arial"/>
              <a:sym typeface="Arial"/>
            </a:endParaRPr>
          </a:p>
        </p:txBody>
      </p:sp>
      <p:sp>
        <p:nvSpPr>
          <p:cNvPr id="68" name="Google Shape;68;p6"/>
          <p:cNvSpPr/>
          <p:nvPr/>
        </p:nvSpPr>
        <p:spPr>
          <a:xfrm>
            <a:off x="4832350" y="3184525"/>
            <a:ext cx="2603119" cy="82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760"/>
              </a:buClr>
              <a:buSzPts val="1500"/>
              <a:buFont typeface="DM Sans"/>
              <a:buNone/>
            </a:pPr>
            <a:r>
              <a:rPr b="0" i="0" lang="en-US" spc="0" sz="1500" u="none" cap="none" strike="noStrike">
                <a:solidFill>
                  <a:srgbClr val="5B6760"/>
                </a:solidFill>
                <a:latin typeface="DM Sans"/>
                <a:ea typeface="DM Sans"/>
                <a:cs typeface="DM Sans"/>
                <a:sym typeface="DM Sans"/>
              </a:rPr>
              <a:t>Which products should we make more of?</a:t>
            </a:r>
            <a:endParaRPr b="0" i="0" spc="0" sz="1500" u="none" cap="none" strike="noStrike">
              <a:solidFill>
                <a:srgbClr val="000000"/>
              </a:solidFill>
              <a:latin typeface="Arial"/>
              <a:ea typeface="Arial"/>
              <a:cs typeface="Arial"/>
              <a:sym typeface="Arial"/>
            </a:endParaRPr>
          </a:p>
        </p:txBody>
      </p:sp>
      <p:pic>
        <p:nvPicPr>
          <p:cNvPr descr="arrow-right" id="69" name="Google Shape;69;p6"/>
          <p:cNvPicPr preferRelativeResize="0"/>
          <p:nvPr/>
        </p:nvPicPr>
        <p:blipFill rotWithShape="1">
          <a:blip r:embed="rId3">
            <a:alphaModFix/>
          </a:blip>
          <a:srcRect b="0" l="0" r="0" t="0"/>
          <a:stretch/>
        </p:blipFill>
        <p:spPr>
          <a:xfrm>
            <a:off x="7772400" y="3018155"/>
            <a:ext cx="406400" cy="203200"/>
          </a:xfrm>
          <a:prstGeom prst="rect">
            <a:avLst/>
          </a:prstGeom>
          <a:noFill/>
          <a:ln>
            <a:noFill/>
          </a:ln>
        </p:spPr>
      </p:pic>
      <p:sp>
        <p:nvSpPr>
          <p:cNvPr id="70" name="Google Shape;70;p6"/>
          <p:cNvSpPr/>
          <p:nvPr/>
        </p:nvSpPr>
        <p:spPr>
          <a:xfrm>
            <a:off x="8334375" y="1997711"/>
            <a:ext cx="3041650" cy="2244090"/>
          </a:xfrm>
          <a:prstGeom prst="roundRect">
            <a:avLst>
              <a:gd fmla="val 5518"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1" name="Google Shape;71;p6"/>
          <p:cNvSpPr/>
          <p:nvPr/>
        </p:nvSpPr>
        <p:spPr>
          <a:xfrm>
            <a:off x="8591550" y="2254886"/>
            <a:ext cx="2603119" cy="4165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03</a:t>
            </a:r>
            <a:endParaRPr b="0" i="0" spc="0" sz="2200" u="none" cap="none" strike="noStrike">
              <a:solidFill>
                <a:srgbClr val="000000"/>
              </a:solidFill>
              <a:latin typeface="Arial"/>
              <a:ea typeface="Arial"/>
              <a:cs typeface="Arial"/>
              <a:sym typeface="Arial"/>
            </a:endParaRPr>
          </a:p>
        </p:txBody>
      </p:sp>
      <p:sp>
        <p:nvSpPr>
          <p:cNvPr id="72" name="Google Shape;72;p6"/>
          <p:cNvSpPr/>
          <p:nvPr/>
        </p:nvSpPr>
        <p:spPr>
          <a:xfrm>
            <a:off x="8591550" y="2747645"/>
            <a:ext cx="2603119"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3A2F"/>
              </a:buClr>
              <a:buSzPts val="2200"/>
              <a:buFont typeface="Fraunces"/>
              <a:buNone/>
            </a:pPr>
            <a:r>
              <a:rPr b="0" i="0" lang="en-US" spc="0" sz="2200" u="none" cap="none" strike="noStrike">
                <a:solidFill>
                  <a:srgbClr val="1E3A2F"/>
                </a:solidFill>
                <a:latin typeface="Fraunces"/>
                <a:ea typeface="Fraunces"/>
                <a:cs typeface="Fraunces"/>
                <a:sym typeface="Fraunces"/>
              </a:rPr>
              <a:t>Operations</a:t>
            </a:r>
            <a:endParaRPr b="0" i="0" spc="0" sz="2200" u="none" cap="none" strike="noStrike">
              <a:solidFill>
                <a:srgbClr val="000000"/>
              </a:solidFill>
              <a:latin typeface="Arial"/>
              <a:ea typeface="Arial"/>
              <a:cs typeface="Arial"/>
              <a:sym typeface="Arial"/>
            </a:endParaRPr>
          </a:p>
        </p:txBody>
      </p:sp>
      <p:sp>
        <p:nvSpPr>
          <p:cNvPr id="73" name="Google Shape;73;p6"/>
          <p:cNvSpPr/>
          <p:nvPr/>
        </p:nvSpPr>
        <p:spPr>
          <a:xfrm>
            <a:off x="8591550" y="3184525"/>
            <a:ext cx="2603119" cy="8255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760"/>
              </a:buClr>
              <a:buSzPts val="1500"/>
              <a:buFont typeface="DM Sans"/>
              <a:buNone/>
            </a:pPr>
            <a:r>
              <a:rPr b="0" i="0" lang="en-US" spc="0" sz="1500" u="none" cap="none" strike="noStrike">
                <a:solidFill>
                  <a:srgbClr val="5B6760"/>
                </a:solidFill>
                <a:latin typeface="DM Sans"/>
                <a:ea typeface="DM Sans"/>
                <a:cs typeface="DM Sans"/>
                <a:sym typeface="DM Sans"/>
              </a:rPr>
              <a:t>Where should we invest in warehouses and delivery?</a:t>
            </a:r>
            <a:endParaRPr b="0" i="0" spc="0" sz="1500" u="none" cap="none" strike="noStrike">
              <a:solidFill>
                <a:srgbClr val="000000"/>
              </a:solidFill>
              <a:latin typeface="Arial"/>
              <a:ea typeface="Arial"/>
              <a:cs typeface="Arial"/>
              <a:sym typeface="Arial"/>
            </a:endParaRPr>
          </a:p>
        </p:txBody>
      </p:sp>
      <p:sp>
        <p:nvSpPr>
          <p:cNvPr id="74" name="Google Shape;74;p6"/>
          <p:cNvSpPr/>
          <p:nvPr/>
        </p:nvSpPr>
        <p:spPr>
          <a:xfrm>
            <a:off x="812800" y="4923789"/>
            <a:ext cx="10566400" cy="1121410"/>
          </a:xfrm>
          <a:prstGeom prst="roundRect">
            <a:avLst>
              <a:gd fmla="val 11325" name="adj"/>
            </a:avLst>
          </a:prstGeom>
          <a:solidFill>
            <a:srgbClr val="1E3A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75" name="Google Shape;75;p6"/>
          <p:cNvSpPr/>
          <p:nvPr/>
        </p:nvSpPr>
        <p:spPr>
          <a:xfrm>
            <a:off x="1117600" y="5177789"/>
            <a:ext cx="10255504"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HOW EACH EXERCISE WORKS</a:t>
            </a:r>
            <a:endParaRPr b="0" i="0" spc="0" sz="1200" u="none" cap="none" strike="noStrike">
              <a:solidFill>
                <a:srgbClr val="000000"/>
              </a:solidFill>
              <a:latin typeface="Arial"/>
              <a:ea typeface="Arial"/>
              <a:cs typeface="Arial"/>
              <a:sym typeface="Arial"/>
            </a:endParaRPr>
          </a:p>
        </p:txBody>
      </p:sp>
      <p:sp>
        <p:nvSpPr>
          <p:cNvPr id="76" name="Google Shape;76;p6"/>
          <p:cNvSpPr/>
          <p:nvPr/>
        </p:nvSpPr>
        <p:spPr>
          <a:xfrm>
            <a:off x="1117600" y="5441950"/>
            <a:ext cx="10255504" cy="37465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5F0E6"/>
              </a:buClr>
              <a:buSzPts val="2200"/>
              <a:buFont typeface="Fraunces"/>
              <a:buNone/>
            </a:pPr>
            <a:r>
              <a:rPr b="0" i="0" lang="en-US" spc="0" sz="2200" u="none" cap="none" strike="noStrike">
                <a:solidFill>
                  <a:srgbClr val="F5F0E6"/>
                </a:solidFill>
                <a:latin typeface="Fraunces"/>
                <a:ea typeface="Fraunces"/>
                <a:cs typeface="Fraunces"/>
                <a:sym typeface="Fraunces"/>
              </a:rPr>
              <a:t>Step 1 builds the dashboard. Step 2 makes the call, and argues against it.</a:t>
            </a:r>
            <a:endParaRPr b="0" i="0" spc="0" sz="22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81" name="Shape 81"/>
        <p:cNvGrpSpPr/>
        <p:nvPr/>
      </p:nvGrpSpPr>
      <p:grpSpPr>
        <a:xfrm>
          <a:off x="0" y="0"/>
          <a:ext cx="0" cy="0"/>
          <a:chOff x="0" y="0"/>
          <a:chExt cx="0" cy="0"/>
        </a:xfrm>
      </p:grpSpPr>
      <p:sp>
        <p:nvSpPr>
          <p:cNvPr id="82" name="Google Shape;82;p7"/>
          <p:cNvSpPr/>
          <p:nvPr/>
        </p:nvSpPr>
        <p:spPr>
          <a:xfrm>
            <a:off x="812800" y="812800"/>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What a decision dashboard needs</a:t>
            </a:r>
            <a:endParaRPr b="0" i="0" spc="0" sz="3600" u="none" cap="none" strike="noStrike">
              <a:solidFill>
                <a:srgbClr val="000000"/>
              </a:solidFill>
              <a:latin typeface="Arial"/>
              <a:ea typeface="Arial"/>
              <a:cs typeface="Arial"/>
              <a:sym typeface="Arial"/>
            </a:endParaRPr>
          </a:p>
        </p:txBody>
      </p:sp>
      <p:sp>
        <p:nvSpPr>
          <p:cNvPr id="83" name="Google Shape;83;p7"/>
          <p:cNvSpPr/>
          <p:nvPr/>
        </p:nvSpPr>
        <p:spPr>
          <a:xfrm>
            <a:off x="815975" y="1623696"/>
            <a:ext cx="5175250" cy="1459230"/>
          </a:xfrm>
          <a:prstGeom prst="roundRect">
            <a:avLst>
              <a:gd fmla="val 8486"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Book" id="84" name="Google Shape;84;p7"/>
          <p:cNvPicPr preferRelativeResize="0"/>
          <p:nvPr/>
        </p:nvPicPr>
        <p:blipFill rotWithShape="1">
          <a:blip r:embed="rId3">
            <a:alphaModFix/>
          </a:blip>
          <a:srcRect b="0" l="0" r="0" t="0"/>
          <a:stretch/>
        </p:blipFill>
        <p:spPr>
          <a:xfrm>
            <a:off x="1073150" y="1896111"/>
            <a:ext cx="304800" cy="304800"/>
          </a:xfrm>
          <a:prstGeom prst="rect">
            <a:avLst/>
          </a:prstGeom>
          <a:noFill/>
          <a:ln>
            <a:noFill/>
          </a:ln>
        </p:spPr>
      </p:pic>
      <p:sp>
        <p:nvSpPr>
          <p:cNvPr id="85" name="Google Shape;85;p7"/>
          <p:cNvSpPr/>
          <p:nvPr/>
        </p:nvSpPr>
        <p:spPr>
          <a:xfrm>
            <a:off x="1504950" y="1880871"/>
            <a:ext cx="4300000"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3A2F"/>
              </a:buClr>
              <a:buSzPts val="2200"/>
              <a:buFont typeface="Fraunces"/>
              <a:buNone/>
            </a:pPr>
            <a:r>
              <a:rPr b="0" i="0" lang="en-US" spc="0" sz="2200" u="none" cap="none" strike="noStrike">
                <a:solidFill>
                  <a:srgbClr val="1E3A2F"/>
                </a:solidFill>
                <a:latin typeface="Fraunces"/>
                <a:ea typeface="Fraunces"/>
                <a:cs typeface="Fraunces"/>
                <a:sym typeface="Fraunces"/>
              </a:rPr>
              <a:t>Headline numbers</a:t>
            </a:r>
            <a:endParaRPr b="0" i="0" spc="0" sz="2200" u="none" cap="none" strike="noStrike">
              <a:solidFill>
                <a:srgbClr val="000000"/>
              </a:solidFill>
              <a:latin typeface="Arial"/>
              <a:ea typeface="Arial"/>
              <a:cs typeface="Arial"/>
              <a:sym typeface="Arial"/>
            </a:endParaRPr>
          </a:p>
        </p:txBody>
      </p:sp>
      <p:sp>
        <p:nvSpPr>
          <p:cNvPr id="86" name="Google Shape;86;p7"/>
          <p:cNvSpPr/>
          <p:nvPr/>
        </p:nvSpPr>
        <p:spPr>
          <a:xfrm>
            <a:off x="1073150" y="2292350"/>
            <a:ext cx="4800727"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760"/>
              </a:buClr>
              <a:buSzPts val="1500"/>
              <a:buFont typeface="DM Sans"/>
              <a:buNone/>
            </a:pPr>
            <a:r>
              <a:rPr b="0" i="0" lang="en-US" spc="0" sz="1500" u="none" cap="none" strike="noStrike">
                <a:solidFill>
                  <a:srgbClr val="5B6760"/>
                </a:solidFill>
                <a:latin typeface="DM Sans"/>
                <a:ea typeface="DM Sans"/>
                <a:cs typeface="DM Sans"/>
                <a:sym typeface="DM Sans"/>
              </a:rPr>
              <a:t>KPI cards on top: orders, gross profit, margin.</a:t>
            </a:r>
            <a:endParaRPr b="0" i="0" spc="0" sz="1500" u="none" cap="none" strike="noStrike">
              <a:solidFill>
                <a:srgbClr val="000000"/>
              </a:solidFill>
              <a:latin typeface="Arial"/>
              <a:ea typeface="Arial"/>
              <a:cs typeface="Arial"/>
              <a:sym typeface="Arial"/>
            </a:endParaRPr>
          </a:p>
        </p:txBody>
      </p:sp>
      <p:sp>
        <p:nvSpPr>
          <p:cNvPr id="87" name="Google Shape;87;p7"/>
          <p:cNvSpPr/>
          <p:nvPr/>
        </p:nvSpPr>
        <p:spPr>
          <a:xfrm>
            <a:off x="6200775" y="1623696"/>
            <a:ext cx="5175250" cy="1459230"/>
          </a:xfrm>
          <a:prstGeom prst="roundRect">
            <a:avLst>
              <a:gd fmla="val 8486"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Search" id="88" name="Google Shape;88;p7"/>
          <p:cNvPicPr preferRelativeResize="0"/>
          <p:nvPr/>
        </p:nvPicPr>
        <p:blipFill rotWithShape="1">
          <a:blip r:embed="rId4">
            <a:alphaModFix/>
          </a:blip>
          <a:srcRect b="0" l="0" r="0" t="0"/>
          <a:stretch/>
        </p:blipFill>
        <p:spPr>
          <a:xfrm>
            <a:off x="6457950" y="1896111"/>
            <a:ext cx="304800" cy="304800"/>
          </a:xfrm>
          <a:prstGeom prst="rect">
            <a:avLst/>
          </a:prstGeom>
          <a:noFill/>
          <a:ln>
            <a:noFill/>
          </a:ln>
        </p:spPr>
      </p:pic>
      <p:sp>
        <p:nvSpPr>
          <p:cNvPr id="89" name="Google Shape;89;p7"/>
          <p:cNvSpPr/>
          <p:nvPr/>
        </p:nvSpPr>
        <p:spPr>
          <a:xfrm>
            <a:off x="6889750" y="1880871"/>
            <a:ext cx="4300000"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3A2F"/>
              </a:buClr>
              <a:buSzPts val="2200"/>
              <a:buFont typeface="Fraunces"/>
              <a:buNone/>
            </a:pPr>
            <a:r>
              <a:rPr b="0" i="0" lang="en-US" spc="0" sz="2200" u="none" cap="none" strike="noStrike">
                <a:solidFill>
                  <a:srgbClr val="1E3A2F"/>
                </a:solidFill>
                <a:latin typeface="Fraunces"/>
                <a:ea typeface="Fraunces"/>
                <a:cs typeface="Fraunces"/>
                <a:sym typeface="Fraunces"/>
              </a:rPr>
              <a:t>Comparisons</a:t>
            </a:r>
            <a:endParaRPr b="0" i="0" spc="0" sz="2200" u="none" cap="none" strike="noStrike">
              <a:solidFill>
                <a:srgbClr val="000000"/>
              </a:solidFill>
              <a:latin typeface="Arial"/>
              <a:ea typeface="Arial"/>
              <a:cs typeface="Arial"/>
              <a:sym typeface="Arial"/>
            </a:endParaRPr>
          </a:p>
        </p:txBody>
      </p:sp>
      <p:sp>
        <p:nvSpPr>
          <p:cNvPr id="90" name="Google Shape;90;p7"/>
          <p:cNvSpPr/>
          <p:nvPr/>
        </p:nvSpPr>
        <p:spPr>
          <a:xfrm>
            <a:off x="6457950" y="2292350"/>
            <a:ext cx="4800727"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760"/>
              </a:buClr>
              <a:buSzPts val="1500"/>
              <a:buFont typeface="DM Sans"/>
              <a:buNone/>
            </a:pPr>
            <a:r>
              <a:rPr b="0" i="0" lang="en-US" spc="0" sz="1500" u="none" cap="none" strike="noStrike">
                <a:solidFill>
                  <a:srgbClr val="5B6760"/>
                </a:solidFill>
                <a:latin typeface="DM Sans"/>
                <a:ea typeface="DM Sans"/>
                <a:cs typeface="DM Sans"/>
                <a:sym typeface="DM Sans"/>
              </a:rPr>
              <a:t>Charts that put the options side by side.</a:t>
            </a:r>
            <a:endParaRPr b="0" i="0" spc="0" sz="1500" u="none" cap="none" strike="noStrike">
              <a:solidFill>
                <a:srgbClr val="000000"/>
              </a:solidFill>
              <a:latin typeface="Arial"/>
              <a:ea typeface="Arial"/>
              <a:cs typeface="Arial"/>
              <a:sym typeface="Arial"/>
            </a:endParaRPr>
          </a:p>
        </p:txBody>
      </p:sp>
      <p:sp>
        <p:nvSpPr>
          <p:cNvPr id="91" name="Google Shape;91;p7"/>
          <p:cNvSpPr/>
          <p:nvPr/>
        </p:nvSpPr>
        <p:spPr>
          <a:xfrm>
            <a:off x="815975" y="3292475"/>
            <a:ext cx="5175250" cy="1459230"/>
          </a:xfrm>
          <a:prstGeom prst="roundRect">
            <a:avLst>
              <a:gd fmla="val 8486"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ThumbsUp" id="92" name="Google Shape;92;p7"/>
          <p:cNvPicPr preferRelativeResize="0"/>
          <p:nvPr/>
        </p:nvPicPr>
        <p:blipFill rotWithShape="1">
          <a:blip r:embed="rId5">
            <a:alphaModFix/>
          </a:blip>
          <a:srcRect b="0" l="0" r="0" t="0"/>
          <a:stretch/>
        </p:blipFill>
        <p:spPr>
          <a:xfrm>
            <a:off x="1073150" y="3564889"/>
            <a:ext cx="304800" cy="304800"/>
          </a:xfrm>
          <a:prstGeom prst="rect">
            <a:avLst/>
          </a:prstGeom>
          <a:noFill/>
          <a:ln>
            <a:noFill/>
          </a:ln>
        </p:spPr>
      </p:pic>
      <p:sp>
        <p:nvSpPr>
          <p:cNvPr id="93" name="Google Shape;93;p7"/>
          <p:cNvSpPr/>
          <p:nvPr/>
        </p:nvSpPr>
        <p:spPr>
          <a:xfrm>
            <a:off x="1504950" y="3549650"/>
            <a:ext cx="4300000"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3A2F"/>
              </a:buClr>
              <a:buSzPts val="2200"/>
              <a:buFont typeface="Fraunces"/>
              <a:buNone/>
            </a:pPr>
            <a:r>
              <a:rPr b="0" i="0" lang="en-US" spc="0" sz="2200" u="none" cap="none" strike="noStrike">
                <a:solidFill>
                  <a:srgbClr val="1E3A2F"/>
                </a:solidFill>
                <a:latin typeface="Fraunces"/>
                <a:ea typeface="Fraunces"/>
                <a:cs typeface="Fraunces"/>
                <a:sym typeface="Fraunces"/>
              </a:rPr>
              <a:t>So what</a:t>
            </a:r>
            <a:endParaRPr b="0" i="0" spc="0" sz="2200" u="none" cap="none" strike="noStrike">
              <a:solidFill>
                <a:srgbClr val="000000"/>
              </a:solidFill>
              <a:latin typeface="Arial"/>
              <a:ea typeface="Arial"/>
              <a:cs typeface="Arial"/>
              <a:sym typeface="Arial"/>
            </a:endParaRPr>
          </a:p>
        </p:txBody>
      </p:sp>
      <p:sp>
        <p:nvSpPr>
          <p:cNvPr id="94" name="Google Shape;94;p7"/>
          <p:cNvSpPr/>
          <p:nvPr/>
        </p:nvSpPr>
        <p:spPr>
          <a:xfrm>
            <a:off x="1073150" y="3961129"/>
            <a:ext cx="4800727"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760"/>
              </a:buClr>
              <a:buSzPts val="1500"/>
              <a:buFont typeface="DM Sans"/>
              <a:buNone/>
            </a:pPr>
            <a:r>
              <a:rPr b="0" i="0" lang="en-US" spc="0" sz="1500" u="none" cap="none" strike="noStrike">
                <a:solidFill>
                  <a:srgbClr val="5B6760"/>
                </a:solidFill>
                <a:latin typeface="DM Sans"/>
                <a:ea typeface="DM Sans"/>
                <a:cs typeface="DM Sans"/>
                <a:sym typeface="DM Sans"/>
              </a:rPr>
              <a:t>One line under every chart: what it means for the decision.</a:t>
            </a:r>
            <a:endParaRPr b="0" i="0" spc="0" sz="1500" u="none" cap="none" strike="noStrike">
              <a:solidFill>
                <a:srgbClr val="000000"/>
              </a:solidFill>
              <a:latin typeface="Arial"/>
              <a:ea typeface="Arial"/>
              <a:cs typeface="Arial"/>
              <a:sym typeface="Arial"/>
            </a:endParaRPr>
          </a:p>
        </p:txBody>
      </p:sp>
      <p:sp>
        <p:nvSpPr>
          <p:cNvPr id="95" name="Google Shape;95;p7"/>
          <p:cNvSpPr/>
          <p:nvPr/>
        </p:nvSpPr>
        <p:spPr>
          <a:xfrm>
            <a:off x="6200775" y="3292475"/>
            <a:ext cx="5175250" cy="1459230"/>
          </a:xfrm>
          <a:prstGeom prst="roundRect">
            <a:avLst>
              <a:gd fmla="val 8486"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CheckCircle" id="96" name="Google Shape;96;p7"/>
          <p:cNvPicPr preferRelativeResize="0"/>
          <p:nvPr/>
        </p:nvPicPr>
        <p:blipFill rotWithShape="1">
          <a:blip r:embed="rId6">
            <a:alphaModFix/>
          </a:blip>
          <a:srcRect b="0" l="0" r="0" t="0"/>
          <a:stretch/>
        </p:blipFill>
        <p:spPr>
          <a:xfrm>
            <a:off x="6457950" y="3564889"/>
            <a:ext cx="304800" cy="304800"/>
          </a:xfrm>
          <a:prstGeom prst="rect">
            <a:avLst/>
          </a:prstGeom>
          <a:noFill/>
          <a:ln>
            <a:noFill/>
          </a:ln>
        </p:spPr>
      </p:pic>
      <p:sp>
        <p:nvSpPr>
          <p:cNvPr id="97" name="Google Shape;97;p7"/>
          <p:cNvSpPr/>
          <p:nvPr/>
        </p:nvSpPr>
        <p:spPr>
          <a:xfrm>
            <a:off x="6889750" y="3549650"/>
            <a:ext cx="4300000" cy="36068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E3A2F"/>
              </a:buClr>
              <a:buSzPts val="2200"/>
              <a:buFont typeface="Fraunces"/>
              <a:buNone/>
            </a:pPr>
            <a:r>
              <a:rPr b="0" i="0" lang="en-US" spc="0" sz="2200" u="none" cap="none" strike="noStrike">
                <a:solidFill>
                  <a:srgbClr val="1E3A2F"/>
                </a:solidFill>
                <a:latin typeface="Fraunces"/>
                <a:ea typeface="Fraunces"/>
                <a:cs typeface="Fraunces"/>
                <a:sym typeface="Fraunces"/>
              </a:rPr>
              <a:t>Honesty</a:t>
            </a:r>
            <a:endParaRPr b="0" i="0" spc="0" sz="2200" u="none" cap="none" strike="noStrike">
              <a:solidFill>
                <a:srgbClr val="000000"/>
              </a:solidFill>
              <a:latin typeface="Arial"/>
              <a:ea typeface="Arial"/>
              <a:cs typeface="Arial"/>
              <a:sym typeface="Arial"/>
            </a:endParaRPr>
          </a:p>
        </p:txBody>
      </p:sp>
      <p:sp>
        <p:nvSpPr>
          <p:cNvPr id="98" name="Google Shape;98;p7"/>
          <p:cNvSpPr/>
          <p:nvPr/>
        </p:nvSpPr>
        <p:spPr>
          <a:xfrm>
            <a:off x="6457950" y="3961129"/>
            <a:ext cx="4800727" cy="55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5B6760"/>
              </a:buClr>
              <a:buSzPts val="1500"/>
              <a:buFont typeface="DM Sans"/>
              <a:buNone/>
            </a:pPr>
            <a:r>
              <a:rPr b="0" i="0" lang="en-US" spc="0" sz="1500" u="none" cap="none" strike="noStrike">
                <a:solidFill>
                  <a:srgbClr val="5B6760"/>
                </a:solidFill>
                <a:latin typeface="DM Sans"/>
                <a:ea typeface="DM Sans"/>
                <a:cs typeface="DM Sans"/>
                <a:sym typeface="DM Sans"/>
              </a:rPr>
              <a:t>Sample sizes, and what the data can't tell us.</a:t>
            </a:r>
            <a:endParaRPr b="0" i="0" spc="0" sz="15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103" name="Shape 103"/>
        <p:cNvGrpSpPr/>
        <p:nvPr/>
      </p:nvGrpSpPr>
      <p:grpSpPr>
        <a:xfrm>
          <a:off x="0" y="0"/>
          <a:ext cx="0" cy="0"/>
          <a:chOff x="0" y="0"/>
          <a:chExt cx="0" cy="0"/>
        </a:xfrm>
      </p:grpSpPr>
      <p:sp>
        <p:nvSpPr>
          <p:cNvPr id="104" name="Google Shape;104;p8"/>
          <p:cNvSpPr/>
          <p:nvPr/>
        </p:nvSpPr>
        <p:spPr>
          <a:xfrm>
            <a:off x="812800" y="812800"/>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What we will be using</a:t>
            </a:r>
            <a:endParaRPr b="0" i="0" spc="0" sz="3600" u="none" cap="none" strike="noStrike">
              <a:solidFill>
                <a:srgbClr val="000000"/>
              </a:solidFill>
              <a:latin typeface="Arial"/>
              <a:ea typeface="Arial"/>
              <a:cs typeface="Arial"/>
              <a:sym typeface="Arial"/>
            </a:endParaRPr>
          </a:p>
        </p:txBody>
      </p:sp>
      <p:sp>
        <p:nvSpPr>
          <p:cNvPr id="105" name="Google Shape;105;p8"/>
          <p:cNvSpPr/>
          <p:nvPr/>
        </p:nvSpPr>
        <p:spPr>
          <a:xfrm>
            <a:off x="787025" y="1650146"/>
            <a:ext cx="5175300" cy="2799900"/>
          </a:xfrm>
          <a:prstGeom prst="roundRect">
            <a:avLst>
              <a:gd fmla="val 4829"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Star" id="106" name="Google Shape;106;p8"/>
          <p:cNvPicPr preferRelativeResize="0"/>
          <p:nvPr/>
        </p:nvPicPr>
        <p:blipFill rotWithShape="1">
          <a:blip r:embed="rId3">
            <a:alphaModFix/>
          </a:blip>
          <a:srcRect b="0" l="0" r="0" t="0"/>
          <a:stretch/>
        </p:blipFill>
        <p:spPr>
          <a:xfrm>
            <a:off x="1095000" y="1973361"/>
            <a:ext cx="304800" cy="304800"/>
          </a:xfrm>
          <a:prstGeom prst="rect">
            <a:avLst/>
          </a:prstGeom>
          <a:noFill/>
          <a:ln>
            <a:noFill/>
          </a:ln>
        </p:spPr>
      </p:pic>
      <p:sp>
        <p:nvSpPr>
          <p:cNvPr id="107" name="Google Shape;107;p8"/>
          <p:cNvSpPr/>
          <p:nvPr/>
        </p:nvSpPr>
        <p:spPr>
          <a:xfrm>
            <a:off x="1526800" y="1958121"/>
            <a:ext cx="39999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2F6B4C"/>
              </a:buClr>
              <a:buSzPts val="2200"/>
              <a:buFont typeface="Fraunces"/>
              <a:buNone/>
            </a:pPr>
            <a:r>
              <a:rPr b="0" i="0" lang="en-US" spc="0" sz="2200" u="none" cap="none" strike="noStrike">
                <a:solidFill>
                  <a:srgbClr val="2F6B4C"/>
                </a:solidFill>
                <a:latin typeface="Fraunces"/>
                <a:ea typeface="Fraunces"/>
                <a:cs typeface="Fraunces"/>
                <a:sym typeface="Fraunces"/>
              </a:rPr>
              <a:t>Files you need</a:t>
            </a:r>
            <a:endParaRPr b="0" i="0" spc="0" sz="2200" u="none" cap="none" strike="noStrike">
              <a:solidFill>
                <a:srgbClr val="000000"/>
              </a:solidFill>
              <a:latin typeface="Arial"/>
              <a:ea typeface="Arial"/>
              <a:cs typeface="Arial"/>
              <a:sym typeface="Arial"/>
            </a:endParaRPr>
          </a:p>
        </p:txBody>
      </p:sp>
      <p:sp>
        <p:nvSpPr>
          <p:cNvPr id="108" name="Google Shape;108;p8"/>
          <p:cNvSpPr/>
          <p:nvPr/>
        </p:nvSpPr>
        <p:spPr>
          <a:xfrm>
            <a:off x="1166125" y="2445800"/>
            <a:ext cx="4617300" cy="1757400"/>
          </a:xfrm>
          <a:prstGeom prst="rect">
            <a:avLst/>
          </a:prstGeom>
          <a:noFill/>
          <a:ln>
            <a:noFill/>
          </a:ln>
        </p:spPr>
        <p:txBody>
          <a:bodyPr anchorCtr="0" anchor="t" bIns="0" lIns="0" spcFirstLastPara="1" rIns="0" wrap="square" tIns="0">
            <a:noAutofit/>
          </a:bodyPr>
          <a:lstStyle/>
          <a:p>
            <a:pPr indent="-182880" lvl="0" marL="182880" marR="0" rtl="0" algn="l">
              <a:lnSpc>
                <a:spcPct val="150000"/>
              </a:lnSpc>
              <a:spcBef>
                <a:spcPts val="0"/>
              </a:spcBef>
              <a:spcAft>
                <a:spcPts val="0"/>
              </a:spcAft>
              <a:buClr>
                <a:srgbClr val="1F2A24"/>
              </a:buClr>
              <a:buSzPts val="1500"/>
              <a:buFont typeface="DM Sans"/>
              <a:buChar char="•"/>
            </a:pPr>
            <a:r>
              <a:rPr b="0" i="0" lang="en-US" spc="0" sz="1500" u="none" cap="none" strike="noStrike">
                <a:solidFill>
                  <a:srgbClr val="1F2A24"/>
                </a:solidFill>
                <a:latin typeface="DM Sans"/>
                <a:ea typeface="DM Sans"/>
                <a:cs typeface="DM Sans"/>
                <a:sym typeface="DM Sans"/>
              </a:rPr>
              <a:t>All: loopcycle_tote_orders.csv (2,867 orders)</a:t>
            </a:r>
            <a:endParaRPr b="0" i="0" spc="0" sz="1500" u="none" cap="none" strike="noStrike">
              <a:solidFill>
                <a:srgbClr val="000000"/>
              </a:solidFill>
              <a:latin typeface="Arial"/>
              <a:ea typeface="Arial"/>
              <a:cs typeface="Arial"/>
              <a:sym typeface="Arial"/>
            </a:endParaRPr>
          </a:p>
          <a:p>
            <a:pPr indent="-182880" lvl="0" marL="182880" marR="0" rtl="0" algn="l">
              <a:lnSpc>
                <a:spcPct val="150000"/>
              </a:lnSpc>
              <a:spcBef>
                <a:spcPts val="0"/>
              </a:spcBef>
              <a:spcAft>
                <a:spcPts val="0"/>
              </a:spcAft>
              <a:buClr>
                <a:srgbClr val="1F2A24"/>
              </a:buClr>
              <a:buSzPts val="1500"/>
              <a:buFont typeface="DM Sans"/>
              <a:buChar char="•"/>
            </a:pPr>
            <a:r>
              <a:rPr b="0" i="0" lang="en-US" spc="0" sz="1500" u="none" cap="none" strike="noStrike">
                <a:solidFill>
                  <a:srgbClr val="1F2A24"/>
                </a:solidFill>
                <a:latin typeface="DM Sans"/>
                <a:ea typeface="DM Sans"/>
                <a:cs typeface="DM Sans"/>
                <a:sym typeface="DM Sans"/>
              </a:rPr>
              <a:t>Marketing: audience location and age/gender</a:t>
            </a:r>
            <a:endParaRPr b="0" i="0" spc="0" sz="1500" u="none" cap="none" strike="noStrike">
              <a:solidFill>
                <a:srgbClr val="000000"/>
              </a:solidFill>
              <a:latin typeface="Arial"/>
              <a:ea typeface="Arial"/>
              <a:cs typeface="Arial"/>
              <a:sym typeface="Arial"/>
            </a:endParaRPr>
          </a:p>
          <a:p>
            <a:pPr indent="-182880" lvl="0" marL="182880" marR="0" rtl="0" algn="l">
              <a:lnSpc>
                <a:spcPct val="150000"/>
              </a:lnSpc>
              <a:spcBef>
                <a:spcPts val="0"/>
              </a:spcBef>
              <a:spcAft>
                <a:spcPts val="0"/>
              </a:spcAft>
              <a:buClr>
                <a:srgbClr val="1F2A24"/>
              </a:buClr>
              <a:buSzPts val="1500"/>
              <a:buFont typeface="DM Sans"/>
              <a:buChar char="•"/>
            </a:pPr>
            <a:r>
              <a:rPr b="0" i="0" lang="en-US" spc="0" sz="1500" u="none" cap="none" strike="noStrike">
                <a:solidFill>
                  <a:srgbClr val="1F2A24"/>
                </a:solidFill>
                <a:latin typeface="DM Sans"/>
                <a:ea typeface="DM Sans"/>
                <a:cs typeface="DM Sans"/>
                <a:sym typeface="DM Sans"/>
              </a:rPr>
              <a:t>Ops: audience location, abandoned checkouts</a:t>
            </a:r>
            <a:endParaRPr b="0" i="0" spc="0" sz="1500" u="none" cap="none" strike="noStrike">
              <a:solidFill>
                <a:srgbClr val="000000"/>
              </a:solidFill>
              <a:latin typeface="Arial"/>
              <a:ea typeface="Arial"/>
              <a:cs typeface="Arial"/>
              <a:sym typeface="Arial"/>
            </a:endParaRPr>
          </a:p>
        </p:txBody>
      </p:sp>
      <p:sp>
        <p:nvSpPr>
          <p:cNvPr id="109" name="Google Shape;109;p8"/>
          <p:cNvSpPr/>
          <p:nvPr/>
        </p:nvSpPr>
        <p:spPr>
          <a:xfrm>
            <a:off x="6171825" y="1650146"/>
            <a:ext cx="5175300" cy="2799900"/>
          </a:xfrm>
          <a:prstGeom prst="roundRect">
            <a:avLst>
              <a:gd fmla="val 4829" name="adj"/>
            </a:avLst>
          </a:prstGeom>
          <a:solidFill>
            <a:srgbClr val="FFFDF8"/>
          </a:solidFill>
          <a:ln cap="flat" cmpd="sng" w="9525">
            <a:solidFill>
              <a:srgbClr val="E2D9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pic>
        <p:nvPicPr>
          <p:cNvPr descr="Warning" id="110" name="Google Shape;110;p8"/>
          <p:cNvPicPr preferRelativeResize="0"/>
          <p:nvPr/>
        </p:nvPicPr>
        <p:blipFill rotWithShape="1">
          <a:blip r:embed="rId4">
            <a:alphaModFix/>
          </a:blip>
          <a:srcRect b="0" l="0" r="0" t="0"/>
          <a:stretch/>
        </p:blipFill>
        <p:spPr>
          <a:xfrm>
            <a:off x="6479800" y="1973361"/>
            <a:ext cx="304800" cy="304800"/>
          </a:xfrm>
          <a:prstGeom prst="rect">
            <a:avLst/>
          </a:prstGeom>
          <a:noFill/>
          <a:ln>
            <a:noFill/>
          </a:ln>
        </p:spPr>
      </p:pic>
      <p:sp>
        <p:nvSpPr>
          <p:cNvPr id="111" name="Google Shape;111;p8"/>
          <p:cNvSpPr/>
          <p:nvPr/>
        </p:nvSpPr>
        <p:spPr>
          <a:xfrm>
            <a:off x="6911600" y="1958121"/>
            <a:ext cx="3999900" cy="360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What we don't have</a:t>
            </a:r>
            <a:endParaRPr b="0" i="0" spc="0" sz="2200" u="none" cap="none" strike="noStrike">
              <a:solidFill>
                <a:srgbClr val="000000"/>
              </a:solidFill>
              <a:latin typeface="Arial"/>
              <a:ea typeface="Arial"/>
              <a:cs typeface="Arial"/>
              <a:sym typeface="Arial"/>
            </a:endParaRPr>
          </a:p>
        </p:txBody>
      </p:sp>
      <p:sp>
        <p:nvSpPr>
          <p:cNvPr id="112" name="Google Shape;112;p8"/>
          <p:cNvSpPr/>
          <p:nvPr/>
        </p:nvSpPr>
        <p:spPr>
          <a:xfrm>
            <a:off x="6550920" y="2445800"/>
            <a:ext cx="4617300" cy="1485900"/>
          </a:xfrm>
          <a:prstGeom prst="rect">
            <a:avLst/>
          </a:prstGeom>
          <a:noFill/>
          <a:ln>
            <a:noFill/>
          </a:ln>
        </p:spPr>
        <p:txBody>
          <a:bodyPr anchorCtr="0" anchor="t" bIns="0" lIns="0" spcFirstLastPara="1" rIns="0" wrap="square" tIns="0">
            <a:noAutofit/>
          </a:bodyPr>
          <a:lstStyle/>
          <a:p>
            <a:pPr indent="-182880" lvl="0" marL="182880" marR="0" rtl="0" algn="l">
              <a:lnSpc>
                <a:spcPct val="150000"/>
              </a:lnSpc>
              <a:spcBef>
                <a:spcPts val="0"/>
              </a:spcBef>
              <a:spcAft>
                <a:spcPts val="0"/>
              </a:spcAft>
              <a:buClr>
                <a:srgbClr val="1F2A24"/>
              </a:buClr>
              <a:buSzPts val="1500"/>
              <a:buFont typeface="DM Sans"/>
              <a:buChar char="•"/>
            </a:pPr>
            <a:r>
              <a:rPr b="0" i="0" lang="en-US" spc="0" sz="1500" u="none" cap="none" strike="noStrike">
                <a:solidFill>
                  <a:srgbClr val="1F2A24"/>
                </a:solidFill>
                <a:latin typeface="DM Sans"/>
                <a:ea typeface="DM Sans"/>
                <a:cs typeface="DM Sans"/>
                <a:sym typeface="DM Sans"/>
              </a:rPr>
              <a:t>Advertising spend or cost per click</a:t>
            </a:r>
            <a:endParaRPr b="0" i="0" spc="0" sz="1500" u="none" cap="none" strike="noStrike">
              <a:solidFill>
                <a:srgbClr val="000000"/>
              </a:solidFill>
              <a:latin typeface="Arial"/>
              <a:ea typeface="Arial"/>
              <a:cs typeface="Arial"/>
              <a:sym typeface="Arial"/>
            </a:endParaRPr>
          </a:p>
          <a:p>
            <a:pPr indent="-182880" lvl="0" marL="182880" marR="0" rtl="0" algn="l">
              <a:lnSpc>
                <a:spcPct val="150000"/>
              </a:lnSpc>
              <a:spcBef>
                <a:spcPts val="0"/>
              </a:spcBef>
              <a:spcAft>
                <a:spcPts val="0"/>
              </a:spcAft>
              <a:buClr>
                <a:srgbClr val="1F2A24"/>
              </a:buClr>
              <a:buSzPts val="1500"/>
              <a:buFont typeface="DM Sans"/>
              <a:buChar char="•"/>
            </a:pPr>
            <a:r>
              <a:rPr b="0" i="0" lang="en-US" spc="0" sz="1500" u="none" cap="none" strike="noStrike">
                <a:solidFill>
                  <a:srgbClr val="1F2A24"/>
                </a:solidFill>
                <a:latin typeface="DM Sans"/>
                <a:ea typeface="DM Sans"/>
                <a:cs typeface="DM Sans"/>
                <a:sym typeface="DM Sans"/>
              </a:rPr>
              <a:t>Buyer age or gender (Instagram audience only)</a:t>
            </a:r>
            <a:endParaRPr b="0" i="0" spc="0" sz="1500" u="none" cap="none" strike="noStrike">
              <a:solidFill>
                <a:srgbClr val="000000"/>
              </a:solidFill>
              <a:latin typeface="Arial"/>
              <a:ea typeface="Arial"/>
              <a:cs typeface="Arial"/>
              <a:sym typeface="Arial"/>
            </a:endParaRPr>
          </a:p>
          <a:p>
            <a:pPr indent="-182880" lvl="0" marL="182880" marR="0" rtl="0" algn="l">
              <a:lnSpc>
                <a:spcPct val="150000"/>
              </a:lnSpc>
              <a:spcBef>
                <a:spcPts val="0"/>
              </a:spcBef>
              <a:spcAft>
                <a:spcPts val="0"/>
              </a:spcAft>
              <a:buClr>
                <a:srgbClr val="1F2A24"/>
              </a:buClr>
              <a:buSzPts val="1500"/>
              <a:buFont typeface="DM Sans"/>
              <a:buChar char="•"/>
            </a:pPr>
            <a:r>
              <a:rPr b="0" i="0" lang="en-US" spc="0" sz="1500" u="none" cap="none" strike="noStrike">
                <a:solidFill>
                  <a:srgbClr val="1F2A24"/>
                </a:solidFill>
                <a:latin typeface="DM Sans"/>
                <a:ea typeface="DM Sans"/>
                <a:cs typeface="DM Sans"/>
                <a:sym typeface="DM Sans"/>
              </a:rPr>
              <a:t>A warehouse field: we assume Bandung</a:t>
            </a:r>
            <a:endParaRPr b="0" i="0" spc="0" sz="1500" u="none" cap="none" strike="noStrike">
              <a:solidFill>
                <a:srgbClr val="000000"/>
              </a:solidFill>
              <a:latin typeface="Arial"/>
              <a:ea typeface="Arial"/>
              <a:cs typeface="Arial"/>
              <a:sym typeface="Arial"/>
            </a:endParaRPr>
          </a:p>
          <a:p>
            <a:pPr indent="-182880" lvl="0" marL="182880" marR="0" rtl="0" algn="l">
              <a:lnSpc>
                <a:spcPct val="150000"/>
              </a:lnSpc>
              <a:spcBef>
                <a:spcPts val="0"/>
              </a:spcBef>
              <a:spcAft>
                <a:spcPts val="0"/>
              </a:spcAft>
              <a:buClr>
                <a:srgbClr val="1F2A24"/>
              </a:buClr>
              <a:buSzPts val="1500"/>
              <a:buFont typeface="DM Sans"/>
              <a:buChar char="•"/>
            </a:pPr>
            <a:r>
              <a:rPr b="0" i="0" lang="en-US" spc="0" sz="1500" u="none" cap="none" strike="noStrike">
                <a:solidFill>
                  <a:srgbClr val="1F2A24"/>
                </a:solidFill>
                <a:latin typeface="DM Sans"/>
                <a:ea typeface="DM Sans"/>
                <a:cs typeface="DM Sans"/>
                <a:sym typeface="DM Sans"/>
              </a:rPr>
              <a:t>Anything after 27 Sep 2026</a:t>
            </a:r>
            <a:endParaRPr b="0" i="0" spc="0" sz="15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117" name="Shape 117"/>
        <p:cNvGrpSpPr/>
        <p:nvPr/>
      </p:nvGrpSpPr>
      <p:grpSpPr>
        <a:xfrm>
          <a:off x="0" y="0"/>
          <a:ext cx="0" cy="0"/>
          <a:chOff x="0" y="0"/>
          <a:chExt cx="0" cy="0"/>
        </a:xfrm>
      </p:grpSpPr>
      <p:sp>
        <p:nvSpPr>
          <p:cNvPr id="118" name="Google Shape;118;p9"/>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1200"/>
              <a:buFont typeface="DM Sans"/>
              <a:buNone/>
            </a:pPr>
            <a:r>
              <a:rPr b="1" i="0" lang="en-US" spc="0" sz="1200" u="none" cap="none" strike="noStrike">
                <a:solidFill>
                  <a:srgbClr val="B5532B"/>
                </a:solidFill>
                <a:latin typeface="DM Sans"/>
                <a:ea typeface="DM Sans"/>
                <a:cs typeface="DM Sans"/>
                <a:sym typeface="DM Sans"/>
              </a:rPr>
              <a:t>STRATEGY DECISIONS · SHARED CONTEXT</a:t>
            </a:r>
            <a:endParaRPr b="0" i="0" spc="0" sz="1200" u="none" cap="none" strike="noStrike">
              <a:solidFill>
                <a:srgbClr val="000000"/>
              </a:solidFill>
              <a:latin typeface="Arial"/>
              <a:ea typeface="Arial"/>
              <a:cs typeface="Arial"/>
              <a:sym typeface="Arial"/>
            </a:endParaRPr>
          </a:p>
        </p:txBody>
      </p:sp>
      <p:sp>
        <p:nvSpPr>
          <p:cNvPr id="119" name="Google Shape;119;p9"/>
          <p:cNvSpPr/>
          <p:nvPr/>
        </p:nvSpPr>
        <p:spPr>
          <a:xfrm>
            <a:off x="812800" y="1280158"/>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Paste this first, before any exercise</a:t>
            </a:r>
            <a:endParaRPr b="0" i="0" spc="0" sz="3600" u="none" cap="none" strike="noStrike">
              <a:solidFill>
                <a:srgbClr val="000000"/>
              </a:solidFill>
              <a:latin typeface="Arial"/>
              <a:ea typeface="Arial"/>
              <a:cs typeface="Arial"/>
              <a:sym typeface="Arial"/>
            </a:endParaRPr>
          </a:p>
        </p:txBody>
      </p:sp>
      <p:sp>
        <p:nvSpPr>
          <p:cNvPr id="120" name="Google Shape;120;p9"/>
          <p:cNvSpPr/>
          <p:nvPr/>
        </p:nvSpPr>
        <p:spPr>
          <a:xfrm>
            <a:off x="812800" y="2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1</a:t>
            </a:r>
            <a:endParaRPr b="0" i="0" spc="0" sz="2200" u="none" cap="none" strike="noStrike">
              <a:solidFill>
                <a:schemeClr val="dk1"/>
              </a:solidFill>
              <a:latin typeface="Calibri"/>
              <a:ea typeface="Calibri"/>
              <a:cs typeface="Calibri"/>
              <a:sym typeface="Calibri"/>
            </a:endParaRPr>
          </a:p>
        </p:txBody>
      </p:sp>
      <p:sp>
        <p:nvSpPr>
          <p:cNvPr id="121" name="Google Shape;121;p9"/>
          <p:cNvSpPr/>
          <p:nvPr/>
        </p:nvSpPr>
        <p:spPr>
          <a:xfrm>
            <a:off x="1244600" y="2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Open a new chat in ChatGPT, Claude or Gemini.</a:t>
            </a:r>
            <a:endParaRPr b="0" i="0" spc="0" sz="1400" u="none" cap="none" strike="noStrike">
              <a:solidFill>
                <a:srgbClr val="000000"/>
              </a:solidFill>
              <a:latin typeface="Arial"/>
              <a:ea typeface="Arial"/>
              <a:cs typeface="Arial"/>
              <a:sym typeface="Arial"/>
            </a:endParaRPr>
          </a:p>
        </p:txBody>
      </p:sp>
      <p:sp>
        <p:nvSpPr>
          <p:cNvPr id="122" name="Google Shape;122;p9"/>
          <p:cNvSpPr/>
          <p:nvPr/>
        </p:nvSpPr>
        <p:spPr>
          <a:xfrm>
            <a:off x="812800" y="3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2</a:t>
            </a:r>
            <a:endParaRPr b="0" i="0" spc="0" sz="2200" u="none" cap="none" strike="noStrike">
              <a:solidFill>
                <a:schemeClr val="dk1"/>
              </a:solidFill>
              <a:latin typeface="Calibri"/>
              <a:ea typeface="Calibri"/>
              <a:cs typeface="Calibri"/>
              <a:sym typeface="Calibri"/>
            </a:endParaRPr>
          </a:p>
        </p:txBody>
      </p:sp>
      <p:sp>
        <p:nvSpPr>
          <p:cNvPr id="123" name="Google Shape;123;p9"/>
          <p:cNvSpPr/>
          <p:nvPr/>
        </p:nvSpPr>
        <p:spPr>
          <a:xfrm>
            <a:off x="1244600" y="3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Paste this context block first.</a:t>
            </a:r>
            <a:endParaRPr b="0" i="0" spc="0" sz="1400" u="none" cap="none" strike="noStrike">
              <a:solidFill>
                <a:srgbClr val="000000"/>
              </a:solidFill>
              <a:latin typeface="Arial"/>
              <a:ea typeface="Arial"/>
              <a:cs typeface="Arial"/>
              <a:sym typeface="Arial"/>
            </a:endParaRPr>
          </a:p>
        </p:txBody>
      </p:sp>
      <p:sp>
        <p:nvSpPr>
          <p:cNvPr id="124" name="Google Shape;124;p9"/>
          <p:cNvSpPr/>
          <p:nvPr/>
        </p:nvSpPr>
        <p:spPr>
          <a:xfrm>
            <a:off x="812800" y="4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3</a:t>
            </a:r>
            <a:endParaRPr b="0" i="0" spc="0" sz="2200" u="none" cap="none" strike="noStrike">
              <a:solidFill>
                <a:schemeClr val="dk1"/>
              </a:solidFill>
              <a:latin typeface="Calibri"/>
              <a:ea typeface="Calibri"/>
              <a:cs typeface="Calibri"/>
              <a:sym typeface="Calibri"/>
            </a:endParaRPr>
          </a:p>
        </p:txBody>
      </p:sp>
      <p:sp>
        <p:nvSpPr>
          <p:cNvPr id="125" name="Google Shape;125;p9"/>
          <p:cNvSpPr/>
          <p:nvPr/>
        </p:nvSpPr>
        <p:spPr>
          <a:xfrm>
            <a:off x="1244600" y="4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Attach your exercise's files, then paste its Step 1 prompt.</a:t>
            </a:r>
            <a:endParaRPr b="0" i="0" spc="0" sz="1400" u="none" cap="none" strike="noStrike">
              <a:solidFill>
                <a:srgbClr val="000000"/>
              </a:solidFill>
              <a:latin typeface="Arial"/>
              <a:ea typeface="Arial"/>
              <a:cs typeface="Arial"/>
              <a:sym typeface="Arial"/>
            </a:endParaRPr>
          </a:p>
        </p:txBody>
      </p:sp>
      <p:sp>
        <p:nvSpPr>
          <p:cNvPr id="126" name="Google Shape;126;p9"/>
          <p:cNvSpPr/>
          <p:nvPr/>
        </p:nvSpPr>
        <p:spPr>
          <a:xfrm>
            <a:off x="812800" y="5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4</a:t>
            </a:r>
            <a:endParaRPr b="0" i="0" spc="0" sz="2200" u="none" cap="none" strike="noStrike">
              <a:solidFill>
                <a:schemeClr val="dk1"/>
              </a:solidFill>
              <a:latin typeface="Calibri"/>
              <a:ea typeface="Calibri"/>
              <a:cs typeface="Calibri"/>
              <a:sym typeface="Calibri"/>
            </a:endParaRPr>
          </a:p>
        </p:txBody>
      </p:sp>
      <p:sp>
        <p:nvSpPr>
          <p:cNvPr id="127" name="Google Shape;127;p9"/>
          <p:cNvSpPr/>
          <p:nvPr/>
        </p:nvSpPr>
        <p:spPr>
          <a:xfrm>
            <a:off x="1244600" y="5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Stay in the same chat for Step 2.</a:t>
            </a:r>
            <a:endParaRPr b="0" i="0" spc="0" sz="1400" u="none" cap="none" strike="noStrike">
              <a:solidFill>
                <a:srgbClr val="000000"/>
              </a:solidFill>
              <a:latin typeface="Arial"/>
              <a:ea typeface="Arial"/>
              <a:cs typeface="Arial"/>
              <a:sym typeface="Arial"/>
            </a:endParaRPr>
          </a:p>
        </p:txBody>
      </p:sp>
      <p:sp>
        <p:nvSpPr>
          <p:cNvPr id="128" name="Google Shape;128;p9"/>
          <p:cNvSpPr/>
          <p:nvPr/>
        </p:nvSpPr>
        <p:spPr>
          <a:xfrm>
            <a:off x="4750000" y="1980000"/>
            <a:ext cx="6629000" cy="4470000"/>
          </a:xfrm>
          <a:prstGeom prst="roundRect">
            <a:avLst>
              <a:gd fmla="val 4354" name="adj"/>
            </a:avLst>
          </a:prstGeom>
          <a:solidFill>
            <a:srgbClr val="1E3A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29" name="Google Shape;129;p9"/>
          <p:cNvSpPr/>
          <p:nvPr/>
        </p:nvSpPr>
        <p:spPr>
          <a:xfrm>
            <a:off x="5004000" y="2180000"/>
            <a:ext cx="61210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COPY THIS PROMPT</a:t>
            </a:r>
            <a:endParaRPr b="0" i="0" spc="0" sz="1200" u="none" cap="none" strike="noStrike">
              <a:solidFill>
                <a:srgbClr val="000000"/>
              </a:solidFill>
              <a:latin typeface="Arial"/>
              <a:ea typeface="Arial"/>
              <a:cs typeface="Arial"/>
              <a:sym typeface="Arial"/>
            </a:endParaRPr>
          </a:p>
        </p:txBody>
      </p:sp>
      <p:sp>
        <p:nvSpPr>
          <p:cNvPr id="130" name="Google Shape;130;p9"/>
          <p:cNvSpPr/>
          <p:nvPr/>
        </p:nvSpPr>
        <p:spPr>
          <a:xfrm>
            <a:off x="5004000" y="2500000"/>
            <a:ext cx="6121000" cy="383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F0E6"/>
              </a:buClr>
              <a:buSzPts val="1200"/>
              <a:buFont typeface="DM Sans"/>
              <a:buNone/>
            </a:pPr>
            <a:r>
              <a:rPr lang="en-US" sz="950">
                <a:solidFill>
                  <a:srgbClr val="F5F0E6"/>
                </a:solidFill>
                <a:latin typeface="DM Sans"/>
                <a:ea typeface="DM Sans"/>
                <a:cs typeface="DM Sans"/>
                <a:sym typeface="DM Sans"/>
              </a:rPr>
              <a:t>- Every answer is one table of insights and one chart, with a one-line "so what" under each. Nothing more.</a:t>
            </a:r>
            <a:endParaRPr b="0" i="0" spc="0" sz="95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135" name="Shape 135"/>
        <p:cNvGrpSpPr/>
        <p:nvPr/>
      </p:nvGrpSpPr>
      <p:grpSpPr>
        <a:xfrm>
          <a:off x="0" y="0"/>
          <a:ext cx="0" cy="0"/>
          <a:chOff x="0" y="0"/>
          <a:chExt cx="0" cy="0"/>
        </a:xfrm>
      </p:grpSpPr>
      <p:sp>
        <p:nvSpPr>
          <p:cNvPr id="136" name="Google Shape;136;p10"/>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1200"/>
              <a:buFont typeface="DM Sans"/>
              <a:buNone/>
            </a:pPr>
            <a:r>
              <a:rPr b="1" i="0" lang="en-US" spc="0" sz="1200" u="none" cap="none" strike="noStrike">
                <a:solidFill>
                  <a:srgbClr val="B5532B"/>
                </a:solidFill>
                <a:latin typeface="DM Sans"/>
                <a:ea typeface="DM Sans"/>
                <a:cs typeface="DM Sans"/>
                <a:sym typeface="DM Sans"/>
              </a:rPr>
              <a:t>MARKETING · STEP 1 OF </a:t>
            </a:r>
            <a:r>
              <a:rPr b="1" lang="en-US" sz="1200">
                <a:solidFill>
                  <a:srgbClr val="B5532B"/>
                </a:solidFill>
                <a:latin typeface="DM Sans"/>
                <a:ea typeface="DM Sans"/>
                <a:cs typeface="DM Sans"/>
                <a:sym typeface="DM Sans"/>
              </a:rPr>
              <a:t>1</a:t>
            </a:r>
            <a:endParaRPr b="0" i="0" spc="0" sz="1200" u="none" cap="none" strike="noStrike">
              <a:solidFill>
                <a:srgbClr val="000000"/>
              </a:solidFill>
              <a:latin typeface="Arial"/>
              <a:ea typeface="Arial"/>
              <a:cs typeface="Arial"/>
              <a:sym typeface="Arial"/>
            </a:endParaRPr>
          </a:p>
        </p:txBody>
      </p:sp>
      <p:sp>
        <p:nvSpPr>
          <p:cNvPr id="137" name="Google Shape;137;p10"/>
          <p:cNvSpPr/>
          <p:nvPr/>
        </p:nvSpPr>
        <p:spPr>
          <a:xfrm>
            <a:off x="812800" y="1280158"/>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Where is our marketing working?</a:t>
            </a:r>
            <a:endParaRPr b="0" i="0" spc="0" sz="3600" u="none" cap="none" strike="noStrike">
              <a:solidFill>
                <a:srgbClr val="000000"/>
              </a:solidFill>
              <a:latin typeface="Arial"/>
              <a:ea typeface="Arial"/>
              <a:cs typeface="Arial"/>
              <a:sym typeface="Arial"/>
            </a:endParaRPr>
          </a:p>
        </p:txBody>
      </p:sp>
      <p:sp>
        <p:nvSpPr>
          <p:cNvPr id="138" name="Google Shape;138;p10"/>
          <p:cNvSpPr/>
          <p:nvPr/>
        </p:nvSpPr>
        <p:spPr>
          <a:xfrm>
            <a:off x="812800" y="2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1</a:t>
            </a:r>
            <a:endParaRPr b="0" i="0" spc="0" sz="2200" u="none" cap="none" strike="noStrike">
              <a:solidFill>
                <a:schemeClr val="dk1"/>
              </a:solidFill>
              <a:latin typeface="Calibri"/>
              <a:ea typeface="Calibri"/>
              <a:cs typeface="Calibri"/>
              <a:sym typeface="Calibri"/>
            </a:endParaRPr>
          </a:p>
        </p:txBody>
      </p:sp>
      <p:sp>
        <p:nvSpPr>
          <p:cNvPr id="139" name="Google Shape;139;p10"/>
          <p:cNvSpPr/>
          <p:nvPr/>
        </p:nvSpPr>
        <p:spPr>
          <a:xfrm>
            <a:off x="1244600" y="2037085"/>
            <a:ext cx="3300000" cy="950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lang="en-US">
                <a:solidFill>
                  <a:srgbClr val="1F2A24"/>
                </a:solidFill>
                <a:latin typeface="DM Sans"/>
                <a:ea typeface="DM Sans"/>
                <a:cs typeface="DM Sans"/>
                <a:sym typeface="DM Sans"/>
              </a:rPr>
              <a:t>Attach loopcycle_tote_orders.csv and loopcycle_audience_location.csv</a:t>
            </a:r>
            <a:endParaRPr b="0" i="0" spc="0" sz="1400" u="none" cap="none" strike="noStrike">
              <a:solidFill>
                <a:srgbClr val="000000"/>
              </a:solidFill>
              <a:latin typeface="Arial"/>
              <a:ea typeface="Arial"/>
              <a:cs typeface="Arial"/>
              <a:sym typeface="Arial"/>
            </a:endParaRPr>
          </a:p>
        </p:txBody>
      </p:sp>
      <p:sp>
        <p:nvSpPr>
          <p:cNvPr id="140" name="Google Shape;140;p10"/>
          <p:cNvSpPr/>
          <p:nvPr/>
        </p:nvSpPr>
        <p:spPr>
          <a:xfrm>
            <a:off x="812800" y="3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2</a:t>
            </a:r>
            <a:endParaRPr b="0" i="0" spc="0" sz="2200" u="none" cap="none" strike="noStrike">
              <a:solidFill>
                <a:schemeClr val="dk1"/>
              </a:solidFill>
              <a:latin typeface="Calibri"/>
              <a:ea typeface="Calibri"/>
              <a:cs typeface="Calibri"/>
              <a:sym typeface="Calibri"/>
            </a:endParaRPr>
          </a:p>
        </p:txBody>
      </p:sp>
      <p:sp>
        <p:nvSpPr>
          <p:cNvPr id="141" name="Google Shape;141;p10"/>
          <p:cNvSpPr/>
          <p:nvPr/>
        </p:nvSpPr>
        <p:spPr>
          <a:xfrm>
            <a:off x="1244600" y="3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Paste the prompt.</a:t>
            </a:r>
            <a:endParaRPr b="0" i="0" spc="0" sz="1400" u="none" cap="none" strike="noStrike">
              <a:solidFill>
                <a:srgbClr val="000000"/>
              </a:solidFill>
              <a:latin typeface="Arial"/>
              <a:ea typeface="Arial"/>
              <a:cs typeface="Arial"/>
              <a:sym typeface="Arial"/>
            </a:endParaRPr>
          </a:p>
        </p:txBody>
      </p:sp>
      <p:sp>
        <p:nvSpPr>
          <p:cNvPr id="142" name="Google Shape;142;p10"/>
          <p:cNvSpPr/>
          <p:nvPr/>
        </p:nvSpPr>
        <p:spPr>
          <a:xfrm>
            <a:off x="812800" y="4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3</a:t>
            </a:r>
            <a:endParaRPr b="0" i="0" spc="0" sz="2200" u="none" cap="none" strike="noStrike">
              <a:solidFill>
                <a:schemeClr val="dk1"/>
              </a:solidFill>
              <a:latin typeface="Calibri"/>
              <a:ea typeface="Calibri"/>
              <a:cs typeface="Calibri"/>
              <a:sym typeface="Calibri"/>
            </a:endParaRPr>
          </a:p>
        </p:txBody>
      </p:sp>
      <p:sp>
        <p:nvSpPr>
          <p:cNvPr id="143" name="Google Shape;143;p10"/>
          <p:cNvSpPr/>
          <p:nvPr/>
        </p:nvSpPr>
        <p:spPr>
          <a:xfrm>
            <a:off x="1244600" y="4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Follow-up: "Which chart would change a founder's mind?"</a:t>
            </a:r>
            <a:endParaRPr b="0" i="0" spc="0" sz="1400" u="none" cap="none" strike="noStrike">
              <a:solidFill>
                <a:srgbClr val="000000"/>
              </a:solidFill>
              <a:latin typeface="Arial"/>
              <a:ea typeface="Arial"/>
              <a:cs typeface="Arial"/>
              <a:sym typeface="Arial"/>
            </a:endParaRPr>
          </a:p>
        </p:txBody>
      </p:sp>
      <p:sp>
        <p:nvSpPr>
          <p:cNvPr id="144" name="Google Shape;144;p10"/>
          <p:cNvSpPr/>
          <p:nvPr/>
        </p:nvSpPr>
        <p:spPr>
          <a:xfrm>
            <a:off x="812800" y="5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4</a:t>
            </a:r>
            <a:endParaRPr b="0" i="0" spc="0" sz="2200" u="none" cap="none" strike="noStrike">
              <a:solidFill>
                <a:schemeClr val="dk1"/>
              </a:solidFill>
              <a:latin typeface="Calibri"/>
              <a:ea typeface="Calibri"/>
              <a:cs typeface="Calibri"/>
              <a:sym typeface="Calibri"/>
            </a:endParaRPr>
          </a:p>
        </p:txBody>
      </p:sp>
      <p:sp>
        <p:nvSpPr>
          <p:cNvPr id="145" name="Google Shape;145;p10"/>
          <p:cNvSpPr/>
          <p:nvPr/>
        </p:nvSpPr>
        <p:spPr>
          <a:xfrm>
            <a:off x="1244600" y="5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Check: did it invent an ad budget or cost per click? It shouldn't.</a:t>
            </a:r>
            <a:endParaRPr b="0" i="0" spc="0" sz="1400" u="none" cap="none" strike="noStrike">
              <a:solidFill>
                <a:srgbClr val="000000"/>
              </a:solidFill>
              <a:latin typeface="Arial"/>
              <a:ea typeface="Arial"/>
              <a:cs typeface="Arial"/>
              <a:sym typeface="Arial"/>
            </a:endParaRPr>
          </a:p>
        </p:txBody>
      </p:sp>
      <p:sp>
        <p:nvSpPr>
          <p:cNvPr id="146" name="Google Shape;146;p10"/>
          <p:cNvSpPr/>
          <p:nvPr/>
        </p:nvSpPr>
        <p:spPr>
          <a:xfrm>
            <a:off x="4750000" y="1980000"/>
            <a:ext cx="6629000" cy="4470000"/>
          </a:xfrm>
          <a:prstGeom prst="roundRect">
            <a:avLst>
              <a:gd fmla="val 4354" name="adj"/>
            </a:avLst>
          </a:prstGeom>
          <a:solidFill>
            <a:srgbClr val="1E3A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47" name="Google Shape;147;p10"/>
          <p:cNvSpPr/>
          <p:nvPr/>
        </p:nvSpPr>
        <p:spPr>
          <a:xfrm>
            <a:off x="5004000" y="2180000"/>
            <a:ext cx="61210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COPY THIS PROMPT</a:t>
            </a:r>
            <a:endParaRPr b="0" i="0" spc="0" sz="1200" u="none" cap="none" strike="noStrike">
              <a:solidFill>
                <a:srgbClr val="000000"/>
              </a:solidFill>
              <a:latin typeface="Arial"/>
              <a:ea typeface="Arial"/>
              <a:cs typeface="Arial"/>
              <a:sym typeface="Arial"/>
            </a:endParaRPr>
          </a:p>
        </p:txBody>
      </p:sp>
      <p:sp>
        <p:nvSpPr>
          <p:cNvPr id="148" name="Google Shape;148;p10"/>
          <p:cNvSpPr/>
          <p:nvPr/>
        </p:nvSpPr>
        <p:spPr>
          <a:xfrm>
            <a:off x="5004000" y="2500000"/>
            <a:ext cx="6121000" cy="383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Question: where is our marketing working, and where is it wasted?</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Table: group traffic_source into funnels (Instagram = instagram / bio_link, dm, story_reply, comment, whatsapp_click, whatsapp · Marketplace = marketplace_search, recommended, marketplace_campaign, shop_page · Store = walk-in · Other = everything else). For each funnel show orders, gross profit, margin % and gross profit per order.</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Chart: for the top 10 cities, share of Instagram reach (reached, this_month) next to share of online orders. Exclude the Bandung store.</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Then 3 bullets: where marketing works best, and where it is wasted.</a:t>
            </a:r>
            <a:endParaRPr sz="1050">
              <a:solidFill>
                <a:srgbClr val="F5F0E6"/>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153" name="Shape 153"/>
        <p:cNvGrpSpPr/>
        <p:nvPr/>
      </p:nvGrpSpPr>
      <p:grpSpPr>
        <a:xfrm>
          <a:off x="0" y="0"/>
          <a:ext cx="0" cy="0"/>
          <a:chOff x="0" y="0"/>
          <a:chExt cx="0" cy="0"/>
        </a:xfrm>
      </p:grpSpPr>
      <p:sp>
        <p:nvSpPr>
          <p:cNvPr id="154" name="Google Shape;154;p11"/>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1200"/>
              <a:buFont typeface="DM Sans"/>
              <a:buNone/>
            </a:pPr>
            <a:r>
              <a:rPr b="1" i="0" lang="en-US" spc="0" sz="1200" u="none" cap="none" strike="noStrike">
                <a:solidFill>
                  <a:srgbClr val="B5532B"/>
                </a:solidFill>
                <a:latin typeface="DM Sans"/>
                <a:ea typeface="DM Sans"/>
                <a:cs typeface="DM Sans"/>
                <a:sym typeface="DM Sans"/>
              </a:rPr>
              <a:t>PRODUCT · STEP 1 OF 2</a:t>
            </a:r>
            <a:endParaRPr b="0" i="0" spc="0" sz="1200" u="none" cap="none" strike="noStrike">
              <a:solidFill>
                <a:srgbClr val="000000"/>
              </a:solidFill>
              <a:latin typeface="Arial"/>
              <a:ea typeface="Arial"/>
              <a:cs typeface="Arial"/>
              <a:sym typeface="Arial"/>
            </a:endParaRPr>
          </a:p>
        </p:txBody>
      </p:sp>
      <p:sp>
        <p:nvSpPr>
          <p:cNvPr id="155" name="Google Shape;155;p11"/>
          <p:cNvSpPr/>
          <p:nvPr/>
        </p:nvSpPr>
        <p:spPr>
          <a:xfrm>
            <a:off x="812800" y="1280158"/>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Which products make us money?</a:t>
            </a:r>
            <a:endParaRPr b="0" i="0" spc="0" sz="3600" u="none" cap="none" strike="noStrike">
              <a:solidFill>
                <a:srgbClr val="000000"/>
              </a:solidFill>
              <a:latin typeface="Arial"/>
              <a:ea typeface="Arial"/>
              <a:cs typeface="Arial"/>
              <a:sym typeface="Arial"/>
            </a:endParaRPr>
          </a:p>
        </p:txBody>
      </p:sp>
      <p:sp>
        <p:nvSpPr>
          <p:cNvPr id="156" name="Google Shape;156;p11"/>
          <p:cNvSpPr/>
          <p:nvPr/>
        </p:nvSpPr>
        <p:spPr>
          <a:xfrm>
            <a:off x="812800" y="2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1</a:t>
            </a:r>
            <a:endParaRPr b="0" i="0" spc="0" sz="2200" u="none" cap="none" strike="noStrike">
              <a:solidFill>
                <a:schemeClr val="dk1"/>
              </a:solidFill>
              <a:latin typeface="Calibri"/>
              <a:ea typeface="Calibri"/>
              <a:cs typeface="Calibri"/>
              <a:sym typeface="Calibri"/>
            </a:endParaRPr>
          </a:p>
        </p:txBody>
      </p:sp>
      <p:sp>
        <p:nvSpPr>
          <p:cNvPr id="157" name="Google Shape;157;p11"/>
          <p:cNvSpPr/>
          <p:nvPr/>
        </p:nvSpPr>
        <p:spPr>
          <a:xfrm>
            <a:off x="1244600" y="2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New chat: paste the shared context, attach the </a:t>
            </a:r>
            <a:r>
              <a:rPr lang="en-US">
                <a:solidFill>
                  <a:srgbClr val="1F2A24"/>
                </a:solidFill>
                <a:latin typeface="DM Sans"/>
                <a:ea typeface="DM Sans"/>
                <a:cs typeface="DM Sans"/>
                <a:sym typeface="DM Sans"/>
              </a:rPr>
              <a:t>loopcycle_tote_orders.csv</a:t>
            </a:r>
            <a:r>
              <a:rPr b="0" i="0" lang="en-US" spc="0" sz="1400" u="none" cap="none" strike="noStrike">
                <a:solidFill>
                  <a:srgbClr val="1F2A24"/>
                </a:solidFill>
                <a:latin typeface="DM Sans"/>
                <a:ea typeface="DM Sans"/>
                <a:cs typeface="DM Sans"/>
                <a:sym typeface="DM Sans"/>
              </a:rPr>
              <a:t> file.</a:t>
            </a:r>
            <a:endParaRPr b="0" i="0" spc="0" sz="1400" u="none" cap="none" strike="noStrike">
              <a:solidFill>
                <a:srgbClr val="000000"/>
              </a:solidFill>
              <a:latin typeface="Arial"/>
              <a:ea typeface="Arial"/>
              <a:cs typeface="Arial"/>
              <a:sym typeface="Arial"/>
            </a:endParaRPr>
          </a:p>
        </p:txBody>
      </p:sp>
      <p:sp>
        <p:nvSpPr>
          <p:cNvPr id="158" name="Google Shape;158;p11"/>
          <p:cNvSpPr/>
          <p:nvPr/>
        </p:nvSpPr>
        <p:spPr>
          <a:xfrm>
            <a:off x="812800" y="3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2</a:t>
            </a:r>
            <a:endParaRPr b="0" i="0" spc="0" sz="2200" u="none" cap="none" strike="noStrike">
              <a:solidFill>
                <a:schemeClr val="dk1"/>
              </a:solidFill>
              <a:latin typeface="Calibri"/>
              <a:ea typeface="Calibri"/>
              <a:cs typeface="Calibri"/>
              <a:sym typeface="Calibri"/>
            </a:endParaRPr>
          </a:p>
        </p:txBody>
      </p:sp>
      <p:sp>
        <p:nvSpPr>
          <p:cNvPr id="159" name="Google Shape;159;p11"/>
          <p:cNvSpPr/>
          <p:nvPr/>
        </p:nvSpPr>
        <p:spPr>
          <a:xfrm>
            <a:off x="1244600" y="3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Paste the prompt.</a:t>
            </a:r>
            <a:endParaRPr b="0" i="0" spc="0" sz="1400" u="none" cap="none" strike="noStrike">
              <a:solidFill>
                <a:srgbClr val="000000"/>
              </a:solidFill>
              <a:latin typeface="Arial"/>
              <a:ea typeface="Arial"/>
              <a:cs typeface="Arial"/>
              <a:sym typeface="Arial"/>
            </a:endParaRPr>
          </a:p>
        </p:txBody>
      </p:sp>
      <p:sp>
        <p:nvSpPr>
          <p:cNvPr id="160" name="Google Shape;160;p11"/>
          <p:cNvSpPr/>
          <p:nvPr/>
        </p:nvSpPr>
        <p:spPr>
          <a:xfrm>
            <a:off x="812800" y="4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3</a:t>
            </a:r>
            <a:endParaRPr b="0" i="0" spc="0" sz="2200" u="none" cap="none" strike="noStrike">
              <a:solidFill>
                <a:schemeClr val="dk1"/>
              </a:solidFill>
              <a:latin typeface="Calibri"/>
              <a:ea typeface="Calibri"/>
              <a:cs typeface="Calibri"/>
              <a:sym typeface="Calibri"/>
            </a:endParaRPr>
          </a:p>
        </p:txBody>
      </p:sp>
      <p:sp>
        <p:nvSpPr>
          <p:cNvPr id="161" name="Google Shape;161;p11"/>
          <p:cNvSpPr/>
          <p:nvPr/>
        </p:nvSpPr>
        <p:spPr>
          <a:xfrm>
            <a:off x="1244600" y="4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Follow-up: "How does the ranking change per day on sale?"</a:t>
            </a:r>
            <a:endParaRPr b="0" i="0" spc="0" sz="1400" u="none" cap="none" strike="noStrike">
              <a:solidFill>
                <a:srgbClr val="000000"/>
              </a:solidFill>
              <a:latin typeface="Arial"/>
              <a:ea typeface="Arial"/>
              <a:cs typeface="Arial"/>
              <a:sym typeface="Arial"/>
            </a:endParaRPr>
          </a:p>
        </p:txBody>
      </p:sp>
      <p:sp>
        <p:nvSpPr>
          <p:cNvPr id="162" name="Google Shape;162;p11"/>
          <p:cNvSpPr/>
          <p:nvPr/>
        </p:nvSpPr>
        <p:spPr>
          <a:xfrm>
            <a:off x="812800" y="5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4</a:t>
            </a:r>
            <a:endParaRPr b="0" i="0" spc="0" sz="2200" u="none" cap="none" strike="noStrike">
              <a:solidFill>
                <a:schemeClr val="dk1"/>
              </a:solidFill>
              <a:latin typeface="Calibri"/>
              <a:ea typeface="Calibri"/>
              <a:cs typeface="Calibri"/>
              <a:sym typeface="Calibri"/>
            </a:endParaRPr>
          </a:p>
        </p:txBody>
      </p:sp>
      <p:sp>
        <p:nvSpPr>
          <p:cNvPr id="163" name="Google Shape;163;p11"/>
          <p:cNvSpPr/>
          <p:nvPr/>
        </p:nvSpPr>
        <p:spPr>
          <a:xfrm>
            <a:off x="1244600" y="5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Check: are Batik and Gift Set judged on their days on sale?</a:t>
            </a:r>
            <a:endParaRPr b="0" i="0" spc="0" sz="1400" u="none" cap="none" strike="noStrike">
              <a:solidFill>
                <a:srgbClr val="000000"/>
              </a:solidFill>
              <a:latin typeface="Arial"/>
              <a:ea typeface="Arial"/>
              <a:cs typeface="Arial"/>
              <a:sym typeface="Arial"/>
            </a:endParaRPr>
          </a:p>
        </p:txBody>
      </p:sp>
      <p:sp>
        <p:nvSpPr>
          <p:cNvPr id="164" name="Google Shape;164;p11"/>
          <p:cNvSpPr/>
          <p:nvPr/>
        </p:nvSpPr>
        <p:spPr>
          <a:xfrm>
            <a:off x="4750000" y="1980000"/>
            <a:ext cx="6629000" cy="4470000"/>
          </a:xfrm>
          <a:prstGeom prst="roundRect">
            <a:avLst>
              <a:gd fmla="val 4354" name="adj"/>
            </a:avLst>
          </a:prstGeom>
          <a:solidFill>
            <a:srgbClr val="1E3A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65" name="Google Shape;165;p11"/>
          <p:cNvSpPr/>
          <p:nvPr/>
        </p:nvSpPr>
        <p:spPr>
          <a:xfrm>
            <a:off x="5004000" y="2180000"/>
            <a:ext cx="61210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COPY THIS PROMPT</a:t>
            </a:r>
            <a:endParaRPr b="0" i="0" spc="0" sz="1200" u="none" cap="none" strike="noStrike">
              <a:solidFill>
                <a:srgbClr val="000000"/>
              </a:solidFill>
              <a:latin typeface="Arial"/>
              <a:ea typeface="Arial"/>
              <a:cs typeface="Arial"/>
              <a:sym typeface="Arial"/>
            </a:endParaRPr>
          </a:p>
        </p:txBody>
      </p:sp>
      <p:sp>
        <p:nvSpPr>
          <p:cNvPr id="166" name="Google Shape;166;p11"/>
          <p:cNvSpPr/>
          <p:nvPr/>
        </p:nvSpPr>
        <p:spPr>
          <a:xfrm>
            <a:off x="5004000" y="2500000"/>
            <a:ext cx="6121000" cy="383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Question: which products make us money?</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Table: one row per SKU with orders, gross profit, gross profit per unit, first sale date, days on sale, and gross profit per day on sale.</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Chart: gross profit per day on sale, by SKU.</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Then 3 bullets: how does the ranking change when we account for launch dates?</a:t>
            </a:r>
            <a:endParaRPr sz="1150">
              <a:solidFill>
                <a:srgbClr val="F5F0E6"/>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171" name="Shape 171"/>
        <p:cNvGrpSpPr/>
        <p:nvPr/>
      </p:nvGrpSpPr>
      <p:grpSpPr>
        <a:xfrm>
          <a:off x="0" y="0"/>
          <a:ext cx="0" cy="0"/>
          <a:chOff x="0" y="0"/>
          <a:chExt cx="0" cy="0"/>
        </a:xfrm>
      </p:grpSpPr>
      <p:sp>
        <p:nvSpPr>
          <p:cNvPr id="172" name="Google Shape;172;p12"/>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1200"/>
              <a:buFont typeface="DM Sans"/>
              <a:buNone/>
            </a:pPr>
            <a:r>
              <a:rPr b="1" i="0" lang="en-US" spc="0" sz="1200" u="none" cap="none" strike="noStrike">
                <a:solidFill>
                  <a:srgbClr val="B5532B"/>
                </a:solidFill>
                <a:latin typeface="DM Sans"/>
                <a:ea typeface="DM Sans"/>
                <a:cs typeface="DM Sans"/>
                <a:sym typeface="DM Sans"/>
              </a:rPr>
              <a:t>PRODUCT · STEP 2 OF 2</a:t>
            </a:r>
            <a:endParaRPr b="0" i="0" spc="0" sz="1200" u="none" cap="none" strike="noStrike">
              <a:solidFill>
                <a:srgbClr val="000000"/>
              </a:solidFill>
              <a:latin typeface="Arial"/>
              <a:ea typeface="Arial"/>
              <a:cs typeface="Arial"/>
              <a:sym typeface="Arial"/>
            </a:endParaRPr>
          </a:p>
        </p:txBody>
      </p:sp>
      <p:sp>
        <p:nvSpPr>
          <p:cNvPr id="173" name="Google Shape;173;p12"/>
          <p:cNvSpPr/>
          <p:nvPr/>
        </p:nvSpPr>
        <p:spPr>
          <a:xfrm>
            <a:off x="812800" y="1280158"/>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Which products should we make more of?</a:t>
            </a:r>
            <a:endParaRPr b="0" i="0" spc="0" sz="3600" u="none" cap="none" strike="noStrike">
              <a:solidFill>
                <a:srgbClr val="000000"/>
              </a:solidFill>
              <a:latin typeface="Arial"/>
              <a:ea typeface="Arial"/>
              <a:cs typeface="Arial"/>
              <a:sym typeface="Arial"/>
            </a:endParaRPr>
          </a:p>
        </p:txBody>
      </p:sp>
      <p:sp>
        <p:nvSpPr>
          <p:cNvPr id="174" name="Google Shape;174;p12"/>
          <p:cNvSpPr/>
          <p:nvPr/>
        </p:nvSpPr>
        <p:spPr>
          <a:xfrm>
            <a:off x="812800" y="2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1</a:t>
            </a:r>
            <a:endParaRPr b="0" i="0" spc="0" sz="2200" u="none" cap="none" strike="noStrike">
              <a:solidFill>
                <a:schemeClr val="dk1"/>
              </a:solidFill>
              <a:latin typeface="Calibri"/>
              <a:ea typeface="Calibri"/>
              <a:cs typeface="Calibri"/>
              <a:sym typeface="Calibri"/>
            </a:endParaRPr>
          </a:p>
        </p:txBody>
      </p:sp>
      <p:sp>
        <p:nvSpPr>
          <p:cNvPr id="175" name="Google Shape;175;p12"/>
          <p:cNvSpPr/>
          <p:nvPr/>
        </p:nvSpPr>
        <p:spPr>
          <a:xfrm>
            <a:off x="1244600" y="2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Stay in the same chat.</a:t>
            </a:r>
            <a:endParaRPr b="0" i="0" spc="0" sz="1400" u="none" cap="none" strike="noStrike">
              <a:solidFill>
                <a:srgbClr val="000000"/>
              </a:solidFill>
              <a:latin typeface="Arial"/>
              <a:ea typeface="Arial"/>
              <a:cs typeface="Arial"/>
              <a:sym typeface="Arial"/>
            </a:endParaRPr>
          </a:p>
        </p:txBody>
      </p:sp>
      <p:sp>
        <p:nvSpPr>
          <p:cNvPr id="176" name="Google Shape;176;p12"/>
          <p:cNvSpPr/>
          <p:nvPr/>
        </p:nvSpPr>
        <p:spPr>
          <a:xfrm>
            <a:off x="812800" y="3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2</a:t>
            </a:r>
            <a:endParaRPr b="0" i="0" spc="0" sz="2200" u="none" cap="none" strike="noStrike">
              <a:solidFill>
                <a:schemeClr val="dk1"/>
              </a:solidFill>
              <a:latin typeface="Calibri"/>
              <a:ea typeface="Calibri"/>
              <a:cs typeface="Calibri"/>
              <a:sym typeface="Calibri"/>
            </a:endParaRPr>
          </a:p>
        </p:txBody>
      </p:sp>
      <p:sp>
        <p:nvSpPr>
          <p:cNvPr id="177" name="Google Shape;177;p12"/>
          <p:cNvSpPr/>
          <p:nvPr/>
        </p:nvSpPr>
        <p:spPr>
          <a:xfrm>
            <a:off x="1244600" y="3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Paste the prompt.</a:t>
            </a:r>
            <a:endParaRPr b="0" i="0" spc="0" sz="1400" u="none" cap="none" strike="noStrike">
              <a:solidFill>
                <a:srgbClr val="000000"/>
              </a:solidFill>
              <a:latin typeface="Arial"/>
              <a:ea typeface="Arial"/>
              <a:cs typeface="Arial"/>
              <a:sym typeface="Arial"/>
            </a:endParaRPr>
          </a:p>
        </p:txBody>
      </p:sp>
      <p:sp>
        <p:nvSpPr>
          <p:cNvPr id="178" name="Google Shape;178;p12"/>
          <p:cNvSpPr/>
          <p:nvPr/>
        </p:nvSpPr>
        <p:spPr>
          <a:xfrm>
            <a:off x="812800" y="4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3</a:t>
            </a:r>
            <a:endParaRPr b="0" i="0" spc="0" sz="2200" u="none" cap="none" strike="noStrike">
              <a:solidFill>
                <a:schemeClr val="dk1"/>
              </a:solidFill>
              <a:latin typeface="Calibri"/>
              <a:ea typeface="Calibri"/>
              <a:cs typeface="Calibri"/>
              <a:sym typeface="Calibri"/>
            </a:endParaRPr>
          </a:p>
        </p:txBody>
      </p:sp>
      <p:sp>
        <p:nvSpPr>
          <p:cNvPr id="179" name="Google Shape;179;p12"/>
          <p:cNvSpPr/>
          <p:nvPr/>
        </p:nvSpPr>
        <p:spPr>
          <a:xfrm>
            <a:off x="1244600" y="4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Follow-up: "Write this as a 5-line note to our production lead."</a:t>
            </a:r>
            <a:endParaRPr b="0" i="0" spc="0" sz="1400" u="none" cap="none" strike="noStrike">
              <a:solidFill>
                <a:srgbClr val="000000"/>
              </a:solidFill>
              <a:latin typeface="Arial"/>
              <a:ea typeface="Arial"/>
              <a:cs typeface="Arial"/>
              <a:sym typeface="Arial"/>
            </a:endParaRPr>
          </a:p>
        </p:txBody>
      </p:sp>
      <p:sp>
        <p:nvSpPr>
          <p:cNvPr id="180" name="Google Shape;180;p12"/>
          <p:cNvSpPr/>
          <p:nvPr/>
        </p:nvSpPr>
        <p:spPr>
          <a:xfrm>
            <a:off x="812800" y="5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4</a:t>
            </a:r>
            <a:endParaRPr b="0" i="0" spc="0" sz="2200" u="none" cap="none" strike="noStrike">
              <a:solidFill>
                <a:schemeClr val="dk1"/>
              </a:solidFill>
              <a:latin typeface="Calibri"/>
              <a:ea typeface="Calibri"/>
              <a:cs typeface="Calibri"/>
              <a:sym typeface="Calibri"/>
            </a:endParaRPr>
          </a:p>
        </p:txBody>
      </p:sp>
      <p:sp>
        <p:nvSpPr>
          <p:cNvPr id="181" name="Google Shape;181;p12"/>
          <p:cNvSpPr/>
          <p:nvPr/>
        </p:nvSpPr>
        <p:spPr>
          <a:xfrm>
            <a:off x="1244600" y="5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Ask: "What would you need to see next month to change your mind?"</a:t>
            </a:r>
            <a:endParaRPr b="0" i="0" spc="0" sz="1400" u="none" cap="none" strike="noStrike">
              <a:solidFill>
                <a:srgbClr val="000000"/>
              </a:solidFill>
              <a:latin typeface="Arial"/>
              <a:ea typeface="Arial"/>
              <a:cs typeface="Arial"/>
              <a:sym typeface="Arial"/>
            </a:endParaRPr>
          </a:p>
        </p:txBody>
      </p:sp>
      <p:sp>
        <p:nvSpPr>
          <p:cNvPr id="182" name="Google Shape;182;p12"/>
          <p:cNvSpPr/>
          <p:nvPr/>
        </p:nvSpPr>
        <p:spPr>
          <a:xfrm>
            <a:off x="4750000" y="1980000"/>
            <a:ext cx="6629000" cy="4470000"/>
          </a:xfrm>
          <a:prstGeom prst="roundRect">
            <a:avLst>
              <a:gd fmla="val 4354" name="adj"/>
            </a:avLst>
          </a:prstGeom>
          <a:solidFill>
            <a:srgbClr val="1E3A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183" name="Google Shape;183;p12"/>
          <p:cNvSpPr/>
          <p:nvPr/>
        </p:nvSpPr>
        <p:spPr>
          <a:xfrm>
            <a:off x="5004000" y="2180000"/>
            <a:ext cx="61210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COPY THIS PROMPT</a:t>
            </a:r>
            <a:endParaRPr b="0" i="0" spc="0" sz="1200" u="none" cap="none" strike="noStrike">
              <a:solidFill>
                <a:srgbClr val="000000"/>
              </a:solidFill>
              <a:latin typeface="Arial"/>
              <a:ea typeface="Arial"/>
              <a:cs typeface="Arial"/>
              <a:sym typeface="Arial"/>
            </a:endParaRPr>
          </a:p>
        </p:txBody>
      </p:sp>
      <p:sp>
        <p:nvSpPr>
          <p:cNvPr id="184" name="Google Shape;184;p12"/>
          <p:cNvSpPr/>
          <p:nvPr/>
        </p:nvSpPr>
        <p:spPr>
          <a:xfrm>
            <a:off x="5004000" y="2500000"/>
            <a:ext cx="6121000" cy="383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We can make 1,000 extra totes next month.</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Table: split them across SKUs, with expected gross profit and one reason for each.</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Chart: expected gross profit of your split, by SKU.</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End with one sentence: how much of Batik's success might be launch novelty?</a:t>
            </a:r>
            <a:endParaRPr sz="1150">
              <a:solidFill>
                <a:srgbClr val="F5F0E6"/>
              </a:solidFill>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189" name="Shape 189"/>
        <p:cNvGrpSpPr/>
        <p:nvPr/>
      </p:nvGrpSpPr>
      <p:grpSpPr>
        <a:xfrm>
          <a:off x="0" y="0"/>
          <a:ext cx="0" cy="0"/>
          <a:chOff x="0" y="0"/>
          <a:chExt cx="0" cy="0"/>
        </a:xfrm>
      </p:grpSpPr>
      <p:sp>
        <p:nvSpPr>
          <p:cNvPr id="190" name="Google Shape;190;p13"/>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1200"/>
              <a:buFont typeface="DM Sans"/>
              <a:buNone/>
            </a:pPr>
            <a:r>
              <a:rPr b="1" i="0" lang="en-US" spc="0" sz="1200" u="none" cap="none" strike="noStrike">
                <a:solidFill>
                  <a:srgbClr val="B5532B"/>
                </a:solidFill>
                <a:latin typeface="DM Sans"/>
                <a:ea typeface="DM Sans"/>
                <a:cs typeface="DM Sans"/>
                <a:sym typeface="DM Sans"/>
              </a:rPr>
              <a:t>OPERATIONS · STEP 1 OF 2</a:t>
            </a:r>
            <a:endParaRPr b="0" i="0" spc="0" sz="1200" u="none" cap="none" strike="noStrike">
              <a:solidFill>
                <a:srgbClr val="000000"/>
              </a:solidFill>
              <a:latin typeface="Arial"/>
              <a:ea typeface="Arial"/>
              <a:cs typeface="Arial"/>
              <a:sym typeface="Arial"/>
            </a:endParaRPr>
          </a:p>
        </p:txBody>
      </p:sp>
      <p:sp>
        <p:nvSpPr>
          <p:cNvPr id="191" name="Google Shape;191;p13"/>
          <p:cNvSpPr/>
          <p:nvPr/>
        </p:nvSpPr>
        <p:spPr>
          <a:xfrm>
            <a:off x="812800" y="1280158"/>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Where are our customers?</a:t>
            </a:r>
            <a:endParaRPr b="0" i="0" spc="0" sz="3600" u="none" cap="none" strike="noStrike">
              <a:solidFill>
                <a:srgbClr val="000000"/>
              </a:solidFill>
              <a:latin typeface="Arial"/>
              <a:ea typeface="Arial"/>
              <a:cs typeface="Arial"/>
              <a:sym typeface="Arial"/>
            </a:endParaRPr>
          </a:p>
        </p:txBody>
      </p:sp>
      <p:sp>
        <p:nvSpPr>
          <p:cNvPr id="192" name="Google Shape;192;p13"/>
          <p:cNvSpPr/>
          <p:nvPr/>
        </p:nvSpPr>
        <p:spPr>
          <a:xfrm>
            <a:off x="812800" y="2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1</a:t>
            </a:r>
            <a:endParaRPr b="0" i="0" spc="0" sz="2200" u="none" cap="none" strike="noStrike">
              <a:solidFill>
                <a:schemeClr val="dk1"/>
              </a:solidFill>
              <a:latin typeface="Calibri"/>
              <a:ea typeface="Calibri"/>
              <a:cs typeface="Calibri"/>
              <a:sym typeface="Calibri"/>
            </a:endParaRPr>
          </a:p>
        </p:txBody>
      </p:sp>
      <p:sp>
        <p:nvSpPr>
          <p:cNvPr id="193" name="Google Shape;193;p13"/>
          <p:cNvSpPr/>
          <p:nvPr/>
        </p:nvSpPr>
        <p:spPr>
          <a:xfrm>
            <a:off x="1244600" y="2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New chat: paste the shared context, attach </a:t>
            </a:r>
            <a:r>
              <a:rPr lang="en-US">
                <a:solidFill>
                  <a:srgbClr val="1F2A24"/>
                </a:solidFill>
                <a:latin typeface="DM Sans"/>
                <a:ea typeface="DM Sans"/>
                <a:cs typeface="DM Sans"/>
                <a:sym typeface="DM Sans"/>
              </a:rPr>
              <a:t>loopcycle_tote_orders.csv</a:t>
            </a:r>
            <a:r>
              <a:rPr b="0" i="0" lang="en-US" spc="0" sz="1400" u="none" cap="none" strike="noStrike">
                <a:solidFill>
                  <a:srgbClr val="1F2A24"/>
                </a:solidFill>
                <a:latin typeface="DM Sans"/>
                <a:ea typeface="DM Sans"/>
                <a:cs typeface="DM Sans"/>
                <a:sym typeface="DM Sans"/>
              </a:rPr>
              <a:t>.</a:t>
            </a:r>
            <a:endParaRPr b="0" i="0" spc="0" sz="1400" u="none" cap="none" strike="noStrike">
              <a:solidFill>
                <a:srgbClr val="000000"/>
              </a:solidFill>
              <a:latin typeface="Arial"/>
              <a:ea typeface="Arial"/>
              <a:cs typeface="Arial"/>
              <a:sym typeface="Arial"/>
            </a:endParaRPr>
          </a:p>
        </p:txBody>
      </p:sp>
      <p:sp>
        <p:nvSpPr>
          <p:cNvPr id="194" name="Google Shape;194;p13"/>
          <p:cNvSpPr/>
          <p:nvPr/>
        </p:nvSpPr>
        <p:spPr>
          <a:xfrm>
            <a:off x="812800" y="3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2</a:t>
            </a:r>
            <a:endParaRPr b="0" i="0" spc="0" sz="2200" u="none" cap="none" strike="noStrike">
              <a:solidFill>
                <a:schemeClr val="dk1"/>
              </a:solidFill>
              <a:latin typeface="Calibri"/>
              <a:ea typeface="Calibri"/>
              <a:cs typeface="Calibri"/>
              <a:sym typeface="Calibri"/>
            </a:endParaRPr>
          </a:p>
        </p:txBody>
      </p:sp>
      <p:sp>
        <p:nvSpPr>
          <p:cNvPr id="195" name="Google Shape;195;p13"/>
          <p:cNvSpPr/>
          <p:nvPr/>
        </p:nvSpPr>
        <p:spPr>
          <a:xfrm>
            <a:off x="1244600" y="3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Paste the prompt.</a:t>
            </a:r>
            <a:endParaRPr b="0" i="0" spc="0" sz="1400" u="none" cap="none" strike="noStrike">
              <a:solidFill>
                <a:srgbClr val="000000"/>
              </a:solidFill>
              <a:latin typeface="Arial"/>
              <a:ea typeface="Arial"/>
              <a:cs typeface="Arial"/>
              <a:sym typeface="Arial"/>
            </a:endParaRPr>
          </a:p>
        </p:txBody>
      </p:sp>
      <p:sp>
        <p:nvSpPr>
          <p:cNvPr id="196" name="Google Shape;196;p13"/>
          <p:cNvSpPr/>
          <p:nvPr/>
        </p:nvSpPr>
        <p:spPr>
          <a:xfrm>
            <a:off x="812800" y="4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3</a:t>
            </a:r>
            <a:endParaRPr b="0" i="0" spc="0" sz="2200" u="none" cap="none" strike="noStrike">
              <a:solidFill>
                <a:schemeClr val="dk1"/>
              </a:solidFill>
              <a:latin typeface="Calibri"/>
              <a:ea typeface="Calibri"/>
              <a:cs typeface="Calibri"/>
              <a:sym typeface="Calibri"/>
            </a:endParaRPr>
          </a:p>
        </p:txBody>
      </p:sp>
      <p:sp>
        <p:nvSpPr>
          <p:cNvPr id="197" name="Google Shape;197;p13"/>
          <p:cNvSpPr/>
          <p:nvPr/>
        </p:nvSpPr>
        <p:spPr>
          <a:xfrm>
            <a:off x="1244600" y="4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Follow-up: "Redo it by province. Why does it change?"</a:t>
            </a:r>
            <a:endParaRPr b="0" i="0" spc="0" sz="1400" u="none" cap="none" strike="noStrike">
              <a:solidFill>
                <a:srgbClr val="000000"/>
              </a:solidFill>
              <a:latin typeface="Arial"/>
              <a:ea typeface="Arial"/>
              <a:cs typeface="Arial"/>
              <a:sym typeface="Arial"/>
            </a:endParaRPr>
          </a:p>
        </p:txBody>
      </p:sp>
      <p:sp>
        <p:nvSpPr>
          <p:cNvPr id="198" name="Google Shape;198;p13"/>
          <p:cNvSpPr/>
          <p:nvPr/>
        </p:nvSpPr>
        <p:spPr>
          <a:xfrm>
            <a:off x="812800" y="5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4</a:t>
            </a:r>
            <a:endParaRPr b="0" i="0" spc="0" sz="2200" u="none" cap="none" strike="noStrike">
              <a:solidFill>
                <a:schemeClr val="dk1"/>
              </a:solidFill>
              <a:latin typeface="Calibri"/>
              <a:ea typeface="Calibri"/>
              <a:cs typeface="Calibri"/>
              <a:sym typeface="Calibri"/>
            </a:endParaRPr>
          </a:p>
        </p:txBody>
      </p:sp>
      <p:sp>
        <p:nvSpPr>
          <p:cNvPr id="199" name="Google Shape;199;p13"/>
          <p:cNvSpPr/>
          <p:nvPr/>
        </p:nvSpPr>
        <p:spPr>
          <a:xfrm>
            <a:off x="1244600" y="5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Check: are Bekasi, Depok and Bogor in Jabodetabek?</a:t>
            </a:r>
            <a:endParaRPr b="0" i="0" spc="0" sz="1400" u="none" cap="none" strike="noStrike">
              <a:solidFill>
                <a:srgbClr val="000000"/>
              </a:solidFill>
              <a:latin typeface="Arial"/>
              <a:ea typeface="Arial"/>
              <a:cs typeface="Arial"/>
              <a:sym typeface="Arial"/>
            </a:endParaRPr>
          </a:p>
        </p:txBody>
      </p:sp>
      <p:sp>
        <p:nvSpPr>
          <p:cNvPr id="200" name="Google Shape;200;p13"/>
          <p:cNvSpPr/>
          <p:nvPr/>
        </p:nvSpPr>
        <p:spPr>
          <a:xfrm>
            <a:off x="4750000" y="1980000"/>
            <a:ext cx="6629000" cy="4470000"/>
          </a:xfrm>
          <a:prstGeom prst="roundRect">
            <a:avLst>
              <a:gd fmla="val 4354" name="adj"/>
            </a:avLst>
          </a:prstGeom>
          <a:solidFill>
            <a:srgbClr val="1E3A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01" name="Google Shape;201;p13"/>
          <p:cNvSpPr/>
          <p:nvPr/>
        </p:nvSpPr>
        <p:spPr>
          <a:xfrm>
            <a:off x="5004000" y="2180000"/>
            <a:ext cx="61210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COPY THIS PROMPT</a:t>
            </a:r>
            <a:endParaRPr b="0" i="0" spc="0" sz="1200" u="none" cap="none" strike="noStrike">
              <a:solidFill>
                <a:srgbClr val="000000"/>
              </a:solidFill>
              <a:latin typeface="Arial"/>
              <a:ea typeface="Arial"/>
              <a:cs typeface="Arial"/>
              <a:sym typeface="Arial"/>
            </a:endParaRPr>
          </a:p>
        </p:txBody>
      </p:sp>
      <p:sp>
        <p:nvSpPr>
          <p:cNvPr id="202" name="Google Shape;202;p13"/>
          <p:cNvSpPr/>
          <p:nvPr/>
        </p:nvSpPr>
        <p:spPr>
          <a:xfrm>
            <a:off x="5004000" y="2500000"/>
            <a:ext cx="6121000" cy="383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Question: where is our demand, and how well do we reach it? Every order ships from Bandung.</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Group customer_city into zones: Greater Bandung (Bandung, Cimahi, Garut, Sumedang) · Jabodetabek (Jakarta, Bekasi, Depok, Bogor, Tangerang, South Tangerang) · Rest of Java · Sumatra · Kalimantan/Sulawesi/East · Bali · International. Exclude the Bandung store.</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Table: one row per zone with orders, share of orders, gross profit, and median delivery days (delivered_date minus order_date).</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Chart: monthly orders by zone, June to September.</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0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050">
                <a:solidFill>
                  <a:srgbClr val="F5F0E6"/>
                </a:solidFill>
                <a:latin typeface="DM Sans"/>
                <a:ea typeface="DM Sans"/>
                <a:cs typeface="DM Sans"/>
                <a:sym typeface="DM Sans"/>
              </a:rPr>
              <a:t>Then 3 bullets: where is demand concentrated, growing, and slowest to reach?</a:t>
            </a:r>
            <a:endParaRPr sz="1050">
              <a:solidFill>
                <a:srgbClr val="F5F0E6"/>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0E6"/>
        </a:solidFill>
      </p:bgPr>
    </p:bg>
    <p:spTree>
      <p:nvGrpSpPr>
        <p:cNvPr id="207" name="Shape 207"/>
        <p:cNvGrpSpPr/>
        <p:nvPr/>
      </p:nvGrpSpPr>
      <p:grpSpPr>
        <a:xfrm>
          <a:off x="0" y="0"/>
          <a:ext cx="0" cy="0"/>
          <a:chOff x="0" y="0"/>
          <a:chExt cx="0" cy="0"/>
        </a:xfrm>
      </p:grpSpPr>
      <p:sp>
        <p:nvSpPr>
          <p:cNvPr id="208" name="Google Shape;208;p14"/>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B5532B"/>
              </a:buClr>
              <a:buSzPts val="1200"/>
              <a:buFont typeface="DM Sans"/>
              <a:buNone/>
            </a:pPr>
            <a:r>
              <a:rPr b="1" i="0" lang="en-US" spc="0" sz="1200" u="none" cap="none" strike="noStrike">
                <a:solidFill>
                  <a:srgbClr val="B5532B"/>
                </a:solidFill>
                <a:latin typeface="DM Sans"/>
                <a:ea typeface="DM Sans"/>
                <a:cs typeface="DM Sans"/>
                <a:sym typeface="DM Sans"/>
              </a:rPr>
              <a:t>OPERATIONS · STEP 2 OF 2</a:t>
            </a:r>
            <a:endParaRPr b="0" i="0" spc="0" sz="1200" u="none" cap="none" strike="noStrike">
              <a:solidFill>
                <a:srgbClr val="000000"/>
              </a:solidFill>
              <a:latin typeface="Arial"/>
              <a:ea typeface="Arial"/>
              <a:cs typeface="Arial"/>
              <a:sym typeface="Arial"/>
            </a:endParaRPr>
          </a:p>
        </p:txBody>
      </p:sp>
      <p:sp>
        <p:nvSpPr>
          <p:cNvPr id="209" name="Google Shape;209;p14"/>
          <p:cNvSpPr/>
          <p:nvPr/>
        </p:nvSpPr>
        <p:spPr>
          <a:xfrm>
            <a:off x="812800" y="1280158"/>
            <a:ext cx="10883392" cy="52832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E3A2F"/>
              </a:buClr>
              <a:buSzPts val="3600"/>
              <a:buFont typeface="Fraunces"/>
              <a:buNone/>
            </a:pPr>
            <a:r>
              <a:rPr b="0" i="0" lang="en-US" spc="0" sz="3600" u="none" cap="none" strike="noStrike">
                <a:solidFill>
                  <a:srgbClr val="1E3A2F"/>
                </a:solidFill>
                <a:latin typeface="Fraunces"/>
                <a:ea typeface="Fraunces"/>
                <a:cs typeface="Fraunces"/>
                <a:sym typeface="Fraunces"/>
              </a:rPr>
              <a:t>Where should we expand?</a:t>
            </a:r>
            <a:endParaRPr b="0" i="0" spc="0" sz="3600" u="none" cap="none" strike="noStrike">
              <a:solidFill>
                <a:srgbClr val="000000"/>
              </a:solidFill>
              <a:latin typeface="Arial"/>
              <a:ea typeface="Arial"/>
              <a:cs typeface="Arial"/>
              <a:sym typeface="Arial"/>
            </a:endParaRPr>
          </a:p>
        </p:txBody>
      </p:sp>
      <p:sp>
        <p:nvSpPr>
          <p:cNvPr id="210" name="Google Shape;210;p14"/>
          <p:cNvSpPr/>
          <p:nvPr/>
        </p:nvSpPr>
        <p:spPr>
          <a:xfrm>
            <a:off x="812800" y="2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1</a:t>
            </a:r>
            <a:endParaRPr b="0" i="0" spc="0" sz="2200" u="none" cap="none" strike="noStrike">
              <a:solidFill>
                <a:schemeClr val="dk1"/>
              </a:solidFill>
              <a:latin typeface="Calibri"/>
              <a:ea typeface="Calibri"/>
              <a:cs typeface="Calibri"/>
              <a:sym typeface="Calibri"/>
            </a:endParaRPr>
          </a:p>
        </p:txBody>
      </p:sp>
      <p:sp>
        <p:nvSpPr>
          <p:cNvPr id="211" name="Google Shape;211;p14"/>
          <p:cNvSpPr/>
          <p:nvPr/>
        </p:nvSpPr>
        <p:spPr>
          <a:xfrm>
            <a:off x="1244600" y="2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Same chat. </a:t>
            </a:r>
            <a:endParaRPr b="0" i="0" spc="0" sz="1400" u="none" cap="none" strike="noStrike">
              <a:solidFill>
                <a:srgbClr val="000000"/>
              </a:solidFill>
              <a:latin typeface="Arial"/>
              <a:ea typeface="Arial"/>
              <a:cs typeface="Arial"/>
              <a:sym typeface="Arial"/>
            </a:endParaRPr>
          </a:p>
        </p:txBody>
      </p:sp>
      <p:sp>
        <p:nvSpPr>
          <p:cNvPr id="212" name="Google Shape;212;p14"/>
          <p:cNvSpPr/>
          <p:nvPr/>
        </p:nvSpPr>
        <p:spPr>
          <a:xfrm>
            <a:off x="812800" y="3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2</a:t>
            </a:r>
            <a:endParaRPr b="0" i="0" spc="0" sz="2200" u="none" cap="none" strike="noStrike">
              <a:solidFill>
                <a:schemeClr val="dk1"/>
              </a:solidFill>
              <a:latin typeface="Calibri"/>
              <a:ea typeface="Calibri"/>
              <a:cs typeface="Calibri"/>
              <a:sym typeface="Calibri"/>
            </a:endParaRPr>
          </a:p>
        </p:txBody>
      </p:sp>
      <p:sp>
        <p:nvSpPr>
          <p:cNvPr id="213" name="Google Shape;213;p14"/>
          <p:cNvSpPr/>
          <p:nvPr/>
        </p:nvSpPr>
        <p:spPr>
          <a:xfrm>
            <a:off x="1244600" y="3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Paste the prompt.</a:t>
            </a:r>
            <a:endParaRPr b="0" i="0" spc="0" sz="1400" u="none" cap="none" strike="noStrike">
              <a:solidFill>
                <a:srgbClr val="000000"/>
              </a:solidFill>
              <a:latin typeface="Arial"/>
              <a:ea typeface="Arial"/>
              <a:cs typeface="Arial"/>
              <a:sym typeface="Arial"/>
            </a:endParaRPr>
          </a:p>
        </p:txBody>
      </p:sp>
      <p:sp>
        <p:nvSpPr>
          <p:cNvPr id="214" name="Google Shape;214;p14"/>
          <p:cNvSpPr/>
          <p:nvPr/>
        </p:nvSpPr>
        <p:spPr>
          <a:xfrm>
            <a:off x="812800" y="4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3</a:t>
            </a:r>
            <a:endParaRPr b="0" i="0" spc="0" sz="2200" u="none" cap="none" strike="noStrike">
              <a:solidFill>
                <a:schemeClr val="dk1"/>
              </a:solidFill>
              <a:latin typeface="Calibri"/>
              <a:ea typeface="Calibri"/>
              <a:cs typeface="Calibri"/>
              <a:sym typeface="Calibri"/>
            </a:endParaRPr>
          </a:p>
        </p:txBody>
      </p:sp>
      <p:sp>
        <p:nvSpPr>
          <p:cNvPr id="215" name="Google Shape;215;p14"/>
          <p:cNvSpPr/>
          <p:nvPr/>
        </p:nvSpPr>
        <p:spPr>
          <a:xfrm>
            <a:off x="1244600" y="4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Follow-up: "What is the cheapest experiment to test this in 60 days?"</a:t>
            </a:r>
            <a:endParaRPr b="0" i="0" spc="0" sz="1400" u="none" cap="none" strike="noStrike">
              <a:solidFill>
                <a:srgbClr val="000000"/>
              </a:solidFill>
              <a:latin typeface="Arial"/>
              <a:ea typeface="Arial"/>
              <a:cs typeface="Arial"/>
              <a:sym typeface="Arial"/>
            </a:endParaRPr>
          </a:p>
        </p:txBody>
      </p:sp>
      <p:sp>
        <p:nvSpPr>
          <p:cNvPr id="216" name="Google Shape;216;p14"/>
          <p:cNvSpPr/>
          <p:nvPr/>
        </p:nvSpPr>
        <p:spPr>
          <a:xfrm>
            <a:off x="812800" y="5037085"/>
            <a:ext cx="355600" cy="304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B5532B"/>
              </a:buClr>
              <a:buSzPts val="2200"/>
              <a:buFont typeface="Fraunces"/>
              <a:buNone/>
            </a:pPr>
            <a:r>
              <a:rPr b="0" i="0" lang="en-US" spc="0" sz="2200" u="none" cap="none" strike="noStrike">
                <a:solidFill>
                  <a:srgbClr val="B5532B"/>
                </a:solidFill>
                <a:latin typeface="Fraunces"/>
                <a:ea typeface="Fraunces"/>
                <a:cs typeface="Fraunces"/>
                <a:sym typeface="Fraunces"/>
              </a:rPr>
              <a:t>4</a:t>
            </a:r>
            <a:endParaRPr b="0" i="0" spc="0" sz="2200" u="none" cap="none" strike="noStrike">
              <a:solidFill>
                <a:schemeClr val="dk1"/>
              </a:solidFill>
              <a:latin typeface="Calibri"/>
              <a:ea typeface="Calibri"/>
              <a:cs typeface="Calibri"/>
              <a:sym typeface="Calibri"/>
            </a:endParaRPr>
          </a:p>
        </p:txBody>
      </p:sp>
      <p:sp>
        <p:nvSpPr>
          <p:cNvPr id="217" name="Google Shape;217;p14"/>
          <p:cNvSpPr/>
          <p:nvPr/>
        </p:nvSpPr>
        <p:spPr>
          <a:xfrm>
            <a:off x="1244600" y="5037085"/>
            <a:ext cx="3300000" cy="9500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1F2A24"/>
              </a:buClr>
              <a:buSzPts val="1500"/>
              <a:buFont typeface="DM Sans"/>
              <a:buNone/>
            </a:pPr>
            <a:r>
              <a:rPr b="0" i="0" lang="en-US" spc="0" sz="1400" u="none" cap="none" strike="noStrike">
                <a:solidFill>
                  <a:srgbClr val="1F2A24"/>
                </a:solidFill>
                <a:latin typeface="DM Sans"/>
                <a:ea typeface="DM Sans"/>
                <a:cs typeface="DM Sans"/>
                <a:sym typeface="DM Sans"/>
              </a:rPr>
              <a:t>Ask: "Which zones would you serve through partners instead?"</a:t>
            </a:r>
            <a:endParaRPr b="0" i="0" spc="0" sz="1400" u="none" cap="none" strike="noStrike">
              <a:solidFill>
                <a:srgbClr val="000000"/>
              </a:solidFill>
              <a:latin typeface="Arial"/>
              <a:ea typeface="Arial"/>
              <a:cs typeface="Arial"/>
              <a:sym typeface="Arial"/>
            </a:endParaRPr>
          </a:p>
        </p:txBody>
      </p:sp>
      <p:sp>
        <p:nvSpPr>
          <p:cNvPr id="218" name="Google Shape;218;p14"/>
          <p:cNvSpPr/>
          <p:nvPr/>
        </p:nvSpPr>
        <p:spPr>
          <a:xfrm>
            <a:off x="4750000" y="1980000"/>
            <a:ext cx="6629000" cy="4470000"/>
          </a:xfrm>
          <a:prstGeom prst="roundRect">
            <a:avLst>
              <a:gd fmla="val 4354" name="adj"/>
            </a:avLst>
          </a:prstGeom>
          <a:solidFill>
            <a:srgbClr val="1E3A2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pc="0" sz="1400" u="none" cap="none" strike="noStrike">
              <a:solidFill>
                <a:srgbClr val="000000"/>
              </a:solidFill>
              <a:latin typeface="Arial"/>
              <a:ea typeface="Arial"/>
              <a:cs typeface="Arial"/>
              <a:sym typeface="Arial"/>
            </a:endParaRPr>
          </a:p>
        </p:txBody>
      </p:sp>
      <p:sp>
        <p:nvSpPr>
          <p:cNvPr id="219" name="Google Shape;219;p14"/>
          <p:cNvSpPr/>
          <p:nvPr/>
        </p:nvSpPr>
        <p:spPr>
          <a:xfrm>
            <a:off x="5004000" y="2180000"/>
            <a:ext cx="6121000"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COPY THIS PROMPT</a:t>
            </a:r>
            <a:endParaRPr b="0" i="0" spc="0" sz="1200" u="none" cap="none" strike="noStrike">
              <a:solidFill>
                <a:srgbClr val="000000"/>
              </a:solidFill>
              <a:latin typeface="Arial"/>
              <a:ea typeface="Arial"/>
              <a:cs typeface="Arial"/>
              <a:sym typeface="Arial"/>
            </a:endParaRPr>
          </a:p>
        </p:txBody>
      </p:sp>
      <p:sp>
        <p:nvSpPr>
          <p:cNvPr id="220" name="Google Shape;220;p14"/>
          <p:cNvSpPr/>
          <p:nvPr/>
        </p:nvSpPr>
        <p:spPr>
          <a:xfrm>
            <a:off x="5004000" y="2500000"/>
            <a:ext cx="6121000" cy="3830000"/>
          </a:xfrm>
          <a:prstGeom prst="rect">
            <a:avLst/>
          </a:prstGeom>
          <a:noFill/>
          <a:ln>
            <a:noFill/>
          </a:ln>
        </p:spPr>
        <p:txBody>
          <a:bodyPr anchorCtr="0" anchor="t" bIns="0" lIns="0" spcFirstLastPara="1" rIns="0" wrap="square" tIns="0">
            <a:noAutofit/>
          </a:bodyPr>
          <a:lstStyle/>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Recommend one location for a second fulfilment point.</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Table: compare three options — our own small warehouse, a 3PL partner, or marketplace fulfilment. For each: orders it would serve, delivery days saved, main risk.</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t/>
            </a:r>
            <a:endParaRPr sz="1150">
              <a:solidFill>
                <a:srgbClr val="F5F0E6"/>
              </a:solidFill>
              <a:latin typeface="DM Sans"/>
              <a:ea typeface="DM Sans"/>
              <a:cs typeface="DM Sans"/>
              <a:sym typeface="DM Sans"/>
            </a:endParaRPr>
          </a:p>
          <a:p>
            <a:pPr indent="0" lvl="0" marL="0" marR="0" rtl="0" algn="l">
              <a:lnSpc>
                <a:spcPct val="145000"/>
              </a:lnSpc>
              <a:spcBef>
                <a:spcPts val="0"/>
              </a:spcBef>
              <a:spcAft>
                <a:spcPts val="0"/>
              </a:spcAft>
              <a:buClr>
                <a:srgbClr val="F5F0E6"/>
              </a:buClr>
              <a:buSzPts val="1200"/>
              <a:buFont typeface="DM Sans"/>
              <a:buNone/>
            </a:pPr>
            <a:r>
              <a:rPr lang="en-US" sz="1150">
                <a:solidFill>
                  <a:srgbClr val="F5F0E6"/>
                </a:solidFill>
                <a:latin typeface="DM Sans"/>
                <a:ea typeface="DM Sans"/>
                <a:cs typeface="DM Sans"/>
                <a:sym typeface="DM Sans"/>
              </a:rPr>
              <a:t>No chart needed. End with one sentence: which zones should we serve through partners instead?</a:t>
            </a:r>
            <a:endParaRPr sz="1150">
              <a:solidFill>
                <a:srgbClr val="F5F0E6"/>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2F"/>
        </a:solidFill>
      </p:bgPr>
    </p:bg>
    <p:spTree>
      <p:nvGrpSpPr>
        <p:cNvPr id="225" name="Shape 225"/>
        <p:cNvGrpSpPr/>
        <p:nvPr/>
      </p:nvGrpSpPr>
      <p:grpSpPr>
        <a:xfrm>
          <a:off x="0" y="0"/>
          <a:ext cx="0" cy="0"/>
          <a:chOff x="0" y="0"/>
          <a:chExt cx="0" cy="0"/>
        </a:xfrm>
      </p:grpSpPr>
      <p:pic>
        <p:nvPicPr>
          <p:cNvPr descr="ellipse" id="226" name="Google Shape;226;p15"/>
          <p:cNvPicPr preferRelativeResize="0"/>
          <p:nvPr/>
        </p:nvPicPr>
        <p:blipFill rotWithShape="1">
          <a:blip r:embed="rId3">
            <a:alphaModFix/>
          </a:blip>
          <a:srcRect b="0" l="0" r="0" t="0"/>
          <a:stretch/>
        </p:blipFill>
        <p:spPr>
          <a:xfrm>
            <a:off x="9398000" y="4064000"/>
            <a:ext cx="1905000" cy="1905000"/>
          </a:xfrm>
          <a:prstGeom prst="rect">
            <a:avLst/>
          </a:prstGeom>
          <a:noFill/>
          <a:ln>
            <a:noFill/>
          </a:ln>
        </p:spPr>
      </p:pic>
      <p:pic>
        <p:nvPicPr>
          <p:cNvPr descr="ellipse" id="227" name="Google Shape;227;p15"/>
          <p:cNvPicPr preferRelativeResize="0"/>
          <p:nvPr/>
        </p:nvPicPr>
        <p:blipFill rotWithShape="1">
          <a:blip r:embed="rId4">
            <a:alphaModFix/>
          </a:blip>
          <a:srcRect b="0" l="0" r="0" t="0"/>
          <a:stretch/>
        </p:blipFill>
        <p:spPr>
          <a:xfrm>
            <a:off x="9017000" y="3810000"/>
            <a:ext cx="698500" cy="698500"/>
          </a:xfrm>
          <a:prstGeom prst="rect">
            <a:avLst/>
          </a:prstGeom>
          <a:noFill/>
          <a:ln>
            <a:noFill/>
          </a:ln>
        </p:spPr>
      </p:pic>
      <p:sp>
        <p:nvSpPr>
          <p:cNvPr id="228" name="Google Shape;228;p15"/>
          <p:cNvSpPr/>
          <p:nvPr/>
        </p:nvSpPr>
        <p:spPr>
          <a:xfrm>
            <a:off x="812800" y="812800"/>
            <a:ext cx="10883392" cy="23876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ONE IDEA TO TAKE WITH YOU</a:t>
            </a:r>
            <a:endParaRPr b="0" i="0" spc="0" sz="1200" u="none" cap="none" strike="noStrike">
              <a:solidFill>
                <a:schemeClr val="dk1"/>
              </a:solidFill>
              <a:latin typeface="Calibri"/>
              <a:ea typeface="Calibri"/>
              <a:cs typeface="Calibri"/>
              <a:sym typeface="Calibri"/>
            </a:endParaRPr>
          </a:p>
        </p:txBody>
      </p:sp>
      <p:sp>
        <p:nvSpPr>
          <p:cNvPr id="229" name="Google Shape;229;p15"/>
          <p:cNvSpPr/>
          <p:nvPr/>
        </p:nvSpPr>
        <p:spPr>
          <a:xfrm>
            <a:off x="812800" y="1874517"/>
            <a:ext cx="9810900" cy="13665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5F0E6"/>
              </a:buClr>
              <a:buSzPts val="4800"/>
              <a:buFont typeface="Fraunces"/>
              <a:buNone/>
            </a:pPr>
            <a:r>
              <a:rPr b="0" i="0" lang="en-US" spc="0" sz="4800" u="none" cap="none" strike="noStrike">
                <a:solidFill>
                  <a:srgbClr val="F5F0E6"/>
                </a:solidFill>
                <a:latin typeface="Fraunces"/>
                <a:ea typeface="Fraunces"/>
                <a:cs typeface="Fraunces"/>
                <a:sym typeface="Fraunces"/>
              </a:rPr>
              <a:t>Before you spend, find the constraint.</a:t>
            </a:r>
            <a:endParaRPr b="0" i="0" spc="0" sz="4800" u="none" cap="none" strike="noStrike">
              <a:solidFill>
                <a:srgbClr val="000000"/>
              </a:solidFill>
              <a:latin typeface="Arial"/>
              <a:ea typeface="Arial"/>
              <a:cs typeface="Arial"/>
              <a:sym typeface="Arial"/>
            </a:endParaRPr>
          </a:p>
        </p:txBody>
      </p:sp>
      <p:sp>
        <p:nvSpPr>
          <p:cNvPr id="230" name="Google Shape;230;p15"/>
          <p:cNvSpPr/>
          <p:nvPr/>
        </p:nvSpPr>
        <p:spPr>
          <a:xfrm>
            <a:off x="737200" y="5013421"/>
            <a:ext cx="9810900" cy="4167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2200"/>
              <a:buFont typeface="Fraunces"/>
              <a:buNone/>
            </a:pPr>
            <a:r>
              <a:rPr b="0" i="1" lang="en-US" spc="0" sz="2200" u="none" cap="none" strike="noStrike">
                <a:solidFill>
                  <a:srgbClr val="E3A83E"/>
                </a:solidFill>
                <a:latin typeface="Fraunces"/>
                <a:ea typeface="Fraunces"/>
                <a:cs typeface="Fraunces"/>
                <a:sym typeface="Fraunces"/>
              </a:rPr>
              <a:t>AI builds the dashboard. You choose the question.</a:t>
            </a:r>
            <a:endParaRPr b="0" i="0" spc="0" sz="2200" u="none" cap="none" strike="noStrike">
              <a:solidFill>
                <a:srgbClr val="000000"/>
              </a:solidFill>
              <a:latin typeface="Arial"/>
              <a:ea typeface="Arial"/>
              <a:cs typeface="Arial"/>
              <a:sym typeface="Arial"/>
            </a:endParaRPr>
          </a:p>
        </p:txBody>
      </p:sp>
      <p:pic>
        <p:nvPicPr>
          <p:cNvPr descr="Play" id="231" name="Google Shape;231;p15"/>
          <p:cNvPicPr preferRelativeResize="0"/>
          <p:nvPr/>
        </p:nvPicPr>
        <p:blipFill rotWithShape="1">
          <a:blip r:embed="rId5">
            <a:alphaModFix/>
          </a:blip>
          <a:srcRect b="0" l="0" r="0" t="0"/>
          <a:stretch/>
        </p:blipFill>
        <p:spPr>
          <a:xfrm>
            <a:off x="812800" y="5784850"/>
            <a:ext cx="254000" cy="254000"/>
          </a:xfrm>
          <a:prstGeom prst="rect">
            <a:avLst/>
          </a:prstGeom>
          <a:noFill/>
          <a:ln>
            <a:noFill/>
          </a:ln>
        </p:spPr>
      </p:pic>
      <p:sp>
        <p:nvSpPr>
          <p:cNvPr id="232" name="Google Shape;232;p15"/>
          <p:cNvSpPr/>
          <p:nvPr/>
        </p:nvSpPr>
        <p:spPr>
          <a:xfrm>
            <a:off x="1193800" y="5778500"/>
            <a:ext cx="6000000" cy="2921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F5F0E6"/>
              </a:buClr>
              <a:buSzPts val="1500"/>
              <a:buFont typeface="DM Sans"/>
              <a:buNone/>
            </a:pPr>
            <a:r>
              <a:rPr b="0" i="0" lang="en-US" spc="0" sz="1500" u="none" cap="none" strike="noStrike">
                <a:solidFill>
                  <a:srgbClr val="F5F0E6"/>
                </a:solidFill>
                <a:latin typeface="DM Sans"/>
                <a:ea typeface="DM Sans"/>
                <a:cs typeface="DM Sans"/>
                <a:sym typeface="DM Sans"/>
              </a:rPr>
              <a:t>Up next: share-back and questions.</a:t>
            </a:r>
            <a:endParaRPr b="0" i="0" spc="0" sz="15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3A2F"/>
        </a:solidFill>
      </p:bgPr>
    </p:bg>
    <p:spTree>
      <p:nvGrpSpPr>
        <p:cNvPr id="237" name="Shape 237"/>
        <p:cNvGrpSpPr/>
        <p:nvPr/>
      </p:nvGrpSpPr>
      <p:grpSpPr>
        <a:xfrm>
          <a:off x="0" y="0"/>
          <a:ext cx="0" cy="0"/>
          <a:chOff x="0" y="0"/>
          <a:chExt cx="0" cy="0"/>
        </a:xfrm>
      </p:grpSpPr>
      <p:pic>
        <p:nvPicPr>
          <p:cNvPr descr="ellipse" id="238" name="Google Shape;238;p16"/>
          <p:cNvPicPr preferRelativeResize="0"/>
          <p:nvPr/>
        </p:nvPicPr>
        <p:blipFill rotWithShape="1">
          <a:blip r:embed="rId3">
            <a:alphaModFix/>
          </a:blip>
          <a:srcRect b="0" l="0" r="0" t="0"/>
          <a:stretch/>
        </p:blipFill>
        <p:spPr>
          <a:xfrm>
            <a:off x="8763000" y="812800"/>
            <a:ext cx="2540000" cy="2540000"/>
          </a:xfrm>
          <a:prstGeom prst="rect">
            <a:avLst/>
          </a:prstGeom>
          <a:noFill/>
          <a:ln>
            <a:noFill/>
          </a:ln>
        </p:spPr>
      </p:pic>
      <p:pic>
        <p:nvPicPr>
          <p:cNvPr descr="ellipse" id="239" name="Google Shape;239;p16"/>
          <p:cNvPicPr preferRelativeResize="0"/>
          <p:nvPr/>
        </p:nvPicPr>
        <p:blipFill rotWithShape="1">
          <a:blip r:embed="rId4">
            <a:alphaModFix/>
          </a:blip>
          <a:srcRect b="0" l="0" r="0" t="0"/>
          <a:stretch/>
        </p:blipFill>
        <p:spPr>
          <a:xfrm>
            <a:off x="8255000" y="2794000"/>
            <a:ext cx="889000" cy="889000"/>
          </a:xfrm>
          <a:prstGeom prst="rect">
            <a:avLst/>
          </a:prstGeom>
          <a:noFill/>
          <a:ln>
            <a:noFill/>
          </a:ln>
        </p:spPr>
      </p:pic>
      <p:sp>
        <p:nvSpPr>
          <p:cNvPr id="240" name="Google Shape;240;p16"/>
          <p:cNvSpPr/>
          <p:nvPr/>
        </p:nvSpPr>
        <p:spPr>
          <a:xfrm>
            <a:off x="812800" y="81280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3A83E"/>
              </a:buClr>
              <a:buSzPts val="1200"/>
              <a:buFont typeface="DM Sans"/>
              <a:buNone/>
            </a:pPr>
            <a:r>
              <a:rPr b="1" i="0" lang="en-US" spc="0" sz="1200" u="none" cap="none" strike="noStrike">
                <a:solidFill>
                  <a:srgbClr val="E3A83E"/>
                </a:solidFill>
                <a:latin typeface="DM Sans"/>
                <a:ea typeface="DM Sans"/>
                <a:cs typeface="DM Sans"/>
                <a:sym typeface="DM Sans"/>
              </a:rPr>
              <a:t>MASTERCLASS · AI FOR CONTENT CREATION</a:t>
            </a:r>
            <a:endParaRPr b="0" i="0" spc="0" sz="1200" u="none" cap="none" strike="noStrike">
              <a:solidFill>
                <a:schemeClr val="dk1"/>
              </a:solidFill>
              <a:latin typeface="Calibri"/>
              <a:ea typeface="Calibri"/>
              <a:cs typeface="Calibri"/>
              <a:sym typeface="Calibri"/>
            </a:endParaRPr>
          </a:p>
        </p:txBody>
      </p:sp>
      <p:sp>
        <p:nvSpPr>
          <p:cNvPr id="241" name="Google Shape;241;p16"/>
          <p:cNvSpPr/>
          <p:nvPr/>
        </p:nvSpPr>
        <p:spPr>
          <a:xfrm>
            <a:off x="812800" y="2793990"/>
            <a:ext cx="7521600" cy="1625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5F0E6"/>
              </a:buClr>
              <a:buSzPts val="6000"/>
              <a:buFont typeface="Fraunces"/>
              <a:buNone/>
            </a:pPr>
            <a:r>
              <a:rPr b="0" i="0" lang="en-US" spc="0" sz="6000" u="none" cap="none" strike="noStrike">
                <a:solidFill>
                  <a:srgbClr val="F5F0E6"/>
                </a:solidFill>
                <a:latin typeface="Fraunces"/>
                <a:ea typeface="Fraunces"/>
                <a:cs typeface="Fraunces"/>
                <a:sym typeface="Fraunces"/>
              </a:rPr>
              <a:t>Thank You</a:t>
            </a:r>
            <a:endParaRPr b="0" i="0" spc="0" sz="6000" u="none" cap="none" strike="noStrike">
              <a:solidFill>
                <a:schemeClr val="dk1"/>
              </a:solidFill>
              <a:latin typeface="Calibri"/>
              <a:ea typeface="Calibri"/>
              <a:cs typeface="Calibri"/>
              <a:sym typeface="Calibri"/>
            </a:endParaRPr>
          </a:p>
        </p:txBody>
      </p:sp>
      <p:sp>
        <p:nvSpPr>
          <p:cNvPr id="242" name="Google Shape;242;p16"/>
          <p:cNvSpPr/>
          <p:nvPr/>
        </p:nvSpPr>
        <p:spPr>
          <a:xfrm>
            <a:off x="812800" y="5831840"/>
            <a:ext cx="10883400" cy="238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A9B8AD"/>
              </a:buClr>
              <a:buSzPts val="1200"/>
              <a:buFont typeface="DM Sans"/>
              <a:buNone/>
            </a:pPr>
            <a:r>
              <a:rPr b="0" i="0" lang="en-US" spc="0" sz="1200" u="none" cap="none" strike="noStrike">
                <a:solidFill>
                  <a:srgbClr val="A9B8AD"/>
                </a:solidFill>
                <a:latin typeface="DM Sans"/>
                <a:ea typeface="DM Sans"/>
                <a:cs typeface="DM Sans"/>
                <a:sym typeface="DM Sans"/>
              </a:rPr>
              <a:t>ASEAN Oct 2026</a:t>
            </a:r>
            <a:endParaRPr b="0" i="0" spc="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