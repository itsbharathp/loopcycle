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285" r:id="rId56"/>
  </p:sldIdLst>
  <p:sldSz cx="12192000" cy="6858000"/>
  <p:notesSz cx="6858000" cy="12192000"/>
  <p:embeddedFontLst>
    <p:embeddedFont>
      <p:font typeface="DM Sans" pitchFamily="2" charset="77"/>
      <p:regular r:id="rId58"/>
      <p:bold r:id="rId59"/>
      <p:italic r:id="rId60"/>
      <p:boldItalic r:id="rId61"/>
    </p:embeddedFont>
    <p:embeddedFont>
      <p:font typeface="Fraunces"/>
      <p:regular r:id="rId62"/>
      <p:bold r:id="rId63"/>
      <p:italic r:id="rId64"/>
      <p:boldItalic r:id="rId65"/>
    </p:embeddedFont>
    <p:embeddedFont>
      <p:font typeface="Georgia" panose="02040502050405020303" pitchFamily="18"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9"/>
    <p:restoredTop sz="94768"/>
  </p:normalViewPr>
  <p:slideViewPr>
    <p:cSldViewPr snapToGrid="0">
      <p:cViewPr varScale="1">
        <p:scale>
          <a:sx n="197" d="100"/>
          <a:sy n="197" d="100"/>
        </p:scale>
        <p:origin x="17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sec. Welcome. Set expectations: 20 minutes of basics, no maths, no jargon, then straight into hands-on. Ask for a quick show of hands: who has used ChatGPT, Gemini or Claude for work this month?</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h282c34934c4eb66e_3_32:notes"/>
          <p:cNvSpPr>
            <a:spLocks noGrp="1" noRot="1" noChangeAspect="1"/>
          </p:cNvSpPr>
          <p:nvPr>
            <p:ph type="sldImg" idx="2"/>
          </p:nvPr>
        </p:nvSpPr>
        <p:spPr>
          <a:xfrm>
            <a:off x="-635000" y="914400"/>
            <a:ext cx="8127900"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 name="Google Shape;24;h282c34934c4eb66e_3_32:notes"/>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p>
            <a:pPr marL="457200" lvl="0" indent="0" algn="l" rtl="0">
              <a:lnSpc>
                <a:spcPct val="100000"/>
              </a:lnSpc>
              <a:spcBef>
                <a:spcPts val="0"/>
              </a:spcBef>
              <a:spcAft>
                <a:spcPts val="0"/>
              </a:spcAft>
              <a:buSzPts val="1100"/>
              <a:buNone/>
            </a:pPr>
            <a:endParaRPr/>
          </a:p>
        </p:txBody>
      </p:sp>
      <p:sp>
        <p:nvSpPr>
          <p:cNvPr id="25" name="Google Shape;25;h282c34934c4eb66e_3_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min. Anchor in their reality before any technology. Most marketing teams in social enterprises are one to three people doing the work of a whole agency, across channels, audiences and languages. Ask: which of these three stretches your team most? Frame AI as capacity, not replacement.</a:t>
            </a:r>
            <a:endParaRPr/>
          </a:p>
        </p:txBody>
      </p:sp>
      <p:sp>
        <p:nvSpPr>
          <p:cNvPr id="32" name="Google Shape;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The one idea: it predicts the next likely word, over and over. Walk through the compost example: "rich soil" is most likely, "gold" is possible but unlikely. Then land the key point for marketers: because it always produces something likely-sounding, it will sound confident even when it is wrong. Fluent is not the same as true.</a:t>
            </a:r>
            <a:endParaRPr/>
          </a:p>
        </p:txBody>
      </p:sp>
      <p:sp>
        <p:nvSpPr>
          <p:cNvPr id="52" name="Google Shape;5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min. Keep it light: read, coached, refined. No need for technical terms. The takeaway is the dark box: because it learned from the whole internet, its default voice is the average voice. That is why unedited AI content feels generic. Everything in the prompting section is about pulling it away from average and toward your brand.</a:t>
            </a:r>
            <a:endParaRPr/>
          </a:p>
        </p:txBody>
      </p:sp>
      <p:sp>
        <p:nvSpPr>
          <p:cNvPr id="70" name="Google Shape;7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min. This is the mental model to keep all day. Ask the room: how would you brief a new intern on day one? You would not just say "write something about us". You would explain who you are, who the audience is, and show examples. Same with AI. And you would never publish an intern's first draft without reading it.</a:t>
            </a:r>
            <a:endParaRPr/>
          </a:p>
        </p:txBody>
      </p:sp>
      <p:sp>
        <p:nvSpPr>
          <p:cNvPr id="93" name="Google Shape;9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Left column is where to lean in. Localising is a big one for teams across Southeast Asia: one story adapted for English-speaking funders and local-language customers. Right column is where to stay alert. The first item matters most for impact brands: it will happily invent a number like "reduced waste by 40%" if you do not give it your real data.</a:t>
            </a:r>
            <a:endParaRPr/>
          </a:p>
        </p:txBody>
      </p:sp>
      <p:sp>
        <p:nvSpPr>
          <p:cNvPr id="115" name="Google Shape;11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Keep this quick; do not turn it into a product comparison. Point out that many of them already have AI inside tools they use daily, like Canva. The key message is the last line: skills transfer across tools, because they all respond to the same thing, a good brief. That is our bridge to prompting.</a:t>
            </a:r>
            <a:endParaRPr/>
          </a:p>
        </p:txBody>
      </p:sp>
      <p:sp>
        <p:nvSpPr>
          <p:cNvPr id="130" name="Google Shape;13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sec. Pause here. This is the reframe that makes marketers confident: prompting is not a technical skill, it is briefing, which they already do every week. Let it land, then move on.</a:t>
            </a:r>
            <a:endParaRPr/>
          </a:p>
        </p:txBody>
      </p:sp>
      <p:sp>
        <p:nvSpPr>
          <p:cNvPr id="152" name="Google Shape;15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~2.5 min. Map each part to something they already put in an agency brief: role is who is writing, task is the deliverable, context is the background and audience, format is the specs, examples are the mood board. Context and examples are where most of the quality comes from, and they are the parts people most often skip.</a:t>
            </a:r>
            <a:endParaRPr/>
          </a:p>
        </p:txBody>
      </p:sp>
      <p:sp>
        <p:nvSpPr>
          <p:cNvPr id="160" name="Google Shape;16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Read both aloud. Point to "Use only these facts" in the specific brief: that single line is the best protection against invented impact numbers. If time allows, invite someone to suggest one more line they would add to the specific brief.</a:t>
            </a:r>
            <a:endParaRPr/>
          </a:p>
        </p:txBody>
      </p:sp>
      <p:sp>
        <p:nvSpPr>
          <p:cNvPr id="183" name="Google Shape;18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These are the moves they will practise in the hands-on. Number 3 is the one most people have never tried and it surprises them: the AI asks you the questions a good copywriter would. Number 5 turns the AI into a reviewer, useful before anything goes to funders.</a:t>
            </a:r>
            <a:endParaRPr/>
          </a:p>
        </p:txBody>
      </p:sp>
      <p:sp>
        <p:nvSpPr>
          <p:cNvPr id="199" name="Google Shape;19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This is the slide that is specific to social enterprises. Their brand rests on trust with customers, funders and communities. An AI-invented impact figure or a fake photo of "our farmers" can undo years of credibility. Protecting beneficiary data is both an ethical and, in several countries, a legal matter.</a:t>
            </a:r>
            <a:endParaRPr/>
          </a:p>
        </p:txBody>
      </p:sp>
      <p:sp>
        <p:nvSpPr>
          <p:cNvPr id="227" name="Google Shape;22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Close the loop: speed is now cheap, so the value marketers bring shifts to judgment, knowing their audience, their facts and their voice. Then transition straight into the hands-on.</a:t>
            </a:r>
            <a:endParaRPr/>
          </a:p>
        </p:txBody>
      </p:sp>
      <p:sp>
        <p:nvSpPr>
          <p:cNvPr id="249" name="Google Shape;24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Demo framing, about 30 seconds. Tell people they do not need to type along; the hands-on repeats exactly these four steps with the Loop Tote. Ask them to watch two things: how the prompt is built, and what you check before accepting the output.</a:t>
            </a:r>
            <a:endParaRPr/>
          </a:p>
        </p:txBody>
      </p:sp>
      <p:sp>
        <p:nvSpPr>
          <p:cNvPr id="261" name="Google Shape;26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Point out the difference from the Loop Tote: this story is about a real person. Her quotes are sacred; the AI may shape the text around them but must never rewrite them. Paste this brief as text into the chat for the demo.</a:t>
            </a:r>
            <a:endParaRPr/>
          </a:p>
        </p:txBody>
      </p:sp>
      <p:sp>
        <p:nvSpPr>
          <p:cNvPr id="273" name="Google Shape;27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Show the first draft, then the refinement. Drafts often drift into brand self-praise; the follow-up pulls the focus back to her. Read her quotes in the output against the brief out loud so the room sees the check happen.</a:t>
            </a:r>
            <a:endParaRPr/>
          </a:p>
        </p:txBody>
      </p:sp>
      <p:sp>
        <p:nvSpPr>
          <p:cNvPr id="304" name="Google Shape;30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deliberate contrast with the hands-on. For a product like the Loop Tote, AI video is fine. For a real person's story, AI plans the shoot and the edit; it does not fabricate her. Mention consent: she should know how and where her story will be used.</a:t>
            </a:r>
            <a:endParaRPr/>
          </a:p>
        </p:txBody>
      </p:sp>
      <p:sp>
        <p:nvSpPr>
          <p:cNvPr id="322" name="Google Shape;32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last line of the prompt is the teaching point: dignity. Stories about low-income workers can slide into poverty imagery. Ask the AI to flag it, then apply your own judgment.</a:t>
            </a:r>
            <a:endParaRPr/>
          </a:p>
        </p:txBody>
      </p:sp>
      <p:sp>
        <p:nvSpPr>
          <p:cNvPr id="340" name="Google Shape;34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Show the table and pick one live, explaining why. Variation A usually wins for picker stories because her voice carries it. Then move to the comparison slide.</a:t>
            </a:r>
            <a:endParaRPr/>
          </a:p>
        </p:txBody>
      </p:sp>
      <p:sp>
        <p:nvSpPr>
          <p:cNvPr id="358" name="Google Shape;35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Two lessons. First, what the published post does well: centres her, ends with an engagement question that feeds a follow-up reel, and has alt text. Second, the slip: the interview and the caption disagree on when she started. Humans miss these too. Run the "list facts that don't match" prompt live, then hand over to the hands-on.</a:t>
            </a:r>
            <a:endParaRPr/>
          </a:p>
        </p:txBody>
      </p:sp>
      <p:sp>
        <p:nvSpPr>
          <p:cNvPr id="376" name="Google Shape;37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Set up the hands-on. Everyone works on the same fictional-style launch so results can be compared. Suggest roughly 8 to 10 minutes per step. Steps 2 to 4 happen in the same chat as step 1, so the AI remembers the caption. Share the Loop Tote brief as copyable text (chat, WhatsApp or a shared doc) so people can paste it.</a:t>
            </a:r>
            <a:endParaRPr/>
          </a:p>
        </p:txBody>
      </p:sp>
      <p:sp>
        <p:nvSpPr>
          <p:cNvPr id="393" name="Google Shape;39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4" name="Google Shape;40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only source of facts for the whole exercise. Remind people: if a number or claim is not on this slide, it should not appear in their content. Share this as text so they can paste it into their chat.</a:t>
            </a:r>
            <a:endParaRPr/>
          </a:p>
        </p:txBody>
      </p:sp>
      <p:sp>
        <p:nvSpPr>
          <p:cNvPr id="405" name="Google Shape;40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8 to 10 minutes. The most common slip is the AI inventing a figure, like tonnes of plastic saved. Ask people to check their caption line by line against the brief. If they finish early, try the “ask me 3 questions first” follow-up and compare.</a:t>
            </a:r>
            <a:endParaRPr/>
          </a:p>
        </p:txBody>
      </p:sp>
      <p:sp>
        <p:nvSpPr>
          <p:cNvPr id="439" name="Google Shape;43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8 to 10 minutes. Not everyone will have a video tool; the prompt itself is the deliverable. Point out the guardrail: AI video of workers or pickers must not be passed off as the real community. Product and process shots are fine.</a:t>
            </a:r>
            <a:endParaRPr/>
          </a:p>
        </p:txBody>
      </p:sp>
      <p:sp>
        <p:nvSpPr>
          <p:cNvPr id="457" name="Google Shape;457;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5 to 8 minutes. The AI cannot see live Instagram data, so it may suggest tags that are dead, spammy or dominated by unrelated content. The manual check in step 4 matters.</a:t>
            </a:r>
            <a:endParaRPr/>
          </a:p>
        </p:txBody>
      </p:sp>
      <p:sp>
        <p:nvSpPr>
          <p:cNvPr id="475" name="Google Shape;47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 name="Google Shape;49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8 to 10 minutes. Variations are where AI saves the most time: one story, several angles, ready for A/B testing or different channels. Ask two or three people which angle they picked and why.</a:t>
            </a:r>
            <a:endParaRPr/>
          </a:p>
        </p:txBody>
      </p:sp>
      <p:sp>
        <p:nvSpPr>
          <p:cNvPr id="493" name="Google Shape;49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Share-back, about 5 minutes. The brand's own post is a reference, not the "right answer". Notice two things it has that most AI drafts miss: alt text for accessibility and a simple engagement question. Close by asking what surprised people most.</a:t>
            </a:r>
            <a:endParaRPr/>
          </a:p>
        </p:txBody>
      </p:sp>
      <p:sp>
        <p:nvSpPr>
          <p:cNvPr id="511" name="Google Shape;51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h282c34934c4eb66e_3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h282c34934c4eb66e_3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Set up the hands-on. Everyone works on the same fictional-style launch so results can be compared. Suggest roughly 8 to 10 minutes per step. Steps 2 to 4 happen in the same chat as step 1, so the AI remembers the caption. Share the Loop Tote brief as copyable text (chat, WhatsApp or a shared doc) so people can paste it. ‹#›</a:t>
            </a:r>
          </a:p>
        </p:txBody>
      </p:sp>
      <p:sp>
        <p:nvSpPr>
          <p:cNvPr id="528" name="Google Shape;528;h282c34934c4eb66e_3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Give participants 2 minutes to open the files before moving on. The KPI file is enough for Questions 1, 3 and 5. The caption file is needed for Question 2. The audience files are optional extras for Question 4.</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~3 minutes. Get everyone to paste this before they start. "Show how many posts are behind every figure" and "say when a sample is too small" are what separate a useful analysis from a confident but misleading one. Demo: paste "Analyse my Instagram data." first. Then paste Question 1. Ask the group what they got from each. The weak prompt usually gives generic averages with no decision.</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~10-12 minutes. The "best time to post" question teams love. The answer is almost always: you cannot tell because time is mixed up with format. Nearly all Reels were posted at 08:00-09:00 and most carousels at 12:00-20:00. Ask: did your AI spot the confound?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Debrief Q3. The most common misconception in social media analytics. Ask: how many got a "best time" answer without the confound flagged?</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~10-12 minutes. About the difference between real and estimated data. The modeled audience columns are estimates based on the follower base — not independent evidence. A good AI answer says so. Ask: did yours separate real from estimated?</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Debrief Q4. Ask: what would you need to do to actually measure your audience composition per post? This is where the conversation about Instagram's data limits belongs.</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~10-12 minutes. The synthesis question. A good answer mixes Reels (reach/new audiences) with carousels (saves/intent), links choices to real findings from Q1-Q4, marks the rest as tests, and includes a fair experiment. The key moment: ask the AI to argue against its own plan.</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Debrief Q5. Ask the room: which answer would you act on tomorrow, which would you test first, and which would you ignore because the data cannot support it?</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5 minutes. Walk through the table quickly — participants have seen all six in action. These are the same things that go in a good agency brief.</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5 minutes. The four honesty checks work during the session and after. End with the wrap-up question — it forces each participant to apply judgment, not just trust the AI output.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h282c34934c4eb66e_3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5" name="Google Shape;535;h282c34934c4eb66e_3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sec. Welcome. Set expectations: 20 minutes of basics, no maths, no jargon, then straight into hands-on. Ask for a quick show of hands: who has used ChatGPT, Gemini or Claude for work this month?</a:t>
            </a:r>
            <a:endParaRPr/>
          </a:p>
        </p:txBody>
      </p:sp>
      <p:sp>
        <p:nvSpPr>
          <p:cNvPr id="536" name="Google Shape;536;h282c34934c4eb66e_3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2F"/>
        </a:solidFill>
        <a:effectLst/>
      </p:bgPr>
    </p:bg>
    <p:spTree>
      <p:nvGrpSpPr>
        <p:cNvPr id="1" name="Shape 15"/>
        <p:cNvGrpSpPr/>
        <p:nvPr/>
      </p:nvGrpSpPr>
      <p:grpSpPr>
        <a:xfrm>
          <a:off x="0" y="0"/>
          <a:ext cx="0" cy="0"/>
          <a:chOff x="0" y="0"/>
          <a:chExt cx="0" cy="0"/>
        </a:xfrm>
      </p:grpSpPr>
      <p:pic>
        <p:nvPicPr>
          <p:cNvPr id="16" name="Google Shape;16;p3" descr="ellipse"/>
          <p:cNvPicPr preferRelativeResize="0"/>
          <p:nvPr/>
        </p:nvPicPr>
        <p:blipFill rotWithShape="1">
          <a:blip r:embed="rId3">
            <a:alphaModFix/>
          </a:blip>
          <a:srcRect/>
          <a:stretch/>
        </p:blipFill>
        <p:spPr>
          <a:xfrm>
            <a:off x="8763000" y="812800"/>
            <a:ext cx="2540000" cy="2540000"/>
          </a:xfrm>
          <a:prstGeom prst="rect">
            <a:avLst/>
          </a:prstGeom>
          <a:noFill/>
          <a:ln>
            <a:noFill/>
          </a:ln>
        </p:spPr>
      </p:pic>
      <p:pic>
        <p:nvPicPr>
          <p:cNvPr id="17" name="Google Shape;17;p3" descr="ellipse"/>
          <p:cNvPicPr preferRelativeResize="0"/>
          <p:nvPr/>
        </p:nvPicPr>
        <p:blipFill rotWithShape="1">
          <a:blip r:embed="rId4">
            <a:alphaModFix/>
          </a:blip>
          <a:srcRect/>
          <a:stretch/>
        </p:blipFill>
        <p:spPr>
          <a:xfrm>
            <a:off x="8255000" y="2794000"/>
            <a:ext cx="889000" cy="889000"/>
          </a:xfrm>
          <a:prstGeom prst="rect">
            <a:avLst/>
          </a:prstGeom>
          <a:noFill/>
          <a:ln>
            <a:noFill/>
          </a:ln>
        </p:spPr>
      </p:pic>
      <p:sp>
        <p:nvSpPr>
          <p:cNvPr id="18" name="Google Shape;18;p3"/>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MASTERCLASS · AI FOR CONTENT CREATION</a:t>
            </a:r>
            <a:endParaRPr sz="1200" b="0" i="0" u="none" strike="noStrike" cap="none">
              <a:solidFill>
                <a:schemeClr val="dk1"/>
              </a:solidFill>
              <a:latin typeface="Calibri"/>
              <a:ea typeface="Calibri"/>
              <a:cs typeface="Calibri"/>
              <a:sym typeface="Calibri"/>
            </a:endParaRPr>
          </a:p>
        </p:txBody>
      </p:sp>
      <p:sp>
        <p:nvSpPr>
          <p:cNvPr id="19" name="Google Shape;19;p3"/>
          <p:cNvSpPr/>
          <p:nvPr/>
        </p:nvSpPr>
        <p:spPr>
          <a:xfrm>
            <a:off x="812800" y="2345690"/>
            <a:ext cx="7521575" cy="16256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F5F0E6"/>
              </a:buClr>
              <a:buSzPts val="6000"/>
              <a:buFont typeface="Fraunces"/>
              <a:buNone/>
            </a:pPr>
            <a:r>
              <a:rPr lang="en-US" sz="6000" b="0" i="0" u="none" strike="noStrike" cap="none">
                <a:solidFill>
                  <a:srgbClr val="F5F0E6"/>
                </a:solidFill>
                <a:latin typeface="Fraunces"/>
                <a:ea typeface="Fraunces"/>
                <a:cs typeface="Fraunces"/>
                <a:sym typeface="Fraunces"/>
              </a:rPr>
              <a:t>Your stories,</a:t>
            </a:r>
            <a:endParaRPr sz="6000" b="0" i="0" u="none" strike="noStrike" cap="none">
              <a:solidFill>
                <a:schemeClr val="dk1"/>
              </a:solidFill>
              <a:latin typeface="Calibri"/>
              <a:ea typeface="Calibri"/>
              <a:cs typeface="Calibri"/>
              <a:sym typeface="Calibri"/>
            </a:endParaRPr>
          </a:p>
          <a:p>
            <a:pPr marL="0" marR="0" lvl="0" indent="0" algn="l" rtl="0">
              <a:lnSpc>
                <a:spcPct val="104999"/>
              </a:lnSpc>
              <a:spcBef>
                <a:spcPts val="0"/>
              </a:spcBef>
              <a:spcAft>
                <a:spcPts val="0"/>
              </a:spcAft>
              <a:buClr>
                <a:srgbClr val="F5F0E6"/>
              </a:buClr>
              <a:buSzPts val="6000"/>
              <a:buFont typeface="Fraunces"/>
              <a:buNone/>
            </a:pPr>
            <a:r>
              <a:rPr lang="en-US" sz="6000" b="0" i="0" u="none" strike="noStrike" cap="none">
                <a:solidFill>
                  <a:srgbClr val="F5F0E6"/>
                </a:solidFill>
                <a:latin typeface="Fraunces"/>
                <a:ea typeface="Fraunces"/>
                <a:cs typeface="Fraunces"/>
                <a:sym typeface="Fraunces"/>
              </a:rPr>
              <a:t>told faster.</a:t>
            </a:r>
            <a:endParaRPr sz="6000" b="0" i="0" u="none" strike="noStrike" cap="none">
              <a:solidFill>
                <a:schemeClr val="dk1"/>
              </a:solidFill>
              <a:latin typeface="Calibri"/>
              <a:ea typeface="Calibri"/>
              <a:cs typeface="Calibri"/>
              <a:sym typeface="Calibri"/>
            </a:endParaRPr>
          </a:p>
        </p:txBody>
      </p:sp>
      <p:sp>
        <p:nvSpPr>
          <p:cNvPr id="20" name="Google Shape;20;p3"/>
          <p:cNvSpPr/>
          <p:nvPr/>
        </p:nvSpPr>
        <p:spPr>
          <a:xfrm>
            <a:off x="812800" y="4510831"/>
            <a:ext cx="7521600" cy="38850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CFD8CF"/>
              </a:buClr>
              <a:buSzPts val="2200"/>
              <a:buFont typeface="DM Sans"/>
              <a:buNone/>
            </a:pPr>
            <a:r>
              <a:rPr lang="en-US" sz="2200" b="0" i="0" u="none" strike="noStrike" cap="none">
                <a:solidFill>
                  <a:srgbClr val="CFD8CF"/>
                </a:solidFill>
                <a:latin typeface="DM Sans"/>
                <a:ea typeface="DM Sans"/>
                <a:cs typeface="DM Sans"/>
                <a:sym typeface="DM Sans"/>
              </a:rPr>
              <a:t>The basics of AI and prompting, before we build.</a:t>
            </a:r>
            <a:endParaRPr sz="2200" b="0" i="0" u="none" strike="noStrike" cap="none">
              <a:solidFill>
                <a:schemeClr val="dk1"/>
              </a:solidFill>
              <a:latin typeface="Calibri"/>
              <a:ea typeface="Calibri"/>
              <a:cs typeface="Calibri"/>
              <a:sym typeface="Calibri"/>
            </a:endParaRPr>
          </a:p>
        </p:txBody>
      </p:sp>
      <p:sp>
        <p:nvSpPr>
          <p:cNvPr id="21" name="Google Shape;21;p3"/>
          <p:cNvSpPr/>
          <p:nvPr/>
        </p:nvSpPr>
        <p:spPr>
          <a:xfrm>
            <a:off x="812800" y="583184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A9B8AD"/>
              </a:buClr>
              <a:buSzPts val="1200"/>
              <a:buFont typeface="DM Sans"/>
              <a:buNone/>
            </a:pPr>
            <a:r>
              <a:rPr lang="en-US" sz="1200">
                <a:solidFill>
                  <a:srgbClr val="A9B8AD"/>
                </a:solidFill>
                <a:latin typeface="DM Sans"/>
                <a:ea typeface="DM Sans"/>
                <a:cs typeface="DM Sans"/>
                <a:sym typeface="DM Sans"/>
              </a:rPr>
              <a:t>ASEAN Oct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6"/>
        <p:cNvGrpSpPr/>
        <p:nvPr/>
      </p:nvGrpSpPr>
      <p:grpSpPr>
        <a:xfrm>
          <a:off x="0" y="0"/>
          <a:ext cx="0" cy="0"/>
          <a:chOff x="0" y="0"/>
          <a:chExt cx="0" cy="0"/>
        </a:xfrm>
      </p:grpSpPr>
      <p:sp>
        <p:nvSpPr>
          <p:cNvPr id="27" name="Google Shape;27;p4"/>
          <p:cNvSpPr/>
          <p:nvPr/>
        </p:nvSpPr>
        <p:spPr>
          <a:xfrm>
            <a:off x="548640" y="457200"/>
            <a:ext cx="6400800" cy="292500"/>
          </a:xfrm>
          <a:prstGeom prst="rect">
            <a:avLst/>
          </a:prstGeom>
          <a:noFill/>
          <a:ln>
            <a:noFill/>
          </a:ln>
        </p:spPr>
        <p:txBody>
          <a:bodyPr spcFirstLastPara="1" wrap="square" lIns="0" tIns="0" rIns="0" bIns="0" anchor="ctr" anchorCtr="0">
            <a:noAutofit/>
          </a:bodyPr>
          <a:lstStyle/>
          <a:p>
            <a:pPr marL="0" lvl="0" indent="0" algn="l" rtl="0">
              <a:lnSpc>
                <a:spcPct val="110000"/>
              </a:lnSpc>
              <a:spcBef>
                <a:spcPts val="0"/>
              </a:spcBef>
              <a:spcAft>
                <a:spcPts val="0"/>
              </a:spcAft>
              <a:buClr>
                <a:srgbClr val="1E3A2F"/>
              </a:buClr>
              <a:buSzPts val="3600"/>
              <a:buFont typeface="Fraunces"/>
              <a:buNone/>
            </a:pPr>
            <a:r>
              <a:rPr lang="en-US" sz="3600">
                <a:solidFill>
                  <a:srgbClr val="1E3A2F"/>
                </a:solidFill>
                <a:latin typeface="Fraunces"/>
                <a:ea typeface="Fraunces"/>
                <a:cs typeface="Fraunces"/>
                <a:sym typeface="Fraunces"/>
              </a:rPr>
              <a:t>About Us</a:t>
            </a:r>
            <a:endParaRPr sz="36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endParaRPr sz="1000" i="1">
              <a:solidFill>
                <a:srgbClr val="D97757"/>
              </a:solidFill>
              <a:latin typeface="Georgia"/>
              <a:ea typeface="Georgia"/>
              <a:cs typeface="Georgia"/>
              <a:sym typeface="Georgia"/>
            </a:endParaRPr>
          </a:p>
        </p:txBody>
      </p:sp>
      <p:pic>
        <p:nvPicPr>
          <p:cNvPr id="28" name="Google Shape;28;p4"/>
          <p:cNvPicPr preferRelativeResize="0"/>
          <p:nvPr/>
        </p:nvPicPr>
        <p:blipFill>
          <a:blip r:embed="rId3">
            <a:alphaModFix/>
          </a:blip>
          <a:stretch>
            <a:fillRect/>
          </a:stretch>
        </p:blipFill>
        <p:spPr>
          <a:xfrm>
            <a:off x="1219200" y="888475"/>
            <a:ext cx="9753600" cy="5448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33"/>
        <p:cNvGrpSpPr/>
        <p:nvPr/>
      </p:nvGrpSpPr>
      <p:grpSpPr>
        <a:xfrm>
          <a:off x="0" y="0"/>
          <a:ext cx="0" cy="0"/>
          <a:chOff x="0" y="0"/>
          <a:chExt cx="0" cy="0"/>
        </a:xfrm>
      </p:grpSpPr>
      <p:sp>
        <p:nvSpPr>
          <p:cNvPr id="34" name="Google Shape;34;p5"/>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Small teams. Big stories.</a:t>
            </a:r>
            <a:endParaRPr sz="3600" b="0" i="0" u="none" strike="noStrike" cap="none">
              <a:solidFill>
                <a:schemeClr val="dk1"/>
              </a:solidFill>
              <a:latin typeface="Calibri"/>
              <a:ea typeface="Calibri"/>
              <a:cs typeface="Calibri"/>
              <a:sym typeface="Calibri"/>
            </a:endParaRPr>
          </a:p>
        </p:txBody>
      </p:sp>
      <p:sp>
        <p:nvSpPr>
          <p:cNvPr id="35" name="Google Shape;35;p5"/>
          <p:cNvSpPr/>
          <p:nvPr/>
        </p:nvSpPr>
        <p:spPr>
          <a:xfrm>
            <a:off x="812800" y="1943946"/>
            <a:ext cx="8502650" cy="38862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1F2A24"/>
              </a:buClr>
              <a:buSzPts val="2200"/>
              <a:buFont typeface="Fraunces"/>
              <a:buNone/>
            </a:pPr>
            <a:r>
              <a:rPr lang="en-US" sz="2200" b="0" i="0" u="none" strike="noStrike" cap="none">
                <a:solidFill>
                  <a:srgbClr val="1F2A24"/>
                </a:solidFill>
                <a:latin typeface="Fraunces"/>
                <a:ea typeface="Fraunces"/>
                <a:cs typeface="Fraunces"/>
                <a:sym typeface="Fraunces"/>
              </a:rPr>
              <a:t>You have more impact to share than hands to share it.</a:t>
            </a:r>
            <a:endParaRPr sz="2200" b="0" i="0" u="none" strike="noStrike" cap="none">
              <a:solidFill>
                <a:schemeClr val="dk1"/>
              </a:solidFill>
              <a:latin typeface="Calibri"/>
              <a:ea typeface="Calibri"/>
              <a:cs typeface="Calibri"/>
              <a:sym typeface="Calibri"/>
            </a:endParaRPr>
          </a:p>
        </p:txBody>
      </p:sp>
      <p:sp>
        <p:nvSpPr>
          <p:cNvPr id="36" name="Google Shape;36;p5"/>
          <p:cNvSpPr/>
          <p:nvPr/>
        </p:nvSpPr>
        <p:spPr>
          <a:xfrm>
            <a:off x="815975" y="2938568"/>
            <a:ext cx="3380317" cy="2208530"/>
          </a:xfrm>
          <a:prstGeom prst="roundRect">
            <a:avLst>
              <a:gd name="adj" fmla="val 5607"/>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5" descr="Chat"/>
          <p:cNvPicPr preferRelativeResize="0"/>
          <p:nvPr/>
        </p:nvPicPr>
        <p:blipFill rotWithShape="1">
          <a:blip r:embed="rId3">
            <a:alphaModFix/>
          </a:blip>
          <a:srcRect/>
          <a:stretch/>
        </p:blipFill>
        <p:spPr>
          <a:xfrm>
            <a:off x="1073150" y="3195743"/>
            <a:ext cx="355600" cy="355600"/>
          </a:xfrm>
          <a:prstGeom prst="rect">
            <a:avLst/>
          </a:prstGeom>
          <a:noFill/>
          <a:ln>
            <a:noFill/>
          </a:ln>
        </p:spPr>
      </p:pic>
      <p:sp>
        <p:nvSpPr>
          <p:cNvPr id="38" name="Google Shape;38;p5"/>
          <p:cNvSpPr/>
          <p:nvPr/>
        </p:nvSpPr>
        <p:spPr>
          <a:xfrm>
            <a:off x="1073150" y="3652943"/>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Every channel</a:t>
            </a:r>
            <a:endParaRPr sz="2200" b="0" i="0" u="none" strike="noStrike" cap="none">
              <a:solidFill>
                <a:schemeClr val="dk1"/>
              </a:solidFill>
              <a:latin typeface="Calibri"/>
              <a:ea typeface="Calibri"/>
              <a:cs typeface="Calibri"/>
              <a:sym typeface="Calibri"/>
            </a:endParaRPr>
          </a:p>
        </p:txBody>
      </p:sp>
      <p:sp>
        <p:nvSpPr>
          <p:cNvPr id="39" name="Google Shape;39;p5"/>
          <p:cNvSpPr/>
          <p:nvPr/>
        </p:nvSpPr>
        <p:spPr>
          <a:xfrm>
            <a:off x="1073150" y="4089823"/>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Instagram, LinkedIn, newsletters, WhatsApp, every single week.</a:t>
            </a:r>
            <a:endParaRPr sz="1500" b="0" i="0" u="none" strike="noStrike" cap="none">
              <a:solidFill>
                <a:schemeClr val="dk1"/>
              </a:solidFill>
              <a:latin typeface="Calibri"/>
              <a:ea typeface="Calibri"/>
              <a:cs typeface="Calibri"/>
              <a:sym typeface="Calibri"/>
            </a:endParaRPr>
          </a:p>
        </p:txBody>
      </p:sp>
      <p:sp>
        <p:nvSpPr>
          <p:cNvPr id="40" name="Google Shape;40;p5"/>
          <p:cNvSpPr/>
          <p:nvPr/>
        </p:nvSpPr>
        <p:spPr>
          <a:xfrm>
            <a:off x="4405842" y="2938568"/>
            <a:ext cx="3380317" cy="2208530"/>
          </a:xfrm>
          <a:prstGeom prst="roundRect">
            <a:avLst>
              <a:gd name="adj" fmla="val 5607"/>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 name="Google Shape;41;p5" descr="Users"/>
          <p:cNvPicPr preferRelativeResize="0"/>
          <p:nvPr/>
        </p:nvPicPr>
        <p:blipFill rotWithShape="1">
          <a:blip r:embed="rId4">
            <a:alphaModFix/>
          </a:blip>
          <a:srcRect/>
          <a:stretch/>
        </p:blipFill>
        <p:spPr>
          <a:xfrm>
            <a:off x="4663017" y="3195743"/>
            <a:ext cx="355600" cy="355600"/>
          </a:xfrm>
          <a:prstGeom prst="rect">
            <a:avLst/>
          </a:prstGeom>
          <a:noFill/>
          <a:ln>
            <a:noFill/>
          </a:ln>
        </p:spPr>
      </p:pic>
      <p:sp>
        <p:nvSpPr>
          <p:cNvPr id="42" name="Google Shape;42;p5"/>
          <p:cNvSpPr/>
          <p:nvPr/>
        </p:nvSpPr>
        <p:spPr>
          <a:xfrm>
            <a:off x="4663017" y="3652943"/>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Many audiences</a:t>
            </a:r>
            <a:endParaRPr sz="2200" b="0" i="0" u="none" strike="noStrike" cap="none">
              <a:solidFill>
                <a:schemeClr val="dk1"/>
              </a:solidFill>
              <a:latin typeface="Calibri"/>
              <a:ea typeface="Calibri"/>
              <a:cs typeface="Calibri"/>
              <a:sym typeface="Calibri"/>
            </a:endParaRPr>
          </a:p>
        </p:txBody>
      </p:sp>
      <p:sp>
        <p:nvSpPr>
          <p:cNvPr id="43" name="Google Shape;43;p5"/>
          <p:cNvSpPr/>
          <p:nvPr/>
        </p:nvSpPr>
        <p:spPr>
          <a:xfrm>
            <a:off x="4663017" y="4089823"/>
            <a:ext cx="2951946"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Customers, buyers, funders, partners and the communities you serve.</a:t>
            </a:r>
            <a:endParaRPr sz="1500" b="0" i="0" u="none" strike="noStrike" cap="none">
              <a:solidFill>
                <a:schemeClr val="dk1"/>
              </a:solidFill>
              <a:latin typeface="Calibri"/>
              <a:ea typeface="Calibri"/>
              <a:cs typeface="Calibri"/>
              <a:sym typeface="Calibri"/>
            </a:endParaRPr>
          </a:p>
        </p:txBody>
      </p:sp>
      <p:sp>
        <p:nvSpPr>
          <p:cNvPr id="44" name="Google Shape;44;p5"/>
          <p:cNvSpPr/>
          <p:nvPr/>
        </p:nvSpPr>
        <p:spPr>
          <a:xfrm>
            <a:off x="7995708" y="2938568"/>
            <a:ext cx="3380317" cy="2208530"/>
          </a:xfrm>
          <a:prstGeom prst="roundRect">
            <a:avLst>
              <a:gd name="adj" fmla="val 5607"/>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5" descr="Globe"/>
          <p:cNvPicPr preferRelativeResize="0"/>
          <p:nvPr/>
        </p:nvPicPr>
        <p:blipFill rotWithShape="1">
          <a:blip r:embed="rId5">
            <a:alphaModFix/>
          </a:blip>
          <a:srcRect/>
          <a:stretch/>
        </p:blipFill>
        <p:spPr>
          <a:xfrm>
            <a:off x="8252883" y="3195743"/>
            <a:ext cx="355600" cy="355600"/>
          </a:xfrm>
          <a:prstGeom prst="rect">
            <a:avLst/>
          </a:prstGeom>
          <a:noFill/>
          <a:ln>
            <a:noFill/>
          </a:ln>
        </p:spPr>
      </p:pic>
      <p:sp>
        <p:nvSpPr>
          <p:cNvPr id="46" name="Google Shape;46;p5"/>
          <p:cNvSpPr/>
          <p:nvPr/>
        </p:nvSpPr>
        <p:spPr>
          <a:xfrm>
            <a:off x="8252883" y="3652943"/>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Many languages</a:t>
            </a:r>
            <a:endParaRPr sz="2200" b="0" i="0" u="none" strike="noStrike" cap="none">
              <a:solidFill>
                <a:schemeClr val="dk1"/>
              </a:solidFill>
              <a:latin typeface="Calibri"/>
              <a:ea typeface="Calibri"/>
              <a:cs typeface="Calibri"/>
              <a:sym typeface="Calibri"/>
            </a:endParaRPr>
          </a:p>
        </p:txBody>
      </p:sp>
      <p:sp>
        <p:nvSpPr>
          <p:cNvPr id="47" name="Google Shape;47;p5"/>
          <p:cNvSpPr/>
          <p:nvPr/>
        </p:nvSpPr>
        <p:spPr>
          <a:xfrm>
            <a:off x="8252883" y="4089823"/>
            <a:ext cx="2951946"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English for funders, local languages for customers and communities.</a:t>
            </a:r>
            <a:endParaRPr sz="1500" b="0" i="0" u="none" strike="noStrike" cap="none">
              <a:solidFill>
                <a:schemeClr val="dk1"/>
              </a:solidFill>
              <a:latin typeface="Calibri"/>
              <a:ea typeface="Calibri"/>
              <a:cs typeface="Calibri"/>
              <a:sym typeface="Calibri"/>
            </a:endParaRPr>
          </a:p>
        </p:txBody>
      </p:sp>
      <p:sp>
        <p:nvSpPr>
          <p:cNvPr id="48" name="Google Shape;48;p5"/>
          <p:cNvSpPr/>
          <p:nvPr/>
        </p:nvSpPr>
        <p:spPr>
          <a:xfrm>
            <a:off x="812800" y="5778500"/>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AI won't replace your storytelling. </a:t>
            </a:r>
            <a:r>
              <a:rPr lang="en-US" sz="1500" b="1" i="0" u="none" strike="noStrike" cap="none">
                <a:solidFill>
                  <a:srgbClr val="1F2A24"/>
                </a:solidFill>
                <a:latin typeface="DM Sans"/>
                <a:ea typeface="DM Sans"/>
                <a:cs typeface="DM Sans"/>
                <a:sym typeface="DM Sans"/>
              </a:rPr>
              <a:t>It can give you back the hours.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53"/>
        <p:cNvGrpSpPr/>
        <p:nvPr/>
      </p:nvGrpSpPr>
      <p:grpSpPr>
        <a:xfrm>
          <a:off x="0" y="0"/>
          <a:ext cx="0" cy="0"/>
          <a:chOff x="0" y="0"/>
          <a:chExt cx="0" cy="0"/>
        </a:xfrm>
      </p:grpSpPr>
      <p:sp>
        <p:nvSpPr>
          <p:cNvPr id="54" name="Google Shape;54;p6"/>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What is a large language model?</a:t>
            </a:r>
            <a:endParaRPr sz="3600" b="0" i="0" u="none" strike="noStrike" cap="none">
              <a:solidFill>
                <a:schemeClr val="dk1"/>
              </a:solidFill>
              <a:latin typeface="Calibri"/>
              <a:ea typeface="Calibri"/>
              <a:cs typeface="Calibri"/>
              <a:sym typeface="Calibri"/>
            </a:endParaRPr>
          </a:p>
        </p:txBody>
      </p:sp>
      <p:sp>
        <p:nvSpPr>
          <p:cNvPr id="55" name="Google Shape;55;p6"/>
          <p:cNvSpPr/>
          <p:nvPr/>
        </p:nvSpPr>
        <p:spPr>
          <a:xfrm>
            <a:off x="812800" y="2518093"/>
            <a:ext cx="5232400" cy="723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A prediction engine that has read more text than any person ever could.</a:t>
            </a:r>
            <a:endParaRPr sz="2200" b="0" i="0" u="none" strike="noStrike" cap="none">
              <a:solidFill>
                <a:schemeClr val="dk1"/>
              </a:solidFill>
              <a:latin typeface="Calibri"/>
              <a:ea typeface="Calibri"/>
              <a:cs typeface="Calibri"/>
              <a:sym typeface="Calibri"/>
            </a:endParaRPr>
          </a:p>
        </p:txBody>
      </p:sp>
      <p:sp>
        <p:nvSpPr>
          <p:cNvPr id="56" name="Google Shape;56;p6"/>
          <p:cNvSpPr/>
          <p:nvPr/>
        </p:nvSpPr>
        <p:spPr>
          <a:xfrm>
            <a:off x="812800" y="3419793"/>
            <a:ext cx="5232400" cy="854075"/>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It writes one word at a time, always choosing a likely next word. That's why it sounds fluent, and why </a:t>
            </a:r>
            <a:r>
              <a:rPr lang="en-US" sz="1500" b="1" i="0" u="none" strike="noStrike" cap="none">
                <a:solidFill>
                  <a:srgbClr val="5B6760"/>
                </a:solidFill>
                <a:latin typeface="DM Sans"/>
                <a:ea typeface="DM Sans"/>
                <a:cs typeface="DM Sans"/>
                <a:sym typeface="DM Sans"/>
              </a:rPr>
              <a:t>fluent isn't the same as true.</a:t>
            </a:r>
            <a:endParaRPr sz="1500" b="0" i="0" u="none" strike="noStrike" cap="none">
              <a:solidFill>
                <a:schemeClr val="dk1"/>
              </a:solidFill>
              <a:latin typeface="Calibri"/>
              <a:ea typeface="Calibri"/>
              <a:cs typeface="Calibri"/>
              <a:sym typeface="Calibri"/>
            </a:endParaRPr>
          </a:p>
        </p:txBody>
      </p:sp>
      <p:sp>
        <p:nvSpPr>
          <p:cNvPr id="57" name="Google Shape;57;p6"/>
          <p:cNvSpPr/>
          <p:nvPr/>
        </p:nvSpPr>
        <p:spPr>
          <a:xfrm>
            <a:off x="6299200" y="1671320"/>
            <a:ext cx="5080000" cy="3423920"/>
          </a:xfrm>
          <a:prstGeom prst="roundRect">
            <a:avLst>
              <a:gd name="adj" fmla="val 4451"/>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p:nvPr/>
        </p:nvSpPr>
        <p:spPr>
          <a:xfrm>
            <a:off x="6604000" y="1976120"/>
            <a:ext cx="460451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WHAT COMES NEXT?</a:t>
            </a:r>
            <a:endParaRPr sz="1200" b="0" i="0" u="none" strike="noStrike" cap="none">
              <a:solidFill>
                <a:schemeClr val="dk1"/>
              </a:solidFill>
              <a:latin typeface="Calibri"/>
              <a:ea typeface="Calibri"/>
              <a:cs typeface="Calibri"/>
              <a:sym typeface="Calibri"/>
            </a:endParaRPr>
          </a:p>
        </p:txBody>
      </p:sp>
      <p:sp>
        <p:nvSpPr>
          <p:cNvPr id="59" name="Google Shape;59;p6"/>
          <p:cNvSpPr/>
          <p:nvPr/>
        </p:nvSpPr>
        <p:spPr>
          <a:xfrm>
            <a:off x="6604000" y="2367280"/>
            <a:ext cx="4604512" cy="723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"Our compost turns kitchen waste into ___"</a:t>
            </a:r>
            <a:endParaRPr sz="2200" b="0" i="0" u="none" strike="noStrike" cap="none">
              <a:solidFill>
                <a:schemeClr val="dk1"/>
              </a:solidFill>
              <a:latin typeface="Calibri"/>
              <a:ea typeface="Calibri"/>
              <a:cs typeface="Calibri"/>
              <a:sym typeface="Calibri"/>
            </a:endParaRPr>
          </a:p>
        </p:txBody>
      </p:sp>
      <p:sp>
        <p:nvSpPr>
          <p:cNvPr id="60" name="Google Shape;60;p6"/>
          <p:cNvSpPr/>
          <p:nvPr/>
        </p:nvSpPr>
        <p:spPr>
          <a:xfrm>
            <a:off x="6604000" y="3243580"/>
            <a:ext cx="1320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rich soil</a:t>
            </a:r>
            <a:endParaRPr sz="1500" b="0" i="0" u="none" strike="noStrike" cap="none">
              <a:solidFill>
                <a:schemeClr val="dk1"/>
              </a:solidFill>
              <a:latin typeface="Calibri"/>
              <a:ea typeface="Calibri"/>
              <a:cs typeface="Calibri"/>
              <a:sym typeface="Calibri"/>
            </a:endParaRPr>
          </a:p>
        </p:txBody>
      </p:sp>
      <p:sp>
        <p:nvSpPr>
          <p:cNvPr id="61" name="Google Shape;61;p6"/>
          <p:cNvSpPr/>
          <p:nvPr/>
        </p:nvSpPr>
        <p:spPr>
          <a:xfrm>
            <a:off x="8026400" y="3288030"/>
            <a:ext cx="2667000" cy="177800"/>
          </a:xfrm>
          <a:prstGeom prst="roundRect">
            <a:avLst>
              <a:gd name="adj" fmla="val 50000"/>
            </a:avLst>
          </a:prstGeom>
          <a:solidFill>
            <a:srgbClr val="E3A8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6604000" y="3688080"/>
            <a:ext cx="1320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fertiliser</a:t>
            </a:r>
            <a:endParaRPr sz="1500" b="0" i="0" u="none" strike="noStrike" cap="none">
              <a:solidFill>
                <a:schemeClr val="dk1"/>
              </a:solidFill>
              <a:latin typeface="Calibri"/>
              <a:ea typeface="Calibri"/>
              <a:cs typeface="Calibri"/>
              <a:sym typeface="Calibri"/>
            </a:endParaRPr>
          </a:p>
        </p:txBody>
      </p:sp>
      <p:sp>
        <p:nvSpPr>
          <p:cNvPr id="63" name="Google Shape;63;p6"/>
          <p:cNvSpPr/>
          <p:nvPr/>
        </p:nvSpPr>
        <p:spPr>
          <a:xfrm>
            <a:off x="8026400" y="3732530"/>
            <a:ext cx="1206500" cy="177800"/>
          </a:xfrm>
          <a:prstGeom prst="roundRect">
            <a:avLst>
              <a:gd name="adj" fmla="val 50000"/>
            </a:avLst>
          </a:prstGeom>
          <a:solidFill>
            <a:srgbClr val="8FB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6604000" y="4132580"/>
            <a:ext cx="1320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gold</a:t>
            </a:r>
            <a:endParaRPr sz="1500" b="0" i="0" u="none" strike="noStrike" cap="none">
              <a:solidFill>
                <a:schemeClr val="dk1"/>
              </a:solidFill>
              <a:latin typeface="Calibri"/>
              <a:ea typeface="Calibri"/>
              <a:cs typeface="Calibri"/>
              <a:sym typeface="Calibri"/>
            </a:endParaRPr>
          </a:p>
        </p:txBody>
      </p:sp>
      <p:sp>
        <p:nvSpPr>
          <p:cNvPr id="65" name="Google Shape;65;p6"/>
          <p:cNvSpPr/>
          <p:nvPr/>
        </p:nvSpPr>
        <p:spPr>
          <a:xfrm>
            <a:off x="8026400" y="4177030"/>
            <a:ext cx="254000" cy="177800"/>
          </a:xfrm>
          <a:prstGeom prst="roundRect">
            <a:avLst>
              <a:gd name="adj" fmla="val 50000"/>
            </a:avLst>
          </a:prstGeom>
          <a:solidFill>
            <a:srgbClr val="5E7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6604000" y="4577080"/>
            <a:ext cx="460451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A9B8AD"/>
              </a:buClr>
              <a:buSzPts val="1200"/>
              <a:buFont typeface="DM Sans"/>
              <a:buNone/>
            </a:pPr>
            <a:r>
              <a:rPr lang="en-US" sz="1200" b="0" i="0" u="none" strike="noStrike" cap="none">
                <a:solidFill>
                  <a:srgbClr val="A9B8AD"/>
                </a:solidFill>
                <a:latin typeface="DM Sans"/>
                <a:ea typeface="DM Sans"/>
                <a:cs typeface="DM Sans"/>
                <a:sym typeface="DM Sans"/>
              </a:rPr>
              <a:t>Illustrative, not real probabilities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71"/>
        <p:cNvGrpSpPr/>
        <p:nvPr/>
      </p:nvGrpSpPr>
      <p:grpSpPr>
        <a:xfrm>
          <a:off x="0" y="0"/>
          <a:ext cx="0" cy="0"/>
          <a:chOff x="0" y="0"/>
          <a:chExt cx="0" cy="0"/>
        </a:xfrm>
      </p:grpSpPr>
      <p:sp>
        <p:nvSpPr>
          <p:cNvPr id="72" name="Google Shape;72;p7"/>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How it learned, in three steps</a:t>
            </a:r>
            <a:endParaRPr sz="3600" b="0" i="0" u="none" strike="noStrike" cap="none">
              <a:solidFill>
                <a:schemeClr val="dk1"/>
              </a:solidFill>
              <a:latin typeface="Calibri"/>
              <a:ea typeface="Calibri"/>
              <a:cs typeface="Calibri"/>
              <a:sym typeface="Calibri"/>
            </a:endParaRPr>
          </a:p>
        </p:txBody>
      </p:sp>
      <p:sp>
        <p:nvSpPr>
          <p:cNvPr id="73" name="Google Shape;73;p7"/>
          <p:cNvSpPr/>
          <p:nvPr/>
        </p:nvSpPr>
        <p:spPr>
          <a:xfrm>
            <a:off x="815975" y="1997711"/>
            <a:ext cx="3041650" cy="2244090"/>
          </a:xfrm>
          <a:prstGeom prst="roundRect">
            <a:avLst>
              <a:gd name="adj" fmla="val 5518"/>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1073150" y="2254886"/>
            <a:ext cx="2603119"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01</a:t>
            </a:r>
            <a:endParaRPr sz="2200" b="0" i="0" u="none" strike="noStrike" cap="none">
              <a:solidFill>
                <a:schemeClr val="dk1"/>
              </a:solidFill>
              <a:latin typeface="Calibri"/>
              <a:ea typeface="Calibri"/>
              <a:cs typeface="Calibri"/>
              <a:sym typeface="Calibri"/>
            </a:endParaRPr>
          </a:p>
        </p:txBody>
      </p:sp>
      <p:sp>
        <p:nvSpPr>
          <p:cNvPr id="75" name="Google Shape;75;p7"/>
          <p:cNvSpPr/>
          <p:nvPr/>
        </p:nvSpPr>
        <p:spPr>
          <a:xfrm>
            <a:off x="1073150" y="2747645"/>
            <a:ext cx="260311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Read</a:t>
            </a:r>
            <a:endParaRPr sz="2200" b="0" i="0" u="none" strike="noStrike" cap="none">
              <a:solidFill>
                <a:schemeClr val="dk1"/>
              </a:solidFill>
              <a:latin typeface="Calibri"/>
              <a:ea typeface="Calibri"/>
              <a:cs typeface="Calibri"/>
              <a:sym typeface="Calibri"/>
            </a:endParaRPr>
          </a:p>
        </p:txBody>
      </p:sp>
      <p:sp>
        <p:nvSpPr>
          <p:cNvPr id="76" name="Google Shape;76;p7"/>
          <p:cNvSpPr/>
          <p:nvPr/>
        </p:nvSpPr>
        <p:spPr>
          <a:xfrm>
            <a:off x="1073150" y="3184525"/>
            <a:ext cx="2603119"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Trained on a vast library of books, websites and articles.</a:t>
            </a:r>
            <a:endParaRPr sz="1500" b="0" i="0" u="none" strike="noStrike" cap="none">
              <a:solidFill>
                <a:schemeClr val="dk1"/>
              </a:solidFill>
              <a:latin typeface="Calibri"/>
              <a:ea typeface="Calibri"/>
              <a:cs typeface="Calibri"/>
              <a:sym typeface="Calibri"/>
            </a:endParaRPr>
          </a:p>
        </p:txBody>
      </p:sp>
      <p:pic>
        <p:nvPicPr>
          <p:cNvPr id="77" name="Google Shape;77;p7" descr="arrow-right"/>
          <p:cNvPicPr preferRelativeResize="0"/>
          <p:nvPr/>
        </p:nvPicPr>
        <p:blipFill rotWithShape="1">
          <a:blip r:embed="rId3">
            <a:alphaModFix/>
          </a:blip>
          <a:srcRect/>
          <a:stretch/>
        </p:blipFill>
        <p:spPr>
          <a:xfrm>
            <a:off x="4013200" y="3018155"/>
            <a:ext cx="406400" cy="203200"/>
          </a:xfrm>
          <a:prstGeom prst="rect">
            <a:avLst/>
          </a:prstGeom>
          <a:noFill/>
          <a:ln>
            <a:noFill/>
          </a:ln>
        </p:spPr>
      </p:pic>
      <p:sp>
        <p:nvSpPr>
          <p:cNvPr id="78" name="Google Shape;78;p7"/>
          <p:cNvSpPr/>
          <p:nvPr/>
        </p:nvSpPr>
        <p:spPr>
          <a:xfrm>
            <a:off x="4575175" y="1997711"/>
            <a:ext cx="3041650" cy="2244090"/>
          </a:xfrm>
          <a:prstGeom prst="roundRect">
            <a:avLst>
              <a:gd name="adj" fmla="val 5518"/>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7"/>
          <p:cNvSpPr/>
          <p:nvPr/>
        </p:nvSpPr>
        <p:spPr>
          <a:xfrm>
            <a:off x="4832350" y="2254886"/>
            <a:ext cx="2603119"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02</a:t>
            </a:r>
            <a:endParaRPr sz="2200" b="0" i="0" u="none" strike="noStrike" cap="none">
              <a:solidFill>
                <a:schemeClr val="dk1"/>
              </a:solidFill>
              <a:latin typeface="Calibri"/>
              <a:ea typeface="Calibri"/>
              <a:cs typeface="Calibri"/>
              <a:sym typeface="Calibri"/>
            </a:endParaRPr>
          </a:p>
        </p:txBody>
      </p:sp>
      <p:sp>
        <p:nvSpPr>
          <p:cNvPr id="80" name="Google Shape;80;p7"/>
          <p:cNvSpPr/>
          <p:nvPr/>
        </p:nvSpPr>
        <p:spPr>
          <a:xfrm>
            <a:off x="4832350" y="2747645"/>
            <a:ext cx="260311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Coached</a:t>
            </a:r>
            <a:endParaRPr sz="2200" b="0" i="0" u="none" strike="noStrike" cap="none">
              <a:solidFill>
                <a:schemeClr val="dk1"/>
              </a:solidFill>
              <a:latin typeface="Calibri"/>
              <a:ea typeface="Calibri"/>
              <a:cs typeface="Calibri"/>
              <a:sym typeface="Calibri"/>
            </a:endParaRPr>
          </a:p>
        </p:txBody>
      </p:sp>
      <p:sp>
        <p:nvSpPr>
          <p:cNvPr id="81" name="Google Shape;81;p7"/>
          <p:cNvSpPr/>
          <p:nvPr/>
        </p:nvSpPr>
        <p:spPr>
          <a:xfrm>
            <a:off x="4832350" y="3184525"/>
            <a:ext cx="2603119"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Shown many examples of good answers. Learned to follow instructions.</a:t>
            </a:r>
            <a:endParaRPr sz="1500" b="0" i="0" u="none" strike="noStrike" cap="none">
              <a:solidFill>
                <a:schemeClr val="dk1"/>
              </a:solidFill>
              <a:latin typeface="Calibri"/>
              <a:ea typeface="Calibri"/>
              <a:cs typeface="Calibri"/>
              <a:sym typeface="Calibri"/>
            </a:endParaRPr>
          </a:p>
        </p:txBody>
      </p:sp>
      <p:pic>
        <p:nvPicPr>
          <p:cNvPr id="82" name="Google Shape;82;p7" descr="arrow-right"/>
          <p:cNvPicPr preferRelativeResize="0"/>
          <p:nvPr/>
        </p:nvPicPr>
        <p:blipFill rotWithShape="1">
          <a:blip r:embed="rId3">
            <a:alphaModFix/>
          </a:blip>
          <a:srcRect/>
          <a:stretch/>
        </p:blipFill>
        <p:spPr>
          <a:xfrm>
            <a:off x="7772400" y="3018155"/>
            <a:ext cx="406400" cy="203200"/>
          </a:xfrm>
          <a:prstGeom prst="rect">
            <a:avLst/>
          </a:prstGeom>
          <a:noFill/>
          <a:ln>
            <a:noFill/>
          </a:ln>
        </p:spPr>
      </p:pic>
      <p:sp>
        <p:nvSpPr>
          <p:cNvPr id="83" name="Google Shape;83;p7"/>
          <p:cNvSpPr/>
          <p:nvPr/>
        </p:nvSpPr>
        <p:spPr>
          <a:xfrm>
            <a:off x="8334375" y="1997711"/>
            <a:ext cx="3041650" cy="2244090"/>
          </a:xfrm>
          <a:prstGeom prst="roundRect">
            <a:avLst>
              <a:gd name="adj" fmla="val 5518"/>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8591550" y="2254886"/>
            <a:ext cx="2603119"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03</a:t>
            </a:r>
            <a:endParaRPr sz="2200" b="0" i="0" u="none" strike="noStrike" cap="none">
              <a:solidFill>
                <a:schemeClr val="dk1"/>
              </a:solidFill>
              <a:latin typeface="Calibri"/>
              <a:ea typeface="Calibri"/>
              <a:cs typeface="Calibri"/>
              <a:sym typeface="Calibri"/>
            </a:endParaRPr>
          </a:p>
        </p:txBody>
      </p:sp>
      <p:sp>
        <p:nvSpPr>
          <p:cNvPr id="85" name="Google Shape;85;p7"/>
          <p:cNvSpPr/>
          <p:nvPr/>
        </p:nvSpPr>
        <p:spPr>
          <a:xfrm>
            <a:off x="8591550" y="2747645"/>
            <a:ext cx="260311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Refined</a:t>
            </a:r>
            <a:endParaRPr sz="2200" b="0" i="0" u="none" strike="noStrike" cap="none">
              <a:solidFill>
                <a:schemeClr val="dk1"/>
              </a:solidFill>
              <a:latin typeface="Calibri"/>
              <a:ea typeface="Calibri"/>
              <a:cs typeface="Calibri"/>
              <a:sym typeface="Calibri"/>
            </a:endParaRPr>
          </a:p>
        </p:txBody>
      </p:sp>
      <p:sp>
        <p:nvSpPr>
          <p:cNvPr id="86" name="Google Shape;86;p7"/>
          <p:cNvSpPr/>
          <p:nvPr/>
        </p:nvSpPr>
        <p:spPr>
          <a:xfrm>
            <a:off x="8591550" y="3184525"/>
            <a:ext cx="2603119"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People rated its answers. Learned what "helpful" looks like.</a:t>
            </a:r>
            <a:endParaRPr sz="1500" b="0" i="0" u="none" strike="noStrike" cap="none">
              <a:solidFill>
                <a:schemeClr val="dk1"/>
              </a:solidFill>
              <a:latin typeface="Calibri"/>
              <a:ea typeface="Calibri"/>
              <a:cs typeface="Calibri"/>
              <a:sym typeface="Calibri"/>
            </a:endParaRPr>
          </a:p>
        </p:txBody>
      </p:sp>
      <p:sp>
        <p:nvSpPr>
          <p:cNvPr id="87" name="Google Shape;87;p7"/>
          <p:cNvSpPr/>
          <p:nvPr/>
        </p:nvSpPr>
        <p:spPr>
          <a:xfrm>
            <a:off x="812800" y="4923789"/>
            <a:ext cx="10566400" cy="1121410"/>
          </a:xfrm>
          <a:prstGeom prst="roundRect">
            <a:avLst>
              <a:gd name="adj" fmla="val 1132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a:off x="1117600" y="5177789"/>
            <a:ext cx="10255504"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WHAT THIS MEANS FOR YOU</a:t>
            </a:r>
            <a:endParaRPr sz="1200" b="0" i="0" u="none" strike="noStrike" cap="none">
              <a:solidFill>
                <a:schemeClr val="dk1"/>
              </a:solidFill>
              <a:latin typeface="Calibri"/>
              <a:ea typeface="Calibri"/>
              <a:cs typeface="Calibri"/>
              <a:sym typeface="Calibri"/>
            </a:endParaRPr>
          </a:p>
        </p:txBody>
      </p:sp>
      <p:sp>
        <p:nvSpPr>
          <p:cNvPr id="89" name="Google Shape;89;p7"/>
          <p:cNvSpPr/>
          <p:nvPr/>
        </p:nvSpPr>
        <p:spPr>
          <a:xfrm>
            <a:off x="1117600" y="5441950"/>
            <a:ext cx="10255504" cy="3746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It learned from everyone, so it sounds like everyone. Make it sound like you.</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94"/>
        <p:cNvGrpSpPr/>
        <p:nvPr/>
      </p:nvGrpSpPr>
      <p:grpSpPr>
        <a:xfrm>
          <a:off x="0" y="0"/>
          <a:ext cx="0" cy="0"/>
          <a:chOff x="0" y="0"/>
          <a:chExt cx="0" cy="0"/>
        </a:xfrm>
      </p:grpSpPr>
      <p:sp>
        <p:nvSpPr>
          <p:cNvPr id="95" name="Google Shape;95;p8"/>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Think of it as a brilliant intern on their first day</a:t>
            </a:r>
            <a:endParaRPr sz="3600" b="0" i="0" u="none" strike="noStrike" cap="none">
              <a:solidFill>
                <a:schemeClr val="dk1"/>
              </a:solidFill>
              <a:latin typeface="Calibri"/>
              <a:ea typeface="Calibri"/>
              <a:cs typeface="Calibri"/>
              <a:sym typeface="Calibri"/>
            </a:endParaRPr>
          </a:p>
        </p:txBody>
      </p:sp>
      <p:sp>
        <p:nvSpPr>
          <p:cNvPr id="96" name="Google Shape;96;p8"/>
          <p:cNvSpPr/>
          <p:nvPr/>
        </p:nvSpPr>
        <p:spPr>
          <a:xfrm>
            <a:off x="815975" y="1623696"/>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8" descr="Book"/>
          <p:cNvPicPr preferRelativeResize="0"/>
          <p:nvPr/>
        </p:nvPicPr>
        <p:blipFill rotWithShape="1">
          <a:blip r:embed="rId3">
            <a:alphaModFix/>
          </a:blip>
          <a:srcRect/>
          <a:stretch/>
        </p:blipFill>
        <p:spPr>
          <a:xfrm>
            <a:off x="1073150" y="1896111"/>
            <a:ext cx="304800" cy="304800"/>
          </a:xfrm>
          <a:prstGeom prst="rect">
            <a:avLst/>
          </a:prstGeom>
          <a:noFill/>
          <a:ln>
            <a:noFill/>
          </a:ln>
        </p:spPr>
      </p:pic>
      <p:sp>
        <p:nvSpPr>
          <p:cNvPr id="98" name="Google Shape;98;p8"/>
          <p:cNvSpPr/>
          <p:nvPr/>
        </p:nvSpPr>
        <p:spPr>
          <a:xfrm>
            <a:off x="1504950" y="1880871"/>
            <a:ext cx="1594062"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Widely read</a:t>
            </a:r>
            <a:endParaRPr sz="2200" b="0" i="0" u="none" strike="noStrike" cap="none">
              <a:solidFill>
                <a:schemeClr val="dk1"/>
              </a:solidFill>
              <a:latin typeface="Calibri"/>
              <a:ea typeface="Calibri"/>
              <a:cs typeface="Calibri"/>
              <a:sym typeface="Calibri"/>
            </a:endParaRPr>
          </a:p>
        </p:txBody>
      </p:sp>
      <p:sp>
        <p:nvSpPr>
          <p:cNvPr id="99" name="Google Shape;99;p8"/>
          <p:cNvSpPr/>
          <p:nvPr/>
        </p:nvSpPr>
        <p:spPr>
          <a:xfrm>
            <a:off x="1073150" y="22923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Broad knowledge on almost any topic, available instantly.</a:t>
            </a:r>
            <a:endParaRPr sz="1500" b="0" i="0" u="none" strike="noStrike" cap="none">
              <a:solidFill>
                <a:schemeClr val="dk1"/>
              </a:solidFill>
              <a:latin typeface="Calibri"/>
              <a:ea typeface="Calibri"/>
              <a:cs typeface="Calibri"/>
              <a:sym typeface="Calibri"/>
            </a:endParaRPr>
          </a:p>
        </p:txBody>
      </p:sp>
      <p:sp>
        <p:nvSpPr>
          <p:cNvPr id="100" name="Google Shape;100;p8"/>
          <p:cNvSpPr/>
          <p:nvPr/>
        </p:nvSpPr>
        <p:spPr>
          <a:xfrm>
            <a:off x="6200775" y="1623696"/>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1" name="Google Shape;101;p8" descr="Search"/>
          <p:cNvPicPr preferRelativeResize="0"/>
          <p:nvPr/>
        </p:nvPicPr>
        <p:blipFill rotWithShape="1">
          <a:blip r:embed="rId4">
            <a:alphaModFix/>
          </a:blip>
          <a:srcRect/>
          <a:stretch/>
        </p:blipFill>
        <p:spPr>
          <a:xfrm>
            <a:off x="6457950" y="1896111"/>
            <a:ext cx="304800" cy="304800"/>
          </a:xfrm>
          <a:prstGeom prst="rect">
            <a:avLst/>
          </a:prstGeom>
          <a:noFill/>
          <a:ln>
            <a:noFill/>
          </a:ln>
        </p:spPr>
      </p:pic>
      <p:sp>
        <p:nvSpPr>
          <p:cNvPr id="102" name="Google Shape;102;p8"/>
          <p:cNvSpPr/>
          <p:nvPr/>
        </p:nvSpPr>
        <p:spPr>
          <a:xfrm>
            <a:off x="6889750" y="1880871"/>
            <a:ext cx="3392993"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Knows nothing about you</a:t>
            </a:r>
            <a:endParaRPr sz="2200" b="0" i="0" u="none" strike="noStrike" cap="none">
              <a:solidFill>
                <a:schemeClr val="dk1"/>
              </a:solidFill>
              <a:latin typeface="Calibri"/>
              <a:ea typeface="Calibri"/>
              <a:cs typeface="Calibri"/>
              <a:sym typeface="Calibri"/>
            </a:endParaRPr>
          </a:p>
        </p:txBody>
      </p:sp>
      <p:sp>
        <p:nvSpPr>
          <p:cNvPr id="103" name="Google Shape;103;p8"/>
          <p:cNvSpPr/>
          <p:nvPr/>
        </p:nvSpPr>
        <p:spPr>
          <a:xfrm>
            <a:off x="6457950" y="22923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Your mission, your </a:t>
            </a:r>
            <a:r>
              <a:rPr lang="en-US" sz="1500">
                <a:solidFill>
                  <a:srgbClr val="5B6760"/>
                </a:solidFill>
                <a:latin typeface="DM Sans"/>
                <a:ea typeface="DM Sans"/>
                <a:cs typeface="DM Sans"/>
                <a:sym typeface="DM Sans"/>
              </a:rPr>
              <a:t>protagonists</a:t>
            </a:r>
            <a:r>
              <a:rPr lang="en-US" sz="1500" b="0" i="0" u="none" strike="noStrike" cap="none">
                <a:solidFill>
                  <a:srgbClr val="5B6760"/>
                </a:solidFill>
                <a:latin typeface="DM Sans"/>
                <a:ea typeface="DM Sans"/>
                <a:cs typeface="DM Sans"/>
                <a:sym typeface="DM Sans"/>
              </a:rPr>
              <a:t>, your brand voice: you have to tell it.</a:t>
            </a:r>
            <a:endParaRPr sz="1500" b="0" i="0" u="none" strike="noStrike" cap="none">
              <a:solidFill>
                <a:schemeClr val="dk1"/>
              </a:solidFill>
              <a:latin typeface="Calibri"/>
              <a:ea typeface="Calibri"/>
              <a:cs typeface="Calibri"/>
              <a:sym typeface="Calibri"/>
            </a:endParaRPr>
          </a:p>
        </p:txBody>
      </p:sp>
      <p:sp>
        <p:nvSpPr>
          <p:cNvPr id="104" name="Google Shape;104;p8"/>
          <p:cNvSpPr/>
          <p:nvPr/>
        </p:nvSpPr>
        <p:spPr>
          <a:xfrm>
            <a:off x="815975" y="3292475"/>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8" descr="ThumbsUp"/>
          <p:cNvPicPr preferRelativeResize="0"/>
          <p:nvPr/>
        </p:nvPicPr>
        <p:blipFill rotWithShape="1">
          <a:blip r:embed="rId5">
            <a:alphaModFix/>
          </a:blip>
          <a:srcRect/>
          <a:stretch/>
        </p:blipFill>
        <p:spPr>
          <a:xfrm>
            <a:off x="1073150" y="3564889"/>
            <a:ext cx="304800" cy="304800"/>
          </a:xfrm>
          <a:prstGeom prst="rect">
            <a:avLst/>
          </a:prstGeom>
          <a:noFill/>
          <a:ln>
            <a:noFill/>
          </a:ln>
        </p:spPr>
      </p:pic>
      <p:sp>
        <p:nvSpPr>
          <p:cNvPr id="106" name="Google Shape;106;p8"/>
          <p:cNvSpPr/>
          <p:nvPr/>
        </p:nvSpPr>
        <p:spPr>
          <a:xfrm>
            <a:off x="1504950" y="3549650"/>
            <a:ext cx="2003355"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Eager to please</a:t>
            </a:r>
            <a:endParaRPr sz="2200" b="0" i="0" u="none" strike="noStrike" cap="none">
              <a:solidFill>
                <a:schemeClr val="dk1"/>
              </a:solidFill>
              <a:latin typeface="Calibri"/>
              <a:ea typeface="Calibri"/>
              <a:cs typeface="Calibri"/>
              <a:sym typeface="Calibri"/>
            </a:endParaRPr>
          </a:p>
        </p:txBody>
      </p:sp>
      <p:sp>
        <p:nvSpPr>
          <p:cNvPr id="107" name="Google Shape;107;p8"/>
          <p:cNvSpPr/>
          <p:nvPr/>
        </p:nvSpPr>
        <p:spPr>
          <a:xfrm>
            <a:off x="1073150" y="39611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Rarely says "I don't know". It fills gaps with confident guesses.</a:t>
            </a:r>
            <a:endParaRPr sz="1500" b="0" i="0" u="none" strike="noStrike" cap="none">
              <a:solidFill>
                <a:schemeClr val="dk1"/>
              </a:solidFill>
              <a:latin typeface="Calibri"/>
              <a:ea typeface="Calibri"/>
              <a:cs typeface="Calibri"/>
              <a:sym typeface="Calibri"/>
            </a:endParaRPr>
          </a:p>
        </p:txBody>
      </p:sp>
      <p:sp>
        <p:nvSpPr>
          <p:cNvPr id="108" name="Google Shape;108;p8"/>
          <p:cNvSpPr/>
          <p:nvPr/>
        </p:nvSpPr>
        <p:spPr>
          <a:xfrm>
            <a:off x="6200775" y="3292475"/>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 name="Google Shape;109;p8" descr="CheckCircle"/>
          <p:cNvPicPr preferRelativeResize="0"/>
          <p:nvPr/>
        </p:nvPicPr>
        <p:blipFill rotWithShape="1">
          <a:blip r:embed="rId6">
            <a:alphaModFix/>
          </a:blip>
          <a:srcRect/>
          <a:stretch/>
        </p:blipFill>
        <p:spPr>
          <a:xfrm>
            <a:off x="6457950" y="3564889"/>
            <a:ext cx="304800" cy="304800"/>
          </a:xfrm>
          <a:prstGeom prst="rect">
            <a:avLst/>
          </a:prstGeom>
          <a:noFill/>
          <a:ln>
            <a:noFill/>
          </a:ln>
        </p:spPr>
      </p:pic>
      <p:sp>
        <p:nvSpPr>
          <p:cNvPr id="110" name="Google Shape;110;p8"/>
          <p:cNvSpPr/>
          <p:nvPr/>
        </p:nvSpPr>
        <p:spPr>
          <a:xfrm>
            <a:off x="6889750" y="3549650"/>
            <a:ext cx="276357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Needs your direction</a:t>
            </a:r>
            <a:endParaRPr sz="2200" b="0" i="0" u="none" strike="noStrike" cap="none">
              <a:solidFill>
                <a:schemeClr val="dk1"/>
              </a:solidFill>
              <a:latin typeface="Calibri"/>
              <a:ea typeface="Calibri"/>
              <a:cs typeface="Calibri"/>
              <a:sym typeface="Calibri"/>
            </a:endParaRPr>
          </a:p>
        </p:txBody>
      </p:sp>
      <p:sp>
        <p:nvSpPr>
          <p:cNvPr id="111" name="Google Shape;111;p8"/>
          <p:cNvSpPr/>
          <p:nvPr/>
        </p:nvSpPr>
        <p:spPr>
          <a:xfrm>
            <a:off x="6457950" y="39611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Great work comes from a clear brief and your final review.</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16"/>
        <p:cNvGrpSpPr/>
        <p:nvPr/>
      </p:nvGrpSpPr>
      <p:grpSpPr>
        <a:xfrm>
          <a:off x="0" y="0"/>
          <a:ext cx="0" cy="0"/>
          <a:chOff x="0" y="0"/>
          <a:chExt cx="0" cy="0"/>
        </a:xfrm>
      </p:grpSpPr>
      <p:sp>
        <p:nvSpPr>
          <p:cNvPr id="117" name="Google Shape;117;p9"/>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Where it shines, where it stumbles</a:t>
            </a:r>
            <a:endParaRPr sz="3600" b="0" i="0" u="none" strike="noStrike" cap="none">
              <a:solidFill>
                <a:schemeClr val="dk1"/>
              </a:solidFill>
              <a:latin typeface="Calibri"/>
              <a:ea typeface="Calibri"/>
              <a:cs typeface="Calibri"/>
              <a:sym typeface="Calibri"/>
            </a:endParaRPr>
          </a:p>
        </p:txBody>
      </p:sp>
      <p:sp>
        <p:nvSpPr>
          <p:cNvPr id="118" name="Google Shape;118;p9"/>
          <p:cNvSpPr/>
          <p:nvPr/>
        </p:nvSpPr>
        <p:spPr>
          <a:xfrm>
            <a:off x="815975" y="2265046"/>
            <a:ext cx="5175250" cy="2564130"/>
          </a:xfrm>
          <a:prstGeom prst="roundRect">
            <a:avLst>
              <a:gd name="adj" fmla="val 4829"/>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 name="Google Shape;119;p9" descr="Star"/>
          <p:cNvPicPr preferRelativeResize="0"/>
          <p:nvPr/>
        </p:nvPicPr>
        <p:blipFill rotWithShape="1">
          <a:blip r:embed="rId3">
            <a:alphaModFix/>
          </a:blip>
          <a:srcRect/>
          <a:stretch/>
        </p:blipFill>
        <p:spPr>
          <a:xfrm>
            <a:off x="1123950" y="2588261"/>
            <a:ext cx="304800" cy="304800"/>
          </a:xfrm>
          <a:prstGeom prst="rect">
            <a:avLst/>
          </a:prstGeom>
          <a:noFill/>
          <a:ln>
            <a:noFill/>
          </a:ln>
        </p:spPr>
      </p:pic>
      <p:sp>
        <p:nvSpPr>
          <p:cNvPr id="120" name="Google Shape;120;p9"/>
          <p:cNvSpPr/>
          <p:nvPr/>
        </p:nvSpPr>
        <p:spPr>
          <a:xfrm>
            <a:off x="1555750" y="2573021"/>
            <a:ext cx="910484"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F6B4C"/>
              </a:buClr>
              <a:buSzPts val="2200"/>
              <a:buFont typeface="Fraunces"/>
              <a:buNone/>
            </a:pPr>
            <a:r>
              <a:rPr lang="en-US" sz="2200" b="0" i="0" u="none" strike="noStrike" cap="none">
                <a:solidFill>
                  <a:srgbClr val="2F6B4C"/>
                </a:solidFill>
                <a:latin typeface="Fraunces"/>
                <a:ea typeface="Fraunces"/>
                <a:cs typeface="Fraunces"/>
                <a:sym typeface="Fraunces"/>
              </a:rPr>
              <a:t>Shines</a:t>
            </a:r>
            <a:endParaRPr sz="2200" b="0" i="0" u="none" strike="noStrike" cap="none">
              <a:solidFill>
                <a:schemeClr val="dk1"/>
              </a:solidFill>
              <a:latin typeface="Calibri"/>
              <a:ea typeface="Calibri"/>
              <a:cs typeface="Calibri"/>
              <a:sym typeface="Calibri"/>
            </a:endParaRPr>
          </a:p>
        </p:txBody>
      </p:sp>
      <p:sp>
        <p:nvSpPr>
          <p:cNvPr id="121" name="Google Shape;121;p9"/>
          <p:cNvSpPr/>
          <p:nvPr/>
        </p:nvSpPr>
        <p:spPr>
          <a:xfrm>
            <a:off x="1195070" y="3060700"/>
            <a:ext cx="4617339" cy="1485900"/>
          </a:xfrm>
          <a:prstGeom prst="rect">
            <a:avLst/>
          </a:prstGeom>
          <a:noFill/>
          <a:ln>
            <a:noFill/>
          </a:ln>
        </p:spPr>
        <p:txBody>
          <a:bodyPr spcFirstLastPara="1" wrap="square" lIns="0" tIns="0" rIns="0" bIns="0" anchor="t" anchorCtr="0">
            <a:noAutofit/>
          </a:bodyPr>
          <a:lstStyle/>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First drafts in seconds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Ten headline options instead of one</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Rewriting one story for many audiences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Translating and localising across languages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Turning long reports into short posts</a:t>
            </a:r>
            <a:endParaRPr sz="1500" b="0" i="0" u="none" strike="noStrike" cap="none">
              <a:solidFill>
                <a:schemeClr val="dk1"/>
              </a:solidFill>
              <a:latin typeface="Calibri"/>
              <a:ea typeface="Calibri"/>
              <a:cs typeface="Calibri"/>
              <a:sym typeface="Calibri"/>
            </a:endParaRPr>
          </a:p>
        </p:txBody>
      </p:sp>
      <p:sp>
        <p:nvSpPr>
          <p:cNvPr id="122" name="Google Shape;122;p9"/>
          <p:cNvSpPr/>
          <p:nvPr/>
        </p:nvSpPr>
        <p:spPr>
          <a:xfrm>
            <a:off x="6200775" y="2265046"/>
            <a:ext cx="5175250" cy="2564130"/>
          </a:xfrm>
          <a:prstGeom prst="roundRect">
            <a:avLst>
              <a:gd name="adj" fmla="val 4829"/>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3" name="Google Shape;123;p9" descr="Warning"/>
          <p:cNvPicPr preferRelativeResize="0"/>
          <p:nvPr/>
        </p:nvPicPr>
        <p:blipFill rotWithShape="1">
          <a:blip r:embed="rId4">
            <a:alphaModFix/>
          </a:blip>
          <a:srcRect/>
          <a:stretch/>
        </p:blipFill>
        <p:spPr>
          <a:xfrm>
            <a:off x="6508750" y="2588261"/>
            <a:ext cx="304800" cy="304800"/>
          </a:xfrm>
          <a:prstGeom prst="rect">
            <a:avLst/>
          </a:prstGeom>
          <a:noFill/>
          <a:ln>
            <a:noFill/>
          </a:ln>
        </p:spPr>
      </p:pic>
      <p:sp>
        <p:nvSpPr>
          <p:cNvPr id="124" name="Google Shape;124;p9"/>
          <p:cNvSpPr/>
          <p:nvPr/>
        </p:nvSpPr>
        <p:spPr>
          <a:xfrm>
            <a:off x="6940550" y="2573021"/>
            <a:ext cx="1259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Stumbles</a:t>
            </a:r>
            <a:endParaRPr sz="2200" b="0" i="0" u="none" strike="noStrike" cap="none">
              <a:solidFill>
                <a:schemeClr val="dk1"/>
              </a:solidFill>
              <a:latin typeface="Calibri"/>
              <a:ea typeface="Calibri"/>
              <a:cs typeface="Calibri"/>
              <a:sym typeface="Calibri"/>
            </a:endParaRPr>
          </a:p>
        </p:txBody>
      </p:sp>
      <p:sp>
        <p:nvSpPr>
          <p:cNvPr id="125" name="Google Shape;125;p9"/>
          <p:cNvSpPr/>
          <p:nvPr/>
        </p:nvSpPr>
        <p:spPr>
          <a:xfrm>
            <a:off x="6579870" y="3060700"/>
            <a:ext cx="4617339" cy="1485900"/>
          </a:xfrm>
          <a:prstGeom prst="rect">
            <a:avLst/>
          </a:prstGeom>
          <a:noFill/>
          <a:ln>
            <a:noFill/>
          </a:ln>
        </p:spPr>
        <p:txBody>
          <a:bodyPr spcFirstLastPara="1" wrap="square" lIns="0" tIns="0" rIns="0" bIns="0" anchor="t" anchorCtr="0">
            <a:noAutofit/>
          </a:bodyPr>
          <a:lstStyle/>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Inventing facts, figures and quotes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A generic, over-polished "AI voice"</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Not knowing your context or community</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Missing local and cultural nuance</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Not knowing recent events</a:t>
            </a:r>
            <a:endParaRPr sz="1500" b="0" i="0" u="none" strike="noStrike" cap="none">
              <a:solidFill>
                <a:schemeClr val="dk1"/>
              </a:solidFill>
              <a:latin typeface="Calibri"/>
              <a:ea typeface="Calibri"/>
              <a:cs typeface="Calibri"/>
              <a:sym typeface="Calibri"/>
            </a:endParaRPr>
          </a:p>
        </p:txBody>
      </p:sp>
      <p:sp>
        <p:nvSpPr>
          <p:cNvPr id="126" name="Google Shape;126;p9"/>
          <p:cNvSpPr/>
          <p:nvPr/>
        </p:nvSpPr>
        <p:spPr>
          <a:xfrm>
            <a:off x="812800" y="5778500"/>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Use it for speed and range. </a:t>
            </a:r>
            <a:r>
              <a:rPr lang="en-US" sz="1500" b="1" i="0" u="none" strike="noStrike" cap="none">
                <a:solidFill>
                  <a:srgbClr val="1F2A24"/>
                </a:solidFill>
                <a:latin typeface="DM Sans"/>
                <a:ea typeface="DM Sans"/>
                <a:cs typeface="DM Sans"/>
                <a:sym typeface="DM Sans"/>
              </a:rPr>
              <a:t>Bring the facts, the context and the voice yourself.</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31"/>
        <p:cNvGrpSpPr/>
        <p:nvPr/>
      </p:nvGrpSpPr>
      <p:grpSpPr>
        <a:xfrm>
          <a:off x="0" y="0"/>
          <a:ext cx="0" cy="0"/>
          <a:chOff x="0" y="0"/>
          <a:chExt cx="0" cy="0"/>
        </a:xfrm>
      </p:grpSpPr>
      <p:sp>
        <p:nvSpPr>
          <p:cNvPr id="132" name="Google Shape;132;p10"/>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The tools you'll meet</a:t>
            </a:r>
            <a:endParaRPr sz="3600" b="0" i="0" u="none" strike="noStrike" cap="none">
              <a:solidFill>
                <a:schemeClr val="dk1"/>
              </a:solidFill>
              <a:latin typeface="Calibri"/>
              <a:ea typeface="Calibri"/>
              <a:cs typeface="Calibri"/>
              <a:sym typeface="Calibri"/>
            </a:endParaRPr>
          </a:p>
        </p:txBody>
      </p:sp>
      <p:sp>
        <p:nvSpPr>
          <p:cNvPr id="133" name="Google Shape;133;p10"/>
          <p:cNvSpPr/>
          <p:nvPr/>
        </p:nvSpPr>
        <p:spPr>
          <a:xfrm>
            <a:off x="815975" y="2217421"/>
            <a:ext cx="3380317" cy="2576830"/>
          </a:xfrm>
          <a:prstGeom prst="roundRect">
            <a:avLst>
              <a:gd name="adj" fmla="val 4805"/>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4" name="Google Shape;134;p10" descr="Chat"/>
          <p:cNvPicPr preferRelativeResize="0"/>
          <p:nvPr/>
        </p:nvPicPr>
        <p:blipFill rotWithShape="1">
          <a:blip r:embed="rId3">
            <a:alphaModFix/>
          </a:blip>
          <a:srcRect/>
          <a:stretch/>
        </p:blipFill>
        <p:spPr>
          <a:xfrm>
            <a:off x="1073150" y="2474596"/>
            <a:ext cx="355600" cy="355600"/>
          </a:xfrm>
          <a:prstGeom prst="rect">
            <a:avLst/>
          </a:prstGeom>
          <a:noFill/>
          <a:ln>
            <a:noFill/>
          </a:ln>
        </p:spPr>
      </p:pic>
      <p:sp>
        <p:nvSpPr>
          <p:cNvPr id="135" name="Google Shape;135;p10"/>
          <p:cNvSpPr/>
          <p:nvPr/>
        </p:nvSpPr>
        <p:spPr>
          <a:xfrm>
            <a:off x="1073150" y="2931796"/>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Chat assistants</a:t>
            </a:r>
            <a:endParaRPr sz="2200" b="0" i="0" u="none" strike="noStrike" cap="none">
              <a:solidFill>
                <a:schemeClr val="dk1"/>
              </a:solidFill>
              <a:latin typeface="Calibri"/>
              <a:ea typeface="Calibri"/>
              <a:cs typeface="Calibri"/>
              <a:sym typeface="Calibri"/>
            </a:endParaRPr>
          </a:p>
        </p:txBody>
      </p:sp>
      <p:sp>
        <p:nvSpPr>
          <p:cNvPr id="136" name="Google Shape;136;p10"/>
          <p:cNvSpPr/>
          <p:nvPr/>
        </p:nvSpPr>
        <p:spPr>
          <a:xfrm>
            <a:off x="1073150" y="3368675"/>
            <a:ext cx="295194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1" i="0" u="none" strike="noStrike" cap="none">
                <a:solidFill>
                  <a:srgbClr val="1F2A24"/>
                </a:solidFill>
                <a:latin typeface="DM Sans"/>
                <a:ea typeface="DM Sans"/>
                <a:cs typeface="DM Sans"/>
                <a:sym typeface="DM Sans"/>
              </a:rPr>
              <a:t>ChatGPT · Claude · </a:t>
            </a:r>
            <a:r>
              <a:rPr lang="en-US" sz="1500" b="1" i="0" u="none" strike="noStrike" cap="none">
                <a:solidFill>
                  <a:srgbClr val="2F6B4C"/>
                </a:solidFill>
                <a:latin typeface="DM Sans"/>
                <a:ea typeface="DM Sans"/>
                <a:cs typeface="DM Sans"/>
                <a:sym typeface="DM Sans"/>
              </a:rPr>
              <a:t>Gemini</a:t>
            </a:r>
            <a:endParaRPr sz="1500" b="0" i="0" u="none" strike="noStrike" cap="none">
              <a:solidFill>
                <a:srgbClr val="2F6B4C"/>
              </a:solidFill>
              <a:latin typeface="Calibri"/>
              <a:ea typeface="Calibri"/>
              <a:cs typeface="Calibri"/>
              <a:sym typeface="Calibri"/>
            </a:endParaRPr>
          </a:p>
        </p:txBody>
      </p:sp>
      <p:sp>
        <p:nvSpPr>
          <p:cNvPr id="137" name="Google Shape;137;p10"/>
          <p:cNvSpPr/>
          <p:nvPr/>
        </p:nvSpPr>
        <p:spPr>
          <a:xfrm>
            <a:off x="1073150" y="37369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Writing, brainstorming, editing and research.</a:t>
            </a:r>
            <a:endParaRPr sz="1500" b="0" i="0" u="none" strike="noStrike" cap="none">
              <a:solidFill>
                <a:schemeClr val="dk1"/>
              </a:solidFill>
              <a:latin typeface="Calibri"/>
              <a:ea typeface="Calibri"/>
              <a:cs typeface="Calibri"/>
              <a:sym typeface="Calibri"/>
            </a:endParaRPr>
          </a:p>
        </p:txBody>
      </p:sp>
      <p:sp>
        <p:nvSpPr>
          <p:cNvPr id="138" name="Google Shape;138;p10"/>
          <p:cNvSpPr/>
          <p:nvPr/>
        </p:nvSpPr>
        <p:spPr>
          <a:xfrm>
            <a:off x="4405842" y="2217421"/>
            <a:ext cx="3380317" cy="2576830"/>
          </a:xfrm>
          <a:prstGeom prst="roundRect">
            <a:avLst>
              <a:gd name="adj" fmla="val 4805"/>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9" name="Google Shape;139;p10" descr="Tool"/>
          <p:cNvPicPr preferRelativeResize="0"/>
          <p:nvPr/>
        </p:nvPicPr>
        <p:blipFill rotWithShape="1">
          <a:blip r:embed="rId4">
            <a:alphaModFix/>
          </a:blip>
          <a:srcRect/>
          <a:stretch/>
        </p:blipFill>
        <p:spPr>
          <a:xfrm>
            <a:off x="4663017" y="2474596"/>
            <a:ext cx="355600" cy="355600"/>
          </a:xfrm>
          <a:prstGeom prst="rect">
            <a:avLst/>
          </a:prstGeom>
          <a:noFill/>
          <a:ln>
            <a:noFill/>
          </a:ln>
        </p:spPr>
      </p:pic>
      <p:sp>
        <p:nvSpPr>
          <p:cNvPr id="140" name="Google Shape;140;p10"/>
          <p:cNvSpPr/>
          <p:nvPr/>
        </p:nvSpPr>
        <p:spPr>
          <a:xfrm>
            <a:off x="4663017" y="2931796"/>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Inside your apps</a:t>
            </a:r>
            <a:endParaRPr sz="2200" b="0" i="0" u="none" strike="noStrike" cap="none">
              <a:solidFill>
                <a:schemeClr val="dk1"/>
              </a:solidFill>
              <a:latin typeface="Calibri"/>
              <a:ea typeface="Calibri"/>
              <a:cs typeface="Calibri"/>
              <a:sym typeface="Calibri"/>
            </a:endParaRPr>
          </a:p>
        </p:txBody>
      </p:sp>
      <p:sp>
        <p:nvSpPr>
          <p:cNvPr id="141" name="Google Shape;141;p10"/>
          <p:cNvSpPr/>
          <p:nvPr/>
        </p:nvSpPr>
        <p:spPr>
          <a:xfrm>
            <a:off x="4663017" y="3368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1" i="0" u="none" strike="noStrike" cap="none">
                <a:solidFill>
                  <a:srgbClr val="1F2A24"/>
                </a:solidFill>
                <a:latin typeface="DM Sans"/>
                <a:ea typeface="DM Sans"/>
                <a:cs typeface="DM Sans"/>
                <a:sym typeface="DM Sans"/>
              </a:rPr>
              <a:t>Canva · </a:t>
            </a:r>
            <a:r>
              <a:rPr lang="en-US" sz="1500" b="1" i="0" u="none" strike="noStrike" cap="none">
                <a:solidFill>
                  <a:srgbClr val="2F6B4C"/>
                </a:solidFill>
                <a:latin typeface="DM Sans"/>
                <a:ea typeface="DM Sans"/>
                <a:cs typeface="DM Sans"/>
                <a:sym typeface="DM Sans"/>
              </a:rPr>
              <a:t>Google Workspace</a:t>
            </a:r>
            <a:r>
              <a:rPr lang="en-US" sz="1500" b="1" i="0" u="none" strike="noStrike" cap="none">
                <a:solidFill>
                  <a:srgbClr val="1F2A24"/>
                </a:solidFill>
                <a:latin typeface="DM Sans"/>
                <a:ea typeface="DM Sans"/>
                <a:cs typeface="DM Sans"/>
                <a:sym typeface="DM Sans"/>
              </a:rPr>
              <a:t> · Microsoft 365 · Meta</a:t>
            </a:r>
            <a:endParaRPr sz="1500" b="0" i="0" u="none" strike="noStrike" cap="none">
              <a:solidFill>
                <a:schemeClr val="dk1"/>
              </a:solidFill>
              <a:latin typeface="Calibri"/>
              <a:ea typeface="Calibri"/>
              <a:cs typeface="Calibri"/>
              <a:sym typeface="Calibri"/>
            </a:endParaRPr>
          </a:p>
        </p:txBody>
      </p:sp>
      <p:sp>
        <p:nvSpPr>
          <p:cNvPr id="142" name="Google Shape;142;p10"/>
          <p:cNvSpPr/>
          <p:nvPr/>
        </p:nvSpPr>
        <p:spPr>
          <a:xfrm>
            <a:off x="4663017" y="4003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AI help right where you already work.</a:t>
            </a:r>
            <a:endParaRPr sz="1500" b="0" i="0" u="none" strike="noStrike" cap="none">
              <a:solidFill>
                <a:schemeClr val="dk1"/>
              </a:solidFill>
              <a:latin typeface="Calibri"/>
              <a:ea typeface="Calibri"/>
              <a:cs typeface="Calibri"/>
              <a:sym typeface="Calibri"/>
            </a:endParaRPr>
          </a:p>
        </p:txBody>
      </p:sp>
      <p:sp>
        <p:nvSpPr>
          <p:cNvPr id="143" name="Google Shape;143;p10"/>
          <p:cNvSpPr/>
          <p:nvPr/>
        </p:nvSpPr>
        <p:spPr>
          <a:xfrm>
            <a:off x="7995708" y="2217421"/>
            <a:ext cx="3380317" cy="2576830"/>
          </a:xfrm>
          <a:prstGeom prst="roundRect">
            <a:avLst>
              <a:gd name="adj" fmla="val 4805"/>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4" name="Google Shape;144;p10" descr="Lightbulb"/>
          <p:cNvPicPr preferRelativeResize="0"/>
          <p:nvPr/>
        </p:nvPicPr>
        <p:blipFill rotWithShape="1">
          <a:blip r:embed="rId5">
            <a:alphaModFix/>
          </a:blip>
          <a:srcRect/>
          <a:stretch/>
        </p:blipFill>
        <p:spPr>
          <a:xfrm>
            <a:off x="8252883" y="2474596"/>
            <a:ext cx="355600" cy="355600"/>
          </a:xfrm>
          <a:prstGeom prst="rect">
            <a:avLst/>
          </a:prstGeom>
          <a:noFill/>
          <a:ln>
            <a:noFill/>
          </a:ln>
        </p:spPr>
      </p:pic>
      <p:sp>
        <p:nvSpPr>
          <p:cNvPr id="145" name="Google Shape;145;p10"/>
          <p:cNvSpPr/>
          <p:nvPr/>
        </p:nvSpPr>
        <p:spPr>
          <a:xfrm>
            <a:off x="8252883" y="2931796"/>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Image and video</a:t>
            </a:r>
            <a:endParaRPr sz="2200" b="0" i="0" u="none" strike="noStrike" cap="none">
              <a:solidFill>
                <a:schemeClr val="dk1"/>
              </a:solidFill>
              <a:latin typeface="Calibri"/>
              <a:ea typeface="Calibri"/>
              <a:cs typeface="Calibri"/>
              <a:sym typeface="Calibri"/>
            </a:endParaRPr>
          </a:p>
        </p:txBody>
      </p:sp>
      <p:sp>
        <p:nvSpPr>
          <p:cNvPr id="146" name="Google Shape;146;p10"/>
          <p:cNvSpPr/>
          <p:nvPr/>
        </p:nvSpPr>
        <p:spPr>
          <a:xfrm>
            <a:off x="8252883" y="3368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1" i="0" u="none" strike="noStrike" cap="none">
                <a:solidFill>
                  <a:srgbClr val="1F2A24"/>
                </a:solidFill>
                <a:latin typeface="DM Sans"/>
                <a:ea typeface="DM Sans"/>
                <a:cs typeface="DM Sans"/>
                <a:sym typeface="DM Sans"/>
              </a:rPr>
              <a:t>Canva · Adobe Firefly · </a:t>
            </a:r>
            <a:r>
              <a:rPr lang="en-US" sz="1500" b="1">
                <a:solidFill>
                  <a:srgbClr val="2F6B4C"/>
                </a:solidFill>
                <a:latin typeface="DM Sans"/>
                <a:ea typeface="DM Sans"/>
                <a:cs typeface="DM Sans"/>
                <a:sym typeface="DM Sans"/>
              </a:rPr>
              <a:t>Google Vids </a:t>
            </a:r>
            <a:r>
              <a:rPr lang="en-US" sz="1500" b="1">
                <a:solidFill>
                  <a:srgbClr val="1F2A24"/>
                </a:solidFill>
                <a:latin typeface="DM Sans"/>
                <a:ea typeface="DM Sans"/>
                <a:cs typeface="DM Sans"/>
                <a:sym typeface="DM Sans"/>
              </a:rPr>
              <a:t>· </a:t>
            </a:r>
            <a:r>
              <a:rPr lang="en-US" sz="1500" b="1">
                <a:solidFill>
                  <a:srgbClr val="2F6B4C"/>
                </a:solidFill>
                <a:latin typeface="DM Sans"/>
                <a:ea typeface="DM Sans"/>
                <a:cs typeface="DM Sans"/>
                <a:sym typeface="DM Sans"/>
              </a:rPr>
              <a:t>Gemini Canvas</a:t>
            </a:r>
            <a:endParaRPr sz="1500" b="0" i="0" u="none" strike="noStrike" cap="none">
              <a:solidFill>
                <a:srgbClr val="2F6B4C"/>
              </a:solidFill>
              <a:latin typeface="Calibri"/>
              <a:ea typeface="Calibri"/>
              <a:cs typeface="Calibri"/>
              <a:sym typeface="Calibri"/>
            </a:endParaRPr>
          </a:p>
        </p:txBody>
      </p:sp>
      <p:sp>
        <p:nvSpPr>
          <p:cNvPr id="147" name="Google Shape;147;p10"/>
          <p:cNvSpPr/>
          <p:nvPr/>
        </p:nvSpPr>
        <p:spPr>
          <a:xfrm>
            <a:off x="8252883" y="4003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Visual drafts, variations and resizing.</a:t>
            </a:r>
            <a:endParaRPr sz="1500" b="0" i="0" u="none" strike="noStrike" cap="none">
              <a:solidFill>
                <a:schemeClr val="dk1"/>
              </a:solidFill>
              <a:latin typeface="Calibri"/>
              <a:ea typeface="Calibri"/>
              <a:cs typeface="Calibri"/>
              <a:sym typeface="Calibri"/>
            </a:endParaRPr>
          </a:p>
        </p:txBody>
      </p:sp>
      <p:sp>
        <p:nvSpPr>
          <p:cNvPr id="148" name="Google Shape;148;p10"/>
          <p:cNvSpPr/>
          <p:nvPr/>
        </p:nvSpPr>
        <p:spPr>
          <a:xfrm>
            <a:off x="812800" y="5695950"/>
            <a:ext cx="10883392" cy="3746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The tool matters less than the brief you give it.</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5532B"/>
        </a:solidFill>
        <a:effectLst/>
      </p:bgPr>
    </p:bg>
    <p:spTree>
      <p:nvGrpSpPr>
        <p:cNvPr id="1" name="Shape 153"/>
        <p:cNvGrpSpPr/>
        <p:nvPr/>
      </p:nvGrpSpPr>
      <p:grpSpPr>
        <a:xfrm>
          <a:off x="0" y="0"/>
          <a:ext cx="0" cy="0"/>
          <a:chOff x="0" y="0"/>
          <a:chExt cx="0" cy="0"/>
        </a:xfrm>
      </p:grpSpPr>
      <p:sp>
        <p:nvSpPr>
          <p:cNvPr id="154" name="Google Shape;154;p11"/>
          <p:cNvSpPr/>
          <p:nvPr/>
        </p:nvSpPr>
        <p:spPr>
          <a:xfrm>
            <a:off x="812800" y="19050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BF3E8"/>
              </a:buClr>
              <a:buSzPts val="1200"/>
              <a:buFont typeface="DM Sans"/>
              <a:buNone/>
            </a:pPr>
            <a:r>
              <a:rPr lang="en-US" sz="1200" b="1" i="0" u="none" strike="noStrike" cap="none">
                <a:solidFill>
                  <a:srgbClr val="FBF3E8"/>
                </a:solidFill>
                <a:latin typeface="DM Sans"/>
                <a:ea typeface="DM Sans"/>
                <a:cs typeface="DM Sans"/>
                <a:sym typeface="DM Sans"/>
              </a:rPr>
              <a:t>PART TWO · PROMPTING</a:t>
            </a:r>
            <a:endParaRPr sz="1200" b="0" i="0" u="none" strike="noStrike" cap="none">
              <a:solidFill>
                <a:schemeClr val="dk1"/>
              </a:solidFill>
              <a:latin typeface="Calibri"/>
              <a:ea typeface="Calibri"/>
              <a:cs typeface="Calibri"/>
              <a:sym typeface="Calibri"/>
            </a:endParaRPr>
          </a:p>
        </p:txBody>
      </p:sp>
      <p:sp>
        <p:nvSpPr>
          <p:cNvPr id="155" name="Google Shape;155;p11"/>
          <p:cNvSpPr/>
          <p:nvPr/>
        </p:nvSpPr>
        <p:spPr>
          <a:xfrm>
            <a:off x="812800" y="2372361"/>
            <a:ext cx="10883392" cy="1625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BF3E8"/>
              </a:buClr>
              <a:buSzPts val="6000"/>
              <a:buFont typeface="Fraunces"/>
              <a:buNone/>
            </a:pPr>
            <a:r>
              <a:rPr lang="en-US" sz="6000" b="0" i="0" u="none" strike="noStrike" cap="none">
                <a:solidFill>
                  <a:srgbClr val="FBF3E8"/>
                </a:solidFill>
                <a:latin typeface="Fraunces"/>
                <a:ea typeface="Fraunces"/>
                <a:cs typeface="Fraunces"/>
                <a:sym typeface="Fraunces"/>
              </a:rPr>
              <a:t>A prompt is a</a:t>
            </a:r>
            <a:r>
              <a:rPr lang="en-US" sz="6000">
                <a:solidFill>
                  <a:schemeClr val="dk1"/>
                </a:solidFill>
                <a:latin typeface="Calibri"/>
                <a:ea typeface="Calibri"/>
                <a:cs typeface="Calibri"/>
                <a:sym typeface="Calibri"/>
              </a:rPr>
              <a:t> </a:t>
            </a:r>
            <a:endParaRPr sz="600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BF3E8"/>
              </a:buClr>
              <a:buSzPts val="6000"/>
              <a:buFont typeface="Fraunces"/>
              <a:buNone/>
            </a:pPr>
            <a:r>
              <a:rPr lang="en-US" sz="6000" b="0" i="0" u="none" strike="noStrike" cap="none">
                <a:solidFill>
                  <a:srgbClr val="FBF3E8"/>
                </a:solidFill>
                <a:latin typeface="Fraunces"/>
                <a:ea typeface="Fraunces"/>
                <a:cs typeface="Fraunces"/>
                <a:sym typeface="Fraunces"/>
              </a:rPr>
              <a:t>creative brief.</a:t>
            </a:r>
            <a:endParaRPr sz="6000" b="0" i="0" u="none" strike="noStrike" cap="none">
              <a:solidFill>
                <a:schemeClr val="dk1"/>
              </a:solidFill>
              <a:latin typeface="Calibri"/>
              <a:ea typeface="Calibri"/>
              <a:cs typeface="Calibri"/>
              <a:sym typeface="Calibri"/>
            </a:endParaRPr>
          </a:p>
        </p:txBody>
      </p:sp>
      <p:sp>
        <p:nvSpPr>
          <p:cNvPr id="156" name="Google Shape;156;p11"/>
          <p:cNvSpPr/>
          <p:nvPr/>
        </p:nvSpPr>
        <p:spPr>
          <a:xfrm>
            <a:off x="812800" y="4226558"/>
            <a:ext cx="8502650" cy="7518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FBF3E8"/>
              </a:buClr>
              <a:buSzPts val="2200"/>
              <a:buFont typeface="DM Sans"/>
              <a:buNone/>
            </a:pPr>
            <a:r>
              <a:rPr lang="en-US" sz="2200" b="0" i="0" u="none" strike="noStrike" cap="none">
                <a:solidFill>
                  <a:srgbClr val="FBF3E8"/>
                </a:solidFill>
                <a:latin typeface="DM Sans"/>
                <a:ea typeface="DM Sans"/>
                <a:cs typeface="DM Sans"/>
                <a:sym typeface="DM Sans"/>
              </a:rPr>
              <a:t>If you can brief a designer or an agency, you already know how to prompt.</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61"/>
        <p:cNvGrpSpPr/>
        <p:nvPr/>
      </p:nvGrpSpPr>
      <p:grpSpPr>
        <a:xfrm>
          <a:off x="0" y="0"/>
          <a:ext cx="0" cy="0"/>
          <a:chOff x="0" y="0"/>
          <a:chExt cx="0" cy="0"/>
        </a:xfrm>
      </p:grpSpPr>
      <p:sp>
        <p:nvSpPr>
          <p:cNvPr id="162" name="Google Shape;162;p12"/>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Five parts of a good brief</a:t>
            </a:r>
            <a:endParaRPr sz="3600" b="0" i="0" u="none" strike="noStrike" cap="none">
              <a:solidFill>
                <a:schemeClr val="dk1"/>
              </a:solidFill>
              <a:latin typeface="Calibri"/>
              <a:ea typeface="Calibri"/>
              <a:cs typeface="Calibri"/>
              <a:sym typeface="Calibri"/>
            </a:endParaRPr>
          </a:p>
        </p:txBody>
      </p:sp>
      <p:sp>
        <p:nvSpPr>
          <p:cNvPr id="163" name="Google Shape;163;p12"/>
          <p:cNvSpPr/>
          <p:nvPr/>
        </p:nvSpPr>
        <p:spPr>
          <a:xfrm>
            <a:off x="812800" y="1518921"/>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Example: an Instagram caption for a rice brand working with smallholder farmers</a:t>
            </a:r>
            <a:endParaRPr sz="1500" b="0" i="0" u="none" strike="noStrike" cap="none">
              <a:solidFill>
                <a:schemeClr val="dk1"/>
              </a:solidFill>
              <a:latin typeface="Calibri"/>
              <a:ea typeface="Calibri"/>
              <a:cs typeface="Calibri"/>
              <a:sym typeface="Calibri"/>
            </a:endParaRPr>
          </a:p>
        </p:txBody>
      </p:sp>
      <p:cxnSp>
        <p:nvCxnSpPr>
          <p:cNvPr id="164" name="Google Shape;164;p12"/>
          <p:cNvCxnSpPr/>
          <p:nvPr/>
        </p:nvCxnSpPr>
        <p:spPr>
          <a:xfrm>
            <a:off x="812800" y="1995171"/>
            <a:ext cx="10566400" cy="0"/>
          </a:xfrm>
          <a:prstGeom prst="straightConnector1">
            <a:avLst/>
          </a:prstGeom>
          <a:noFill/>
          <a:ln w="12700" cap="flat" cmpd="sng">
            <a:solidFill>
              <a:srgbClr val="D9CDB6"/>
            </a:solidFill>
            <a:prstDash val="solid"/>
            <a:round/>
            <a:headEnd type="none" w="sm" len="sm"/>
            <a:tailEnd type="none" w="sm" len="sm"/>
          </a:ln>
        </p:spPr>
      </p:cxnSp>
      <p:sp>
        <p:nvSpPr>
          <p:cNvPr id="165" name="Google Shape;165;p12"/>
          <p:cNvSpPr/>
          <p:nvPr/>
        </p:nvSpPr>
        <p:spPr>
          <a:xfrm>
            <a:off x="812800" y="21285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ROLE</a:t>
            </a:r>
            <a:endParaRPr sz="1500" b="0" i="0" u="none" strike="noStrike" cap="none">
              <a:solidFill>
                <a:schemeClr val="dk1"/>
              </a:solidFill>
              <a:latin typeface="Calibri"/>
              <a:ea typeface="Calibri"/>
              <a:cs typeface="Calibri"/>
              <a:sym typeface="Calibri"/>
            </a:endParaRPr>
          </a:p>
        </p:txBody>
      </p:sp>
      <p:sp>
        <p:nvSpPr>
          <p:cNvPr id="166" name="Google Shape;166;p12"/>
          <p:cNvSpPr/>
          <p:nvPr/>
        </p:nvSpPr>
        <p:spPr>
          <a:xfrm>
            <a:off x="2641600" y="21285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"You are the social media writer for [Brand], an impact brand."</a:t>
            </a:r>
            <a:endParaRPr sz="1500" b="0" i="0" u="none" strike="noStrike" cap="none">
              <a:solidFill>
                <a:schemeClr val="dk1"/>
              </a:solidFill>
              <a:latin typeface="Calibri"/>
              <a:ea typeface="Calibri"/>
              <a:cs typeface="Calibri"/>
              <a:sym typeface="Calibri"/>
            </a:endParaRPr>
          </a:p>
        </p:txBody>
      </p:sp>
      <p:cxnSp>
        <p:nvCxnSpPr>
          <p:cNvPr id="167" name="Google Shape;167;p12"/>
          <p:cNvCxnSpPr/>
          <p:nvPr/>
        </p:nvCxnSpPr>
        <p:spPr>
          <a:xfrm>
            <a:off x="812800" y="2528571"/>
            <a:ext cx="10566400" cy="0"/>
          </a:xfrm>
          <a:prstGeom prst="straightConnector1">
            <a:avLst/>
          </a:prstGeom>
          <a:noFill/>
          <a:ln w="12700" cap="flat" cmpd="sng">
            <a:solidFill>
              <a:srgbClr val="D9CDB6"/>
            </a:solidFill>
            <a:prstDash val="solid"/>
            <a:round/>
            <a:headEnd type="none" w="sm" len="sm"/>
            <a:tailEnd type="none" w="sm" len="sm"/>
          </a:ln>
        </p:spPr>
      </p:cxnSp>
      <p:sp>
        <p:nvSpPr>
          <p:cNvPr id="168" name="Google Shape;168;p12"/>
          <p:cNvSpPr/>
          <p:nvPr/>
        </p:nvSpPr>
        <p:spPr>
          <a:xfrm>
            <a:off x="812800" y="26619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TASK</a:t>
            </a:r>
            <a:endParaRPr sz="1500" b="0" i="0" u="none" strike="noStrike" cap="none">
              <a:solidFill>
                <a:schemeClr val="dk1"/>
              </a:solidFill>
              <a:latin typeface="Calibri"/>
              <a:ea typeface="Calibri"/>
              <a:cs typeface="Calibri"/>
              <a:sym typeface="Calibri"/>
            </a:endParaRPr>
          </a:p>
        </p:txBody>
      </p:sp>
      <p:sp>
        <p:nvSpPr>
          <p:cNvPr id="169" name="Google Shape;169;p12"/>
          <p:cNvSpPr/>
          <p:nvPr/>
        </p:nvSpPr>
        <p:spPr>
          <a:xfrm>
            <a:off x="2641600" y="26619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"Write an Instagram caption announcing our new harvest."</a:t>
            </a:r>
            <a:endParaRPr sz="1500" b="0" i="0" u="none" strike="noStrike" cap="none">
              <a:solidFill>
                <a:schemeClr val="dk1"/>
              </a:solidFill>
              <a:latin typeface="Calibri"/>
              <a:ea typeface="Calibri"/>
              <a:cs typeface="Calibri"/>
              <a:sym typeface="Calibri"/>
            </a:endParaRPr>
          </a:p>
        </p:txBody>
      </p:sp>
      <p:cxnSp>
        <p:nvCxnSpPr>
          <p:cNvPr id="170" name="Google Shape;170;p12"/>
          <p:cNvCxnSpPr/>
          <p:nvPr/>
        </p:nvCxnSpPr>
        <p:spPr>
          <a:xfrm>
            <a:off x="812800" y="3061971"/>
            <a:ext cx="10566400" cy="0"/>
          </a:xfrm>
          <a:prstGeom prst="straightConnector1">
            <a:avLst/>
          </a:prstGeom>
          <a:noFill/>
          <a:ln w="12700" cap="flat" cmpd="sng">
            <a:solidFill>
              <a:srgbClr val="D9CDB6"/>
            </a:solidFill>
            <a:prstDash val="solid"/>
            <a:round/>
            <a:headEnd type="none" w="sm" len="sm"/>
            <a:tailEnd type="none" w="sm" len="sm"/>
          </a:ln>
        </p:spPr>
      </p:cxnSp>
      <p:sp>
        <p:nvSpPr>
          <p:cNvPr id="171" name="Google Shape;171;p12"/>
          <p:cNvSpPr/>
          <p:nvPr/>
        </p:nvSpPr>
        <p:spPr>
          <a:xfrm>
            <a:off x="812800" y="31953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CONTEXT</a:t>
            </a:r>
            <a:endParaRPr sz="1500" b="0" i="0" u="none" strike="noStrike" cap="none">
              <a:solidFill>
                <a:schemeClr val="dk1"/>
              </a:solidFill>
              <a:latin typeface="Calibri"/>
              <a:ea typeface="Calibri"/>
              <a:cs typeface="Calibri"/>
              <a:sym typeface="Calibri"/>
            </a:endParaRPr>
          </a:p>
        </p:txBody>
      </p:sp>
      <p:sp>
        <p:nvSpPr>
          <p:cNvPr id="172" name="Google Shape;172;p12"/>
          <p:cNvSpPr/>
          <p:nvPr/>
        </p:nvSpPr>
        <p:spPr>
          <a:xfrm>
            <a:off x="2641600" y="3195321"/>
            <a:ext cx="8999728"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"We buy organic rice directly from smallholder farmers in [region]. Our followers are young urban families who care where their food comes from."</a:t>
            </a:r>
            <a:endParaRPr sz="1500" b="0" i="0" u="none" strike="noStrike" cap="none">
              <a:solidFill>
                <a:schemeClr val="dk1"/>
              </a:solidFill>
              <a:latin typeface="Calibri"/>
              <a:ea typeface="Calibri"/>
              <a:cs typeface="Calibri"/>
              <a:sym typeface="Calibri"/>
            </a:endParaRPr>
          </a:p>
        </p:txBody>
      </p:sp>
      <p:cxnSp>
        <p:nvCxnSpPr>
          <p:cNvPr id="173" name="Google Shape;173;p12"/>
          <p:cNvCxnSpPr/>
          <p:nvPr/>
        </p:nvCxnSpPr>
        <p:spPr>
          <a:xfrm>
            <a:off x="812800" y="3862071"/>
            <a:ext cx="10566400" cy="0"/>
          </a:xfrm>
          <a:prstGeom prst="straightConnector1">
            <a:avLst/>
          </a:prstGeom>
          <a:noFill/>
          <a:ln w="12700" cap="flat" cmpd="sng">
            <a:solidFill>
              <a:srgbClr val="D9CDB6"/>
            </a:solidFill>
            <a:prstDash val="solid"/>
            <a:round/>
            <a:headEnd type="none" w="sm" len="sm"/>
            <a:tailEnd type="none" w="sm" len="sm"/>
          </a:ln>
        </p:spPr>
      </p:cxnSp>
      <p:sp>
        <p:nvSpPr>
          <p:cNvPr id="174" name="Google Shape;174;p12"/>
          <p:cNvSpPr/>
          <p:nvPr/>
        </p:nvSpPr>
        <p:spPr>
          <a:xfrm>
            <a:off x="812800" y="39954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FORMAT</a:t>
            </a:r>
            <a:endParaRPr sz="1500" b="0" i="0" u="none" strike="noStrike" cap="none">
              <a:solidFill>
                <a:schemeClr val="dk1"/>
              </a:solidFill>
              <a:latin typeface="Calibri"/>
              <a:ea typeface="Calibri"/>
              <a:cs typeface="Calibri"/>
              <a:sym typeface="Calibri"/>
            </a:endParaRPr>
          </a:p>
        </p:txBody>
      </p:sp>
      <p:sp>
        <p:nvSpPr>
          <p:cNvPr id="175" name="Google Shape;175;p12"/>
          <p:cNvSpPr/>
          <p:nvPr/>
        </p:nvSpPr>
        <p:spPr>
          <a:xfrm>
            <a:off x="2641600" y="39954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"Under 80 words. Warm, not preachy. End with a question. Three hashtags."</a:t>
            </a:r>
            <a:endParaRPr sz="1500" b="0" i="0" u="none" strike="noStrike" cap="none">
              <a:solidFill>
                <a:schemeClr val="dk1"/>
              </a:solidFill>
              <a:latin typeface="Calibri"/>
              <a:ea typeface="Calibri"/>
              <a:cs typeface="Calibri"/>
              <a:sym typeface="Calibri"/>
            </a:endParaRPr>
          </a:p>
        </p:txBody>
      </p:sp>
      <p:cxnSp>
        <p:nvCxnSpPr>
          <p:cNvPr id="176" name="Google Shape;176;p12"/>
          <p:cNvCxnSpPr/>
          <p:nvPr/>
        </p:nvCxnSpPr>
        <p:spPr>
          <a:xfrm>
            <a:off x="812800" y="4395471"/>
            <a:ext cx="10566400" cy="0"/>
          </a:xfrm>
          <a:prstGeom prst="straightConnector1">
            <a:avLst/>
          </a:prstGeom>
          <a:noFill/>
          <a:ln w="12700" cap="flat" cmpd="sng">
            <a:solidFill>
              <a:srgbClr val="D9CDB6"/>
            </a:solidFill>
            <a:prstDash val="solid"/>
            <a:round/>
            <a:headEnd type="none" w="sm" len="sm"/>
            <a:tailEnd type="none" w="sm" len="sm"/>
          </a:ln>
        </p:spPr>
      </p:cxnSp>
      <p:cxnSp>
        <p:nvCxnSpPr>
          <p:cNvPr id="177" name="Google Shape;177;p12"/>
          <p:cNvCxnSpPr/>
          <p:nvPr/>
        </p:nvCxnSpPr>
        <p:spPr>
          <a:xfrm>
            <a:off x="812800" y="4928871"/>
            <a:ext cx="10566400" cy="0"/>
          </a:xfrm>
          <a:prstGeom prst="straightConnector1">
            <a:avLst/>
          </a:prstGeom>
          <a:noFill/>
          <a:ln w="12700" cap="flat" cmpd="sng">
            <a:solidFill>
              <a:srgbClr val="D9CDB6"/>
            </a:solidFill>
            <a:prstDash val="solid"/>
            <a:round/>
            <a:headEnd type="none" w="sm" len="sm"/>
            <a:tailEnd type="none" w="sm" len="sm"/>
          </a:ln>
        </p:spPr>
      </p:cxnSp>
      <p:sp>
        <p:nvSpPr>
          <p:cNvPr id="178" name="Google Shape;178;p12"/>
          <p:cNvSpPr/>
          <p:nvPr/>
        </p:nvSpPr>
        <p:spPr>
          <a:xfrm>
            <a:off x="812800" y="45288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EXAMPLES</a:t>
            </a:r>
            <a:endParaRPr sz="1500" b="0" i="0" u="none" strike="noStrike" cap="none">
              <a:solidFill>
                <a:schemeClr val="dk1"/>
              </a:solidFill>
              <a:latin typeface="Calibri"/>
              <a:ea typeface="Calibri"/>
              <a:cs typeface="Calibri"/>
              <a:sym typeface="Calibri"/>
            </a:endParaRPr>
          </a:p>
        </p:txBody>
      </p:sp>
      <p:sp>
        <p:nvSpPr>
          <p:cNvPr id="179" name="Google Shape;179;p12"/>
          <p:cNvSpPr/>
          <p:nvPr/>
        </p:nvSpPr>
        <p:spPr>
          <a:xfrm>
            <a:off x="2641600" y="45288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"Here are two past posts that sound like us: [paste posts]"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84"/>
        <p:cNvGrpSpPr/>
        <p:nvPr/>
      </p:nvGrpSpPr>
      <p:grpSpPr>
        <a:xfrm>
          <a:off x="0" y="0"/>
          <a:ext cx="0" cy="0"/>
          <a:chOff x="0" y="0"/>
          <a:chExt cx="0" cy="0"/>
        </a:xfrm>
      </p:grpSpPr>
      <p:sp>
        <p:nvSpPr>
          <p:cNvPr id="185" name="Google Shape;185;p13"/>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Same request, two briefs</a:t>
            </a:r>
            <a:endParaRPr sz="3600" b="0" i="0" u="none" strike="noStrike" cap="none">
              <a:solidFill>
                <a:schemeClr val="dk1"/>
              </a:solidFill>
              <a:latin typeface="Calibri"/>
              <a:ea typeface="Calibri"/>
              <a:cs typeface="Calibri"/>
              <a:sym typeface="Calibri"/>
            </a:endParaRPr>
          </a:p>
        </p:txBody>
      </p:sp>
      <p:sp>
        <p:nvSpPr>
          <p:cNvPr id="186" name="Google Shape;186;p13"/>
          <p:cNvSpPr/>
          <p:nvPr/>
        </p:nvSpPr>
        <p:spPr>
          <a:xfrm>
            <a:off x="815975" y="1623696"/>
            <a:ext cx="5175250" cy="3566160"/>
          </a:xfrm>
          <a:prstGeom prst="roundRect">
            <a:avLst>
              <a:gd name="adj" fmla="val 3472"/>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a:off x="1123950" y="1931671"/>
            <a:ext cx="4696079"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VAGUE</a:t>
            </a:r>
            <a:endParaRPr sz="1200" b="0" i="0" u="none" strike="noStrike" cap="none">
              <a:solidFill>
                <a:schemeClr val="dk1"/>
              </a:solidFill>
              <a:latin typeface="Calibri"/>
              <a:ea typeface="Calibri"/>
              <a:cs typeface="Calibri"/>
              <a:sym typeface="Calibri"/>
            </a:endParaRPr>
          </a:p>
        </p:txBody>
      </p:sp>
      <p:sp>
        <p:nvSpPr>
          <p:cNvPr id="188" name="Google Shape;188;p13"/>
          <p:cNvSpPr/>
          <p:nvPr/>
        </p:nvSpPr>
        <p:spPr>
          <a:xfrm>
            <a:off x="1123950" y="2297429"/>
            <a:ext cx="4696079" cy="3746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"Write a post about our recycling."</a:t>
            </a:r>
            <a:endParaRPr sz="2200" b="0" i="0" u="none" strike="noStrike" cap="none">
              <a:solidFill>
                <a:schemeClr val="dk1"/>
              </a:solidFill>
              <a:latin typeface="Calibri"/>
              <a:ea typeface="Calibri"/>
              <a:cs typeface="Calibri"/>
              <a:sym typeface="Calibri"/>
            </a:endParaRPr>
          </a:p>
        </p:txBody>
      </p:sp>
      <p:cxnSp>
        <p:nvCxnSpPr>
          <p:cNvPr id="189" name="Google Shape;189;p13"/>
          <p:cNvCxnSpPr/>
          <p:nvPr/>
        </p:nvCxnSpPr>
        <p:spPr>
          <a:xfrm>
            <a:off x="1123950" y="4192904"/>
            <a:ext cx="4559300" cy="0"/>
          </a:xfrm>
          <a:prstGeom prst="straightConnector1">
            <a:avLst/>
          </a:prstGeom>
          <a:noFill/>
          <a:ln w="9525" cap="flat" cmpd="sng">
            <a:solidFill>
              <a:srgbClr val="E2D9C6"/>
            </a:solidFill>
            <a:prstDash val="solid"/>
            <a:round/>
            <a:headEnd type="none" w="sm" len="sm"/>
            <a:tailEnd type="none" w="sm" len="sm"/>
          </a:ln>
        </p:spPr>
      </p:cxnSp>
      <p:sp>
        <p:nvSpPr>
          <p:cNvPr id="190" name="Google Shape;190;p13"/>
          <p:cNvSpPr/>
          <p:nvPr/>
        </p:nvSpPr>
        <p:spPr>
          <a:xfrm>
            <a:off x="1123950" y="4348479"/>
            <a:ext cx="4696079"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1" i="0" u="none" strike="noStrike" cap="none">
                <a:solidFill>
                  <a:srgbClr val="5B6760"/>
                </a:solidFill>
                <a:latin typeface="DM Sans"/>
                <a:ea typeface="DM Sans"/>
                <a:cs typeface="DM Sans"/>
                <a:sym typeface="DM Sans"/>
              </a:rPr>
              <a:t>You get:</a:t>
            </a:r>
            <a:r>
              <a:rPr lang="en-US" sz="1500" b="0" i="0" u="none" strike="noStrike" cap="none">
                <a:solidFill>
                  <a:srgbClr val="5B6760"/>
                </a:solidFill>
                <a:latin typeface="DM Sans"/>
                <a:ea typeface="DM Sans"/>
                <a:cs typeface="DM Sans"/>
                <a:sym typeface="DM Sans"/>
              </a:rPr>
              <a:t> generic copy that could be any brand, possibly with an invented statistic.</a:t>
            </a:r>
            <a:endParaRPr sz="1500" b="0" i="0" u="none" strike="noStrike" cap="none">
              <a:solidFill>
                <a:schemeClr val="dk1"/>
              </a:solidFill>
              <a:latin typeface="Calibri"/>
              <a:ea typeface="Calibri"/>
              <a:cs typeface="Calibri"/>
              <a:sym typeface="Calibri"/>
            </a:endParaRPr>
          </a:p>
        </p:txBody>
      </p:sp>
      <p:sp>
        <p:nvSpPr>
          <p:cNvPr id="191" name="Google Shape;191;p13"/>
          <p:cNvSpPr/>
          <p:nvPr/>
        </p:nvSpPr>
        <p:spPr>
          <a:xfrm>
            <a:off x="6197600" y="1620521"/>
            <a:ext cx="5181600" cy="3572510"/>
          </a:xfrm>
          <a:prstGeom prst="roundRect">
            <a:avLst>
              <a:gd name="adj" fmla="val 355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a:off x="6502400" y="1925321"/>
            <a:ext cx="470916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SPECIFIC</a:t>
            </a:r>
            <a:endParaRPr sz="1200" b="0" i="0" u="none" strike="noStrike" cap="none">
              <a:solidFill>
                <a:schemeClr val="dk1"/>
              </a:solidFill>
              <a:latin typeface="Calibri"/>
              <a:ea typeface="Calibri"/>
              <a:cs typeface="Calibri"/>
              <a:sym typeface="Calibri"/>
            </a:endParaRPr>
          </a:p>
        </p:txBody>
      </p:sp>
      <p:sp>
        <p:nvSpPr>
          <p:cNvPr id="193" name="Google Shape;193;p13"/>
          <p:cNvSpPr/>
          <p:nvPr/>
        </p:nvSpPr>
        <p:spPr>
          <a:xfrm>
            <a:off x="6502400" y="2291079"/>
            <a:ext cx="4709160" cy="16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"You are the comms lead at [Brand], which turns discarded fishing nets into [product] in [country]. Write a LinkedIn post for corporate buyers about our new collection. Confident, not preachy. About 120 words. Use only these facts: [facts]. End with a clear call to action."</a:t>
            </a:r>
            <a:endParaRPr sz="1500" b="0" i="0" u="none" strike="noStrike" cap="none">
              <a:solidFill>
                <a:schemeClr val="dk1"/>
              </a:solidFill>
              <a:latin typeface="Calibri"/>
              <a:ea typeface="Calibri"/>
              <a:cs typeface="Calibri"/>
              <a:sym typeface="Calibri"/>
            </a:endParaRPr>
          </a:p>
        </p:txBody>
      </p:sp>
      <p:cxnSp>
        <p:nvCxnSpPr>
          <p:cNvPr id="194" name="Google Shape;194;p13"/>
          <p:cNvCxnSpPr/>
          <p:nvPr/>
        </p:nvCxnSpPr>
        <p:spPr>
          <a:xfrm>
            <a:off x="6502400" y="4199254"/>
            <a:ext cx="4572000" cy="0"/>
          </a:xfrm>
          <a:prstGeom prst="straightConnector1">
            <a:avLst/>
          </a:prstGeom>
          <a:noFill/>
          <a:ln w="9525" cap="flat" cmpd="sng">
            <a:solidFill>
              <a:srgbClr val="3F5F50"/>
            </a:solidFill>
            <a:prstDash val="solid"/>
            <a:round/>
            <a:headEnd type="none" w="sm" len="sm"/>
            <a:tailEnd type="none" w="sm" len="sm"/>
          </a:ln>
        </p:spPr>
      </p:cxnSp>
      <p:sp>
        <p:nvSpPr>
          <p:cNvPr id="195" name="Google Shape;195;p13"/>
          <p:cNvSpPr/>
          <p:nvPr/>
        </p:nvSpPr>
        <p:spPr>
          <a:xfrm>
            <a:off x="6502400" y="4354829"/>
            <a:ext cx="470916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FD8CF"/>
              </a:buClr>
              <a:buSzPts val="1500"/>
              <a:buFont typeface="DM Sans"/>
              <a:buNone/>
            </a:pPr>
            <a:r>
              <a:rPr lang="en-US" sz="1500" b="1" i="0" u="none" strike="noStrike" cap="none">
                <a:solidFill>
                  <a:srgbClr val="CFD8CF"/>
                </a:solidFill>
                <a:latin typeface="DM Sans"/>
                <a:ea typeface="DM Sans"/>
                <a:cs typeface="DM Sans"/>
                <a:sym typeface="DM Sans"/>
              </a:rPr>
              <a:t>You get:</a:t>
            </a:r>
            <a:r>
              <a:rPr lang="en-US" sz="1500" b="0" i="0" u="none" strike="noStrike" cap="none">
                <a:solidFill>
                  <a:srgbClr val="CFD8CF"/>
                </a:solidFill>
                <a:latin typeface="DM Sans"/>
                <a:ea typeface="DM Sans"/>
                <a:cs typeface="DM Sans"/>
                <a:sym typeface="DM Sans"/>
              </a:rPr>
              <a:t> on-brand, factual copy that's nearly ready to publish.</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00"/>
        <p:cNvGrpSpPr/>
        <p:nvPr/>
      </p:nvGrpSpPr>
      <p:grpSpPr>
        <a:xfrm>
          <a:off x="0" y="0"/>
          <a:ext cx="0" cy="0"/>
          <a:chOff x="0" y="0"/>
          <a:chExt cx="0" cy="0"/>
        </a:xfrm>
      </p:grpSpPr>
      <p:sp>
        <p:nvSpPr>
          <p:cNvPr id="201" name="Google Shape;201;p14"/>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Five moves that make the difference</a:t>
            </a:r>
            <a:endParaRPr sz="3600" b="0" i="0" u="none" strike="noStrike" cap="none">
              <a:solidFill>
                <a:schemeClr val="dk1"/>
              </a:solidFill>
              <a:latin typeface="Calibri"/>
              <a:ea typeface="Calibri"/>
              <a:cs typeface="Calibri"/>
              <a:sym typeface="Calibri"/>
            </a:endParaRPr>
          </a:p>
        </p:txBody>
      </p:sp>
      <p:cxnSp>
        <p:nvCxnSpPr>
          <p:cNvPr id="202" name="Google Shape;202;p14"/>
          <p:cNvCxnSpPr/>
          <p:nvPr/>
        </p:nvCxnSpPr>
        <p:spPr>
          <a:xfrm>
            <a:off x="812800" y="1576071"/>
            <a:ext cx="10566400" cy="0"/>
          </a:xfrm>
          <a:prstGeom prst="straightConnector1">
            <a:avLst/>
          </a:prstGeom>
          <a:noFill/>
          <a:ln w="12700" cap="flat" cmpd="sng">
            <a:solidFill>
              <a:srgbClr val="D9CDB6"/>
            </a:solidFill>
            <a:prstDash val="solid"/>
            <a:round/>
            <a:headEnd type="none" w="sm" len="sm"/>
            <a:tailEnd type="none" w="sm" len="sm"/>
          </a:ln>
        </p:spPr>
      </p:cxnSp>
      <p:sp>
        <p:nvSpPr>
          <p:cNvPr id="203" name="Google Shape;203;p14"/>
          <p:cNvSpPr/>
          <p:nvPr/>
        </p:nvSpPr>
        <p:spPr>
          <a:xfrm>
            <a:off x="812800" y="1734821"/>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204" name="Google Shape;204;p14"/>
          <p:cNvSpPr/>
          <p:nvPr/>
        </p:nvSpPr>
        <p:spPr>
          <a:xfrm>
            <a:off x="1524000" y="1797050"/>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Show your voice</a:t>
            </a:r>
            <a:endParaRPr sz="1500" b="0" i="0" u="none" strike="noStrike" cap="none">
              <a:solidFill>
                <a:schemeClr val="dk1"/>
              </a:solidFill>
              <a:latin typeface="Calibri"/>
              <a:ea typeface="Calibri"/>
              <a:cs typeface="Calibri"/>
              <a:sym typeface="Calibri"/>
            </a:endParaRPr>
          </a:p>
        </p:txBody>
      </p:sp>
      <p:sp>
        <p:nvSpPr>
          <p:cNvPr id="205" name="Google Shape;205;p14"/>
          <p:cNvSpPr/>
          <p:nvPr/>
        </p:nvSpPr>
        <p:spPr>
          <a:xfrm>
            <a:off x="4394200" y="1797050"/>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"Here are three of our past posts. Match this tone."</a:t>
            </a:r>
            <a:endParaRPr sz="1500" b="0" i="0" u="none" strike="noStrike" cap="none">
              <a:solidFill>
                <a:schemeClr val="dk1"/>
              </a:solidFill>
              <a:latin typeface="Calibri"/>
              <a:ea typeface="Calibri"/>
              <a:cs typeface="Calibri"/>
              <a:sym typeface="Calibri"/>
            </a:endParaRPr>
          </a:p>
        </p:txBody>
      </p:sp>
      <p:cxnSp>
        <p:nvCxnSpPr>
          <p:cNvPr id="206" name="Google Shape;206;p14"/>
          <p:cNvCxnSpPr/>
          <p:nvPr/>
        </p:nvCxnSpPr>
        <p:spPr>
          <a:xfrm>
            <a:off x="812800" y="2284729"/>
            <a:ext cx="10566400" cy="0"/>
          </a:xfrm>
          <a:prstGeom prst="straightConnector1">
            <a:avLst/>
          </a:prstGeom>
          <a:noFill/>
          <a:ln w="12700" cap="flat" cmpd="sng">
            <a:solidFill>
              <a:srgbClr val="D9CDB6"/>
            </a:solidFill>
            <a:prstDash val="solid"/>
            <a:round/>
            <a:headEnd type="none" w="sm" len="sm"/>
            <a:tailEnd type="none" w="sm" len="sm"/>
          </a:ln>
        </p:spPr>
      </p:cxnSp>
      <p:sp>
        <p:nvSpPr>
          <p:cNvPr id="207" name="Google Shape;207;p14"/>
          <p:cNvSpPr/>
          <p:nvPr/>
        </p:nvSpPr>
        <p:spPr>
          <a:xfrm>
            <a:off x="812800" y="2443479"/>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208" name="Google Shape;208;p14"/>
          <p:cNvSpPr/>
          <p:nvPr/>
        </p:nvSpPr>
        <p:spPr>
          <a:xfrm>
            <a:off x="1524000" y="2505708"/>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Ask for options</a:t>
            </a:r>
            <a:endParaRPr sz="1500" b="0" i="0" u="none" strike="noStrike" cap="none">
              <a:solidFill>
                <a:schemeClr val="dk1"/>
              </a:solidFill>
              <a:latin typeface="Calibri"/>
              <a:ea typeface="Calibri"/>
              <a:cs typeface="Calibri"/>
              <a:sym typeface="Calibri"/>
            </a:endParaRPr>
          </a:p>
        </p:txBody>
      </p:sp>
      <p:sp>
        <p:nvSpPr>
          <p:cNvPr id="209" name="Google Shape;209;p14"/>
          <p:cNvSpPr/>
          <p:nvPr/>
        </p:nvSpPr>
        <p:spPr>
          <a:xfrm>
            <a:off x="4394200" y="2505708"/>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"Give me ten headlines, from playful to serious."</a:t>
            </a:r>
            <a:endParaRPr sz="1500" b="0" i="0" u="none" strike="noStrike" cap="none">
              <a:solidFill>
                <a:schemeClr val="dk1"/>
              </a:solidFill>
              <a:latin typeface="Calibri"/>
              <a:ea typeface="Calibri"/>
              <a:cs typeface="Calibri"/>
              <a:sym typeface="Calibri"/>
            </a:endParaRPr>
          </a:p>
        </p:txBody>
      </p:sp>
      <p:cxnSp>
        <p:nvCxnSpPr>
          <p:cNvPr id="210" name="Google Shape;210;p14"/>
          <p:cNvCxnSpPr/>
          <p:nvPr/>
        </p:nvCxnSpPr>
        <p:spPr>
          <a:xfrm>
            <a:off x="812800" y="2993392"/>
            <a:ext cx="10566400" cy="0"/>
          </a:xfrm>
          <a:prstGeom prst="straightConnector1">
            <a:avLst/>
          </a:prstGeom>
          <a:noFill/>
          <a:ln w="12700" cap="flat" cmpd="sng">
            <a:solidFill>
              <a:srgbClr val="D9CDB6"/>
            </a:solidFill>
            <a:prstDash val="solid"/>
            <a:round/>
            <a:headEnd type="none" w="sm" len="sm"/>
            <a:tailEnd type="none" w="sm" len="sm"/>
          </a:ln>
        </p:spPr>
      </p:cxnSp>
      <p:sp>
        <p:nvSpPr>
          <p:cNvPr id="211" name="Google Shape;211;p14"/>
          <p:cNvSpPr/>
          <p:nvPr/>
        </p:nvSpPr>
        <p:spPr>
          <a:xfrm>
            <a:off x="812800" y="3152142"/>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212" name="Google Shape;212;p14"/>
          <p:cNvSpPr/>
          <p:nvPr/>
        </p:nvSpPr>
        <p:spPr>
          <a:xfrm>
            <a:off x="1524000" y="3214371"/>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Let it interview you</a:t>
            </a:r>
            <a:endParaRPr sz="1500" b="0" i="0" u="none" strike="noStrike" cap="none">
              <a:solidFill>
                <a:schemeClr val="dk1"/>
              </a:solidFill>
              <a:latin typeface="Calibri"/>
              <a:ea typeface="Calibri"/>
              <a:cs typeface="Calibri"/>
              <a:sym typeface="Calibri"/>
            </a:endParaRPr>
          </a:p>
        </p:txBody>
      </p:sp>
      <p:sp>
        <p:nvSpPr>
          <p:cNvPr id="213" name="Google Shape;213;p14"/>
          <p:cNvSpPr/>
          <p:nvPr/>
        </p:nvSpPr>
        <p:spPr>
          <a:xfrm>
            <a:off x="4394200" y="3214371"/>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"Before you write, ask me three questions."</a:t>
            </a:r>
            <a:endParaRPr sz="1500" b="0" i="0" u="none" strike="noStrike" cap="none">
              <a:solidFill>
                <a:schemeClr val="dk1"/>
              </a:solidFill>
              <a:latin typeface="Calibri"/>
              <a:ea typeface="Calibri"/>
              <a:cs typeface="Calibri"/>
              <a:sym typeface="Calibri"/>
            </a:endParaRPr>
          </a:p>
        </p:txBody>
      </p:sp>
      <p:cxnSp>
        <p:nvCxnSpPr>
          <p:cNvPr id="214" name="Google Shape;214;p14"/>
          <p:cNvCxnSpPr/>
          <p:nvPr/>
        </p:nvCxnSpPr>
        <p:spPr>
          <a:xfrm>
            <a:off x="812800" y="3702050"/>
            <a:ext cx="10566400" cy="0"/>
          </a:xfrm>
          <a:prstGeom prst="straightConnector1">
            <a:avLst/>
          </a:prstGeom>
          <a:noFill/>
          <a:ln w="12700" cap="flat" cmpd="sng">
            <a:solidFill>
              <a:srgbClr val="D9CDB6"/>
            </a:solidFill>
            <a:prstDash val="solid"/>
            <a:round/>
            <a:headEnd type="none" w="sm" len="sm"/>
            <a:tailEnd type="none" w="sm" len="sm"/>
          </a:ln>
        </p:spPr>
      </p:cxnSp>
      <p:sp>
        <p:nvSpPr>
          <p:cNvPr id="215" name="Google Shape;215;p14"/>
          <p:cNvSpPr/>
          <p:nvPr/>
        </p:nvSpPr>
        <p:spPr>
          <a:xfrm>
            <a:off x="812800" y="3860800"/>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216" name="Google Shape;216;p14"/>
          <p:cNvSpPr/>
          <p:nvPr/>
        </p:nvSpPr>
        <p:spPr>
          <a:xfrm>
            <a:off x="1524000" y="3923029"/>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Edit like an editor</a:t>
            </a:r>
            <a:endParaRPr sz="1500" b="0" i="0" u="none" strike="noStrike" cap="none">
              <a:solidFill>
                <a:schemeClr val="dk1"/>
              </a:solidFill>
              <a:latin typeface="Calibri"/>
              <a:ea typeface="Calibri"/>
              <a:cs typeface="Calibri"/>
              <a:sym typeface="Calibri"/>
            </a:endParaRPr>
          </a:p>
        </p:txBody>
      </p:sp>
      <p:sp>
        <p:nvSpPr>
          <p:cNvPr id="217" name="Google Shape;217;p14"/>
          <p:cNvSpPr/>
          <p:nvPr/>
        </p:nvSpPr>
        <p:spPr>
          <a:xfrm>
            <a:off x="4394200" y="3923029"/>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"Shorter. Warmer. Cut the jargon."</a:t>
            </a:r>
            <a:endParaRPr sz="1500" b="0" i="0" u="none" strike="noStrike" cap="none">
              <a:solidFill>
                <a:schemeClr val="dk1"/>
              </a:solidFill>
              <a:latin typeface="Calibri"/>
              <a:ea typeface="Calibri"/>
              <a:cs typeface="Calibri"/>
              <a:sym typeface="Calibri"/>
            </a:endParaRPr>
          </a:p>
        </p:txBody>
      </p:sp>
      <p:cxnSp>
        <p:nvCxnSpPr>
          <p:cNvPr id="218" name="Google Shape;218;p14"/>
          <p:cNvCxnSpPr/>
          <p:nvPr/>
        </p:nvCxnSpPr>
        <p:spPr>
          <a:xfrm>
            <a:off x="812800" y="4410708"/>
            <a:ext cx="10566400" cy="0"/>
          </a:xfrm>
          <a:prstGeom prst="straightConnector1">
            <a:avLst/>
          </a:prstGeom>
          <a:noFill/>
          <a:ln w="12700" cap="flat" cmpd="sng">
            <a:solidFill>
              <a:srgbClr val="D9CDB6"/>
            </a:solidFill>
            <a:prstDash val="solid"/>
            <a:round/>
            <a:headEnd type="none" w="sm" len="sm"/>
            <a:tailEnd type="none" w="sm" len="sm"/>
          </a:ln>
        </p:spPr>
      </p:cxnSp>
      <p:cxnSp>
        <p:nvCxnSpPr>
          <p:cNvPr id="219" name="Google Shape;219;p14"/>
          <p:cNvCxnSpPr/>
          <p:nvPr/>
        </p:nvCxnSpPr>
        <p:spPr>
          <a:xfrm>
            <a:off x="812800" y="5119367"/>
            <a:ext cx="10566400" cy="0"/>
          </a:xfrm>
          <a:prstGeom prst="straightConnector1">
            <a:avLst/>
          </a:prstGeom>
          <a:noFill/>
          <a:ln w="12700" cap="flat" cmpd="sng">
            <a:solidFill>
              <a:srgbClr val="D9CDB6"/>
            </a:solidFill>
            <a:prstDash val="solid"/>
            <a:round/>
            <a:headEnd type="none" w="sm" len="sm"/>
            <a:tailEnd type="none" w="sm" len="sm"/>
          </a:ln>
        </p:spPr>
      </p:cxnSp>
      <p:sp>
        <p:nvSpPr>
          <p:cNvPr id="220" name="Google Shape;220;p14"/>
          <p:cNvSpPr/>
          <p:nvPr/>
        </p:nvSpPr>
        <p:spPr>
          <a:xfrm>
            <a:off x="812800" y="4569458"/>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5</a:t>
            </a:r>
            <a:endParaRPr sz="2200" b="0" i="0" u="none" strike="noStrike" cap="none">
              <a:solidFill>
                <a:schemeClr val="dk1"/>
              </a:solidFill>
              <a:latin typeface="Calibri"/>
              <a:ea typeface="Calibri"/>
              <a:cs typeface="Calibri"/>
              <a:sym typeface="Calibri"/>
            </a:endParaRPr>
          </a:p>
        </p:txBody>
      </p:sp>
      <p:sp>
        <p:nvSpPr>
          <p:cNvPr id="221" name="Google Shape;221;p14"/>
          <p:cNvSpPr/>
          <p:nvPr/>
        </p:nvSpPr>
        <p:spPr>
          <a:xfrm>
            <a:off x="1524000" y="4631692"/>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Ask for a critique</a:t>
            </a:r>
            <a:endParaRPr sz="1500" b="0" i="0" u="none" strike="noStrike" cap="none">
              <a:solidFill>
                <a:schemeClr val="dk1"/>
              </a:solidFill>
              <a:latin typeface="Calibri"/>
              <a:ea typeface="Calibri"/>
              <a:cs typeface="Calibri"/>
              <a:sym typeface="Calibri"/>
            </a:endParaRPr>
          </a:p>
        </p:txBody>
      </p:sp>
      <p:sp>
        <p:nvSpPr>
          <p:cNvPr id="222" name="Google Shape;222;p14"/>
          <p:cNvSpPr/>
          <p:nvPr/>
        </p:nvSpPr>
        <p:spPr>
          <a:xfrm>
            <a:off x="4394200" y="4631692"/>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"What would a sceptical buyer question in this post?"</a:t>
            </a:r>
            <a:endParaRPr sz="1500" b="0" i="0" u="none" strike="noStrike" cap="none">
              <a:solidFill>
                <a:schemeClr val="dk1"/>
              </a:solidFill>
              <a:latin typeface="Calibri"/>
              <a:ea typeface="Calibri"/>
              <a:cs typeface="Calibri"/>
              <a:sym typeface="Calibri"/>
            </a:endParaRPr>
          </a:p>
        </p:txBody>
      </p:sp>
      <p:sp>
        <p:nvSpPr>
          <p:cNvPr id="223" name="Google Shape;223;p14"/>
          <p:cNvSpPr/>
          <p:nvPr/>
        </p:nvSpPr>
        <p:spPr>
          <a:xfrm>
            <a:off x="812800" y="5379721"/>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The first answer is a first draft. </a:t>
            </a:r>
            <a:r>
              <a:rPr lang="en-US" sz="1500" b="1" i="0" u="none" strike="noStrike" cap="none">
                <a:solidFill>
                  <a:srgbClr val="1F2A24"/>
                </a:solidFill>
                <a:latin typeface="DM Sans"/>
                <a:ea typeface="DM Sans"/>
                <a:cs typeface="DM Sans"/>
                <a:sym typeface="DM Sans"/>
              </a:rPr>
              <a:t>Keep the conversation going.</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28"/>
        <p:cNvGrpSpPr/>
        <p:nvPr/>
      </p:nvGrpSpPr>
      <p:grpSpPr>
        <a:xfrm>
          <a:off x="0" y="0"/>
          <a:ext cx="0" cy="0"/>
          <a:chOff x="0" y="0"/>
          <a:chExt cx="0" cy="0"/>
        </a:xfrm>
      </p:grpSpPr>
      <p:sp>
        <p:nvSpPr>
          <p:cNvPr id="229" name="Google Shape;229;p15"/>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Four guardrails for impact brands</a:t>
            </a:r>
            <a:endParaRPr sz="3600" b="0" i="0" u="none" strike="noStrike" cap="none">
              <a:solidFill>
                <a:schemeClr val="dk1"/>
              </a:solidFill>
              <a:latin typeface="Calibri"/>
              <a:ea typeface="Calibri"/>
              <a:cs typeface="Calibri"/>
              <a:sym typeface="Calibri"/>
            </a:endParaRPr>
          </a:p>
        </p:txBody>
      </p:sp>
      <p:sp>
        <p:nvSpPr>
          <p:cNvPr id="230" name="Google Shape;230;p15"/>
          <p:cNvSpPr/>
          <p:nvPr/>
        </p:nvSpPr>
        <p:spPr>
          <a:xfrm>
            <a:off x="815975" y="1623696"/>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1" name="Google Shape;231;p15" descr="Verified"/>
          <p:cNvPicPr preferRelativeResize="0"/>
          <p:nvPr/>
        </p:nvPicPr>
        <p:blipFill rotWithShape="1">
          <a:blip r:embed="rId3">
            <a:alphaModFix/>
          </a:blip>
          <a:srcRect/>
          <a:stretch/>
        </p:blipFill>
        <p:spPr>
          <a:xfrm>
            <a:off x="1073150" y="1896108"/>
            <a:ext cx="304800" cy="304800"/>
          </a:xfrm>
          <a:prstGeom prst="rect">
            <a:avLst/>
          </a:prstGeom>
          <a:noFill/>
          <a:ln>
            <a:noFill/>
          </a:ln>
        </p:spPr>
      </p:pic>
      <p:sp>
        <p:nvSpPr>
          <p:cNvPr id="232" name="Google Shape;232;p15"/>
          <p:cNvSpPr/>
          <p:nvPr/>
        </p:nvSpPr>
        <p:spPr>
          <a:xfrm>
            <a:off x="1504950" y="1880871"/>
            <a:ext cx="2740687"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Check every number</a:t>
            </a:r>
            <a:endParaRPr sz="2200" b="0" i="0" u="none" strike="noStrike" cap="none">
              <a:solidFill>
                <a:schemeClr val="dk1"/>
              </a:solidFill>
              <a:latin typeface="Calibri"/>
              <a:ea typeface="Calibri"/>
              <a:cs typeface="Calibri"/>
              <a:sym typeface="Calibri"/>
            </a:endParaRPr>
          </a:p>
        </p:txBody>
      </p:sp>
      <p:sp>
        <p:nvSpPr>
          <p:cNvPr id="233" name="Google Shape;233;p15"/>
          <p:cNvSpPr/>
          <p:nvPr/>
        </p:nvSpPr>
        <p:spPr>
          <a:xfrm>
            <a:off x="1073150" y="23177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Your impact claims are your credibility. An invented statistic is greenwashing, even by accident.</a:t>
            </a:r>
            <a:endParaRPr sz="1500" b="0" i="0" u="none" strike="noStrike" cap="none">
              <a:solidFill>
                <a:schemeClr val="dk1"/>
              </a:solidFill>
              <a:latin typeface="Calibri"/>
              <a:ea typeface="Calibri"/>
              <a:cs typeface="Calibri"/>
              <a:sym typeface="Calibri"/>
            </a:endParaRPr>
          </a:p>
        </p:txBody>
      </p:sp>
      <p:sp>
        <p:nvSpPr>
          <p:cNvPr id="234" name="Google Shape;234;p15"/>
          <p:cNvSpPr/>
          <p:nvPr/>
        </p:nvSpPr>
        <p:spPr>
          <a:xfrm>
            <a:off x="6200775" y="1623696"/>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5" name="Google Shape;235;p15" descr="Lock"/>
          <p:cNvPicPr preferRelativeResize="0"/>
          <p:nvPr/>
        </p:nvPicPr>
        <p:blipFill rotWithShape="1">
          <a:blip r:embed="rId4">
            <a:alphaModFix/>
          </a:blip>
          <a:srcRect/>
          <a:stretch/>
        </p:blipFill>
        <p:spPr>
          <a:xfrm>
            <a:off x="6457950" y="1896108"/>
            <a:ext cx="304800" cy="304800"/>
          </a:xfrm>
          <a:prstGeom prst="rect">
            <a:avLst/>
          </a:prstGeom>
          <a:noFill/>
          <a:ln>
            <a:noFill/>
          </a:ln>
        </p:spPr>
      </p:pic>
      <p:sp>
        <p:nvSpPr>
          <p:cNvPr id="236" name="Google Shape;236;p15"/>
          <p:cNvSpPr/>
          <p:nvPr/>
        </p:nvSpPr>
        <p:spPr>
          <a:xfrm>
            <a:off x="6889750" y="1880871"/>
            <a:ext cx="193620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Protect people</a:t>
            </a:r>
            <a:endParaRPr sz="2200" b="0" i="0" u="none" strike="noStrike" cap="none">
              <a:solidFill>
                <a:schemeClr val="dk1"/>
              </a:solidFill>
              <a:latin typeface="Calibri"/>
              <a:ea typeface="Calibri"/>
              <a:cs typeface="Calibri"/>
              <a:sym typeface="Calibri"/>
            </a:endParaRPr>
          </a:p>
        </p:txBody>
      </p:sp>
      <p:sp>
        <p:nvSpPr>
          <p:cNvPr id="237" name="Google Shape;237;p15"/>
          <p:cNvSpPr/>
          <p:nvPr/>
        </p:nvSpPr>
        <p:spPr>
          <a:xfrm>
            <a:off x="6457950" y="23177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Keep beneficiary names, photos and donor data out of public AI tools.</a:t>
            </a:r>
            <a:endParaRPr sz="1500" b="0" i="0" u="none" strike="noStrike" cap="none">
              <a:solidFill>
                <a:schemeClr val="dk1"/>
              </a:solidFill>
              <a:latin typeface="Calibri"/>
              <a:ea typeface="Calibri"/>
              <a:cs typeface="Calibri"/>
              <a:sym typeface="Calibri"/>
            </a:endParaRPr>
          </a:p>
        </p:txBody>
      </p:sp>
      <p:sp>
        <p:nvSpPr>
          <p:cNvPr id="238" name="Google Shape;238;p15"/>
          <p:cNvSpPr/>
          <p:nvPr/>
        </p:nvSpPr>
        <p:spPr>
          <a:xfrm>
            <a:off x="815975" y="3317875"/>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15" descr="Chat"/>
          <p:cNvPicPr preferRelativeResize="0"/>
          <p:nvPr/>
        </p:nvPicPr>
        <p:blipFill rotWithShape="1">
          <a:blip r:embed="rId5">
            <a:alphaModFix/>
          </a:blip>
          <a:srcRect/>
          <a:stretch/>
        </p:blipFill>
        <p:spPr>
          <a:xfrm>
            <a:off x="1073150" y="3590292"/>
            <a:ext cx="304800" cy="304800"/>
          </a:xfrm>
          <a:prstGeom prst="rect">
            <a:avLst/>
          </a:prstGeom>
          <a:noFill/>
          <a:ln>
            <a:noFill/>
          </a:ln>
        </p:spPr>
      </p:pic>
      <p:sp>
        <p:nvSpPr>
          <p:cNvPr id="240" name="Google Shape;240;p15"/>
          <p:cNvSpPr/>
          <p:nvPr/>
        </p:nvSpPr>
        <p:spPr>
          <a:xfrm>
            <a:off x="1504950" y="3575050"/>
            <a:ext cx="211628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Keep your voice</a:t>
            </a:r>
            <a:endParaRPr sz="2200" b="0" i="0" u="none" strike="noStrike" cap="none">
              <a:solidFill>
                <a:schemeClr val="dk1"/>
              </a:solidFill>
              <a:latin typeface="Calibri"/>
              <a:ea typeface="Calibri"/>
              <a:cs typeface="Calibri"/>
              <a:sym typeface="Calibri"/>
            </a:endParaRPr>
          </a:p>
        </p:txBody>
      </p:sp>
      <p:sp>
        <p:nvSpPr>
          <p:cNvPr id="241" name="Google Shape;241;p15"/>
          <p:cNvSpPr/>
          <p:nvPr/>
        </p:nvSpPr>
        <p:spPr>
          <a:xfrm>
            <a:off x="1073150" y="40119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Edit until it sounds like you. Your community will notice if it doesn't.</a:t>
            </a:r>
            <a:endParaRPr sz="1500" b="0" i="0" u="none" strike="noStrike" cap="none">
              <a:solidFill>
                <a:schemeClr val="dk1"/>
              </a:solidFill>
              <a:latin typeface="Calibri"/>
              <a:ea typeface="Calibri"/>
              <a:cs typeface="Calibri"/>
              <a:sym typeface="Calibri"/>
            </a:endParaRPr>
          </a:p>
        </p:txBody>
      </p:sp>
      <p:sp>
        <p:nvSpPr>
          <p:cNvPr id="242" name="Google Shape;242;p15"/>
          <p:cNvSpPr/>
          <p:nvPr/>
        </p:nvSpPr>
        <p:spPr>
          <a:xfrm>
            <a:off x="6200775" y="3317875"/>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3" name="Google Shape;243;p15" descr="Trust"/>
          <p:cNvPicPr preferRelativeResize="0"/>
          <p:nvPr/>
        </p:nvPicPr>
        <p:blipFill rotWithShape="1">
          <a:blip r:embed="rId6">
            <a:alphaModFix/>
          </a:blip>
          <a:srcRect/>
          <a:stretch/>
        </p:blipFill>
        <p:spPr>
          <a:xfrm>
            <a:off x="6457950" y="3590292"/>
            <a:ext cx="304800" cy="304800"/>
          </a:xfrm>
          <a:prstGeom prst="rect">
            <a:avLst/>
          </a:prstGeom>
          <a:noFill/>
          <a:ln>
            <a:noFill/>
          </a:ln>
        </p:spPr>
      </p:pic>
      <p:sp>
        <p:nvSpPr>
          <p:cNvPr id="244" name="Google Shape;244;p15"/>
          <p:cNvSpPr/>
          <p:nvPr/>
        </p:nvSpPr>
        <p:spPr>
          <a:xfrm>
            <a:off x="6889750" y="3575050"/>
            <a:ext cx="296142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Be honest with images</a:t>
            </a:r>
            <a:endParaRPr sz="2200" b="0" i="0" u="none" strike="noStrike" cap="none">
              <a:solidFill>
                <a:schemeClr val="dk1"/>
              </a:solidFill>
              <a:latin typeface="Calibri"/>
              <a:ea typeface="Calibri"/>
              <a:cs typeface="Calibri"/>
              <a:sym typeface="Calibri"/>
            </a:endParaRPr>
          </a:p>
        </p:txBody>
      </p:sp>
      <p:sp>
        <p:nvSpPr>
          <p:cNvPr id="245" name="Google Shape;245;p15"/>
          <p:cNvSpPr/>
          <p:nvPr/>
        </p:nvSpPr>
        <p:spPr>
          <a:xfrm>
            <a:off x="6457950" y="40119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Never present AI-made images of </a:t>
            </a:r>
            <a:r>
              <a:rPr lang="en-US" sz="1500">
                <a:solidFill>
                  <a:srgbClr val="5B6760"/>
                </a:solidFill>
                <a:latin typeface="DM Sans"/>
                <a:ea typeface="DM Sans"/>
                <a:cs typeface="DM Sans"/>
                <a:sym typeface="DM Sans"/>
              </a:rPr>
              <a:t>people</a:t>
            </a:r>
            <a:r>
              <a:rPr lang="en-US" sz="1500" b="0" i="0" u="none" strike="noStrike" cap="none">
                <a:solidFill>
                  <a:srgbClr val="5B6760"/>
                </a:solidFill>
                <a:latin typeface="DM Sans"/>
                <a:ea typeface="DM Sans"/>
                <a:cs typeface="DM Sans"/>
                <a:sym typeface="DM Sans"/>
              </a:rPr>
              <a:t>, communities or places as real.</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3A2F"/>
        </a:solidFill>
        <a:effectLst/>
      </p:bgPr>
    </p:bg>
    <p:spTree>
      <p:nvGrpSpPr>
        <p:cNvPr id="1" name="Shape 250"/>
        <p:cNvGrpSpPr/>
        <p:nvPr/>
      </p:nvGrpSpPr>
      <p:grpSpPr>
        <a:xfrm>
          <a:off x="0" y="0"/>
          <a:ext cx="0" cy="0"/>
          <a:chOff x="0" y="0"/>
          <a:chExt cx="0" cy="0"/>
        </a:xfrm>
      </p:grpSpPr>
      <p:pic>
        <p:nvPicPr>
          <p:cNvPr id="251" name="Google Shape;251;p16" descr="ellipse"/>
          <p:cNvPicPr preferRelativeResize="0"/>
          <p:nvPr/>
        </p:nvPicPr>
        <p:blipFill rotWithShape="1">
          <a:blip r:embed="rId3">
            <a:alphaModFix/>
          </a:blip>
          <a:srcRect/>
          <a:stretch/>
        </p:blipFill>
        <p:spPr>
          <a:xfrm>
            <a:off x="9398000" y="4064000"/>
            <a:ext cx="1905000" cy="1905000"/>
          </a:xfrm>
          <a:prstGeom prst="rect">
            <a:avLst/>
          </a:prstGeom>
          <a:noFill/>
          <a:ln>
            <a:noFill/>
          </a:ln>
        </p:spPr>
      </p:pic>
      <p:pic>
        <p:nvPicPr>
          <p:cNvPr id="252" name="Google Shape;252;p16" descr="ellipse"/>
          <p:cNvPicPr preferRelativeResize="0"/>
          <p:nvPr/>
        </p:nvPicPr>
        <p:blipFill rotWithShape="1">
          <a:blip r:embed="rId4">
            <a:alphaModFix/>
          </a:blip>
          <a:srcRect/>
          <a:stretch/>
        </p:blipFill>
        <p:spPr>
          <a:xfrm>
            <a:off x="9017000" y="3810000"/>
            <a:ext cx="698500" cy="698500"/>
          </a:xfrm>
          <a:prstGeom prst="rect">
            <a:avLst/>
          </a:prstGeom>
          <a:noFill/>
          <a:ln>
            <a:noFill/>
          </a:ln>
        </p:spPr>
      </p:pic>
      <p:sp>
        <p:nvSpPr>
          <p:cNvPr id="253" name="Google Shape;253;p16"/>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ONE IDEA TO TAKE WITH YOU</a:t>
            </a:r>
            <a:endParaRPr sz="1200" b="0" i="0" u="none" strike="noStrike" cap="none">
              <a:solidFill>
                <a:schemeClr val="dk1"/>
              </a:solidFill>
              <a:latin typeface="Calibri"/>
              <a:ea typeface="Calibri"/>
              <a:cs typeface="Calibri"/>
              <a:sym typeface="Calibri"/>
            </a:endParaRPr>
          </a:p>
        </p:txBody>
      </p:sp>
      <p:sp>
        <p:nvSpPr>
          <p:cNvPr id="254" name="Google Shape;254;p16"/>
          <p:cNvSpPr/>
          <p:nvPr/>
        </p:nvSpPr>
        <p:spPr>
          <a:xfrm>
            <a:off x="812800" y="1874517"/>
            <a:ext cx="9810900" cy="1366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5F0E6"/>
              </a:buClr>
              <a:buSzPts val="4800"/>
              <a:buFont typeface="Fraunces"/>
              <a:buNone/>
            </a:pPr>
            <a:r>
              <a:rPr lang="en-US" sz="4800" b="0" i="0" u="none" strike="noStrike" cap="none">
                <a:solidFill>
                  <a:srgbClr val="F5F0E6"/>
                </a:solidFill>
                <a:latin typeface="Fraunces"/>
                <a:ea typeface="Fraunces"/>
                <a:cs typeface="Fraunces"/>
                <a:sym typeface="Fraunces"/>
              </a:rPr>
              <a:t>When first drafts are free, judgment becomes the scarce skill.</a:t>
            </a:r>
            <a:endParaRPr sz="4800" b="0" i="0" u="none" strike="noStrike" cap="none">
              <a:solidFill>
                <a:schemeClr val="dk1"/>
              </a:solidFill>
              <a:latin typeface="Calibri"/>
              <a:ea typeface="Calibri"/>
              <a:cs typeface="Calibri"/>
              <a:sym typeface="Calibri"/>
            </a:endParaRPr>
          </a:p>
        </p:txBody>
      </p:sp>
      <p:sp>
        <p:nvSpPr>
          <p:cNvPr id="255" name="Google Shape;255;p16"/>
          <p:cNvSpPr/>
          <p:nvPr/>
        </p:nvSpPr>
        <p:spPr>
          <a:xfrm>
            <a:off x="737200" y="5013421"/>
            <a:ext cx="9810900" cy="41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2200"/>
              <a:buFont typeface="Fraunces"/>
              <a:buNone/>
            </a:pPr>
            <a:r>
              <a:rPr lang="en-US" sz="2200" b="0" i="1" u="none" strike="noStrike" cap="none">
                <a:solidFill>
                  <a:srgbClr val="E3A83E"/>
                </a:solidFill>
                <a:latin typeface="Fraunces"/>
                <a:ea typeface="Fraunces"/>
                <a:cs typeface="Fraunces"/>
                <a:sym typeface="Fraunces"/>
              </a:rPr>
              <a:t>AI drafts. You decide.</a:t>
            </a:r>
            <a:endParaRPr sz="2200" b="0" i="0" u="none" strike="noStrike" cap="none">
              <a:solidFill>
                <a:schemeClr val="dk1"/>
              </a:solidFill>
              <a:latin typeface="Calibri"/>
              <a:ea typeface="Calibri"/>
              <a:cs typeface="Calibri"/>
              <a:sym typeface="Calibri"/>
            </a:endParaRPr>
          </a:p>
        </p:txBody>
      </p:sp>
      <p:pic>
        <p:nvPicPr>
          <p:cNvPr id="256" name="Google Shape;256;p16" descr="Play"/>
          <p:cNvPicPr preferRelativeResize="0"/>
          <p:nvPr/>
        </p:nvPicPr>
        <p:blipFill rotWithShape="1">
          <a:blip r:embed="rId5">
            <a:alphaModFix/>
          </a:blip>
          <a:srcRect/>
          <a:stretch/>
        </p:blipFill>
        <p:spPr>
          <a:xfrm>
            <a:off x="812800" y="5784850"/>
            <a:ext cx="254000" cy="254000"/>
          </a:xfrm>
          <a:prstGeom prst="rect">
            <a:avLst/>
          </a:prstGeom>
          <a:noFill/>
          <a:ln>
            <a:noFill/>
          </a:ln>
        </p:spPr>
      </p:pic>
      <p:sp>
        <p:nvSpPr>
          <p:cNvPr id="257" name="Google Shape;257;p16"/>
          <p:cNvSpPr/>
          <p:nvPr/>
        </p:nvSpPr>
        <p:spPr>
          <a:xfrm>
            <a:off x="1193800" y="5778500"/>
            <a:ext cx="3109354"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Up next: a live demo, then your turn.</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3A83E"/>
        </a:solidFill>
        <a:effectLst/>
      </p:bgPr>
    </p:bg>
    <p:spTree>
      <p:nvGrpSpPr>
        <p:cNvPr id="1" name="Shape 262"/>
        <p:cNvGrpSpPr/>
        <p:nvPr/>
      </p:nvGrpSpPr>
      <p:grpSpPr>
        <a:xfrm>
          <a:off x="0" y="0"/>
          <a:ext cx="0" cy="0"/>
          <a:chOff x="0" y="0"/>
          <a:chExt cx="0" cy="0"/>
        </a:xfrm>
      </p:grpSpPr>
      <p:sp>
        <p:nvSpPr>
          <p:cNvPr id="263" name="Google Shape;263;p17"/>
          <p:cNvSpPr/>
          <p:nvPr/>
        </p:nvSpPr>
        <p:spPr>
          <a:xfrm>
            <a:off x="812800" y="1724658"/>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200"/>
              <a:buFont typeface="DM Sans"/>
              <a:buNone/>
            </a:pPr>
            <a:r>
              <a:rPr lang="en-US" sz="1200" b="1" i="0" u="none" strike="noStrike" cap="none">
                <a:solidFill>
                  <a:srgbClr val="1E3A2F"/>
                </a:solidFill>
                <a:latin typeface="DM Sans"/>
                <a:ea typeface="DM Sans"/>
                <a:cs typeface="DM Sans"/>
                <a:sym typeface="DM Sans"/>
              </a:rPr>
              <a:t>LIVE DEMO · WATCH FIRST</a:t>
            </a:r>
            <a:endParaRPr sz="1200" b="0" i="0" u="none" strike="noStrike" cap="none">
              <a:solidFill>
                <a:schemeClr val="dk1"/>
              </a:solidFill>
              <a:latin typeface="Calibri"/>
              <a:ea typeface="Calibri"/>
              <a:cs typeface="Calibri"/>
              <a:sym typeface="Calibri"/>
            </a:endParaRPr>
          </a:p>
        </p:txBody>
      </p:sp>
      <p:sp>
        <p:nvSpPr>
          <p:cNvPr id="264" name="Google Shape;264;p17"/>
          <p:cNvSpPr/>
          <p:nvPr/>
        </p:nvSpPr>
        <p:spPr>
          <a:xfrm>
            <a:off x="812800" y="2192021"/>
            <a:ext cx="10883392" cy="16256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1E3A2F"/>
              </a:buClr>
              <a:buSzPts val="6000"/>
              <a:buFont typeface="Fraunces"/>
              <a:buNone/>
            </a:pPr>
            <a:r>
              <a:rPr lang="en-US" sz="6000" b="0" i="0" u="none" strike="noStrike" cap="none">
                <a:solidFill>
                  <a:srgbClr val="1E3A2F"/>
                </a:solidFill>
                <a:latin typeface="Fraunces"/>
                <a:ea typeface="Fraunces"/>
                <a:cs typeface="Fraunces"/>
                <a:sym typeface="Fraunces"/>
              </a:rPr>
              <a:t>Picker stories:</a:t>
            </a:r>
            <a:endParaRPr sz="6000" b="0" i="0" u="none" strike="noStrike" cap="none">
              <a:solidFill>
                <a:schemeClr val="dk1"/>
              </a:solidFill>
              <a:latin typeface="Calibri"/>
              <a:ea typeface="Calibri"/>
              <a:cs typeface="Calibri"/>
              <a:sym typeface="Calibri"/>
            </a:endParaRPr>
          </a:p>
          <a:p>
            <a:pPr marL="0" marR="0" lvl="0" indent="0" algn="l" rtl="0">
              <a:lnSpc>
                <a:spcPct val="104999"/>
              </a:lnSpc>
              <a:spcBef>
                <a:spcPts val="0"/>
              </a:spcBef>
              <a:spcAft>
                <a:spcPts val="0"/>
              </a:spcAft>
              <a:buClr>
                <a:srgbClr val="1E3A2F"/>
              </a:buClr>
              <a:buSzPts val="6000"/>
              <a:buFont typeface="Fraunces"/>
              <a:buNone/>
            </a:pPr>
            <a:r>
              <a:rPr lang="en-US" sz="6000" b="0" i="0" u="none" strike="noStrike" cap="none">
                <a:solidFill>
                  <a:srgbClr val="1E3A2F"/>
                </a:solidFill>
                <a:latin typeface="Fraunces"/>
                <a:ea typeface="Fraunces"/>
                <a:cs typeface="Fraunces"/>
                <a:sym typeface="Fraunces"/>
              </a:rPr>
              <a:t>Ibu Sari.</a:t>
            </a:r>
            <a:endParaRPr sz="6000" b="0" i="0" u="none" strike="noStrike" cap="none">
              <a:solidFill>
                <a:schemeClr val="dk1"/>
              </a:solidFill>
              <a:latin typeface="Calibri"/>
              <a:ea typeface="Calibri"/>
              <a:cs typeface="Calibri"/>
              <a:sym typeface="Calibri"/>
            </a:endParaRPr>
          </a:p>
        </p:txBody>
      </p:sp>
      <p:sp>
        <p:nvSpPr>
          <p:cNvPr id="265" name="Google Shape;265;p17"/>
          <p:cNvSpPr/>
          <p:nvPr/>
        </p:nvSpPr>
        <p:spPr>
          <a:xfrm>
            <a:off x="812800" y="4178106"/>
            <a:ext cx="9156600" cy="38850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1E3A2F"/>
              </a:buClr>
              <a:buSzPts val="2200"/>
              <a:buFont typeface="DM Sans"/>
              <a:buNone/>
            </a:pPr>
            <a:r>
              <a:rPr lang="en-US" sz="2200" b="0" i="0" u="none" strike="noStrike" cap="none">
                <a:solidFill>
                  <a:srgbClr val="1E3A2F"/>
                </a:solidFill>
                <a:latin typeface="DM Sans"/>
                <a:ea typeface="DM Sans"/>
                <a:cs typeface="DM Sans"/>
                <a:sym typeface="DM Sans"/>
              </a:rPr>
              <a:t>The same four prompts you'll use next. Watch what I type, and what I check.</a:t>
            </a:r>
            <a:endParaRPr sz="2200" b="0" i="0" u="none" strike="noStrike" cap="none">
              <a:solidFill>
                <a:schemeClr val="dk1"/>
              </a:solidFill>
              <a:latin typeface="Calibri"/>
              <a:ea typeface="Calibri"/>
              <a:cs typeface="Calibri"/>
              <a:sym typeface="Calibri"/>
            </a:endParaRPr>
          </a:p>
        </p:txBody>
      </p:sp>
      <p:sp>
        <p:nvSpPr>
          <p:cNvPr id="266" name="Google Shape;266;p17"/>
          <p:cNvSpPr/>
          <p:nvPr/>
        </p:nvSpPr>
        <p:spPr>
          <a:xfrm>
            <a:off x="812800" y="5495042"/>
            <a:ext cx="1319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1 · Caption</a:t>
            </a:r>
            <a:endParaRPr sz="1500" b="0" i="0" u="none" strike="noStrike" cap="none">
              <a:solidFill>
                <a:schemeClr val="dk1"/>
              </a:solidFill>
              <a:latin typeface="Calibri"/>
              <a:ea typeface="Calibri"/>
              <a:cs typeface="Calibri"/>
              <a:sym typeface="Calibri"/>
            </a:endParaRPr>
          </a:p>
        </p:txBody>
      </p:sp>
      <p:sp>
        <p:nvSpPr>
          <p:cNvPr id="267" name="Google Shape;267;p17"/>
          <p:cNvSpPr/>
          <p:nvPr/>
        </p:nvSpPr>
        <p:spPr>
          <a:xfrm>
            <a:off x="2284413" y="5495042"/>
            <a:ext cx="16035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2 · Video plan</a:t>
            </a:r>
            <a:endParaRPr sz="1500" b="0" i="0" u="none" strike="noStrike" cap="none">
              <a:solidFill>
                <a:schemeClr val="dk1"/>
              </a:solidFill>
              <a:latin typeface="Calibri"/>
              <a:ea typeface="Calibri"/>
              <a:cs typeface="Calibri"/>
              <a:sym typeface="Calibri"/>
            </a:endParaRPr>
          </a:p>
        </p:txBody>
      </p:sp>
      <p:sp>
        <p:nvSpPr>
          <p:cNvPr id="268" name="Google Shape;268;p17"/>
          <p:cNvSpPr/>
          <p:nvPr/>
        </p:nvSpPr>
        <p:spPr>
          <a:xfrm>
            <a:off x="4040399" y="5495042"/>
            <a:ext cx="1493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3 · Hashtags</a:t>
            </a:r>
            <a:endParaRPr sz="1500" b="0" i="0" u="none" strike="noStrike" cap="none">
              <a:solidFill>
                <a:schemeClr val="dk1"/>
              </a:solidFill>
              <a:latin typeface="Calibri"/>
              <a:ea typeface="Calibri"/>
              <a:cs typeface="Calibri"/>
              <a:sym typeface="Calibri"/>
            </a:endParaRPr>
          </a:p>
        </p:txBody>
      </p:sp>
      <p:sp>
        <p:nvSpPr>
          <p:cNvPr id="269" name="Google Shape;269;p17"/>
          <p:cNvSpPr/>
          <p:nvPr/>
        </p:nvSpPr>
        <p:spPr>
          <a:xfrm>
            <a:off x="5685896" y="5495042"/>
            <a:ext cx="2108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4 · Three variations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74"/>
        <p:cNvGrpSpPr/>
        <p:nvPr/>
      </p:nvGrpSpPr>
      <p:grpSpPr>
        <a:xfrm>
          <a:off x="0" y="0"/>
          <a:ext cx="0" cy="0"/>
          <a:chOff x="0" y="0"/>
          <a:chExt cx="0" cy="0"/>
        </a:xfrm>
      </p:grpSpPr>
      <p:sp>
        <p:nvSpPr>
          <p:cNvPr id="275" name="Google Shape;275;p18"/>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THE BRIEF</a:t>
            </a:r>
            <a:endParaRPr sz="1200" b="0" i="0" u="none" strike="noStrike" cap="none">
              <a:solidFill>
                <a:schemeClr val="dk1"/>
              </a:solidFill>
              <a:latin typeface="Calibri"/>
              <a:ea typeface="Calibri"/>
              <a:cs typeface="Calibri"/>
              <a:sym typeface="Calibri"/>
            </a:endParaRPr>
          </a:p>
        </p:txBody>
      </p:sp>
      <p:sp>
        <p:nvSpPr>
          <p:cNvPr id="276" name="Google Shape;276;p18"/>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Meet Ibu Sari</a:t>
            </a:r>
            <a:endParaRPr sz="3600" b="0" i="0" u="none" strike="noStrike" cap="none">
              <a:solidFill>
                <a:schemeClr val="dk1"/>
              </a:solidFill>
              <a:latin typeface="Calibri"/>
              <a:ea typeface="Calibri"/>
              <a:cs typeface="Calibri"/>
              <a:sym typeface="Calibri"/>
            </a:endParaRPr>
          </a:p>
        </p:txBody>
      </p:sp>
      <p:cxnSp>
        <p:nvCxnSpPr>
          <p:cNvPr id="277" name="Google Shape;277;p18"/>
          <p:cNvCxnSpPr/>
          <p:nvPr/>
        </p:nvCxnSpPr>
        <p:spPr>
          <a:xfrm>
            <a:off x="812800" y="2043429"/>
            <a:ext cx="6350000" cy="0"/>
          </a:xfrm>
          <a:prstGeom prst="straightConnector1">
            <a:avLst/>
          </a:prstGeom>
          <a:noFill/>
          <a:ln w="12700" cap="flat" cmpd="sng">
            <a:solidFill>
              <a:srgbClr val="D9CDB6"/>
            </a:solidFill>
            <a:prstDash val="solid"/>
            <a:round/>
            <a:headEnd type="none" w="sm" len="sm"/>
            <a:tailEnd type="none" w="sm" len="sm"/>
          </a:ln>
        </p:spPr>
      </p:cxnSp>
      <p:sp>
        <p:nvSpPr>
          <p:cNvPr id="278" name="Google Shape;278;p18"/>
          <p:cNvSpPr/>
          <p:nvPr/>
        </p:nvSpPr>
        <p:spPr>
          <a:xfrm>
            <a:off x="812800" y="21386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WHO</a:t>
            </a:r>
            <a:endParaRPr sz="1200" b="0" i="0" u="none" strike="noStrike" cap="none">
              <a:solidFill>
                <a:schemeClr val="dk1"/>
              </a:solidFill>
              <a:latin typeface="Calibri"/>
              <a:ea typeface="Calibri"/>
              <a:cs typeface="Calibri"/>
              <a:sym typeface="Calibri"/>
            </a:endParaRPr>
          </a:p>
        </p:txBody>
      </p:sp>
      <p:sp>
        <p:nvSpPr>
          <p:cNvPr id="279" name="Google Shape;279;p18"/>
          <p:cNvSpPr/>
          <p:nvPr/>
        </p:nvSpPr>
        <p:spPr>
          <a:xfrm>
            <a:off x="2413000" y="21386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Ibu Sari, waste picker at Hub 2, Cimahi</a:t>
            </a:r>
            <a:endParaRPr sz="1500" b="0" i="0" u="none" strike="noStrike" cap="none">
              <a:solidFill>
                <a:schemeClr val="dk1"/>
              </a:solidFill>
              <a:latin typeface="Calibri"/>
              <a:ea typeface="Calibri"/>
              <a:cs typeface="Calibri"/>
              <a:sym typeface="Calibri"/>
            </a:endParaRPr>
          </a:p>
        </p:txBody>
      </p:sp>
      <p:cxnSp>
        <p:nvCxnSpPr>
          <p:cNvPr id="280" name="Google Shape;280;p18"/>
          <p:cNvCxnSpPr/>
          <p:nvPr/>
        </p:nvCxnSpPr>
        <p:spPr>
          <a:xfrm>
            <a:off x="812800" y="2500629"/>
            <a:ext cx="6350000" cy="0"/>
          </a:xfrm>
          <a:prstGeom prst="straightConnector1">
            <a:avLst/>
          </a:prstGeom>
          <a:noFill/>
          <a:ln w="12700" cap="flat" cmpd="sng">
            <a:solidFill>
              <a:srgbClr val="D9CDB6"/>
            </a:solidFill>
            <a:prstDash val="solid"/>
            <a:round/>
            <a:headEnd type="none" w="sm" len="sm"/>
            <a:tailEnd type="none" w="sm" len="sm"/>
          </a:ln>
        </p:spPr>
      </p:cxnSp>
      <p:sp>
        <p:nvSpPr>
          <p:cNvPr id="281" name="Google Shape;281;p18"/>
          <p:cNvSpPr/>
          <p:nvPr/>
        </p:nvSpPr>
        <p:spPr>
          <a:xfrm>
            <a:off x="812800" y="25958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HER WORK</a:t>
            </a:r>
            <a:endParaRPr sz="1200" b="0" i="0" u="none" strike="noStrike" cap="none">
              <a:solidFill>
                <a:schemeClr val="dk1"/>
              </a:solidFill>
              <a:latin typeface="Calibri"/>
              <a:ea typeface="Calibri"/>
              <a:cs typeface="Calibri"/>
              <a:sym typeface="Calibri"/>
            </a:endParaRPr>
          </a:p>
        </p:txBody>
      </p:sp>
      <p:sp>
        <p:nvSpPr>
          <p:cNvPr id="282" name="Google Shape;282;p18"/>
          <p:cNvSpPr/>
          <p:nvPr/>
        </p:nvSpPr>
        <p:spPr>
          <a:xfrm>
            <a:off x="2413000" y="25958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Picking since 2018 · sorts 200 kg of plastic a day</a:t>
            </a:r>
            <a:endParaRPr sz="1500" b="0" i="0" u="none" strike="noStrike" cap="none">
              <a:solidFill>
                <a:schemeClr val="dk1"/>
              </a:solidFill>
              <a:latin typeface="Calibri"/>
              <a:ea typeface="Calibri"/>
              <a:cs typeface="Calibri"/>
              <a:sym typeface="Calibri"/>
            </a:endParaRPr>
          </a:p>
        </p:txBody>
      </p:sp>
      <p:cxnSp>
        <p:nvCxnSpPr>
          <p:cNvPr id="283" name="Google Shape;283;p18"/>
          <p:cNvCxnSpPr/>
          <p:nvPr/>
        </p:nvCxnSpPr>
        <p:spPr>
          <a:xfrm>
            <a:off x="812800" y="2957829"/>
            <a:ext cx="6350000" cy="0"/>
          </a:xfrm>
          <a:prstGeom prst="straightConnector1">
            <a:avLst/>
          </a:prstGeom>
          <a:noFill/>
          <a:ln w="12700" cap="flat" cmpd="sng">
            <a:solidFill>
              <a:srgbClr val="D9CDB6"/>
            </a:solidFill>
            <a:prstDash val="solid"/>
            <a:round/>
            <a:headEnd type="none" w="sm" len="sm"/>
            <a:tailEnd type="none" w="sm" len="sm"/>
          </a:ln>
        </p:spPr>
      </p:cxnSp>
      <p:sp>
        <p:nvSpPr>
          <p:cNvPr id="284" name="Google Shape;284;p18"/>
          <p:cNvSpPr/>
          <p:nvPr/>
        </p:nvSpPr>
        <p:spPr>
          <a:xfrm>
            <a:off x="812800" y="30530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BEFORE</a:t>
            </a:r>
            <a:endParaRPr sz="1200" b="0" i="0" u="none" strike="noStrike" cap="none">
              <a:solidFill>
                <a:schemeClr val="dk1"/>
              </a:solidFill>
              <a:latin typeface="Calibri"/>
              <a:ea typeface="Calibri"/>
              <a:cs typeface="Calibri"/>
              <a:sym typeface="Calibri"/>
            </a:endParaRPr>
          </a:p>
        </p:txBody>
      </p:sp>
      <p:sp>
        <p:nvSpPr>
          <p:cNvPr id="285" name="Google Shape;285;p18"/>
          <p:cNvSpPr/>
          <p:nvPr/>
        </p:nvSpPr>
        <p:spPr>
          <a:xfrm>
            <a:off x="2413000" y="30530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“I sold to whoever paid a little more that day.”</a:t>
            </a:r>
            <a:endParaRPr sz="1500" b="0" i="0" u="none" strike="noStrike" cap="none">
              <a:solidFill>
                <a:schemeClr val="dk1"/>
              </a:solidFill>
              <a:latin typeface="Calibri"/>
              <a:ea typeface="Calibri"/>
              <a:cs typeface="Calibri"/>
              <a:sym typeface="Calibri"/>
            </a:endParaRPr>
          </a:p>
        </p:txBody>
      </p:sp>
      <p:cxnSp>
        <p:nvCxnSpPr>
          <p:cNvPr id="286" name="Google Shape;286;p18"/>
          <p:cNvCxnSpPr/>
          <p:nvPr/>
        </p:nvCxnSpPr>
        <p:spPr>
          <a:xfrm>
            <a:off x="812800" y="3415029"/>
            <a:ext cx="6350000" cy="0"/>
          </a:xfrm>
          <a:prstGeom prst="straightConnector1">
            <a:avLst/>
          </a:prstGeom>
          <a:noFill/>
          <a:ln w="12700" cap="flat" cmpd="sng">
            <a:solidFill>
              <a:srgbClr val="D9CDB6"/>
            </a:solidFill>
            <a:prstDash val="solid"/>
            <a:round/>
            <a:headEnd type="none" w="sm" len="sm"/>
            <a:tailEnd type="none" w="sm" len="sm"/>
          </a:ln>
        </p:spPr>
      </p:cxnSp>
      <p:sp>
        <p:nvSpPr>
          <p:cNvPr id="287" name="Google Shape;287;p18"/>
          <p:cNvSpPr/>
          <p:nvPr/>
        </p:nvSpPr>
        <p:spPr>
          <a:xfrm>
            <a:off x="812800" y="35102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NOW</a:t>
            </a:r>
            <a:endParaRPr sz="1200" b="0" i="0" u="none" strike="noStrike" cap="none">
              <a:solidFill>
                <a:schemeClr val="dk1"/>
              </a:solidFill>
              <a:latin typeface="Calibri"/>
              <a:ea typeface="Calibri"/>
              <a:cs typeface="Calibri"/>
              <a:sym typeface="Calibri"/>
            </a:endParaRPr>
          </a:p>
        </p:txBody>
      </p:sp>
      <p:sp>
        <p:nvSpPr>
          <p:cNvPr id="288" name="Google Shape;288;p18"/>
          <p:cNvSpPr/>
          <p:nvPr/>
        </p:nvSpPr>
        <p:spPr>
          <a:xfrm>
            <a:off x="2413000" y="3510279"/>
            <a:ext cx="483997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Registered, weighed on a public scale, paid fair-trade rates the same day</a:t>
            </a:r>
            <a:endParaRPr sz="1500" b="0" i="0" u="none" strike="noStrike" cap="none">
              <a:solidFill>
                <a:schemeClr val="dk1"/>
              </a:solidFill>
              <a:latin typeface="Calibri"/>
              <a:ea typeface="Calibri"/>
              <a:cs typeface="Calibri"/>
              <a:sym typeface="Calibri"/>
            </a:endParaRPr>
          </a:p>
        </p:txBody>
      </p:sp>
      <p:cxnSp>
        <p:nvCxnSpPr>
          <p:cNvPr id="289" name="Google Shape;289;p18"/>
          <p:cNvCxnSpPr/>
          <p:nvPr/>
        </p:nvCxnSpPr>
        <p:spPr>
          <a:xfrm>
            <a:off x="812800" y="4138929"/>
            <a:ext cx="6350000" cy="0"/>
          </a:xfrm>
          <a:prstGeom prst="straightConnector1">
            <a:avLst/>
          </a:prstGeom>
          <a:noFill/>
          <a:ln w="12700" cap="flat" cmpd="sng">
            <a:solidFill>
              <a:srgbClr val="D9CDB6"/>
            </a:solidFill>
            <a:prstDash val="solid"/>
            <a:round/>
            <a:headEnd type="none" w="sm" len="sm"/>
            <a:tailEnd type="none" w="sm" len="sm"/>
          </a:ln>
        </p:spPr>
      </p:cxnSp>
      <p:sp>
        <p:nvSpPr>
          <p:cNvPr id="290" name="Google Shape;290;p18"/>
          <p:cNvSpPr/>
          <p:nvPr/>
        </p:nvSpPr>
        <p:spPr>
          <a:xfrm>
            <a:off x="812800" y="42341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IN HER WORDS</a:t>
            </a:r>
            <a:endParaRPr sz="1200" b="0" i="0" u="none" strike="noStrike" cap="none">
              <a:solidFill>
                <a:schemeClr val="dk1"/>
              </a:solidFill>
              <a:latin typeface="Calibri"/>
              <a:ea typeface="Calibri"/>
              <a:cs typeface="Calibri"/>
              <a:sym typeface="Calibri"/>
            </a:endParaRPr>
          </a:p>
        </p:txBody>
      </p:sp>
      <p:sp>
        <p:nvSpPr>
          <p:cNvPr id="291" name="Google Shape;291;p18"/>
          <p:cNvSpPr/>
          <p:nvPr/>
        </p:nvSpPr>
        <p:spPr>
          <a:xfrm>
            <a:off x="2413000" y="42341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“My children can plan now. That's the difference.”</a:t>
            </a:r>
            <a:endParaRPr sz="1500" b="0" i="0" u="none" strike="noStrike" cap="none">
              <a:solidFill>
                <a:schemeClr val="dk1"/>
              </a:solidFill>
              <a:latin typeface="Calibri"/>
              <a:ea typeface="Calibri"/>
              <a:cs typeface="Calibri"/>
              <a:sym typeface="Calibri"/>
            </a:endParaRPr>
          </a:p>
        </p:txBody>
      </p:sp>
      <p:cxnSp>
        <p:nvCxnSpPr>
          <p:cNvPr id="292" name="Google Shape;292;p18"/>
          <p:cNvCxnSpPr/>
          <p:nvPr/>
        </p:nvCxnSpPr>
        <p:spPr>
          <a:xfrm>
            <a:off x="812800" y="4596129"/>
            <a:ext cx="6350000" cy="0"/>
          </a:xfrm>
          <a:prstGeom prst="straightConnector1">
            <a:avLst/>
          </a:prstGeom>
          <a:noFill/>
          <a:ln w="12700" cap="flat" cmpd="sng">
            <a:solidFill>
              <a:srgbClr val="D9CDB6"/>
            </a:solidFill>
            <a:prstDash val="solid"/>
            <a:round/>
            <a:headEnd type="none" w="sm" len="sm"/>
            <a:tailEnd type="none" w="sm" len="sm"/>
          </a:ln>
        </p:spPr>
      </p:cxnSp>
      <p:cxnSp>
        <p:nvCxnSpPr>
          <p:cNvPr id="293" name="Google Shape;293;p18"/>
          <p:cNvCxnSpPr/>
          <p:nvPr/>
        </p:nvCxnSpPr>
        <p:spPr>
          <a:xfrm>
            <a:off x="812800" y="5320029"/>
            <a:ext cx="6350000" cy="0"/>
          </a:xfrm>
          <a:prstGeom prst="straightConnector1">
            <a:avLst/>
          </a:prstGeom>
          <a:noFill/>
          <a:ln w="12700" cap="flat" cmpd="sng">
            <a:solidFill>
              <a:srgbClr val="D9CDB6"/>
            </a:solidFill>
            <a:prstDash val="solid"/>
            <a:round/>
            <a:headEnd type="none" w="sm" len="sm"/>
            <a:tailEnd type="none" w="sm" len="sm"/>
          </a:ln>
        </p:spPr>
      </p:cxnSp>
      <p:sp>
        <p:nvSpPr>
          <p:cNvPr id="294" name="Google Shape;294;p18"/>
          <p:cNvSpPr/>
          <p:nvPr/>
        </p:nvSpPr>
        <p:spPr>
          <a:xfrm>
            <a:off x="812800" y="46913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NETWORK</a:t>
            </a:r>
            <a:endParaRPr sz="1200" b="0" i="0" u="none" strike="noStrike" cap="none">
              <a:solidFill>
                <a:schemeClr val="dk1"/>
              </a:solidFill>
              <a:latin typeface="Calibri"/>
              <a:ea typeface="Calibri"/>
              <a:cs typeface="Calibri"/>
              <a:sym typeface="Calibri"/>
            </a:endParaRPr>
          </a:p>
        </p:txBody>
      </p:sp>
      <p:sp>
        <p:nvSpPr>
          <p:cNvPr id="295" name="Google Shape;295;p18"/>
          <p:cNvSpPr/>
          <p:nvPr/>
        </p:nvSpPr>
        <p:spPr>
          <a:xfrm>
            <a:off x="2413000" y="4691379"/>
            <a:ext cx="483997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One of 3,500 pickers registered with LoopCycle Nusantara</a:t>
            </a:r>
            <a:endParaRPr sz="1500" b="0" i="0" u="none" strike="noStrike" cap="none">
              <a:solidFill>
                <a:schemeClr val="dk1"/>
              </a:solidFill>
              <a:latin typeface="Calibri"/>
              <a:ea typeface="Calibri"/>
              <a:cs typeface="Calibri"/>
              <a:sym typeface="Calibri"/>
            </a:endParaRPr>
          </a:p>
        </p:txBody>
      </p:sp>
      <p:sp>
        <p:nvSpPr>
          <p:cNvPr id="296" name="Google Shape;296;p18"/>
          <p:cNvSpPr/>
          <p:nvPr/>
        </p:nvSpPr>
        <p:spPr>
          <a:xfrm>
            <a:off x="7467600" y="2037079"/>
            <a:ext cx="3911600" cy="3289300"/>
          </a:xfrm>
          <a:prstGeom prst="roundRect">
            <a:avLst>
              <a:gd name="adj" fmla="val 4633"/>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8"/>
          <p:cNvSpPr/>
          <p:nvPr/>
        </p:nvSpPr>
        <p:spPr>
          <a:xfrm>
            <a:off x="7721600" y="2291079"/>
            <a:ext cx="350570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REEL IDEA</a:t>
            </a:r>
            <a:endParaRPr sz="1200" b="0" i="0" u="none" strike="noStrike" cap="none">
              <a:solidFill>
                <a:schemeClr val="dk1"/>
              </a:solidFill>
              <a:latin typeface="Calibri"/>
              <a:ea typeface="Calibri"/>
              <a:cs typeface="Calibri"/>
              <a:sym typeface="Calibri"/>
            </a:endParaRPr>
          </a:p>
        </p:txBody>
      </p:sp>
      <p:sp>
        <p:nvSpPr>
          <p:cNvPr id="298" name="Google Shape;298;p18"/>
          <p:cNvSpPr/>
          <p:nvPr/>
        </p:nvSpPr>
        <p:spPr>
          <a:xfrm>
            <a:off x="7721600" y="2631442"/>
            <a:ext cx="35057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A portrait interview.</a:t>
            </a:r>
            <a:endParaRPr sz="2200" b="0" i="0" u="none" strike="noStrike" cap="none">
              <a:solidFill>
                <a:schemeClr val="dk1"/>
              </a:solidFill>
              <a:latin typeface="Calibri"/>
              <a:ea typeface="Calibri"/>
              <a:cs typeface="Calibri"/>
              <a:sym typeface="Calibri"/>
            </a:endParaRPr>
          </a:p>
        </p:txBody>
      </p:sp>
      <p:sp>
        <p:nvSpPr>
          <p:cNvPr id="299" name="Google Shape;299;p18"/>
          <p:cNvSpPr/>
          <p:nvPr/>
        </p:nvSpPr>
        <p:spPr>
          <a:xfrm>
            <a:off x="7721600" y="3093721"/>
            <a:ext cx="3505708"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FD8CF"/>
              </a:buClr>
              <a:buSzPts val="1500"/>
              <a:buFont typeface="DM Sans"/>
              <a:buNone/>
            </a:pPr>
            <a:r>
              <a:rPr lang="en-US" sz="1500" b="0" i="0" u="none" strike="noStrike" cap="none">
                <a:solidFill>
                  <a:srgbClr val="CFD8CF"/>
                </a:solidFill>
                <a:latin typeface="DM Sans"/>
                <a:ea typeface="DM Sans"/>
                <a:cs typeface="DM Sans"/>
                <a:sym typeface="DM Sans"/>
              </a:rPr>
              <a:t>Ibu Sari at her sorting table. Natural light, handheld, warm and unhurried. Subtitles on.</a:t>
            </a:r>
            <a:endParaRPr sz="1500" b="0" i="0" u="none" strike="noStrike" cap="none">
              <a:solidFill>
                <a:schemeClr val="dk1"/>
              </a:solidFill>
              <a:latin typeface="Calibri"/>
              <a:ea typeface="Calibri"/>
              <a:cs typeface="Calibri"/>
              <a:sym typeface="Calibri"/>
            </a:endParaRPr>
          </a:p>
        </p:txBody>
      </p:sp>
      <p:sp>
        <p:nvSpPr>
          <p:cNvPr id="300" name="Google Shape;300;p18"/>
          <p:cNvSpPr/>
          <p:nvPr/>
        </p:nvSpPr>
        <p:spPr>
          <a:xfrm>
            <a:off x="7721600" y="4615179"/>
            <a:ext cx="350570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Instagram Reel · about </a:t>
            </a:r>
            <a:r>
              <a:rPr lang="en-US" sz="1200">
                <a:solidFill>
                  <a:srgbClr val="E3A83E"/>
                </a:solidFill>
                <a:latin typeface="DM Sans"/>
                <a:ea typeface="DM Sans"/>
                <a:cs typeface="DM Sans"/>
                <a:sym typeface="DM Sans"/>
              </a:rPr>
              <a:t>10</a:t>
            </a:r>
            <a:r>
              <a:rPr lang="en-US" sz="1200" b="0" i="0" u="none" strike="noStrike" cap="none">
                <a:solidFill>
                  <a:srgbClr val="E3A83E"/>
                </a:solidFill>
                <a:latin typeface="DM Sans"/>
                <a:ea typeface="DM Sans"/>
                <a:cs typeface="DM Sans"/>
                <a:sym typeface="DM Sans"/>
              </a:rPr>
              <a:t> seconds</a:t>
            </a:r>
            <a:endParaRPr sz="12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Real footage of a real person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305"/>
        <p:cNvGrpSpPr/>
        <p:nvPr/>
      </p:nvGrpSpPr>
      <p:grpSpPr>
        <a:xfrm>
          <a:off x="0" y="0"/>
          <a:ext cx="0" cy="0"/>
          <a:chOff x="0" y="0"/>
          <a:chExt cx="0" cy="0"/>
        </a:xfrm>
      </p:grpSpPr>
      <p:sp>
        <p:nvSpPr>
          <p:cNvPr id="306" name="Google Shape;306;p19"/>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1 OF 4</a:t>
            </a:r>
            <a:endParaRPr sz="1200" b="0" i="0" u="none" strike="noStrike" cap="none">
              <a:solidFill>
                <a:schemeClr val="dk1"/>
              </a:solidFill>
              <a:latin typeface="Calibri"/>
              <a:ea typeface="Calibri"/>
              <a:cs typeface="Calibri"/>
              <a:sym typeface="Calibri"/>
            </a:endParaRPr>
          </a:p>
        </p:txBody>
      </p:sp>
      <p:sp>
        <p:nvSpPr>
          <p:cNvPr id="307" name="Google Shape;307;p19"/>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Write the caption and on-screen text</a:t>
            </a:r>
            <a:endParaRPr sz="3600" b="0" i="0" u="none" strike="noStrike" cap="none">
              <a:solidFill>
                <a:schemeClr val="dk1"/>
              </a:solidFill>
              <a:latin typeface="Calibri"/>
              <a:ea typeface="Calibri"/>
              <a:cs typeface="Calibri"/>
              <a:sym typeface="Calibri"/>
            </a:endParaRPr>
          </a:p>
        </p:txBody>
      </p:sp>
      <p:sp>
        <p:nvSpPr>
          <p:cNvPr id="308" name="Google Shape;308;p19"/>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09" name="Google Shape;309;p19"/>
          <p:cNvSpPr/>
          <p:nvPr/>
        </p:nvSpPr>
        <p:spPr>
          <a:xfrm>
            <a:off x="1244600" y="20370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New chat. Paste the prompt, then the Ibu Sari brief.</a:t>
            </a:r>
            <a:endParaRPr sz="1500" b="0" i="0" u="none" strike="noStrike" cap="none">
              <a:solidFill>
                <a:schemeClr val="dk1"/>
              </a:solidFill>
              <a:latin typeface="Calibri"/>
              <a:ea typeface="Calibri"/>
              <a:cs typeface="Calibri"/>
              <a:sym typeface="Calibri"/>
            </a:endParaRPr>
          </a:p>
        </p:txBody>
      </p:sp>
      <p:sp>
        <p:nvSpPr>
          <p:cNvPr id="310" name="Google Shape;310;p19"/>
          <p:cNvSpPr/>
          <p:nvPr/>
        </p:nvSpPr>
        <p:spPr>
          <a:xfrm>
            <a:off x="812800" y="2748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11" name="Google Shape;311;p19"/>
          <p:cNvSpPr/>
          <p:nvPr/>
        </p:nvSpPr>
        <p:spPr>
          <a:xfrm>
            <a:off x="1244600" y="2748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Read the first draft aloud. Does it sound like us?</a:t>
            </a:r>
            <a:endParaRPr sz="1500" b="0" i="0" u="none" strike="noStrike" cap="none">
              <a:solidFill>
                <a:schemeClr val="dk1"/>
              </a:solidFill>
              <a:latin typeface="Calibri"/>
              <a:ea typeface="Calibri"/>
              <a:cs typeface="Calibri"/>
              <a:sym typeface="Calibri"/>
            </a:endParaRPr>
          </a:p>
        </p:txBody>
      </p:sp>
      <p:sp>
        <p:nvSpPr>
          <p:cNvPr id="312" name="Google Shape;312;p19"/>
          <p:cNvSpPr/>
          <p:nvPr/>
        </p:nvSpPr>
        <p:spPr>
          <a:xfrm>
            <a:off x="812800" y="3459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13" name="Google Shape;313;p19"/>
          <p:cNvSpPr/>
          <p:nvPr/>
        </p:nvSpPr>
        <p:spPr>
          <a:xfrm>
            <a:off x="1244600" y="34594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“Less about us, more about her.”</a:t>
            </a:r>
            <a:endParaRPr sz="1500" b="0" i="0" u="none" strike="noStrike" cap="none">
              <a:solidFill>
                <a:schemeClr val="dk1"/>
              </a:solidFill>
              <a:latin typeface="Calibri"/>
              <a:ea typeface="Calibri"/>
              <a:cs typeface="Calibri"/>
              <a:sym typeface="Calibri"/>
            </a:endParaRPr>
          </a:p>
        </p:txBody>
      </p:sp>
      <p:sp>
        <p:nvSpPr>
          <p:cNvPr id="314" name="Google Shape;314;p19"/>
          <p:cNvSpPr/>
          <p:nvPr/>
        </p:nvSpPr>
        <p:spPr>
          <a:xfrm>
            <a:off x="812800" y="3916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15" name="Google Shape;315;p19"/>
          <p:cNvSpPr/>
          <p:nvPr/>
        </p:nvSpPr>
        <p:spPr>
          <a:xfrm>
            <a:off x="1244600" y="3916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every number and quote matches the brief, word for word.</a:t>
            </a:r>
            <a:endParaRPr sz="1500" b="0" i="0" u="none" strike="noStrike" cap="none">
              <a:solidFill>
                <a:schemeClr val="dk1"/>
              </a:solidFill>
              <a:latin typeface="Calibri"/>
              <a:ea typeface="Calibri"/>
              <a:cs typeface="Calibri"/>
              <a:sym typeface="Calibri"/>
            </a:endParaRPr>
          </a:p>
        </p:txBody>
      </p:sp>
      <p:sp>
        <p:nvSpPr>
          <p:cNvPr id="316" name="Google Shape;316;p19"/>
          <p:cNvSpPr/>
          <p:nvPr/>
        </p:nvSpPr>
        <p:spPr>
          <a:xfrm>
            <a:off x="5054600" y="2037075"/>
            <a:ext cx="6324600" cy="4010700"/>
          </a:xfrm>
          <a:prstGeom prst="roundRect">
            <a:avLst>
              <a:gd name="adj" fmla="val 435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18" name="Google Shape;318;p19"/>
          <p:cNvSpPr/>
          <p:nvPr/>
        </p:nvSpPr>
        <p:spPr>
          <a:xfrm>
            <a:off x="5308600" y="2631452"/>
            <a:ext cx="5991000" cy="32211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You are the social media writer for LoopCycle Nusantara, an Indonesian social enterprise that works with registered waste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the text for an Instagram reel about one of our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1. A caption: a hook, two short paragraphs, then a question that invites comments. Under 100 words.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2. Three lines of on-screen text: an opening hook, a middle line and an end card.</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Tone: warm and respectful. She is the hero, not us. Use only the facts and quotes below, and never change her words.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[Paste the Ibu Sari brief]</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323"/>
        <p:cNvGrpSpPr/>
        <p:nvPr/>
      </p:nvGrpSpPr>
      <p:grpSpPr>
        <a:xfrm>
          <a:off x="0" y="0"/>
          <a:ext cx="0" cy="0"/>
          <a:chOff x="0" y="0"/>
          <a:chExt cx="0" cy="0"/>
        </a:xfrm>
      </p:grpSpPr>
      <p:sp>
        <p:nvSpPr>
          <p:cNvPr id="324" name="Google Shape;324;p20"/>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2 OF 4</a:t>
            </a:r>
            <a:endParaRPr sz="1200" b="0" i="0" u="none" strike="noStrike" cap="none">
              <a:solidFill>
                <a:schemeClr val="dk1"/>
              </a:solidFill>
              <a:latin typeface="Calibri"/>
              <a:ea typeface="Calibri"/>
              <a:cs typeface="Calibri"/>
              <a:sym typeface="Calibri"/>
            </a:endParaRPr>
          </a:p>
        </p:txBody>
      </p:sp>
      <p:sp>
        <p:nvSpPr>
          <p:cNvPr id="325" name="Google Shape;325;p20"/>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Plan the video around real footage</a:t>
            </a:r>
            <a:endParaRPr sz="3600" b="0" i="0" u="none" strike="noStrike" cap="none">
              <a:solidFill>
                <a:schemeClr val="dk1"/>
              </a:solidFill>
              <a:latin typeface="Calibri"/>
              <a:ea typeface="Calibri"/>
              <a:cs typeface="Calibri"/>
              <a:sym typeface="Calibri"/>
            </a:endParaRPr>
          </a:p>
        </p:txBody>
      </p:sp>
      <p:sp>
        <p:nvSpPr>
          <p:cNvPr id="326" name="Google Shape;326;p20"/>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27" name="Google Shape;327;p20"/>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328" name="Google Shape;328;p20"/>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29" name="Google Shape;329;p20"/>
          <p:cNvSpPr/>
          <p:nvPr/>
        </p:nvSpPr>
        <p:spPr>
          <a:xfrm>
            <a:off x="1244600" y="2494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 Note the key line: “</a:t>
            </a:r>
            <a:r>
              <a:rPr lang="en-US" sz="1200">
                <a:solidFill>
                  <a:schemeClr val="dk1"/>
                </a:solidFill>
                <a:latin typeface="DM Sans"/>
                <a:ea typeface="DM Sans"/>
                <a:cs typeface="DM Sans"/>
                <a:sym typeface="DM Sans"/>
              </a:rPr>
              <a:t>do not use real people to generate the reel.</a:t>
            </a:r>
            <a:r>
              <a:rPr lang="en-US" sz="1500" b="0" i="0" u="none" strike="noStrike" cap="none">
                <a:solidFill>
                  <a:schemeClr val="dk1"/>
                </a:solidFill>
                <a:latin typeface="DM Sans"/>
                <a:ea typeface="DM Sans"/>
                <a:cs typeface="DM Sans"/>
                <a:sym typeface="DM Sans"/>
              </a:rPr>
              <a:t>”</a:t>
            </a:r>
            <a:endParaRPr sz="1500" b="0" i="0" u="none" strike="noStrike" cap="none">
              <a:solidFill>
                <a:schemeClr val="dk1"/>
              </a:solidFill>
              <a:latin typeface="Calibri"/>
              <a:ea typeface="Calibri"/>
              <a:cs typeface="Calibri"/>
              <a:sym typeface="Calibri"/>
            </a:endParaRPr>
          </a:p>
        </p:txBody>
      </p:sp>
      <p:sp>
        <p:nvSpPr>
          <p:cNvPr id="330" name="Google Shape;330;p20"/>
          <p:cNvSpPr/>
          <p:nvPr/>
        </p:nvSpPr>
        <p:spPr>
          <a:xfrm>
            <a:off x="812800" y="3205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31" name="Google Shape;331;p20"/>
          <p:cNvSpPr/>
          <p:nvPr/>
        </p:nvSpPr>
        <p:spPr>
          <a:xfrm>
            <a:off x="1244600" y="3205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Hand the plan to whoever edits, or use AI only for text and the end card.</a:t>
            </a:r>
            <a:endParaRPr sz="1500" b="0" i="0" u="none" strike="noStrike" cap="none">
              <a:solidFill>
                <a:schemeClr val="dk1"/>
              </a:solidFill>
              <a:latin typeface="Calibri"/>
              <a:ea typeface="Calibri"/>
              <a:cs typeface="Calibri"/>
              <a:sym typeface="Calibri"/>
            </a:endParaRPr>
          </a:p>
        </p:txBody>
      </p:sp>
      <p:sp>
        <p:nvSpPr>
          <p:cNvPr id="332" name="Google Shape;332;p20"/>
          <p:cNvSpPr/>
          <p:nvPr/>
        </p:nvSpPr>
        <p:spPr>
          <a:xfrm>
            <a:off x="812800" y="3916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33" name="Google Shape;333;p20"/>
          <p:cNvSpPr/>
          <p:nvPr/>
        </p:nvSpPr>
        <p:spPr>
          <a:xfrm>
            <a:off x="1244600" y="3916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real person, real footage, and her consent to share her story.</a:t>
            </a:r>
            <a:endParaRPr sz="1500" b="0" i="0" u="none" strike="noStrike" cap="none">
              <a:solidFill>
                <a:schemeClr val="dk1"/>
              </a:solidFill>
              <a:latin typeface="Calibri"/>
              <a:ea typeface="Calibri"/>
              <a:cs typeface="Calibri"/>
              <a:sym typeface="Calibri"/>
            </a:endParaRPr>
          </a:p>
        </p:txBody>
      </p:sp>
      <p:sp>
        <p:nvSpPr>
          <p:cNvPr id="334" name="Google Shape;334;p20"/>
          <p:cNvSpPr/>
          <p:nvPr/>
        </p:nvSpPr>
        <p:spPr>
          <a:xfrm>
            <a:off x="5054600" y="2037085"/>
            <a:ext cx="6324600" cy="3279140"/>
          </a:xfrm>
          <a:prstGeom prst="roundRect">
            <a:avLst>
              <a:gd name="adj" fmla="val 4648"/>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0"/>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36" name="Google Shape;336;p20"/>
          <p:cNvSpPr/>
          <p:nvPr/>
        </p:nvSpPr>
        <p:spPr>
          <a:xfrm>
            <a:off x="5308600" y="2631451"/>
            <a:ext cx="5991000" cy="26847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Now act as a documentary video editor. This reel uses real interview footage of Ibu Sari, so do not </a:t>
            </a:r>
            <a:r>
              <a:rPr lang="en-US" sz="1200">
                <a:solidFill>
                  <a:srgbClr val="F5F0E6"/>
                </a:solidFill>
                <a:latin typeface="DM Sans"/>
                <a:ea typeface="DM Sans"/>
                <a:cs typeface="DM Sans"/>
                <a:sym typeface="DM Sans"/>
              </a:rPr>
              <a:t>use</a:t>
            </a:r>
            <a:r>
              <a:rPr lang="en-US" sz="1200" b="0" i="0" u="none" strike="noStrike" cap="none">
                <a:solidFill>
                  <a:srgbClr val="F5F0E6"/>
                </a:solidFill>
                <a:latin typeface="DM Sans"/>
                <a:ea typeface="DM Sans"/>
                <a:cs typeface="DM Sans"/>
                <a:sym typeface="DM Sans"/>
              </a:rPr>
              <a:t> real people to generate the </a:t>
            </a:r>
            <a:r>
              <a:rPr lang="en-US" sz="1200">
                <a:solidFill>
                  <a:srgbClr val="F5F0E6"/>
                </a:solidFill>
                <a:latin typeface="DM Sans"/>
                <a:ea typeface="DM Sans"/>
                <a:cs typeface="DM Sans"/>
                <a:sym typeface="DM Sans"/>
              </a:rPr>
              <a:t>reel</a:t>
            </a:r>
            <a:r>
              <a:rPr lang="en-US" sz="1200" b="0" i="0" u="none" strike="noStrike" cap="none">
                <a:solidFill>
                  <a:srgbClr val="F5F0E6"/>
                </a:solidFill>
                <a:latin typeface="DM Sans"/>
                <a:ea typeface="DM Sans"/>
                <a:cs typeface="DM Sans"/>
                <a:sym typeface="DM Sans"/>
              </a:rPr>
              <a:t>.</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a </a:t>
            </a:r>
            <a:r>
              <a:rPr lang="en-US" sz="1200">
                <a:solidFill>
                  <a:srgbClr val="F5F0E6"/>
                </a:solidFill>
                <a:latin typeface="DM Sans"/>
                <a:ea typeface="DM Sans"/>
                <a:cs typeface="DM Sans"/>
                <a:sym typeface="DM Sans"/>
              </a:rPr>
              <a:t>10</a:t>
            </a:r>
            <a:r>
              <a:rPr lang="en-US" sz="1200" b="0" i="0" u="none" strike="noStrike" cap="none">
                <a:solidFill>
                  <a:srgbClr val="F5F0E6"/>
                </a:solidFill>
                <a:latin typeface="DM Sans"/>
                <a:ea typeface="DM Sans"/>
                <a:cs typeface="DM Sans"/>
                <a:sym typeface="DM Sans"/>
              </a:rPr>
              <a:t>-second edit plan for a vertical (9:16) reel, shot by shot with timings: which clip, on-screen text, subtitles, music mood and transitions.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Clips we have: her interview at the sorting table, weighing at the hub scale, the receipt slip handed over. End card: LoopCycle Nusantara · 3,500 registered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Also list any extra shots we should film at the hub.</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341"/>
        <p:cNvGrpSpPr/>
        <p:nvPr/>
      </p:nvGrpSpPr>
      <p:grpSpPr>
        <a:xfrm>
          <a:off x="0" y="0"/>
          <a:ext cx="0" cy="0"/>
          <a:chOff x="0" y="0"/>
          <a:chExt cx="0" cy="0"/>
        </a:xfrm>
      </p:grpSpPr>
      <p:sp>
        <p:nvSpPr>
          <p:cNvPr id="342" name="Google Shape;342;p21"/>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3 OF 4</a:t>
            </a:r>
            <a:endParaRPr sz="1200" b="0" i="0" u="none" strike="noStrike" cap="none">
              <a:solidFill>
                <a:schemeClr val="dk1"/>
              </a:solidFill>
              <a:latin typeface="Calibri"/>
              <a:ea typeface="Calibri"/>
              <a:cs typeface="Calibri"/>
              <a:sym typeface="Calibri"/>
            </a:endParaRPr>
          </a:p>
        </p:txBody>
      </p:sp>
      <p:sp>
        <p:nvSpPr>
          <p:cNvPr id="343" name="Google Shape;343;p21"/>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Find the right hashtags</a:t>
            </a:r>
            <a:endParaRPr sz="3600" b="0" i="0" u="none" strike="noStrike" cap="none">
              <a:solidFill>
                <a:schemeClr val="dk1"/>
              </a:solidFill>
              <a:latin typeface="Calibri"/>
              <a:ea typeface="Calibri"/>
              <a:cs typeface="Calibri"/>
              <a:sym typeface="Calibri"/>
            </a:endParaRPr>
          </a:p>
        </p:txBody>
      </p:sp>
      <p:sp>
        <p:nvSpPr>
          <p:cNvPr id="344" name="Google Shape;344;p21"/>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45" name="Google Shape;345;p21"/>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346" name="Google Shape;346;p21"/>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47" name="Google Shape;347;p21"/>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348" name="Google Shape;348;p21"/>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49" name="Google Shape;349;p21"/>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“Which of these would our pickers be proud to see?”</a:t>
            </a:r>
            <a:endParaRPr sz="1500" b="0" i="0" u="none" strike="noStrike" cap="none">
              <a:solidFill>
                <a:schemeClr val="dk1"/>
              </a:solidFill>
              <a:latin typeface="Calibri"/>
              <a:ea typeface="Calibri"/>
              <a:cs typeface="Calibri"/>
              <a:sym typeface="Calibri"/>
            </a:endParaRPr>
          </a:p>
        </p:txBody>
      </p:sp>
      <p:sp>
        <p:nvSpPr>
          <p:cNvPr id="350" name="Google Shape;350;p21"/>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51" name="Google Shape;351;p21"/>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search each tag on Instagram. Active, on-topic, not spammy?</a:t>
            </a:r>
            <a:endParaRPr sz="1500" b="0" i="0" u="none" strike="noStrike" cap="none">
              <a:solidFill>
                <a:schemeClr val="dk1"/>
              </a:solidFill>
              <a:latin typeface="Calibri"/>
              <a:ea typeface="Calibri"/>
              <a:cs typeface="Calibri"/>
              <a:sym typeface="Calibri"/>
            </a:endParaRPr>
          </a:p>
        </p:txBody>
      </p:sp>
      <p:sp>
        <p:nvSpPr>
          <p:cNvPr id="352" name="Google Shape;352;p21"/>
          <p:cNvSpPr/>
          <p:nvPr/>
        </p:nvSpPr>
        <p:spPr>
          <a:xfrm>
            <a:off x="5054600" y="2037075"/>
            <a:ext cx="6339300" cy="3706800"/>
          </a:xfrm>
          <a:prstGeom prst="roundRect">
            <a:avLst>
              <a:gd name="adj" fmla="val 5372"/>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1"/>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54" name="Google Shape;354;p21"/>
          <p:cNvSpPr/>
          <p:nvPr/>
        </p:nvSpPr>
        <p:spPr>
          <a:xfrm>
            <a:off x="5308600" y="2631452"/>
            <a:ext cx="5991000" cy="25194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a:solidFill>
                  <a:srgbClr val="F5F0E6"/>
                </a:solidFill>
                <a:latin typeface="DM Sans"/>
                <a:ea typeface="DM Sans"/>
                <a:cs typeface="DM Sans"/>
                <a:sym typeface="DM Sans"/>
              </a:rPr>
              <a:t>You are back to social media writer for LoopCycle Nusantara</a:t>
            </a:r>
            <a:br>
              <a:rPr lang="en-US" sz="1200">
                <a:solidFill>
                  <a:srgbClr val="F5F0E6"/>
                </a:solidFill>
                <a:latin typeface="DM Sans"/>
                <a:ea typeface="DM Sans"/>
                <a:cs typeface="DM Sans"/>
                <a:sym typeface="DM Sans"/>
              </a:rPr>
            </a:br>
            <a:r>
              <a:rPr lang="en-US" sz="1200" b="0" i="0" u="none" strike="noStrike" cap="none">
                <a:solidFill>
                  <a:srgbClr val="F5F0E6"/>
                </a:solidFill>
                <a:latin typeface="DM Sans"/>
                <a:ea typeface="DM Sans"/>
                <a:cs typeface="DM Sans"/>
                <a:sym typeface="DM Sans"/>
              </a:rPr>
              <a:t>Suggest 12 Instagram hashtags for this reel:</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3 for LoopCycle and a picker stories series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5 on the topic: waste pickers, fair trade, circular economy</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4 local: Bandung, Cimahi, West Java, Indonesia</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Mix popular and niche tags. Give one line on why each fits, then mark the 5 you would use.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Flag any tag that could feel pity-driven or exploitative.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359"/>
        <p:cNvGrpSpPr/>
        <p:nvPr/>
      </p:nvGrpSpPr>
      <p:grpSpPr>
        <a:xfrm>
          <a:off x="0" y="0"/>
          <a:ext cx="0" cy="0"/>
          <a:chOff x="0" y="0"/>
          <a:chExt cx="0" cy="0"/>
        </a:xfrm>
      </p:grpSpPr>
      <p:sp>
        <p:nvSpPr>
          <p:cNvPr id="360" name="Google Shape;360;p22"/>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4 OF 4</a:t>
            </a:r>
            <a:endParaRPr sz="1200" b="0" i="0" u="none" strike="noStrike" cap="none">
              <a:solidFill>
                <a:schemeClr val="dk1"/>
              </a:solidFill>
              <a:latin typeface="Calibri"/>
              <a:ea typeface="Calibri"/>
              <a:cs typeface="Calibri"/>
              <a:sym typeface="Calibri"/>
            </a:endParaRPr>
          </a:p>
        </p:txBody>
      </p:sp>
      <p:sp>
        <p:nvSpPr>
          <p:cNvPr id="361" name="Google Shape;361;p22"/>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Create three variations</a:t>
            </a:r>
            <a:endParaRPr sz="3600" b="0" i="0" u="none" strike="noStrike" cap="none">
              <a:solidFill>
                <a:schemeClr val="dk1"/>
              </a:solidFill>
              <a:latin typeface="Calibri"/>
              <a:ea typeface="Calibri"/>
              <a:cs typeface="Calibri"/>
              <a:sym typeface="Calibri"/>
            </a:endParaRPr>
          </a:p>
        </p:txBody>
      </p:sp>
      <p:sp>
        <p:nvSpPr>
          <p:cNvPr id="362" name="Google Shape;362;p22"/>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63" name="Google Shape;363;p22"/>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364" name="Google Shape;364;p22"/>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65" name="Google Shape;365;p22"/>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366" name="Google Shape;366;p22"/>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67" name="Google Shape;367;p22"/>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Ask: “Which would you post first, and why?”</a:t>
            </a:r>
            <a:endParaRPr sz="1500" b="0" i="0" u="none" strike="noStrike" cap="none">
              <a:solidFill>
                <a:schemeClr val="dk1"/>
              </a:solidFill>
              <a:latin typeface="Calibri"/>
              <a:ea typeface="Calibri"/>
              <a:cs typeface="Calibri"/>
              <a:sym typeface="Calibri"/>
            </a:endParaRPr>
          </a:p>
        </p:txBody>
      </p:sp>
      <p:sp>
        <p:nvSpPr>
          <p:cNvPr id="368" name="Google Shape;368;p22"/>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69" name="Google Shape;369;p22"/>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are her quotes and the facts identical in all three?</a:t>
            </a:r>
            <a:endParaRPr sz="1500" b="0" i="0" u="none" strike="noStrike" cap="none">
              <a:solidFill>
                <a:schemeClr val="dk1"/>
              </a:solidFill>
              <a:latin typeface="Calibri"/>
              <a:ea typeface="Calibri"/>
              <a:cs typeface="Calibri"/>
              <a:sym typeface="Calibri"/>
            </a:endParaRPr>
          </a:p>
        </p:txBody>
      </p:sp>
      <p:sp>
        <p:nvSpPr>
          <p:cNvPr id="370" name="Google Shape;370;p22"/>
          <p:cNvSpPr/>
          <p:nvPr/>
        </p:nvSpPr>
        <p:spPr>
          <a:xfrm>
            <a:off x="5054600" y="2037073"/>
            <a:ext cx="6414900" cy="3039000"/>
          </a:xfrm>
          <a:prstGeom prst="roundRect">
            <a:avLst>
              <a:gd name="adj" fmla="val 582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72" name="Google Shape;372;p22"/>
          <p:cNvSpPr/>
          <p:nvPr/>
        </p:nvSpPr>
        <p:spPr>
          <a:xfrm>
            <a:off x="5308600" y="2631453"/>
            <a:ext cx="5991000" cy="23817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3 variations of the caption, each with 5 hashtags: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 Her voice: open with her own quote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B. The change: life before and after registering</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C. The bigger picture: one of 3,500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Keep every fact and quote identical. Under 100 words each. Label them A, B and C.</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Then add a short table comparing the hook, tone and best audience for each.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377"/>
        <p:cNvGrpSpPr/>
        <p:nvPr/>
      </p:nvGrpSpPr>
      <p:grpSpPr>
        <a:xfrm>
          <a:off x="0" y="0"/>
          <a:ext cx="0" cy="0"/>
          <a:chOff x="0" y="0"/>
          <a:chExt cx="0" cy="0"/>
        </a:xfrm>
      </p:grpSpPr>
      <p:sp>
        <p:nvSpPr>
          <p:cNvPr id="378" name="Google Shape;378;p23"/>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COMPARE</a:t>
            </a:r>
            <a:endParaRPr sz="1200" b="0" i="0" u="none" strike="noStrike" cap="none">
              <a:solidFill>
                <a:schemeClr val="dk1"/>
              </a:solidFill>
              <a:latin typeface="Calibri"/>
              <a:ea typeface="Calibri"/>
              <a:cs typeface="Calibri"/>
              <a:sym typeface="Calibri"/>
            </a:endParaRPr>
          </a:p>
        </p:txBody>
      </p:sp>
      <p:sp>
        <p:nvSpPr>
          <p:cNvPr id="379" name="Google Shape;379;p23"/>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What the team actually posted</a:t>
            </a:r>
            <a:endParaRPr sz="3600" b="0" i="0" u="none" strike="noStrike" cap="none">
              <a:solidFill>
                <a:schemeClr val="dk1"/>
              </a:solidFill>
              <a:latin typeface="Calibri"/>
              <a:ea typeface="Calibri"/>
              <a:cs typeface="Calibri"/>
              <a:sym typeface="Calibri"/>
            </a:endParaRPr>
          </a:p>
        </p:txBody>
      </p:sp>
      <p:sp>
        <p:nvSpPr>
          <p:cNvPr id="380" name="Google Shape;380;p23"/>
          <p:cNvSpPr/>
          <p:nvPr/>
        </p:nvSpPr>
        <p:spPr>
          <a:xfrm>
            <a:off x="812800" y="2037085"/>
            <a:ext cx="6350000" cy="3162300"/>
          </a:xfrm>
          <a:prstGeom prst="roundRect">
            <a:avLst>
              <a:gd name="adj" fmla="val 4819"/>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3"/>
          <p:cNvSpPr/>
          <p:nvPr/>
        </p:nvSpPr>
        <p:spPr>
          <a:xfrm>
            <a:off x="1066800" y="2291085"/>
            <a:ext cx="601726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PUBLISHED CAPTION</a:t>
            </a:r>
            <a:endParaRPr sz="1200" b="0" i="0" u="none" strike="noStrike" cap="none">
              <a:solidFill>
                <a:schemeClr val="dk1"/>
              </a:solidFill>
              <a:latin typeface="Calibri"/>
              <a:ea typeface="Calibri"/>
              <a:cs typeface="Calibri"/>
              <a:sym typeface="Calibri"/>
            </a:endParaRPr>
          </a:p>
        </p:txBody>
      </p:sp>
      <p:sp>
        <p:nvSpPr>
          <p:cNvPr id="382" name="Google Shape;382;p23"/>
          <p:cNvSpPr/>
          <p:nvPr/>
        </p:nvSpPr>
        <p:spPr>
          <a:xfrm>
            <a:off x="1066800" y="2606042"/>
            <a:ext cx="601726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Meet Ibu Sari.</a:t>
            </a:r>
            <a:endParaRPr sz="1500" b="0" i="0" u="none" strike="noStrike" cap="none">
              <a:solidFill>
                <a:schemeClr val="dk1"/>
              </a:solidFill>
              <a:latin typeface="Calibri"/>
              <a:ea typeface="Calibri"/>
              <a:cs typeface="Calibri"/>
              <a:sym typeface="Calibri"/>
            </a:endParaRPr>
          </a:p>
        </p:txBody>
      </p:sp>
      <p:sp>
        <p:nvSpPr>
          <p:cNvPr id="383" name="Google Shape;383;p23"/>
          <p:cNvSpPr/>
          <p:nvPr/>
        </p:nvSpPr>
        <p:spPr>
          <a:xfrm>
            <a:off x="1066800" y="2974342"/>
            <a:ext cx="6017260" cy="13512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CFD8CF"/>
              </a:buClr>
              <a:buSzPts val="1200"/>
              <a:buFont typeface="DM Sans"/>
              <a:buNone/>
            </a:pPr>
            <a:r>
              <a:rPr lang="en-US" sz="1200" b="0" i="0" u="none" strike="noStrike" cap="none">
                <a:solidFill>
                  <a:srgbClr val="CFD8CF"/>
                </a:solidFill>
                <a:latin typeface="DM Sans"/>
                <a:ea typeface="DM Sans"/>
                <a:cs typeface="DM Sans"/>
                <a:sym typeface="DM Sans"/>
              </a:rPr>
              <a:t>She's been a waste picker in Cimahi for years, and a LoopCycle partner since 2018. Before registering, she never knew what her plastic would earn from one day to the next. Today her bales are weighed on a public scale, priced at fair-trade rates and paid for the same day. She's one of 3,500 registered pickers who make our recycling supply chain possible. Their work is the first link, and it deserves to be seen.</a:t>
            </a:r>
            <a:endParaRPr sz="1200" b="0" i="0" u="none" strike="noStrike" cap="none">
              <a:solidFill>
                <a:schemeClr val="dk1"/>
              </a:solidFill>
              <a:latin typeface="Calibri"/>
              <a:ea typeface="Calibri"/>
              <a:cs typeface="Calibri"/>
              <a:sym typeface="Calibri"/>
            </a:endParaRPr>
          </a:p>
        </p:txBody>
      </p:sp>
      <p:sp>
        <p:nvSpPr>
          <p:cNvPr id="384" name="Google Shape;384;p23"/>
          <p:cNvSpPr/>
          <p:nvPr/>
        </p:nvSpPr>
        <p:spPr>
          <a:xfrm>
            <a:off x="1066800" y="4401815"/>
            <a:ext cx="6017260"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CFD8CF"/>
              </a:buClr>
              <a:buSzPts val="1200"/>
              <a:buFont typeface="DM Sans"/>
              <a:buNone/>
            </a:pPr>
            <a:r>
              <a:rPr lang="en-US" sz="1200" b="0" i="0" u="none" strike="noStrike" cap="none">
                <a:solidFill>
                  <a:srgbClr val="CFD8CF"/>
                </a:solidFill>
                <a:latin typeface="DM Sans"/>
                <a:ea typeface="DM Sans"/>
                <a:cs typeface="DM Sans"/>
                <a:sym typeface="DM Sans"/>
              </a:rPr>
              <a:t>👉 Watch to the end, and tell us: what would you like to ask a picker?</a:t>
            </a:r>
            <a:endParaRPr sz="1200" b="0" i="0" u="none" strike="noStrike" cap="none">
              <a:solidFill>
                <a:schemeClr val="dk1"/>
              </a:solidFill>
              <a:latin typeface="Calibri"/>
              <a:ea typeface="Calibri"/>
              <a:cs typeface="Calibri"/>
              <a:sym typeface="Calibri"/>
            </a:endParaRPr>
          </a:p>
        </p:txBody>
      </p:sp>
      <p:sp>
        <p:nvSpPr>
          <p:cNvPr id="385" name="Google Shape;385;p23"/>
          <p:cNvSpPr/>
          <p:nvPr/>
        </p:nvSpPr>
        <p:spPr>
          <a:xfrm>
            <a:off x="1066800" y="4724400"/>
            <a:ext cx="6017260"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#wastepickers #socialenterprise #circulareconomy #Bandung #fairtrade</a:t>
            </a:r>
            <a:endParaRPr sz="1200" b="0" i="0" u="none" strike="noStrike" cap="none">
              <a:solidFill>
                <a:schemeClr val="dk1"/>
              </a:solidFill>
              <a:latin typeface="Calibri"/>
              <a:ea typeface="Calibri"/>
              <a:cs typeface="Calibri"/>
              <a:sym typeface="Calibri"/>
            </a:endParaRPr>
          </a:p>
        </p:txBody>
      </p:sp>
      <p:sp>
        <p:nvSpPr>
          <p:cNvPr id="386" name="Google Shape;386;p23"/>
          <p:cNvSpPr/>
          <p:nvPr/>
        </p:nvSpPr>
        <p:spPr>
          <a:xfrm>
            <a:off x="7538720" y="2037085"/>
            <a:ext cx="3950208" cy="844550"/>
          </a:xfrm>
          <a:prstGeom prst="rect">
            <a:avLst/>
          </a:prstGeom>
          <a:noFill/>
          <a:ln>
            <a:noFill/>
          </a:ln>
        </p:spPr>
        <p:txBody>
          <a:bodyPr spcFirstLastPara="1" wrap="square" lIns="0" tIns="0" rIns="0" bIns="0" anchor="t" anchorCtr="0">
            <a:noAutofit/>
          </a:bodyPr>
          <a:lstStyle/>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She is the subject, not the brand</a:t>
            </a:r>
            <a:endParaRPr sz="1500" b="0" i="0" u="none" strike="noStrike" cap="none">
              <a:solidFill>
                <a:schemeClr val="dk1"/>
              </a:solidFill>
              <a:latin typeface="Calibri"/>
              <a:ea typeface="Calibri"/>
              <a:cs typeface="Calibri"/>
              <a:sym typeface="Calibri"/>
            </a:endParaRPr>
          </a:p>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A question sets up a follow-up reel</a:t>
            </a:r>
            <a:endParaRPr sz="1500" b="0" i="0" u="none" strike="noStrike" cap="none">
              <a:solidFill>
                <a:schemeClr val="dk1"/>
              </a:solidFill>
              <a:latin typeface="Calibri"/>
              <a:ea typeface="Calibri"/>
              <a:cs typeface="Calibri"/>
              <a:sym typeface="Calibri"/>
            </a:endParaRPr>
          </a:p>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Alt text keeps it accessible</a:t>
            </a:r>
            <a:endParaRPr sz="1500" b="0" i="0" u="none" strike="noStrike" cap="none">
              <a:solidFill>
                <a:schemeClr val="dk1"/>
              </a:solidFill>
              <a:latin typeface="Calibri"/>
              <a:ea typeface="Calibri"/>
              <a:cs typeface="Calibri"/>
              <a:sym typeface="Calibri"/>
            </a:endParaRPr>
          </a:p>
        </p:txBody>
      </p:sp>
      <p:sp>
        <p:nvSpPr>
          <p:cNvPr id="387" name="Google Shape;387;p23"/>
          <p:cNvSpPr/>
          <p:nvPr/>
        </p:nvSpPr>
        <p:spPr>
          <a:xfrm>
            <a:off x="7473950" y="3287669"/>
            <a:ext cx="3898800" cy="1592700"/>
          </a:xfrm>
          <a:prstGeom prst="roundRect">
            <a:avLst>
              <a:gd name="adj" fmla="val 7576"/>
            </a:avLst>
          </a:prstGeom>
          <a:solidFill>
            <a:srgbClr val="FFFDF8"/>
          </a:solidFill>
          <a:ln w="12700" cap="flat" cmpd="sng">
            <a:solidFill>
              <a:srgbClr val="B553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3"/>
          <p:cNvSpPr/>
          <p:nvPr/>
        </p:nvSpPr>
        <p:spPr>
          <a:xfrm>
            <a:off x="7683500" y="3497219"/>
            <a:ext cx="3584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SPOT THE SLIP</a:t>
            </a:r>
            <a:endParaRPr sz="1200" b="0" i="0" u="none" strike="noStrike" cap="none">
              <a:solidFill>
                <a:schemeClr val="dk1"/>
              </a:solidFill>
              <a:latin typeface="Calibri"/>
              <a:ea typeface="Calibri"/>
              <a:cs typeface="Calibri"/>
              <a:sym typeface="Calibri"/>
            </a:endParaRPr>
          </a:p>
        </p:txBody>
      </p:sp>
      <p:sp>
        <p:nvSpPr>
          <p:cNvPr id="389" name="Google Shape;389;p23"/>
          <p:cNvSpPr/>
          <p:nvPr/>
        </p:nvSpPr>
        <p:spPr>
          <a:xfrm>
            <a:off x="7683500" y="3786776"/>
            <a:ext cx="3584100" cy="9093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1F2A24"/>
              </a:buClr>
              <a:buSzPts val="1200"/>
              <a:buFont typeface="DM Sans"/>
              <a:buNone/>
            </a:pPr>
            <a:r>
              <a:rPr lang="en-US" sz="1200" b="0" i="0" u="none" strike="noStrike" cap="none">
                <a:solidFill>
                  <a:srgbClr val="1F2A24"/>
                </a:solidFill>
                <a:latin typeface="DM Sans"/>
                <a:ea typeface="DM Sans"/>
                <a:cs typeface="DM Sans"/>
                <a:sym typeface="DM Sans"/>
              </a:rPr>
              <a:t>Her interview: started picking in 2018. The caption: a picker for years, a partner since 2018. Ask the AI: “Compare the script and caption. List any facts that don't match.”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B5532B"/>
        </a:solidFill>
        <a:effectLst/>
      </p:bgPr>
    </p:bg>
    <p:spTree>
      <p:nvGrpSpPr>
        <p:cNvPr id="1" name="Shape 394"/>
        <p:cNvGrpSpPr/>
        <p:nvPr/>
      </p:nvGrpSpPr>
      <p:grpSpPr>
        <a:xfrm>
          <a:off x="0" y="0"/>
          <a:ext cx="0" cy="0"/>
          <a:chOff x="0" y="0"/>
          <a:chExt cx="0" cy="0"/>
        </a:xfrm>
      </p:grpSpPr>
      <p:sp>
        <p:nvSpPr>
          <p:cNvPr id="395" name="Google Shape;395;p24"/>
          <p:cNvSpPr/>
          <p:nvPr/>
        </p:nvSpPr>
        <p:spPr>
          <a:xfrm>
            <a:off x="812800" y="19431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BF3E8"/>
              </a:buClr>
              <a:buSzPts val="1200"/>
              <a:buFont typeface="DM Sans"/>
              <a:buNone/>
            </a:pPr>
            <a:r>
              <a:rPr lang="en-US" sz="1200" b="1" i="0" u="none" strike="noStrike" cap="none">
                <a:solidFill>
                  <a:srgbClr val="FBF3E8"/>
                </a:solidFill>
                <a:latin typeface="DM Sans"/>
                <a:ea typeface="DM Sans"/>
                <a:cs typeface="DM Sans"/>
                <a:sym typeface="DM Sans"/>
              </a:rPr>
              <a:t>PART THREE · HANDS-ON</a:t>
            </a:r>
            <a:endParaRPr sz="1200" b="0" i="0" u="none" strike="noStrike" cap="none">
              <a:solidFill>
                <a:schemeClr val="dk1"/>
              </a:solidFill>
              <a:latin typeface="Calibri"/>
              <a:ea typeface="Calibri"/>
              <a:cs typeface="Calibri"/>
              <a:sym typeface="Calibri"/>
            </a:endParaRPr>
          </a:p>
        </p:txBody>
      </p:sp>
      <p:sp>
        <p:nvSpPr>
          <p:cNvPr id="396" name="Google Shape;396;p24"/>
          <p:cNvSpPr/>
          <p:nvPr/>
        </p:nvSpPr>
        <p:spPr>
          <a:xfrm>
            <a:off x="812800" y="2410458"/>
            <a:ext cx="10883392" cy="8255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FBF3E8"/>
              </a:buClr>
              <a:buSzPts val="6000"/>
              <a:buFont typeface="Fraunces"/>
              <a:buNone/>
            </a:pPr>
            <a:r>
              <a:rPr lang="en-US" sz="6000" b="0" i="0" u="none" strike="noStrike" cap="none">
                <a:solidFill>
                  <a:srgbClr val="FBF3E8"/>
                </a:solidFill>
                <a:latin typeface="Fraunces"/>
                <a:ea typeface="Fraunces"/>
                <a:cs typeface="Fraunces"/>
                <a:sym typeface="Fraunces"/>
              </a:rPr>
              <a:t>Launch the Loop Tote.</a:t>
            </a:r>
            <a:endParaRPr sz="6000" b="0" i="0" u="none" strike="noStrike" cap="none">
              <a:solidFill>
                <a:schemeClr val="dk1"/>
              </a:solidFill>
              <a:latin typeface="Calibri"/>
              <a:ea typeface="Calibri"/>
              <a:cs typeface="Calibri"/>
              <a:sym typeface="Calibri"/>
            </a:endParaRPr>
          </a:p>
        </p:txBody>
      </p:sp>
      <p:sp>
        <p:nvSpPr>
          <p:cNvPr id="397" name="Google Shape;397;p24"/>
          <p:cNvSpPr/>
          <p:nvPr/>
        </p:nvSpPr>
        <p:spPr>
          <a:xfrm>
            <a:off x="812800" y="3464558"/>
            <a:ext cx="9156700" cy="7518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FBF3E8"/>
              </a:buClr>
              <a:buSzPts val="2200"/>
              <a:buFont typeface="DM Sans"/>
              <a:buNone/>
            </a:pPr>
            <a:r>
              <a:rPr lang="en-US" sz="2200" b="0" i="0" u="none" strike="noStrike" cap="none">
                <a:solidFill>
                  <a:srgbClr val="FBF3E8"/>
                </a:solidFill>
                <a:latin typeface="DM Sans"/>
                <a:ea typeface="DM Sans"/>
                <a:cs typeface="DM Sans"/>
                <a:sym typeface="DM Sans"/>
              </a:rPr>
              <a:t>Four prompts, one launch reel. Work at your own pace in ChatGPT, Claude or Gemini.</a:t>
            </a:r>
            <a:endParaRPr sz="2200" b="0" i="0" u="none" strike="noStrike" cap="none">
              <a:solidFill>
                <a:schemeClr val="dk1"/>
              </a:solidFill>
              <a:latin typeface="Calibri"/>
              <a:ea typeface="Calibri"/>
              <a:cs typeface="Calibri"/>
              <a:sym typeface="Calibri"/>
            </a:endParaRPr>
          </a:p>
        </p:txBody>
      </p:sp>
      <p:sp>
        <p:nvSpPr>
          <p:cNvPr id="398" name="Google Shape;398;p24"/>
          <p:cNvSpPr/>
          <p:nvPr/>
        </p:nvSpPr>
        <p:spPr>
          <a:xfrm>
            <a:off x="812800" y="4445000"/>
            <a:ext cx="1319213"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1 · Caption</a:t>
            </a:r>
            <a:endParaRPr sz="1500" b="0" i="0" u="none" strike="noStrike" cap="none">
              <a:solidFill>
                <a:schemeClr val="dk1"/>
              </a:solidFill>
              <a:latin typeface="Calibri"/>
              <a:ea typeface="Calibri"/>
              <a:cs typeface="Calibri"/>
              <a:sym typeface="Calibri"/>
            </a:endParaRPr>
          </a:p>
        </p:txBody>
      </p:sp>
      <p:sp>
        <p:nvSpPr>
          <p:cNvPr id="399" name="Google Shape;399;p24"/>
          <p:cNvSpPr/>
          <p:nvPr/>
        </p:nvSpPr>
        <p:spPr>
          <a:xfrm>
            <a:off x="2284413" y="4445000"/>
            <a:ext cx="1889337"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2 · Video prompt</a:t>
            </a:r>
            <a:endParaRPr sz="1500" b="0" i="0" u="none" strike="noStrike" cap="none">
              <a:solidFill>
                <a:schemeClr val="dk1"/>
              </a:solidFill>
              <a:latin typeface="Calibri"/>
              <a:ea typeface="Calibri"/>
              <a:cs typeface="Calibri"/>
              <a:sym typeface="Calibri"/>
            </a:endParaRPr>
          </a:p>
        </p:txBody>
      </p:sp>
      <p:sp>
        <p:nvSpPr>
          <p:cNvPr id="400" name="Google Shape;400;p24"/>
          <p:cNvSpPr/>
          <p:nvPr/>
        </p:nvSpPr>
        <p:spPr>
          <a:xfrm>
            <a:off x="4326149" y="4445000"/>
            <a:ext cx="1493097"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3 · Hashtags</a:t>
            </a:r>
            <a:endParaRPr sz="1500" b="0" i="0" u="none" strike="noStrike" cap="none">
              <a:solidFill>
                <a:schemeClr val="dk1"/>
              </a:solidFill>
              <a:latin typeface="Calibri"/>
              <a:ea typeface="Calibri"/>
              <a:cs typeface="Calibri"/>
              <a:sym typeface="Calibri"/>
            </a:endParaRPr>
          </a:p>
        </p:txBody>
      </p:sp>
      <p:sp>
        <p:nvSpPr>
          <p:cNvPr id="401" name="Google Shape;401;p24"/>
          <p:cNvSpPr/>
          <p:nvPr/>
        </p:nvSpPr>
        <p:spPr>
          <a:xfrm>
            <a:off x="5971646" y="4445000"/>
            <a:ext cx="2108200"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4 · Three variations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406"/>
        <p:cNvGrpSpPr/>
        <p:nvPr/>
      </p:nvGrpSpPr>
      <p:grpSpPr>
        <a:xfrm>
          <a:off x="0" y="0"/>
          <a:ext cx="0" cy="0"/>
          <a:chOff x="0" y="0"/>
          <a:chExt cx="0" cy="0"/>
        </a:xfrm>
      </p:grpSpPr>
      <p:sp>
        <p:nvSpPr>
          <p:cNvPr id="407" name="Google Shape;407;p25"/>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THE BRIEF</a:t>
            </a:r>
            <a:endParaRPr sz="1200" b="0" i="0" u="none" strike="noStrike" cap="none">
              <a:solidFill>
                <a:schemeClr val="dk1"/>
              </a:solidFill>
              <a:latin typeface="Calibri"/>
              <a:ea typeface="Calibri"/>
              <a:cs typeface="Calibri"/>
              <a:sym typeface="Calibri"/>
            </a:endParaRPr>
          </a:p>
        </p:txBody>
      </p:sp>
      <p:sp>
        <p:nvSpPr>
          <p:cNvPr id="408" name="Google Shape;408;p25"/>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Meet the Loop Tote</a:t>
            </a:r>
            <a:endParaRPr sz="3600" b="0" i="0" u="none" strike="noStrike" cap="none">
              <a:solidFill>
                <a:schemeClr val="dk1"/>
              </a:solidFill>
              <a:latin typeface="Calibri"/>
              <a:ea typeface="Calibri"/>
              <a:cs typeface="Calibri"/>
              <a:sym typeface="Calibri"/>
            </a:endParaRPr>
          </a:p>
        </p:txBody>
      </p:sp>
      <p:cxnSp>
        <p:nvCxnSpPr>
          <p:cNvPr id="409" name="Google Shape;409;p25"/>
          <p:cNvCxnSpPr/>
          <p:nvPr/>
        </p:nvCxnSpPr>
        <p:spPr>
          <a:xfrm>
            <a:off x="812800" y="2043435"/>
            <a:ext cx="6350000" cy="0"/>
          </a:xfrm>
          <a:prstGeom prst="straightConnector1">
            <a:avLst/>
          </a:prstGeom>
          <a:noFill/>
          <a:ln w="12700" cap="flat" cmpd="sng">
            <a:solidFill>
              <a:srgbClr val="D9CDB6"/>
            </a:solidFill>
            <a:prstDash val="solid"/>
            <a:round/>
            <a:headEnd type="none" w="sm" len="sm"/>
            <a:tailEnd type="none" w="sm" len="sm"/>
          </a:ln>
        </p:spPr>
      </p:cxnSp>
      <p:sp>
        <p:nvSpPr>
          <p:cNvPr id="410" name="Google Shape;410;p25"/>
          <p:cNvSpPr/>
          <p:nvPr/>
        </p:nvSpPr>
        <p:spPr>
          <a:xfrm>
            <a:off x="812800" y="21513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PRODUCT</a:t>
            </a:r>
            <a:endParaRPr sz="1200" b="0" i="0" u="none" strike="noStrike" cap="none">
              <a:solidFill>
                <a:schemeClr val="dk1"/>
              </a:solidFill>
              <a:latin typeface="Calibri"/>
              <a:ea typeface="Calibri"/>
              <a:cs typeface="Calibri"/>
              <a:sym typeface="Calibri"/>
            </a:endParaRPr>
          </a:p>
        </p:txBody>
      </p:sp>
      <p:sp>
        <p:nvSpPr>
          <p:cNvPr id="411" name="Google Shape;411;p25"/>
          <p:cNvSpPr/>
          <p:nvPr/>
        </p:nvSpPr>
        <p:spPr>
          <a:xfrm>
            <a:off x="2286000" y="21513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 sturdy everyday tote bag</a:t>
            </a:r>
            <a:endParaRPr sz="1500" b="0" i="0" u="none" strike="noStrike" cap="none">
              <a:solidFill>
                <a:schemeClr val="dk1"/>
              </a:solidFill>
              <a:latin typeface="Calibri"/>
              <a:ea typeface="Calibri"/>
              <a:cs typeface="Calibri"/>
              <a:sym typeface="Calibri"/>
            </a:endParaRPr>
          </a:p>
        </p:txBody>
      </p:sp>
      <p:cxnSp>
        <p:nvCxnSpPr>
          <p:cNvPr id="412" name="Google Shape;412;p25"/>
          <p:cNvCxnSpPr/>
          <p:nvPr/>
        </p:nvCxnSpPr>
        <p:spPr>
          <a:xfrm>
            <a:off x="812800" y="2526035"/>
            <a:ext cx="6350000" cy="0"/>
          </a:xfrm>
          <a:prstGeom prst="straightConnector1">
            <a:avLst/>
          </a:prstGeom>
          <a:noFill/>
          <a:ln w="12700" cap="flat" cmpd="sng">
            <a:solidFill>
              <a:srgbClr val="D9CDB6"/>
            </a:solidFill>
            <a:prstDash val="solid"/>
            <a:round/>
            <a:headEnd type="none" w="sm" len="sm"/>
            <a:tailEnd type="none" w="sm" len="sm"/>
          </a:ln>
        </p:spPr>
      </p:cxnSp>
      <p:sp>
        <p:nvSpPr>
          <p:cNvPr id="413" name="Google Shape;413;p25"/>
          <p:cNvSpPr/>
          <p:nvPr/>
        </p:nvSpPr>
        <p:spPr>
          <a:xfrm>
            <a:off x="812800" y="26339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MADE FROM</a:t>
            </a:r>
            <a:endParaRPr sz="1200" b="0" i="0" u="none" strike="noStrike" cap="none">
              <a:solidFill>
                <a:schemeClr val="dk1"/>
              </a:solidFill>
              <a:latin typeface="Calibri"/>
              <a:ea typeface="Calibri"/>
              <a:cs typeface="Calibri"/>
              <a:sym typeface="Calibri"/>
            </a:endParaRPr>
          </a:p>
        </p:txBody>
      </p:sp>
      <p:sp>
        <p:nvSpPr>
          <p:cNvPr id="414" name="Google Shape;414;p25"/>
          <p:cNvSpPr/>
          <p:nvPr/>
        </p:nvSpPr>
        <p:spPr>
          <a:xfrm>
            <a:off x="2286000" y="26339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14 plastic bottles per tote</a:t>
            </a:r>
            <a:endParaRPr sz="1500" b="0" i="0" u="none" strike="noStrike" cap="none">
              <a:solidFill>
                <a:schemeClr val="dk1"/>
              </a:solidFill>
              <a:latin typeface="Calibri"/>
              <a:ea typeface="Calibri"/>
              <a:cs typeface="Calibri"/>
              <a:sym typeface="Calibri"/>
            </a:endParaRPr>
          </a:p>
        </p:txBody>
      </p:sp>
      <p:cxnSp>
        <p:nvCxnSpPr>
          <p:cNvPr id="415" name="Google Shape;415;p25"/>
          <p:cNvCxnSpPr/>
          <p:nvPr/>
        </p:nvCxnSpPr>
        <p:spPr>
          <a:xfrm>
            <a:off x="812800" y="3008635"/>
            <a:ext cx="6350000" cy="0"/>
          </a:xfrm>
          <a:prstGeom prst="straightConnector1">
            <a:avLst/>
          </a:prstGeom>
          <a:noFill/>
          <a:ln w="12700" cap="flat" cmpd="sng">
            <a:solidFill>
              <a:srgbClr val="D9CDB6"/>
            </a:solidFill>
            <a:prstDash val="solid"/>
            <a:round/>
            <a:headEnd type="none" w="sm" len="sm"/>
            <a:tailEnd type="none" w="sm" len="sm"/>
          </a:ln>
        </p:spPr>
      </p:cxnSp>
      <p:sp>
        <p:nvSpPr>
          <p:cNvPr id="416" name="Google Shape;416;p25"/>
          <p:cNvSpPr/>
          <p:nvPr/>
        </p:nvSpPr>
        <p:spPr>
          <a:xfrm>
            <a:off x="812800" y="31165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SOURCED</a:t>
            </a:r>
            <a:endParaRPr sz="1200" b="0" i="0" u="none" strike="noStrike" cap="none">
              <a:solidFill>
                <a:schemeClr val="dk1"/>
              </a:solidFill>
              <a:latin typeface="Calibri"/>
              <a:ea typeface="Calibri"/>
              <a:cs typeface="Calibri"/>
              <a:sym typeface="Calibri"/>
            </a:endParaRPr>
          </a:p>
        </p:txBody>
      </p:sp>
      <p:sp>
        <p:nvSpPr>
          <p:cNvPr id="417" name="Google Shape;417;p25"/>
          <p:cNvSpPr/>
          <p:nvPr/>
        </p:nvSpPr>
        <p:spPr>
          <a:xfrm>
            <a:off x="2286000" y="31165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Collected by registered pickers across West Java</a:t>
            </a:r>
            <a:endParaRPr sz="1500" b="0" i="0" u="none" strike="noStrike" cap="none">
              <a:solidFill>
                <a:schemeClr val="dk1"/>
              </a:solidFill>
              <a:latin typeface="Calibri"/>
              <a:ea typeface="Calibri"/>
              <a:cs typeface="Calibri"/>
              <a:sym typeface="Calibri"/>
            </a:endParaRPr>
          </a:p>
        </p:txBody>
      </p:sp>
      <p:cxnSp>
        <p:nvCxnSpPr>
          <p:cNvPr id="418" name="Google Shape;418;p25"/>
          <p:cNvCxnSpPr/>
          <p:nvPr/>
        </p:nvCxnSpPr>
        <p:spPr>
          <a:xfrm>
            <a:off x="812800" y="3491235"/>
            <a:ext cx="6350000" cy="0"/>
          </a:xfrm>
          <a:prstGeom prst="straightConnector1">
            <a:avLst/>
          </a:prstGeom>
          <a:noFill/>
          <a:ln w="12700" cap="flat" cmpd="sng">
            <a:solidFill>
              <a:srgbClr val="D9CDB6"/>
            </a:solidFill>
            <a:prstDash val="solid"/>
            <a:round/>
            <a:headEnd type="none" w="sm" len="sm"/>
            <a:tailEnd type="none" w="sm" len="sm"/>
          </a:ln>
        </p:spPr>
      </p:cxnSp>
      <p:sp>
        <p:nvSpPr>
          <p:cNvPr id="419" name="Google Shape;419;p25"/>
          <p:cNvSpPr/>
          <p:nvPr/>
        </p:nvSpPr>
        <p:spPr>
          <a:xfrm>
            <a:off x="812800" y="35991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MADE</a:t>
            </a:r>
            <a:endParaRPr sz="1200" b="0" i="0" u="none" strike="noStrike" cap="none">
              <a:solidFill>
                <a:schemeClr val="dk1"/>
              </a:solidFill>
              <a:latin typeface="Calibri"/>
              <a:ea typeface="Calibri"/>
              <a:cs typeface="Calibri"/>
              <a:sym typeface="Calibri"/>
            </a:endParaRPr>
          </a:p>
        </p:txBody>
      </p:sp>
      <p:sp>
        <p:nvSpPr>
          <p:cNvPr id="420" name="Google Shape;420;p25"/>
          <p:cNvSpPr/>
          <p:nvPr/>
        </p:nvSpPr>
        <p:spPr>
          <a:xfrm>
            <a:off x="2286000" y="35991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Washed at our Bandung plant, then woven</a:t>
            </a:r>
            <a:endParaRPr sz="1500" b="0" i="0" u="none" strike="noStrike" cap="none">
              <a:solidFill>
                <a:schemeClr val="dk1"/>
              </a:solidFill>
              <a:latin typeface="Calibri"/>
              <a:ea typeface="Calibri"/>
              <a:cs typeface="Calibri"/>
              <a:sym typeface="Calibri"/>
            </a:endParaRPr>
          </a:p>
        </p:txBody>
      </p:sp>
      <p:cxnSp>
        <p:nvCxnSpPr>
          <p:cNvPr id="421" name="Google Shape;421;p25"/>
          <p:cNvCxnSpPr/>
          <p:nvPr/>
        </p:nvCxnSpPr>
        <p:spPr>
          <a:xfrm>
            <a:off x="812800" y="3973835"/>
            <a:ext cx="6350000" cy="0"/>
          </a:xfrm>
          <a:prstGeom prst="straightConnector1">
            <a:avLst/>
          </a:prstGeom>
          <a:noFill/>
          <a:ln w="12700" cap="flat" cmpd="sng">
            <a:solidFill>
              <a:srgbClr val="D9CDB6"/>
            </a:solidFill>
            <a:prstDash val="solid"/>
            <a:round/>
            <a:headEnd type="none" w="sm" len="sm"/>
            <a:tailEnd type="none" w="sm" len="sm"/>
          </a:ln>
        </p:spPr>
      </p:cxnSp>
      <p:sp>
        <p:nvSpPr>
          <p:cNvPr id="422" name="Google Shape;422;p25"/>
          <p:cNvSpPr/>
          <p:nvPr/>
        </p:nvSpPr>
        <p:spPr>
          <a:xfrm>
            <a:off x="812800" y="40817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COLOURS</a:t>
            </a:r>
            <a:endParaRPr sz="1200" b="0" i="0" u="none" strike="noStrike" cap="none">
              <a:solidFill>
                <a:schemeClr val="dk1"/>
              </a:solidFill>
              <a:latin typeface="Calibri"/>
              <a:ea typeface="Calibri"/>
              <a:cs typeface="Calibri"/>
              <a:sym typeface="Calibri"/>
            </a:endParaRPr>
          </a:p>
        </p:txBody>
      </p:sp>
      <p:sp>
        <p:nvSpPr>
          <p:cNvPr id="423" name="Google Shape;423;p25"/>
          <p:cNvSpPr/>
          <p:nvPr/>
        </p:nvSpPr>
        <p:spPr>
          <a:xfrm>
            <a:off x="2286000" y="40817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Sea-green, indigo, sand</a:t>
            </a:r>
            <a:endParaRPr sz="1500" b="0" i="0" u="none" strike="noStrike" cap="none">
              <a:solidFill>
                <a:schemeClr val="dk1"/>
              </a:solidFill>
              <a:latin typeface="Calibri"/>
              <a:ea typeface="Calibri"/>
              <a:cs typeface="Calibri"/>
              <a:sym typeface="Calibri"/>
            </a:endParaRPr>
          </a:p>
        </p:txBody>
      </p:sp>
      <p:cxnSp>
        <p:nvCxnSpPr>
          <p:cNvPr id="424" name="Google Shape;424;p25"/>
          <p:cNvCxnSpPr/>
          <p:nvPr/>
        </p:nvCxnSpPr>
        <p:spPr>
          <a:xfrm>
            <a:off x="812800" y="4456435"/>
            <a:ext cx="6350000" cy="0"/>
          </a:xfrm>
          <a:prstGeom prst="straightConnector1">
            <a:avLst/>
          </a:prstGeom>
          <a:noFill/>
          <a:ln w="12700" cap="flat" cmpd="sng">
            <a:solidFill>
              <a:srgbClr val="D9CDB6"/>
            </a:solidFill>
            <a:prstDash val="solid"/>
            <a:round/>
            <a:headEnd type="none" w="sm" len="sm"/>
            <a:tailEnd type="none" w="sm" len="sm"/>
          </a:ln>
        </p:spPr>
      </p:cxnSp>
      <p:sp>
        <p:nvSpPr>
          <p:cNvPr id="425" name="Google Shape;425;p25"/>
          <p:cNvSpPr/>
          <p:nvPr/>
        </p:nvSpPr>
        <p:spPr>
          <a:xfrm>
            <a:off x="812800" y="45643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IMPACT</a:t>
            </a:r>
            <a:endParaRPr sz="1200" b="0" i="0" u="none" strike="noStrike" cap="none">
              <a:solidFill>
                <a:schemeClr val="dk1"/>
              </a:solidFill>
              <a:latin typeface="Calibri"/>
              <a:ea typeface="Calibri"/>
              <a:cs typeface="Calibri"/>
              <a:sym typeface="Calibri"/>
            </a:endParaRPr>
          </a:p>
        </p:txBody>
      </p:sp>
      <p:sp>
        <p:nvSpPr>
          <p:cNvPr id="426" name="Google Shape;426;p25"/>
          <p:cNvSpPr/>
          <p:nvPr/>
        </p:nvSpPr>
        <p:spPr>
          <a:xfrm>
            <a:off x="2286000" y="45643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Every purchase pays pickers fair-trade rates</a:t>
            </a:r>
            <a:endParaRPr sz="1500" b="0" i="0" u="none" strike="noStrike" cap="none">
              <a:solidFill>
                <a:schemeClr val="dk1"/>
              </a:solidFill>
              <a:latin typeface="Calibri"/>
              <a:ea typeface="Calibri"/>
              <a:cs typeface="Calibri"/>
              <a:sym typeface="Calibri"/>
            </a:endParaRPr>
          </a:p>
        </p:txBody>
      </p:sp>
      <p:cxnSp>
        <p:nvCxnSpPr>
          <p:cNvPr id="427" name="Google Shape;427;p25"/>
          <p:cNvCxnSpPr/>
          <p:nvPr/>
        </p:nvCxnSpPr>
        <p:spPr>
          <a:xfrm>
            <a:off x="812800" y="4939035"/>
            <a:ext cx="6350000" cy="0"/>
          </a:xfrm>
          <a:prstGeom prst="straightConnector1">
            <a:avLst/>
          </a:prstGeom>
          <a:noFill/>
          <a:ln w="12700" cap="flat" cmpd="sng">
            <a:solidFill>
              <a:srgbClr val="D9CDB6"/>
            </a:solidFill>
            <a:prstDash val="solid"/>
            <a:round/>
            <a:headEnd type="none" w="sm" len="sm"/>
            <a:tailEnd type="none" w="sm" len="sm"/>
          </a:ln>
        </p:spPr>
      </p:cxnSp>
      <p:cxnSp>
        <p:nvCxnSpPr>
          <p:cNvPr id="428" name="Google Shape;428;p25"/>
          <p:cNvCxnSpPr/>
          <p:nvPr/>
        </p:nvCxnSpPr>
        <p:spPr>
          <a:xfrm>
            <a:off x="812800" y="5421635"/>
            <a:ext cx="6350000" cy="0"/>
          </a:xfrm>
          <a:prstGeom prst="straightConnector1">
            <a:avLst/>
          </a:prstGeom>
          <a:noFill/>
          <a:ln w="12700" cap="flat" cmpd="sng">
            <a:solidFill>
              <a:srgbClr val="D9CDB6"/>
            </a:solidFill>
            <a:prstDash val="solid"/>
            <a:round/>
            <a:headEnd type="none" w="sm" len="sm"/>
            <a:tailEnd type="none" w="sm" len="sm"/>
          </a:ln>
        </p:spPr>
      </p:cxnSp>
      <p:sp>
        <p:nvSpPr>
          <p:cNvPr id="429" name="Google Shape;429;p25"/>
          <p:cNvSpPr/>
          <p:nvPr/>
        </p:nvSpPr>
        <p:spPr>
          <a:xfrm>
            <a:off x="812800" y="50469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LAUNCH</a:t>
            </a:r>
            <a:endParaRPr sz="1200" b="0" i="0" u="none" strike="noStrike" cap="none">
              <a:solidFill>
                <a:schemeClr val="dk1"/>
              </a:solidFill>
              <a:latin typeface="Calibri"/>
              <a:ea typeface="Calibri"/>
              <a:cs typeface="Calibri"/>
              <a:sym typeface="Calibri"/>
            </a:endParaRPr>
          </a:p>
        </p:txBody>
      </p:sp>
      <p:sp>
        <p:nvSpPr>
          <p:cNvPr id="430" name="Google Shape;430;p25"/>
          <p:cNvSpPr/>
          <p:nvPr/>
        </p:nvSpPr>
        <p:spPr>
          <a:xfrm>
            <a:off x="2286000" y="50469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a:solidFill>
                  <a:srgbClr val="1F2A24"/>
                </a:solidFill>
                <a:latin typeface="DM Sans"/>
                <a:ea typeface="DM Sans"/>
                <a:cs typeface="DM Sans"/>
                <a:sym typeface="DM Sans"/>
              </a:rPr>
              <a:t>https://looptote.netlify.app/</a:t>
            </a:r>
            <a:endParaRPr sz="1500" b="0" i="0" u="none" strike="noStrike" cap="none">
              <a:solidFill>
                <a:schemeClr val="dk1"/>
              </a:solidFill>
              <a:latin typeface="Calibri"/>
              <a:ea typeface="Calibri"/>
              <a:cs typeface="Calibri"/>
              <a:sym typeface="Calibri"/>
            </a:endParaRPr>
          </a:p>
        </p:txBody>
      </p:sp>
      <p:sp>
        <p:nvSpPr>
          <p:cNvPr id="431" name="Google Shape;431;p25"/>
          <p:cNvSpPr/>
          <p:nvPr/>
        </p:nvSpPr>
        <p:spPr>
          <a:xfrm>
            <a:off x="7467600" y="2037085"/>
            <a:ext cx="3911600" cy="3390900"/>
          </a:xfrm>
          <a:prstGeom prst="roundRect">
            <a:avLst>
              <a:gd name="adj" fmla="val 449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5"/>
          <p:cNvSpPr/>
          <p:nvPr/>
        </p:nvSpPr>
        <p:spPr>
          <a:xfrm>
            <a:off x="7721600" y="2291085"/>
            <a:ext cx="350570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REEL IDEA</a:t>
            </a:r>
            <a:endParaRPr sz="1200" b="0" i="0" u="none" strike="noStrike" cap="none">
              <a:solidFill>
                <a:schemeClr val="dk1"/>
              </a:solidFill>
              <a:latin typeface="Calibri"/>
              <a:ea typeface="Calibri"/>
              <a:cs typeface="Calibri"/>
              <a:sym typeface="Calibri"/>
            </a:endParaRPr>
          </a:p>
        </p:txBody>
      </p:sp>
      <p:sp>
        <p:nvSpPr>
          <p:cNvPr id="433" name="Google Shape;433;p25"/>
          <p:cNvSpPr/>
          <p:nvPr/>
        </p:nvSpPr>
        <p:spPr>
          <a:xfrm>
            <a:off x="7721600" y="2631442"/>
            <a:ext cx="35057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Fast, tactile product reveal.</a:t>
            </a:r>
            <a:endParaRPr sz="2200" b="0" i="0" u="none" strike="noStrike" cap="none">
              <a:solidFill>
                <a:schemeClr val="dk1"/>
              </a:solidFill>
              <a:latin typeface="Calibri"/>
              <a:ea typeface="Calibri"/>
              <a:cs typeface="Calibri"/>
              <a:sym typeface="Calibri"/>
            </a:endParaRPr>
          </a:p>
        </p:txBody>
      </p:sp>
      <p:sp>
        <p:nvSpPr>
          <p:cNvPr id="434" name="Google Shape;434;p25"/>
          <p:cNvSpPr/>
          <p:nvPr/>
        </p:nvSpPr>
        <p:spPr>
          <a:xfrm>
            <a:off x="7721600" y="3568915"/>
            <a:ext cx="35058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FD8CF"/>
              </a:buClr>
              <a:buSzPts val="1500"/>
              <a:buFont typeface="DM Sans"/>
              <a:buNone/>
            </a:pPr>
            <a:r>
              <a:rPr lang="en-US" sz="1500" b="0" i="0" u="none" strike="noStrike" cap="none">
                <a:solidFill>
                  <a:srgbClr val="CFD8CF"/>
                </a:solidFill>
                <a:latin typeface="DM Sans"/>
                <a:ea typeface="DM Sans"/>
                <a:cs typeface="DM Sans"/>
                <a:sym typeface="DM Sans"/>
              </a:rPr>
              <a:t>A pile of 14 clean bottles on a table, then cut to the finished tote in three colours against a Bandung street.</a:t>
            </a:r>
            <a:endParaRPr sz="1500" b="0" i="0" u="none" strike="noStrike" cap="none">
              <a:solidFill>
                <a:schemeClr val="dk1"/>
              </a:solidFill>
              <a:latin typeface="Calibri"/>
              <a:ea typeface="Calibri"/>
              <a:cs typeface="Calibri"/>
              <a:sym typeface="Calibri"/>
            </a:endParaRPr>
          </a:p>
        </p:txBody>
      </p:sp>
      <p:sp>
        <p:nvSpPr>
          <p:cNvPr id="435" name="Google Shape;435;p25"/>
          <p:cNvSpPr/>
          <p:nvPr/>
        </p:nvSpPr>
        <p:spPr>
          <a:xfrm>
            <a:off x="7721600" y="4716785"/>
            <a:ext cx="350570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Instagram Reel · about </a:t>
            </a:r>
            <a:r>
              <a:rPr lang="en-US" sz="1200">
                <a:solidFill>
                  <a:srgbClr val="E3A83E"/>
                </a:solidFill>
                <a:latin typeface="DM Sans"/>
                <a:ea typeface="DM Sans"/>
                <a:cs typeface="DM Sans"/>
                <a:sym typeface="DM Sans"/>
              </a:rPr>
              <a:t>1</a:t>
            </a:r>
            <a:r>
              <a:rPr lang="en-US" sz="1200" b="0" i="0" u="none" strike="noStrike" cap="none">
                <a:solidFill>
                  <a:srgbClr val="E3A83E"/>
                </a:solidFill>
                <a:latin typeface="DM Sans"/>
                <a:ea typeface="DM Sans"/>
                <a:cs typeface="DM Sans"/>
                <a:sym typeface="DM Sans"/>
              </a:rPr>
              <a:t>0 seconds</a:t>
            </a:r>
            <a:endParaRPr sz="12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Launch: Sat 10 </a:t>
            </a:r>
            <a:r>
              <a:rPr lang="en-US" sz="1200">
                <a:solidFill>
                  <a:srgbClr val="E3A83E"/>
                </a:solidFill>
                <a:latin typeface="DM Sans"/>
                <a:ea typeface="DM Sans"/>
                <a:cs typeface="DM Sans"/>
                <a:sym typeface="DM Sans"/>
              </a:rPr>
              <a:t>Oct</a:t>
            </a:r>
            <a:r>
              <a:rPr lang="en-US" sz="1200" b="0" i="0" u="none" strike="noStrike" cap="none">
                <a:solidFill>
                  <a:srgbClr val="E3A83E"/>
                </a:solidFill>
                <a:latin typeface="DM Sans"/>
                <a:ea typeface="DM Sans"/>
                <a:cs typeface="DM Sans"/>
                <a:sym typeface="DM Sans"/>
              </a:rPr>
              <a:t>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440"/>
        <p:cNvGrpSpPr/>
        <p:nvPr/>
      </p:nvGrpSpPr>
      <p:grpSpPr>
        <a:xfrm>
          <a:off x="0" y="0"/>
          <a:ext cx="0" cy="0"/>
          <a:chOff x="0" y="0"/>
          <a:chExt cx="0" cy="0"/>
        </a:xfrm>
      </p:grpSpPr>
      <p:sp>
        <p:nvSpPr>
          <p:cNvPr id="441" name="Google Shape;441;p26"/>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1 OF 4</a:t>
            </a:r>
            <a:endParaRPr sz="1200" b="0" i="0" u="none" strike="noStrike" cap="none">
              <a:solidFill>
                <a:schemeClr val="dk1"/>
              </a:solidFill>
              <a:latin typeface="Calibri"/>
              <a:ea typeface="Calibri"/>
              <a:cs typeface="Calibri"/>
              <a:sym typeface="Calibri"/>
            </a:endParaRPr>
          </a:p>
        </p:txBody>
      </p:sp>
      <p:sp>
        <p:nvSpPr>
          <p:cNvPr id="442" name="Google Shape;442;p26"/>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Write the caption and on-screen text</a:t>
            </a:r>
            <a:endParaRPr sz="3600" b="0" i="0" u="none" strike="noStrike" cap="none">
              <a:solidFill>
                <a:schemeClr val="dk1"/>
              </a:solidFill>
              <a:latin typeface="Calibri"/>
              <a:ea typeface="Calibri"/>
              <a:cs typeface="Calibri"/>
              <a:sym typeface="Calibri"/>
            </a:endParaRPr>
          </a:p>
        </p:txBody>
      </p:sp>
      <p:sp>
        <p:nvSpPr>
          <p:cNvPr id="443" name="Google Shape;443;p26"/>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44" name="Google Shape;444;p26"/>
          <p:cNvSpPr/>
          <p:nvPr/>
        </p:nvSpPr>
        <p:spPr>
          <a:xfrm>
            <a:off x="1244600" y="20370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Open a new chat in ChatGPT, Claude or Gemini.</a:t>
            </a:r>
            <a:endParaRPr sz="1500" b="0" i="0" u="none" strike="noStrike" cap="none">
              <a:solidFill>
                <a:schemeClr val="dk1"/>
              </a:solidFill>
              <a:latin typeface="Calibri"/>
              <a:ea typeface="Calibri"/>
              <a:cs typeface="Calibri"/>
              <a:sym typeface="Calibri"/>
            </a:endParaRPr>
          </a:p>
        </p:txBody>
      </p:sp>
      <p:sp>
        <p:nvSpPr>
          <p:cNvPr id="445" name="Google Shape;445;p26"/>
          <p:cNvSpPr/>
          <p:nvPr/>
        </p:nvSpPr>
        <p:spPr>
          <a:xfrm>
            <a:off x="812800" y="2748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446" name="Google Shape;446;p26"/>
          <p:cNvSpPr/>
          <p:nvPr/>
        </p:nvSpPr>
        <p:spPr>
          <a:xfrm>
            <a:off x="1244600" y="2748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Copy the prompt, fill in the [brackets] and paste the Loop Tote brief at the end.</a:t>
            </a:r>
            <a:endParaRPr sz="1500" b="0" i="0" u="none" strike="noStrike" cap="none">
              <a:solidFill>
                <a:schemeClr val="dk1"/>
              </a:solidFill>
              <a:latin typeface="Calibri"/>
              <a:ea typeface="Calibri"/>
              <a:cs typeface="Calibri"/>
              <a:sym typeface="Calibri"/>
            </a:endParaRPr>
          </a:p>
        </p:txBody>
      </p:sp>
      <p:sp>
        <p:nvSpPr>
          <p:cNvPr id="447" name="Google Shape;447;p26"/>
          <p:cNvSpPr/>
          <p:nvPr/>
        </p:nvSpPr>
        <p:spPr>
          <a:xfrm>
            <a:off x="812800" y="3459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448" name="Google Shape;448;p26"/>
          <p:cNvSpPr/>
          <p:nvPr/>
        </p:nvSpPr>
        <p:spPr>
          <a:xfrm>
            <a:off x="1244600" y="3459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once: “Make the hook more surprising” or “Ask me 3 questions first.”</a:t>
            </a:r>
            <a:endParaRPr sz="1500" b="0" i="0" u="none" strike="noStrike" cap="none">
              <a:solidFill>
                <a:schemeClr val="dk1"/>
              </a:solidFill>
              <a:latin typeface="Calibri"/>
              <a:ea typeface="Calibri"/>
              <a:cs typeface="Calibri"/>
              <a:sym typeface="Calibri"/>
            </a:endParaRPr>
          </a:p>
        </p:txBody>
      </p:sp>
      <p:sp>
        <p:nvSpPr>
          <p:cNvPr id="449" name="Google Shape;449;p26"/>
          <p:cNvSpPr/>
          <p:nvPr/>
        </p:nvSpPr>
        <p:spPr>
          <a:xfrm>
            <a:off x="812800" y="4170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450" name="Google Shape;450;p26"/>
          <p:cNvSpPr/>
          <p:nvPr/>
        </p:nvSpPr>
        <p:spPr>
          <a:xfrm>
            <a:off x="1244600" y="4170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14 bottles, West Java, Bandung, three colours. Nothing invented?</a:t>
            </a:r>
            <a:endParaRPr sz="1500" b="0" i="0" u="none" strike="noStrike" cap="none">
              <a:solidFill>
                <a:schemeClr val="dk1"/>
              </a:solidFill>
              <a:latin typeface="Calibri"/>
              <a:ea typeface="Calibri"/>
              <a:cs typeface="Calibri"/>
              <a:sym typeface="Calibri"/>
            </a:endParaRPr>
          </a:p>
        </p:txBody>
      </p:sp>
      <p:sp>
        <p:nvSpPr>
          <p:cNvPr id="451" name="Google Shape;451;p26"/>
          <p:cNvSpPr/>
          <p:nvPr/>
        </p:nvSpPr>
        <p:spPr>
          <a:xfrm>
            <a:off x="5054600" y="2037085"/>
            <a:ext cx="6324600" cy="3500120"/>
          </a:xfrm>
          <a:prstGeom prst="roundRect">
            <a:avLst>
              <a:gd name="adj" fmla="val 435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453" name="Google Shape;453;p26"/>
          <p:cNvSpPr/>
          <p:nvPr/>
        </p:nvSpPr>
        <p:spPr>
          <a:xfrm>
            <a:off x="5308600" y="2631442"/>
            <a:ext cx="5991098" cy="26771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You are the social media writer for Loop Tote, an Indonesian impact brand that makes bags from recycled plastic bottles.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the text for our Instagram launch reel:</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1. A caption: a hook under 8 words, two short paragraphs, then a call to action. Under 90 words.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2. Three lines of on-screen text: a hook, a middle line and a closing line.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Audience: [who you want to reach]. Tone: warm and proud, not preachy. Use only the facts below and add no new numbers.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[Paste the Loop Tote brief]</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458"/>
        <p:cNvGrpSpPr/>
        <p:nvPr/>
      </p:nvGrpSpPr>
      <p:grpSpPr>
        <a:xfrm>
          <a:off x="0" y="0"/>
          <a:ext cx="0" cy="0"/>
          <a:chOff x="0" y="0"/>
          <a:chExt cx="0" cy="0"/>
        </a:xfrm>
      </p:grpSpPr>
      <p:sp>
        <p:nvSpPr>
          <p:cNvPr id="459" name="Google Shape;459;p27"/>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2 OF 4</a:t>
            </a:r>
            <a:endParaRPr sz="1200" b="0" i="0" u="none" strike="noStrike" cap="none">
              <a:solidFill>
                <a:schemeClr val="dk1"/>
              </a:solidFill>
              <a:latin typeface="Calibri"/>
              <a:ea typeface="Calibri"/>
              <a:cs typeface="Calibri"/>
              <a:sym typeface="Calibri"/>
            </a:endParaRPr>
          </a:p>
        </p:txBody>
      </p:sp>
      <p:sp>
        <p:nvSpPr>
          <p:cNvPr id="460" name="Google Shape;460;p27"/>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Turn it into a video prompt</a:t>
            </a:r>
            <a:endParaRPr sz="3600" b="0" i="0" u="none" strike="noStrike" cap="none">
              <a:solidFill>
                <a:schemeClr val="dk1"/>
              </a:solidFill>
              <a:latin typeface="Calibri"/>
              <a:ea typeface="Calibri"/>
              <a:cs typeface="Calibri"/>
              <a:sym typeface="Calibri"/>
            </a:endParaRPr>
          </a:p>
        </p:txBody>
      </p:sp>
      <p:sp>
        <p:nvSpPr>
          <p:cNvPr id="461" name="Google Shape;461;p27"/>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62" name="Google Shape;462;p27"/>
          <p:cNvSpPr/>
          <p:nvPr/>
        </p:nvSpPr>
        <p:spPr>
          <a:xfrm>
            <a:off x="1244600" y="20370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 so it remembers your caption.</a:t>
            </a:r>
            <a:endParaRPr sz="1500" b="0" i="0" u="none" strike="noStrike" cap="none">
              <a:solidFill>
                <a:schemeClr val="dk1"/>
              </a:solidFill>
              <a:latin typeface="Calibri"/>
              <a:ea typeface="Calibri"/>
              <a:cs typeface="Calibri"/>
              <a:sym typeface="Calibri"/>
            </a:endParaRPr>
          </a:p>
        </p:txBody>
      </p:sp>
      <p:sp>
        <p:nvSpPr>
          <p:cNvPr id="463" name="Google Shape;463;p27"/>
          <p:cNvSpPr/>
          <p:nvPr/>
        </p:nvSpPr>
        <p:spPr>
          <a:xfrm>
            <a:off x="812800" y="2748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464" name="Google Shape;464;p27"/>
          <p:cNvSpPr/>
          <p:nvPr/>
        </p:nvSpPr>
        <p:spPr>
          <a:xfrm>
            <a:off x="1244600" y="2748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 Adjust the scenes if you have a better idea.</a:t>
            </a:r>
            <a:endParaRPr sz="1500" b="0" i="0" u="none" strike="noStrike" cap="none">
              <a:solidFill>
                <a:schemeClr val="dk1"/>
              </a:solidFill>
              <a:latin typeface="Calibri"/>
              <a:ea typeface="Calibri"/>
              <a:cs typeface="Calibri"/>
              <a:sym typeface="Calibri"/>
            </a:endParaRPr>
          </a:p>
        </p:txBody>
      </p:sp>
      <p:sp>
        <p:nvSpPr>
          <p:cNvPr id="465" name="Google Shape;465;p27"/>
          <p:cNvSpPr/>
          <p:nvPr/>
        </p:nvSpPr>
        <p:spPr>
          <a:xfrm>
            <a:off x="812800" y="3459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466" name="Google Shape;466;p27"/>
          <p:cNvSpPr/>
          <p:nvPr/>
        </p:nvSpPr>
        <p:spPr>
          <a:xfrm>
            <a:off x="1244600" y="3459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Copy the result into your team's AI video tool and generate.</a:t>
            </a:r>
            <a:endParaRPr sz="1500" b="0" i="0" u="none" strike="noStrike" cap="none">
              <a:solidFill>
                <a:schemeClr val="dk1"/>
              </a:solidFill>
              <a:latin typeface="Calibri"/>
              <a:ea typeface="Calibri"/>
              <a:cs typeface="Calibri"/>
              <a:sym typeface="Calibri"/>
            </a:endParaRPr>
          </a:p>
        </p:txBody>
      </p:sp>
      <p:sp>
        <p:nvSpPr>
          <p:cNvPr id="467" name="Google Shape;467;p27"/>
          <p:cNvSpPr/>
          <p:nvPr/>
        </p:nvSpPr>
        <p:spPr>
          <a:xfrm>
            <a:off x="812800" y="4170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468" name="Google Shape;468;p27"/>
          <p:cNvSpPr/>
          <p:nvPr/>
        </p:nvSpPr>
        <p:spPr>
          <a:xfrm>
            <a:off x="1244600" y="4170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never show AI-made “pickers” as real people. Real faces need real footage.</a:t>
            </a:r>
            <a:endParaRPr sz="1500" b="0" i="0" u="none" strike="noStrike" cap="none">
              <a:solidFill>
                <a:schemeClr val="dk1"/>
              </a:solidFill>
              <a:latin typeface="Calibri"/>
              <a:ea typeface="Calibri"/>
              <a:cs typeface="Calibri"/>
              <a:sym typeface="Calibri"/>
            </a:endParaRPr>
          </a:p>
        </p:txBody>
      </p:sp>
      <p:sp>
        <p:nvSpPr>
          <p:cNvPr id="469" name="Google Shape;469;p27"/>
          <p:cNvSpPr/>
          <p:nvPr/>
        </p:nvSpPr>
        <p:spPr>
          <a:xfrm>
            <a:off x="5054600" y="2037074"/>
            <a:ext cx="6339300" cy="3859800"/>
          </a:xfrm>
          <a:prstGeom prst="roundRect">
            <a:avLst>
              <a:gd name="adj" fmla="val 435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7"/>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471" name="Google Shape;471;p27"/>
          <p:cNvSpPr/>
          <p:nvPr/>
        </p:nvSpPr>
        <p:spPr>
          <a:xfrm>
            <a:off x="5308600" y="2631442"/>
            <a:ext cx="5991098" cy="26771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Now act as a video director. Write a prompt for an AI video tool to create a </a:t>
            </a:r>
            <a:r>
              <a:rPr lang="en-US" sz="1200">
                <a:solidFill>
                  <a:srgbClr val="F5F0E6"/>
                </a:solidFill>
                <a:latin typeface="DM Sans"/>
                <a:ea typeface="DM Sans"/>
                <a:cs typeface="DM Sans"/>
                <a:sym typeface="DM Sans"/>
              </a:rPr>
              <a:t>1</a:t>
            </a:r>
            <a:r>
              <a:rPr lang="en-US" sz="1200" b="0" i="0" u="none" strike="noStrike" cap="none">
                <a:solidFill>
                  <a:srgbClr val="F5F0E6"/>
                </a:solidFill>
                <a:latin typeface="DM Sans"/>
                <a:ea typeface="DM Sans"/>
                <a:cs typeface="DM Sans"/>
                <a:sym typeface="DM Sans"/>
              </a:rPr>
              <a:t>0-second vertical (9:16) Instagram reel for this launch.</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Describe it shot by shot with timings: what we see, camera movement, lighting, on-screen text and mood.</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Story: a pile of 14 clean plastic bottles on a table → washing, shredding, yarn, weaving → the finished tote in sea-green, indigo and sand, carried on a Bandung street.</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Fast, tactile, bright daylight. Use the on-screen text you wrote. Under 150 words, plain language, no other brands or logos.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476"/>
        <p:cNvGrpSpPr/>
        <p:nvPr/>
      </p:nvGrpSpPr>
      <p:grpSpPr>
        <a:xfrm>
          <a:off x="0" y="0"/>
          <a:ext cx="0" cy="0"/>
          <a:chOff x="0" y="0"/>
          <a:chExt cx="0" cy="0"/>
        </a:xfrm>
      </p:grpSpPr>
      <p:sp>
        <p:nvSpPr>
          <p:cNvPr id="477" name="Google Shape;477;p28"/>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3 OF 4</a:t>
            </a:r>
            <a:endParaRPr sz="1200" b="0" i="0" u="none" strike="noStrike" cap="none">
              <a:solidFill>
                <a:schemeClr val="dk1"/>
              </a:solidFill>
              <a:latin typeface="Calibri"/>
              <a:ea typeface="Calibri"/>
              <a:cs typeface="Calibri"/>
              <a:sym typeface="Calibri"/>
            </a:endParaRPr>
          </a:p>
        </p:txBody>
      </p:sp>
      <p:sp>
        <p:nvSpPr>
          <p:cNvPr id="478" name="Google Shape;478;p28"/>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Find the right hashtags</a:t>
            </a:r>
            <a:endParaRPr sz="3600" b="0" i="0" u="none" strike="noStrike" cap="none">
              <a:solidFill>
                <a:schemeClr val="dk1"/>
              </a:solidFill>
              <a:latin typeface="Calibri"/>
              <a:ea typeface="Calibri"/>
              <a:cs typeface="Calibri"/>
              <a:sym typeface="Calibri"/>
            </a:endParaRPr>
          </a:p>
        </p:txBody>
      </p:sp>
      <p:sp>
        <p:nvSpPr>
          <p:cNvPr id="479" name="Google Shape;479;p28"/>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80" name="Google Shape;480;p28"/>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481" name="Google Shape;481;p28"/>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482" name="Google Shape;482;p28"/>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483" name="Google Shape;483;p28"/>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484" name="Google Shape;484;p28"/>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“Which of these are overused or too broad?”</a:t>
            </a:r>
            <a:endParaRPr sz="1500" b="0" i="0" u="none" strike="noStrike" cap="none">
              <a:solidFill>
                <a:schemeClr val="dk1"/>
              </a:solidFill>
              <a:latin typeface="Calibri"/>
              <a:ea typeface="Calibri"/>
              <a:cs typeface="Calibri"/>
              <a:sym typeface="Calibri"/>
            </a:endParaRPr>
          </a:p>
        </p:txBody>
      </p:sp>
      <p:sp>
        <p:nvSpPr>
          <p:cNvPr id="485" name="Google Shape;485;p28"/>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486" name="Google Shape;486;p28"/>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search each hashtag on Instagram. Is it active and on-topic?</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5054600" y="2037073"/>
            <a:ext cx="6382500" cy="2769000"/>
          </a:xfrm>
          <a:prstGeom prst="roundRect">
            <a:avLst>
              <a:gd name="adj" fmla="val 6363"/>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8"/>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489" name="Google Shape;489;p28"/>
          <p:cNvSpPr/>
          <p:nvPr/>
        </p:nvSpPr>
        <p:spPr>
          <a:xfrm>
            <a:off x="5308600" y="2631442"/>
            <a:ext cx="5991098" cy="15722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Suggest 12 Instagram hashtags for this post:</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3 for the brand and campaign (always include #LoopTote)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5 on the topic: recycled fashion, plastic, sustainability</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4 local ones for Indonesia and Bandung</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Mix popular and niche tags. Give one line on why each fits, then mark the 5 you would use.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494"/>
        <p:cNvGrpSpPr/>
        <p:nvPr/>
      </p:nvGrpSpPr>
      <p:grpSpPr>
        <a:xfrm>
          <a:off x="0" y="0"/>
          <a:ext cx="0" cy="0"/>
          <a:chOff x="0" y="0"/>
          <a:chExt cx="0" cy="0"/>
        </a:xfrm>
      </p:grpSpPr>
      <p:sp>
        <p:nvSpPr>
          <p:cNvPr id="495" name="Google Shape;495;p29"/>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4 OF 4</a:t>
            </a:r>
            <a:endParaRPr sz="1200" b="0" i="0" u="none" strike="noStrike" cap="none">
              <a:solidFill>
                <a:schemeClr val="dk1"/>
              </a:solidFill>
              <a:latin typeface="Calibri"/>
              <a:ea typeface="Calibri"/>
              <a:cs typeface="Calibri"/>
              <a:sym typeface="Calibri"/>
            </a:endParaRPr>
          </a:p>
        </p:txBody>
      </p:sp>
      <p:sp>
        <p:nvSpPr>
          <p:cNvPr id="496" name="Google Shape;496;p29"/>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Create three variations</a:t>
            </a:r>
            <a:endParaRPr sz="3600" b="0" i="0" u="none" strike="noStrike" cap="none">
              <a:solidFill>
                <a:schemeClr val="dk1"/>
              </a:solidFill>
              <a:latin typeface="Calibri"/>
              <a:ea typeface="Calibri"/>
              <a:cs typeface="Calibri"/>
              <a:sym typeface="Calibri"/>
            </a:endParaRPr>
          </a:p>
        </p:txBody>
      </p:sp>
      <p:sp>
        <p:nvSpPr>
          <p:cNvPr id="497" name="Google Shape;497;p29"/>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98" name="Google Shape;498;p29"/>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499" name="Google Shape;499;p29"/>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500" name="Google Shape;500;p29"/>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501" name="Google Shape;501;p29"/>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502" name="Google Shape;502;p29"/>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Ask: “Which would you post first, and why?”</a:t>
            </a:r>
            <a:endParaRPr sz="1500" b="0" i="0" u="none" strike="noStrike" cap="none">
              <a:solidFill>
                <a:schemeClr val="dk1"/>
              </a:solidFill>
              <a:latin typeface="Calibri"/>
              <a:ea typeface="Calibri"/>
              <a:cs typeface="Calibri"/>
              <a:sym typeface="Calibri"/>
            </a:endParaRPr>
          </a:p>
        </p:txBody>
      </p:sp>
      <p:sp>
        <p:nvSpPr>
          <p:cNvPr id="503" name="Google Shape;503;p29"/>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504" name="Google Shape;504;p29"/>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are the facts identical in all three? Pick the one you would publish.</a:t>
            </a:r>
            <a:endParaRPr sz="1500" b="0" i="0" u="none" strike="noStrike" cap="none">
              <a:solidFill>
                <a:schemeClr val="dk1"/>
              </a:solidFill>
              <a:latin typeface="Calibri"/>
              <a:ea typeface="Calibri"/>
              <a:cs typeface="Calibri"/>
              <a:sym typeface="Calibri"/>
            </a:endParaRPr>
          </a:p>
        </p:txBody>
      </p:sp>
      <p:sp>
        <p:nvSpPr>
          <p:cNvPr id="505" name="Google Shape;505;p29"/>
          <p:cNvSpPr/>
          <p:nvPr/>
        </p:nvSpPr>
        <p:spPr>
          <a:xfrm>
            <a:off x="5054600" y="2037073"/>
            <a:ext cx="6350100" cy="3125400"/>
          </a:xfrm>
          <a:prstGeom prst="roundRect">
            <a:avLst>
              <a:gd name="adj" fmla="val 582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507" name="Google Shape;507;p29"/>
          <p:cNvSpPr/>
          <p:nvPr/>
        </p:nvSpPr>
        <p:spPr>
          <a:xfrm>
            <a:off x="5308600" y="2631442"/>
            <a:ext cx="5991098" cy="179324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3 variations of the caption, each with 5 hashtags, from three angles: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 The people: the pickers of West Java and fair-trade pay</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B. The style: three colours for everyday life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C. The number: 14 bottles, 1 bag</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Keep every fact the same. Under 90 words each. Label them A, B and C.</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Then add a short table comparing the hook, tone and best audience for each.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512"/>
        <p:cNvGrpSpPr/>
        <p:nvPr/>
      </p:nvGrpSpPr>
      <p:grpSpPr>
        <a:xfrm>
          <a:off x="0" y="0"/>
          <a:ext cx="0" cy="0"/>
          <a:chOff x="0" y="0"/>
          <a:chExt cx="0" cy="0"/>
        </a:xfrm>
      </p:grpSpPr>
      <p:sp>
        <p:nvSpPr>
          <p:cNvPr id="513" name="Google Shape;513;p30"/>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COMPARE</a:t>
            </a:r>
            <a:endParaRPr sz="1200" b="0" i="0" u="none" strike="noStrike" cap="none">
              <a:solidFill>
                <a:schemeClr val="dk1"/>
              </a:solidFill>
              <a:latin typeface="Calibri"/>
              <a:ea typeface="Calibri"/>
              <a:cs typeface="Calibri"/>
              <a:sym typeface="Calibri"/>
            </a:endParaRPr>
          </a:p>
        </p:txBody>
      </p:sp>
      <p:sp>
        <p:nvSpPr>
          <p:cNvPr id="514" name="Google Shape;514;p30"/>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How does yours compare?</a:t>
            </a:r>
            <a:endParaRPr sz="3600" b="0" i="0" u="none" strike="noStrike" cap="none">
              <a:solidFill>
                <a:schemeClr val="dk1"/>
              </a:solidFill>
              <a:latin typeface="Calibri"/>
              <a:ea typeface="Calibri"/>
              <a:cs typeface="Calibri"/>
              <a:sym typeface="Calibri"/>
            </a:endParaRPr>
          </a:p>
        </p:txBody>
      </p:sp>
      <p:sp>
        <p:nvSpPr>
          <p:cNvPr id="515" name="Google Shape;515;p30"/>
          <p:cNvSpPr/>
          <p:nvPr/>
        </p:nvSpPr>
        <p:spPr>
          <a:xfrm>
            <a:off x="812800" y="2037085"/>
            <a:ext cx="6350000" cy="2720340"/>
          </a:xfrm>
          <a:prstGeom prst="roundRect">
            <a:avLst>
              <a:gd name="adj" fmla="val 5602"/>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0"/>
          <p:cNvSpPr/>
          <p:nvPr/>
        </p:nvSpPr>
        <p:spPr>
          <a:xfrm>
            <a:off x="1066800" y="2291085"/>
            <a:ext cx="601726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BRAND'S LAUNCH CAPTION</a:t>
            </a:r>
            <a:endParaRPr sz="1200" b="0" i="0" u="none" strike="noStrike" cap="none">
              <a:solidFill>
                <a:schemeClr val="dk1"/>
              </a:solidFill>
              <a:latin typeface="Calibri"/>
              <a:ea typeface="Calibri"/>
              <a:cs typeface="Calibri"/>
              <a:sym typeface="Calibri"/>
            </a:endParaRPr>
          </a:p>
        </p:txBody>
      </p:sp>
      <p:sp>
        <p:nvSpPr>
          <p:cNvPr id="517" name="Google Shape;517;p30"/>
          <p:cNvSpPr/>
          <p:nvPr/>
        </p:nvSpPr>
        <p:spPr>
          <a:xfrm>
            <a:off x="1066800" y="2606042"/>
            <a:ext cx="601726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14 bottles. 1 bag. Meet the Loop Tote ♻️</a:t>
            </a:r>
            <a:endParaRPr sz="1500" b="0" i="0" u="none" strike="noStrike" cap="none">
              <a:solidFill>
                <a:schemeClr val="dk1"/>
              </a:solidFill>
              <a:latin typeface="Calibri"/>
              <a:ea typeface="Calibri"/>
              <a:cs typeface="Calibri"/>
              <a:sym typeface="Calibri"/>
            </a:endParaRPr>
          </a:p>
        </p:txBody>
      </p:sp>
      <p:sp>
        <p:nvSpPr>
          <p:cNvPr id="518" name="Google Shape;518;p30"/>
          <p:cNvSpPr/>
          <p:nvPr/>
        </p:nvSpPr>
        <p:spPr>
          <a:xfrm>
            <a:off x="1066800" y="2974342"/>
            <a:ext cx="6017260" cy="90932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CFD8CF"/>
              </a:buClr>
              <a:buSzPts val="1200"/>
              <a:buFont typeface="DM Sans"/>
              <a:buNone/>
            </a:pPr>
            <a:r>
              <a:rPr lang="en-US" sz="1200" b="0" i="0" u="none" strike="noStrike" cap="none">
                <a:solidFill>
                  <a:srgbClr val="CFD8CF"/>
                </a:solidFill>
                <a:latin typeface="DM Sans"/>
                <a:ea typeface="DM Sans"/>
                <a:cs typeface="DM Sans"/>
                <a:sym typeface="DM Sans"/>
              </a:rPr>
              <a:t>Every tote is made from 14 plastic bottles collected by registered pickers across West Java, washed at our Bandung plant and woven into a sturdy everyday bag. Now available in three colours. Every purchase pays pickers fair-trade rates, for real. Tap the link in bio to get yours.</a:t>
            </a:r>
            <a:endParaRPr sz="1200" b="0" i="0" u="none" strike="noStrike" cap="none">
              <a:solidFill>
                <a:schemeClr val="dk1"/>
              </a:solidFill>
              <a:latin typeface="Calibri"/>
              <a:ea typeface="Calibri"/>
              <a:cs typeface="Calibri"/>
              <a:sym typeface="Calibri"/>
            </a:endParaRPr>
          </a:p>
        </p:txBody>
      </p:sp>
      <p:sp>
        <p:nvSpPr>
          <p:cNvPr id="519" name="Google Shape;519;p30"/>
          <p:cNvSpPr/>
          <p:nvPr/>
        </p:nvSpPr>
        <p:spPr>
          <a:xfrm>
            <a:off x="1066800" y="3959858"/>
            <a:ext cx="6017260"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#LoopTote #recycledfashion #sustainablestyle #plasticfree #madeinindonesia</a:t>
            </a:r>
            <a:endParaRPr sz="1200" b="0" i="0" u="none" strike="noStrike" cap="none">
              <a:solidFill>
                <a:schemeClr val="dk1"/>
              </a:solidFill>
              <a:latin typeface="Calibri"/>
              <a:ea typeface="Calibri"/>
              <a:cs typeface="Calibri"/>
              <a:sym typeface="Calibri"/>
            </a:endParaRPr>
          </a:p>
        </p:txBody>
      </p:sp>
      <p:sp>
        <p:nvSpPr>
          <p:cNvPr id="520" name="Google Shape;520;p30"/>
          <p:cNvSpPr/>
          <p:nvPr/>
        </p:nvSpPr>
        <p:spPr>
          <a:xfrm>
            <a:off x="1066800" y="4282442"/>
            <a:ext cx="6017260"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CFD8CF"/>
              </a:buClr>
              <a:buSzPts val="1200"/>
              <a:buFont typeface="DM Sans"/>
              <a:buNone/>
            </a:pPr>
            <a:r>
              <a:rPr lang="en-US" sz="1200" b="1" i="0" u="none" strike="noStrike" cap="none">
                <a:solidFill>
                  <a:srgbClr val="CFD8CF"/>
                </a:solidFill>
                <a:latin typeface="DM Sans"/>
                <a:ea typeface="DM Sans"/>
                <a:cs typeface="DM Sans"/>
                <a:sym typeface="DM Sans"/>
              </a:rPr>
              <a:t>Engagement question:</a:t>
            </a:r>
            <a:r>
              <a:rPr lang="en-US" sz="1200" b="0" i="0" u="none" strike="noStrike" cap="none">
                <a:solidFill>
                  <a:srgbClr val="CFD8CF"/>
                </a:solidFill>
                <a:latin typeface="DM Sans"/>
                <a:ea typeface="DM Sans"/>
                <a:cs typeface="DM Sans"/>
                <a:sym typeface="DM Sans"/>
              </a:rPr>
              <a:t> “Which colour are you? Sea-green, indigo or sand?”</a:t>
            </a:r>
            <a:endParaRPr sz="1200" b="0" i="0" u="none" strike="noStrike" cap="none">
              <a:solidFill>
                <a:schemeClr val="dk1"/>
              </a:solidFill>
              <a:latin typeface="Calibri"/>
              <a:ea typeface="Calibri"/>
              <a:cs typeface="Calibri"/>
              <a:sym typeface="Calibri"/>
            </a:endParaRPr>
          </a:p>
        </p:txBody>
      </p:sp>
      <p:sp>
        <p:nvSpPr>
          <p:cNvPr id="521" name="Google Shape;521;p30"/>
          <p:cNvSpPr/>
          <p:nvPr/>
        </p:nvSpPr>
        <p:spPr>
          <a:xfrm>
            <a:off x="7538720" y="2037085"/>
            <a:ext cx="3950208" cy="1377950"/>
          </a:xfrm>
          <a:prstGeom prst="rect">
            <a:avLst/>
          </a:prstGeom>
          <a:noFill/>
          <a:ln>
            <a:noFill/>
          </a:ln>
        </p:spPr>
        <p:txBody>
          <a:bodyPr spcFirstLastPara="1" wrap="square" lIns="0" tIns="0" rIns="0" bIns="0" anchor="t" anchorCtr="0">
            <a:noAutofit/>
          </a:bodyPr>
          <a:lstStyle/>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What did your version do better?</a:t>
            </a:r>
            <a:endParaRPr sz="1500" b="0" i="0" u="none" strike="noStrike" cap="none">
              <a:solidFill>
                <a:schemeClr val="dk1"/>
              </a:solidFill>
              <a:latin typeface="Calibri"/>
              <a:ea typeface="Calibri"/>
              <a:cs typeface="Calibri"/>
              <a:sym typeface="Calibri"/>
            </a:endParaRPr>
          </a:p>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What did the brand include that yours missed?</a:t>
            </a:r>
            <a:endParaRPr sz="1500" b="0" i="0" u="none" strike="noStrike" cap="none">
              <a:solidFill>
                <a:schemeClr val="dk1"/>
              </a:solidFill>
              <a:latin typeface="Calibri"/>
              <a:ea typeface="Calibri"/>
              <a:cs typeface="Calibri"/>
              <a:sym typeface="Calibri"/>
            </a:endParaRPr>
          </a:p>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Which of your variations would you publish?</a:t>
            </a:r>
            <a:endParaRPr sz="1500" b="0" i="0" u="none" strike="noStrike" cap="none">
              <a:solidFill>
                <a:schemeClr val="dk1"/>
              </a:solidFill>
              <a:latin typeface="Calibri"/>
              <a:ea typeface="Calibri"/>
              <a:cs typeface="Calibri"/>
              <a:sym typeface="Calibri"/>
            </a:endParaRPr>
          </a:p>
        </p:txBody>
      </p:sp>
      <p:sp>
        <p:nvSpPr>
          <p:cNvPr id="522" name="Google Shape;522;p30"/>
          <p:cNvSpPr/>
          <p:nvPr/>
        </p:nvSpPr>
        <p:spPr>
          <a:xfrm>
            <a:off x="7470775" y="3784923"/>
            <a:ext cx="3905400" cy="1144200"/>
          </a:xfrm>
          <a:prstGeom prst="roundRect">
            <a:avLst>
              <a:gd name="adj" fmla="val 10821"/>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0"/>
          <p:cNvSpPr/>
          <p:nvPr/>
        </p:nvSpPr>
        <p:spPr>
          <a:xfrm>
            <a:off x="7677150" y="3991298"/>
            <a:ext cx="3597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BONUS PROMPT</a:t>
            </a:r>
            <a:endParaRPr sz="1200" b="0" i="0" u="none" strike="noStrike" cap="none">
              <a:solidFill>
                <a:schemeClr val="dk1"/>
              </a:solidFill>
              <a:latin typeface="Calibri"/>
              <a:ea typeface="Calibri"/>
              <a:cs typeface="Calibri"/>
              <a:sym typeface="Calibri"/>
            </a:endParaRPr>
          </a:p>
        </p:txBody>
      </p:sp>
      <p:sp>
        <p:nvSpPr>
          <p:cNvPr id="524" name="Google Shape;524;p30"/>
          <p:cNvSpPr/>
          <p:nvPr/>
        </p:nvSpPr>
        <p:spPr>
          <a:xfrm>
            <a:off x="7677150" y="4280855"/>
            <a:ext cx="3597300" cy="4674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1F2A24"/>
              </a:buClr>
              <a:buSzPts val="1200"/>
              <a:buFont typeface="DM Sans"/>
              <a:buNone/>
            </a:pPr>
            <a:r>
              <a:rPr lang="en-US" sz="1200" b="0" i="0" u="none" strike="noStrike" cap="none">
                <a:solidFill>
                  <a:srgbClr val="1F2A24"/>
                </a:solidFill>
                <a:latin typeface="DM Sans"/>
                <a:ea typeface="DM Sans"/>
                <a:cs typeface="DM Sans"/>
                <a:sym typeface="DM Sans"/>
              </a:rPr>
              <a:t>“Write alt text for this reel for people using screen readers, and one question to spark comments.”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B5532B"/>
        </a:solidFill>
        <a:effectLst/>
      </p:bgPr>
    </p:bg>
    <p:spTree>
      <p:nvGrpSpPr>
        <p:cNvPr id="1" name="Shape 1"/>
        <p:cNvGrpSpPr/>
        <p:nvPr/>
      </p:nvGrpSpPr>
      <p:grpSpPr>
        <a:xfrm>
          <a:off x="0" y="0"/>
          <a:ext cx="0" cy="0"/>
          <a:chOff x="0" y="0"/>
          <a:chExt cx="0" cy="0"/>
        </a:xfrm>
      </p:grpSpPr>
      <p:sp>
        <p:nvSpPr>
          <p:cNvPr id="10" name="label"/>
          <p:cNvSpPr/>
          <p:nvPr/>
        </p:nvSpPr>
        <p:spPr>
          <a:xfrm>
            <a:off x="812800" y="19431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a:solidFill>
                  <a:srgbClr val="FBF3E8"/>
                </a:solidFill>
                <a:latin typeface="DM Sans"/>
                <a:ea typeface="DM Sans"/>
                <a:cs typeface="DM Sans"/>
                <a:sym typeface="DM Sans"/>
              </a:rPr>
              <a:t>PART FOUR · ANALYSE</a:t>
            </a:r>
          </a:p>
        </p:txBody>
      </p:sp>
      <p:sp>
        <p:nvSpPr>
          <p:cNvPr id="11" name="title"/>
          <p:cNvSpPr/>
          <p:nvPr/>
        </p:nvSpPr>
        <p:spPr>
          <a:xfrm>
            <a:off x="812800" y="2410458"/>
            <a:ext cx="10566400" cy="8255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6000" b="0" i="0" u="none" strike="noStrike" cap="none">
                <a:solidFill>
                  <a:srgbClr val="FBF3E8"/>
                </a:solidFill>
                <a:latin typeface="Fraunces"/>
                <a:ea typeface="Fraunces"/>
                <a:cs typeface="Fraunces"/>
                <a:sym typeface="Fraunces"/>
              </a:rPr>
              <a:t>Analyse your Instagram data.</a:t>
            </a:r>
          </a:p>
        </p:txBody>
      </p:sp>
      <p:sp>
        <p:nvSpPr>
          <p:cNvPr id="12" name="subtitle"/>
          <p:cNvSpPr/>
          <p:nvPr/>
        </p:nvSpPr>
        <p:spPr>
          <a:xfrm>
            <a:off x="812800" y="3464558"/>
            <a:ext cx="10066400" cy="7518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None/>
            </a:pPr>
            <a:r>
              <a:rPr lang="en-US" sz="2200" b="0" i="0" u="none" strike="noStrike" cap="none" dirty="0">
                <a:solidFill>
                  <a:srgbClr val="FBF3E8"/>
                </a:solidFill>
                <a:latin typeface="DM Sans"/>
                <a:ea typeface="DM Sans"/>
                <a:cs typeface="DM Sans"/>
                <a:sym typeface="DM Sans"/>
              </a:rPr>
              <a:t>Three questions, Three prompts. Work at your own pace in ChatGPT, Claude or Gemini.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a:solidFill>
                  <a:srgbClr val="B5532B"/>
                </a:solidFill>
                <a:latin typeface="DM Sans"/>
                <a:ea typeface="DM Sans"/>
                <a:cs typeface="DM Sans"/>
                <a:sym typeface="DM Sans"/>
              </a:rPr>
              <a:t>ANALYSE · SETUP</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600" b="0" i="0" u="none" strike="noStrike" cap="none">
                <a:solidFill>
                  <a:srgbClr val="1E3A2F"/>
                </a:solidFill>
                <a:latin typeface="Fraunces"/>
                <a:ea typeface="Fraunces"/>
                <a:cs typeface="Fraunces"/>
                <a:sym typeface="Fraunces"/>
              </a:rPr>
              <a:t>What participants need</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13" name="left"/>
          <p:cNvSpPr/>
          <p:nvPr/>
        </p:nvSpPr>
        <p:spPr>
          <a:xfrm>
            <a:off x="812800" y="2151385"/>
            <a:ext cx="5183200" cy="45066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400" b="1" i="0" u="none" strike="noStrike" cap="none" dirty="0">
                <a:solidFill>
                  <a:srgbClr val="B5532B"/>
                </a:solidFill>
                <a:latin typeface="DM Sans"/>
                <a:ea typeface="DM Sans"/>
                <a:cs typeface="DM Sans"/>
                <a:sym typeface="DM Sans"/>
              </a:rPr>
              <a:t>Files you need</a:t>
            </a:r>
          </a:p>
          <a:p>
            <a:endParaRPr lang="en-US" sz="1400" b="1" i="0" u="none" strike="noStrike" cap="none" dirty="0">
              <a:solidFill>
                <a:srgbClr val="B5532B"/>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dirty="0" err="1">
                <a:solidFill>
                  <a:srgbClr val="1E3A2F"/>
                </a:solidFill>
                <a:latin typeface="DM Sans"/>
                <a:ea typeface="DM Sans"/>
                <a:cs typeface="DM Sans"/>
                <a:sym typeface="DM Sans"/>
              </a:rPr>
              <a:t>loopcycle_post_kpis.csv</a:t>
            </a:r>
            <a:endParaRPr lang="en-US" sz="1300" b="1" i="0" u="none" strike="noStrike" cap="none" dirty="0">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200" b="0" i="0" u="none" strike="noStrike" cap="none" dirty="0">
                <a:solidFill>
                  <a:srgbClr val="1E3A2F"/>
                </a:solidFill>
                <a:latin typeface="DM Sans"/>
                <a:ea typeface="DM Sans"/>
                <a:cs typeface="DM Sans"/>
                <a:sym typeface="DM Sans"/>
              </a:rPr>
              <a:t>Main file. One row per post: format, pillar, time, reach, engagement and rates.</a:t>
            </a:r>
          </a:p>
          <a:p>
            <a:endParaRPr lang="en-US" sz="1200" b="0" i="0" u="none" strike="noStrike" cap="none" dirty="0">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dirty="0" err="1">
                <a:solidFill>
                  <a:srgbClr val="1E3A2F"/>
                </a:solidFill>
                <a:latin typeface="DM Sans"/>
                <a:ea typeface="DM Sans"/>
                <a:cs typeface="DM Sans"/>
                <a:sym typeface="DM Sans"/>
              </a:rPr>
              <a:t>loopcycle_instagram_posts_flat.csv</a:t>
            </a:r>
            <a:endParaRPr lang="en-US" sz="1300" b="1" i="0" u="none" strike="noStrike" cap="none" dirty="0">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200" b="0" i="0" u="none" strike="noStrike" cap="none" dirty="0">
                <a:solidFill>
                  <a:srgbClr val="1E3A2F"/>
                </a:solidFill>
                <a:latin typeface="DM Sans"/>
                <a:ea typeface="DM Sans"/>
                <a:cs typeface="DM Sans"/>
                <a:sym typeface="DM Sans"/>
              </a:rPr>
              <a:t>Caption text. Join id here to </a:t>
            </a:r>
            <a:r>
              <a:rPr lang="en-US" sz="1200" b="0" i="0" u="none" strike="noStrike" cap="none" dirty="0" err="1">
                <a:solidFill>
                  <a:srgbClr val="1E3A2F"/>
                </a:solidFill>
                <a:latin typeface="DM Sans"/>
                <a:ea typeface="DM Sans"/>
                <a:cs typeface="DM Sans"/>
                <a:sym typeface="DM Sans"/>
              </a:rPr>
              <a:t>post_id</a:t>
            </a:r>
            <a:r>
              <a:rPr lang="en-US" sz="1200" b="0" i="0" u="none" strike="noStrike" cap="none" dirty="0">
                <a:solidFill>
                  <a:srgbClr val="1E3A2F"/>
                </a:solidFill>
                <a:latin typeface="DM Sans"/>
                <a:ea typeface="DM Sans"/>
                <a:cs typeface="DM Sans"/>
                <a:sym typeface="DM Sans"/>
              </a:rPr>
              <a:t> in the KPI file.</a:t>
            </a:r>
          </a:p>
          <a:p>
            <a:endParaRPr lang="en-US" sz="1200" b="0" i="0" u="none" strike="noStrike" cap="none" dirty="0">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dirty="0">
                <a:solidFill>
                  <a:srgbClr val="1E3A2F"/>
                </a:solidFill>
                <a:latin typeface="DM Sans"/>
                <a:ea typeface="DM Sans"/>
                <a:cs typeface="DM Sans"/>
                <a:sym typeface="DM Sans"/>
              </a:rPr>
              <a:t>Audience files (optional, Question 2)</a:t>
            </a:r>
          </a:p>
          <a:p>
            <a:pPr marL="0" marR="0" lvl="0" indent="0" algn="l" rtl="0">
              <a:lnSpc>
                <a:spcPct val="130000"/>
              </a:lnSpc>
              <a:spcBef>
                <a:spcPts val="0"/>
              </a:spcBef>
              <a:spcAft>
                <a:spcPts val="0"/>
              </a:spcAft>
              <a:buNone/>
            </a:pPr>
            <a:r>
              <a:rPr lang="en-US" sz="1200" b="0" i="0" u="none" strike="noStrike" cap="none" dirty="0" err="1">
                <a:solidFill>
                  <a:srgbClr val="1E3A2F"/>
                </a:solidFill>
                <a:latin typeface="DM Sans"/>
                <a:ea typeface="DM Sans"/>
                <a:cs typeface="DM Sans"/>
                <a:sym typeface="DM Sans"/>
              </a:rPr>
              <a:t>loopcycle_post_audience_age_gender.csv</a:t>
            </a:r>
            <a:endParaRPr lang="en-US" sz="1200" b="0" i="0" u="none" strike="noStrike" cap="none" dirty="0">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200" b="0" i="0" u="none" strike="noStrike" cap="none" dirty="0" err="1">
                <a:solidFill>
                  <a:srgbClr val="1E3A2F"/>
                </a:solidFill>
                <a:latin typeface="DM Sans"/>
                <a:ea typeface="DM Sans"/>
                <a:cs typeface="DM Sans"/>
                <a:sym typeface="DM Sans"/>
              </a:rPr>
              <a:t>loopcycle_post_audience_location.csv</a:t>
            </a:r>
            <a:endParaRPr lang="en-US" sz="1200" b="0" i="0" u="none" strike="noStrike" cap="none" dirty="0">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200" b="0" i="0" u="none" strike="noStrike" cap="none" dirty="0" err="1">
                <a:solidFill>
                  <a:srgbClr val="1E3A2F"/>
                </a:solidFill>
                <a:latin typeface="DM Sans"/>
                <a:ea typeface="DM Sans"/>
                <a:cs typeface="DM Sans"/>
                <a:sym typeface="DM Sans"/>
              </a:rPr>
              <a:t>loopcycle_post_views_time.csv</a:t>
            </a:r>
            <a:endParaRPr lang="en-US" sz="1200" b="0" i="0" u="none" strike="noStrike" cap="none" dirty="0">
              <a:solidFill>
                <a:srgbClr val="1E3A2F"/>
              </a:solidFill>
              <a:latin typeface="DM Sans"/>
              <a:ea typeface="DM Sans"/>
              <a:cs typeface="DM Sans"/>
              <a:sym typeface="DM Sans"/>
            </a:endParaRPr>
          </a:p>
        </p:txBody>
      </p:sp>
      <p:sp>
        <p:nvSpPr>
          <p:cNvPr id="14" name="right"/>
          <p:cNvSpPr/>
          <p:nvPr/>
        </p:nvSpPr>
        <p:spPr>
          <a:xfrm>
            <a:off x="6196000" y="2151385"/>
            <a:ext cx="5183200" cy="45066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400" b="1" i="0" u="none" strike="noStrike" cap="none">
                <a:solidFill>
                  <a:srgbClr val="B5532B"/>
                </a:solidFill>
                <a:latin typeface="DM Sans"/>
                <a:ea typeface="DM Sans"/>
                <a:cs typeface="DM Sans"/>
                <a:sym typeface="DM Sans"/>
              </a:rPr>
              <a:t>Three things to tell participants</a:t>
            </a:r>
          </a:p>
          <a:p>
            <a:endParaRPr lang="en-US" sz="1400" b="1" i="0" u="none" strike="noStrike" cap="none">
              <a:solidFill>
                <a:srgbClr val="B5532B"/>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a:solidFill>
                  <a:srgbClr val="1E3A2F"/>
                </a:solidFill>
                <a:latin typeface="DM Sans"/>
                <a:ea typeface="DM Sans"/>
                <a:cs typeface="DM Sans"/>
                <a:sym typeface="DM Sans"/>
              </a:rPr>
              <a:t>1  The data is synthetic.</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Do not treat any number as real.</a:t>
            </a:r>
          </a:p>
          <a:p>
            <a:endParaRPr lang="en-US" sz="1200" b="0" i="0" u="none" strike="noStrike" cap="none">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a:solidFill>
                  <a:srgbClr val="1E3A2F"/>
                </a:solidFill>
                <a:latin typeface="DM Sans"/>
                <a:ea typeface="DM Sans"/>
                <a:cs typeface="DM Sans"/>
                <a:sym typeface="DM Sans"/>
              </a:rPr>
              <a:t>2  Columns starting modeled_ are estimates.</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Instagram does not report audience, location or viewing time per post.</a:t>
            </a:r>
          </a:p>
          <a:p>
            <a:endParaRPr lang="en-US" sz="1200" b="0" i="0" u="none" strike="noStrike" cap="none">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a:solidFill>
                  <a:srgbClr val="1E3A2F"/>
                </a:solidFill>
                <a:latin typeface="DM Sans"/>
                <a:ea typeface="DM Sans"/>
                <a:cs typeface="DM Sans"/>
                <a:sym typeface="DM Sans"/>
              </a:rPr>
              <a:t>3  Reels have blank follow columns.</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follows, profile_visits and their rate columns are blank for VIDEO (Reel) posts.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a:solidFill>
                  <a:srgbClr val="B5532B"/>
                </a:solidFill>
                <a:latin typeface="DM Sans"/>
                <a:ea typeface="DM Sans"/>
                <a:cs typeface="DM Sans"/>
                <a:sym typeface="DM Sans"/>
              </a:rPr>
              <a:t>ANALYSE · SHARED CONTEXT</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Paste this first — before any question</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20" name="promptbg"/>
          <p:cNvSpPr/>
          <p:nvPr/>
        </p:nvSpPr>
        <p:spPr>
          <a:xfrm>
            <a:off x="812800" y="2170000"/>
            <a:ext cx="6656636" cy="4508000"/>
          </a:xfrm>
          <a:prstGeom prst="rect">
            <a:avLst/>
          </a:prstGeom>
          <a:solidFill>
            <a:srgbClr val="1E3A2F"/>
          </a:solidFill>
          <a:ln>
            <a:noFill/>
          </a:ln>
        </p:spPr>
        <p:txBody>
          <a:bodyPr/>
          <a:lstStyle/>
          <a:p>
            <a:endParaRPr/>
          </a:p>
        </p:txBody>
      </p:sp>
      <p:sp>
        <p:nvSpPr>
          <p:cNvPr id="21" name="prompt"/>
          <p:cNvSpPr/>
          <p:nvPr/>
        </p:nvSpPr>
        <p:spPr>
          <a:xfrm>
            <a:off x="922800" y="2280000"/>
            <a:ext cx="6425451" cy="4288000"/>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You are a marketing analyst helping a small social enterprise.</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Context: </a:t>
            </a:r>
            <a:r>
              <a:rPr lang="en-US" sz="1200" b="0" i="0" u="none" strike="noStrike" cap="none" dirty="0" err="1">
                <a:solidFill>
                  <a:srgbClr val="FBF3E8"/>
                </a:solidFill>
                <a:latin typeface="DM Sans"/>
                <a:ea typeface="DM Sans"/>
                <a:cs typeface="DM Sans"/>
                <a:sym typeface="DM Sans"/>
              </a:rPr>
              <a:t>LoopCycle</a:t>
            </a:r>
            <a:r>
              <a:rPr lang="en-US" sz="1200" b="0" i="0" u="none" strike="noStrike" cap="none" dirty="0">
                <a:solidFill>
                  <a:srgbClr val="FBF3E8"/>
                </a:solidFill>
                <a:latin typeface="DM Sans"/>
                <a:ea typeface="DM Sans"/>
                <a:cs typeface="DM Sans"/>
                <a:sym typeface="DM Sans"/>
              </a:rPr>
              <a:t> Nusantara is a waste-to-value social enterprise in Bandung,</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Indonesia. We buy sorted plastic from 3,500 registered waste pickers, recycle it,</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and sell the Loop Tote, a tote bag made from 14 recycled bottles. Instagram  (@</a:t>
            </a:r>
            <a:r>
              <a:rPr lang="en-US" sz="1200" b="0" i="0" u="none" strike="noStrike" cap="none" dirty="0" err="1">
                <a:solidFill>
                  <a:srgbClr val="FBF3E8"/>
                </a:solidFill>
                <a:latin typeface="DM Sans"/>
                <a:ea typeface="DM Sans"/>
                <a:cs typeface="DM Sans"/>
                <a:sym typeface="DM Sans"/>
              </a:rPr>
              <a:t>loopcycle.nusantara</a:t>
            </a:r>
            <a:r>
              <a:rPr lang="en-US" sz="1200" b="0" i="0" u="none" strike="noStrike" cap="none" dirty="0">
                <a:solidFill>
                  <a:srgbClr val="FBF3E8"/>
                </a:solidFill>
                <a:latin typeface="DM Sans"/>
                <a:ea typeface="DM Sans"/>
                <a:cs typeface="DM Sans"/>
                <a:sym typeface="DM Sans"/>
              </a:rPr>
              <a:t>, about 21,000 followers) is how we build trust and drive sales.</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Data: the attached CSV has one row per Instagram post (30 posts, 30 Jul to 27 Sep</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2026). </a:t>
            </a:r>
            <a:r>
              <a:rPr lang="en-US" sz="1200" b="0" i="0" u="none" strike="noStrike" cap="none" dirty="0" err="1">
                <a:solidFill>
                  <a:srgbClr val="FBF3E8"/>
                </a:solidFill>
                <a:latin typeface="DM Sans"/>
                <a:ea typeface="DM Sans"/>
                <a:cs typeface="DM Sans"/>
                <a:sym typeface="DM Sans"/>
              </a:rPr>
              <a:t>media_type</a:t>
            </a:r>
            <a:r>
              <a:rPr lang="en-US" sz="1200" b="0" i="0" u="none" strike="noStrike" cap="none" dirty="0">
                <a:solidFill>
                  <a:srgbClr val="FBF3E8"/>
                </a:solidFill>
                <a:latin typeface="DM Sans"/>
                <a:ea typeface="DM Sans"/>
                <a:cs typeface="DM Sans"/>
                <a:sym typeface="DM Sans"/>
              </a:rPr>
              <a:t> is VIDEO (Reel), CAROUSEL_ALBUM or IMAGE. </a:t>
            </a:r>
            <a:r>
              <a:rPr lang="en-US" sz="1200" b="0" i="0" u="none" strike="noStrike" cap="none" dirty="0" err="1">
                <a:solidFill>
                  <a:srgbClr val="FBF3E8"/>
                </a:solidFill>
                <a:latin typeface="DM Sans"/>
                <a:ea typeface="DM Sans"/>
                <a:cs typeface="DM Sans"/>
                <a:sym typeface="DM Sans"/>
              </a:rPr>
              <a:t>content_pillar</a:t>
            </a:r>
            <a:r>
              <a:rPr lang="en-US" sz="1200" b="0" i="0" u="none" strike="noStrike" cap="none" dirty="0">
                <a:solidFill>
                  <a:srgbClr val="FBF3E8"/>
                </a:solidFill>
                <a:latin typeface="DM Sans"/>
                <a:ea typeface="DM Sans"/>
                <a:cs typeface="DM Sans"/>
                <a:sym typeface="DM Sans"/>
              </a:rPr>
              <a:t> is our</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content theme. Columns starting with modeled_ are estimates, not Instagram data.</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follows and </a:t>
            </a:r>
            <a:r>
              <a:rPr lang="en-US" sz="1200" b="0" i="0" u="none" strike="noStrike" cap="none" dirty="0" err="1">
                <a:solidFill>
                  <a:srgbClr val="FBF3E8"/>
                </a:solidFill>
                <a:latin typeface="DM Sans"/>
                <a:ea typeface="DM Sans"/>
                <a:cs typeface="DM Sans"/>
                <a:sym typeface="DM Sans"/>
              </a:rPr>
              <a:t>profile_visits</a:t>
            </a:r>
            <a:r>
              <a:rPr lang="en-US" sz="1200" b="0" i="0" u="none" strike="noStrike" cap="none" dirty="0">
                <a:solidFill>
                  <a:srgbClr val="FBF3E8"/>
                </a:solidFill>
                <a:latin typeface="DM Sans"/>
                <a:ea typeface="DM Sans"/>
                <a:cs typeface="DM Sans"/>
                <a:sym typeface="DM Sans"/>
              </a:rPr>
              <a:t> are blank for Reels.</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Rules: use only the data I give you. Show how many posts are behind every figure.</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Say clearly when a sample is too small to conclude anything.</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Never invent data. Keep what the data shows separate from your interpretation.</a:t>
            </a:r>
          </a:p>
        </p:txBody>
      </p:sp>
      <p:sp>
        <p:nvSpPr>
          <p:cNvPr id="22" name="steps"/>
          <p:cNvSpPr/>
          <p:nvPr/>
        </p:nvSpPr>
        <p:spPr>
          <a:xfrm>
            <a:off x="7612655" y="2170000"/>
            <a:ext cx="4406747" cy="450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1</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Open a new chat in ChatGPT, Claude or Gemini.</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2</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Paste this context block first.</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3</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Attach </a:t>
            </a:r>
            <a:r>
              <a:rPr lang="en-US" sz="1300" b="0" i="0" u="none" strike="noStrike" cap="none" dirty="0" err="1">
                <a:solidFill>
                  <a:srgbClr val="1E3A2F"/>
                </a:solidFill>
                <a:latin typeface="DM Sans"/>
                <a:ea typeface="DM Sans"/>
                <a:cs typeface="DM Sans"/>
                <a:sym typeface="DM Sans"/>
              </a:rPr>
              <a:t>loopcycle_post_kpis.csv</a:t>
            </a:r>
            <a:r>
              <a:rPr lang="en-US" sz="1300" b="0" i="0" u="none" strike="noStrike" cap="none" dirty="0">
                <a:solidFill>
                  <a:srgbClr val="1E3A2F"/>
                </a:solidFill>
                <a:latin typeface="DM Sans"/>
                <a:ea typeface="DM Sans"/>
                <a:cs typeface="DM Sans"/>
                <a:sym typeface="DM Sans"/>
              </a:rPr>
              <a:t>.</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4</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Then paste your question prompt.</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5</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Keep the same chat open for all 5 questions.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dirty="0">
                <a:solidFill>
                  <a:srgbClr val="B5532B"/>
                </a:solidFill>
                <a:latin typeface="DM Sans"/>
                <a:ea typeface="DM Sans"/>
                <a:cs typeface="DM Sans"/>
                <a:sym typeface="DM Sans"/>
              </a:rPr>
              <a:t>ANALYSE · QUESTION </a:t>
            </a:r>
            <a:r>
              <a:rPr lang="en-US" sz="1200" b="1" dirty="0">
                <a:solidFill>
                  <a:srgbClr val="B5532B"/>
                </a:solidFill>
                <a:latin typeface="DM Sans"/>
                <a:ea typeface="DM Sans"/>
                <a:cs typeface="DM Sans"/>
                <a:sym typeface="DM Sans"/>
              </a:rPr>
              <a:t>1</a:t>
            </a:r>
            <a:r>
              <a:rPr lang="en-US" sz="1200" b="1" i="0" u="none" strike="noStrike" cap="none" dirty="0">
                <a:solidFill>
                  <a:srgbClr val="B5532B"/>
                </a:solidFill>
                <a:latin typeface="DM Sans"/>
                <a:ea typeface="DM Sans"/>
                <a:cs typeface="DM Sans"/>
                <a:sym typeface="DM Sans"/>
              </a:rPr>
              <a:t> OF 3</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When should we post?</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20" name="promptbg"/>
          <p:cNvSpPr/>
          <p:nvPr/>
        </p:nvSpPr>
        <p:spPr>
          <a:xfrm>
            <a:off x="812800" y="2170000"/>
            <a:ext cx="6237995" cy="4508000"/>
          </a:xfrm>
          <a:prstGeom prst="rect">
            <a:avLst/>
          </a:prstGeom>
          <a:solidFill>
            <a:srgbClr val="1E3A2F"/>
          </a:solidFill>
          <a:ln>
            <a:noFill/>
          </a:ln>
        </p:spPr>
        <p:txBody>
          <a:bodyPr/>
          <a:lstStyle/>
          <a:p>
            <a:endParaRPr/>
          </a:p>
        </p:txBody>
      </p:sp>
      <p:sp>
        <p:nvSpPr>
          <p:cNvPr id="21" name="prompt"/>
          <p:cNvSpPr/>
          <p:nvPr/>
        </p:nvSpPr>
        <p:spPr>
          <a:xfrm>
            <a:off x="922800" y="2280000"/>
            <a:ext cx="6127995" cy="4288000"/>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Using the attached post data, </a:t>
            </a:r>
            <a:r>
              <a:rPr lang="en-US" sz="1200" b="0" i="0" u="none" strike="noStrike" cap="none" dirty="0" err="1">
                <a:solidFill>
                  <a:srgbClr val="FBF3E8"/>
                </a:solidFill>
                <a:latin typeface="DM Sans"/>
                <a:ea typeface="DM Sans"/>
                <a:cs typeface="DM Sans"/>
                <a:sym typeface="DM Sans"/>
              </a:rPr>
              <a:t>analyse</a:t>
            </a:r>
            <a:r>
              <a:rPr lang="en-US" sz="1200" b="0" i="0" u="none" strike="noStrike" cap="none" dirty="0">
                <a:solidFill>
                  <a:srgbClr val="FBF3E8"/>
                </a:solidFill>
                <a:latin typeface="DM Sans"/>
                <a:ea typeface="DM Sans"/>
                <a:cs typeface="DM Sans"/>
                <a:sym typeface="DM Sans"/>
              </a:rPr>
              <a:t> whether posting time affects results.</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Use </a:t>
            </a:r>
            <a:r>
              <a:rPr lang="en-US" sz="1200" b="0" i="0" u="none" strike="noStrike" cap="none" dirty="0" err="1">
                <a:solidFill>
                  <a:srgbClr val="FBF3E8"/>
                </a:solidFill>
                <a:latin typeface="DM Sans"/>
                <a:ea typeface="DM Sans"/>
                <a:cs typeface="DM Sans"/>
                <a:sym typeface="DM Sans"/>
              </a:rPr>
              <a:t>post_weekday_wib</a:t>
            </a:r>
            <a:r>
              <a:rPr lang="en-US" sz="1200" b="0" i="0" u="none" strike="noStrike" cap="none" dirty="0">
                <a:solidFill>
                  <a:srgbClr val="FBF3E8"/>
                </a:solidFill>
                <a:latin typeface="DM Sans"/>
                <a:ea typeface="DM Sans"/>
                <a:cs typeface="DM Sans"/>
                <a:sym typeface="DM Sans"/>
              </a:rPr>
              <a:t>, </a:t>
            </a:r>
            <a:r>
              <a:rPr lang="en-US" sz="1200" b="0" i="0" u="none" strike="noStrike" cap="none" dirty="0" err="1">
                <a:solidFill>
                  <a:srgbClr val="FBF3E8"/>
                </a:solidFill>
                <a:latin typeface="DM Sans"/>
                <a:ea typeface="DM Sans"/>
                <a:cs typeface="DM Sans"/>
                <a:sym typeface="DM Sans"/>
              </a:rPr>
              <a:t>post_hour_wib</a:t>
            </a:r>
            <a:r>
              <a:rPr lang="en-US" sz="1200" b="0" i="0" u="none" strike="noStrike" cap="none" dirty="0">
                <a:solidFill>
                  <a:srgbClr val="FBF3E8"/>
                </a:solidFill>
                <a:latin typeface="DM Sans"/>
                <a:ea typeface="DM Sans"/>
                <a:cs typeface="DM Sans"/>
                <a:sym typeface="DM Sans"/>
              </a:rPr>
              <a:t>, reach and </a:t>
            </a:r>
            <a:r>
              <a:rPr lang="en-US" sz="1200" b="0" i="0" u="none" strike="noStrike" cap="none" dirty="0" err="1">
                <a:solidFill>
                  <a:srgbClr val="FBF3E8"/>
                </a:solidFill>
                <a:latin typeface="DM Sans"/>
                <a:ea typeface="DM Sans"/>
                <a:cs typeface="DM Sans"/>
                <a:sym typeface="DM Sans"/>
              </a:rPr>
              <a:t>engagement_rate_by_reach_pct</a:t>
            </a:r>
            <a:r>
              <a:rPr lang="en-US" sz="1200" b="0" i="0" u="none" strike="noStrike" cap="none" dirty="0">
                <a:solidFill>
                  <a:srgbClr val="FBF3E8"/>
                </a:solidFill>
                <a:latin typeface="DM Sans"/>
                <a:ea typeface="DM Sans"/>
                <a:cs typeface="DM Sans"/>
                <a:sym typeface="DM Sans"/>
              </a:rPr>
              <a:t>.</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1. Show the average and median reach and engagement rate by hour and by </a:t>
            </a:r>
            <a:r>
              <a:rPr lang="en-US" sz="1200" b="0" i="0" u="none" strike="noStrike" cap="none" dirty="0" err="1">
                <a:solidFill>
                  <a:srgbClr val="FBF3E8"/>
                </a:solidFill>
                <a:latin typeface="DM Sans"/>
                <a:ea typeface="DM Sans"/>
                <a:cs typeface="DM Sans"/>
                <a:sym typeface="DM Sans"/>
              </a:rPr>
              <a:t>weekday,with</a:t>
            </a:r>
            <a:r>
              <a:rPr lang="en-US" sz="1200" b="0" i="0" u="none" strike="noStrike" cap="none" dirty="0">
                <a:solidFill>
                  <a:srgbClr val="FBF3E8"/>
                </a:solidFill>
                <a:latin typeface="DM Sans"/>
                <a:ea typeface="DM Sans"/>
                <a:cs typeface="DM Sans"/>
                <a:sym typeface="DM Sans"/>
              </a:rPr>
              <a:t> the number of posts in each group.</a:t>
            </a:r>
          </a:p>
          <a:p>
            <a:pPr marL="0" marR="0" lvl="0" indent="0" algn="l" rtl="0">
              <a:lnSpc>
                <a:spcPct val="128000"/>
              </a:lnSpc>
              <a:spcBef>
                <a:spcPts val="0"/>
              </a:spcBef>
              <a:spcAft>
                <a:spcPts val="0"/>
              </a:spcAft>
              <a:buNone/>
            </a:pPr>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2. Check whether posting time is tangled up with format — for example which</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formats we tend to post at which hours. Repeat the comparison within a single format.</a:t>
            </a:r>
          </a:p>
          <a:p>
            <a:pPr marL="0" marR="0" lvl="0" indent="0" algn="l" rtl="0">
              <a:lnSpc>
                <a:spcPct val="128000"/>
              </a:lnSpc>
              <a:spcBef>
                <a:spcPts val="0"/>
              </a:spcBef>
              <a:spcAft>
                <a:spcPts val="0"/>
              </a:spcAft>
              <a:buNone/>
            </a:pPr>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3. Compare mean and median and identify any single post that creates an apparent "best time".</a:t>
            </a:r>
          </a:p>
          <a:p>
            <a:pPr marL="0" marR="0" lvl="0" indent="0" algn="l" rtl="0">
              <a:lnSpc>
                <a:spcPct val="128000"/>
              </a:lnSpc>
              <a:spcBef>
                <a:spcPts val="0"/>
              </a:spcBef>
              <a:spcAft>
                <a:spcPts val="0"/>
              </a:spcAft>
              <a:buNone/>
            </a:pPr>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4. Tell me what we can and cannot conclude. Then design a simple 4-week posting experiment: what to vary, what to keep fixed, how many posts, and how we will decide the result.</a:t>
            </a:r>
          </a:p>
        </p:txBody>
      </p:sp>
      <p:sp>
        <p:nvSpPr>
          <p:cNvPr id="22" name="steps"/>
          <p:cNvSpPr/>
          <p:nvPr/>
        </p:nvSpPr>
        <p:spPr>
          <a:xfrm>
            <a:off x="7238081" y="2170000"/>
            <a:ext cx="4814371" cy="450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1</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Attach </a:t>
            </a:r>
            <a:r>
              <a:rPr lang="en-US" sz="1300" b="0" i="0" u="none" strike="noStrike" cap="none" dirty="0" err="1">
                <a:solidFill>
                  <a:srgbClr val="1E3A2F"/>
                </a:solidFill>
                <a:latin typeface="DM Sans"/>
                <a:ea typeface="DM Sans"/>
                <a:cs typeface="DM Sans"/>
                <a:sym typeface="DM Sans"/>
              </a:rPr>
              <a:t>loopcycle_post_kpis.csv</a:t>
            </a:r>
            <a:r>
              <a:rPr lang="en-US" sz="1300" b="0" i="0" u="none" strike="noStrike" cap="none" dirty="0">
                <a:solidFill>
                  <a:srgbClr val="1E3A2F"/>
                </a:solidFill>
                <a:latin typeface="DM Sans"/>
                <a:ea typeface="DM Sans"/>
                <a:cs typeface="DM Sans"/>
                <a:sym typeface="DM Sans"/>
              </a:rPr>
              <a:t>.</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2</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Paste the prompt.</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3</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Follow-up: "Draw a chart of median reach by weekday and format, and mark groups with fewer than 3 posts."</a:t>
            </a:r>
          </a:p>
          <a:p>
            <a:pPr marL="0" marR="0" lvl="0" indent="0" algn="l" rtl="0">
              <a:lnSpc>
                <a:spcPct val="100000"/>
              </a:lnSpc>
              <a:spcBef>
                <a:spcPts val="200"/>
              </a:spcBef>
              <a:spcAft>
                <a:spcPts val="0"/>
              </a:spcAft>
              <a:buNone/>
            </a:pPr>
            <a:r>
              <a:rPr lang="en-US" sz="2000" b="0" i="0" u="none" strike="noStrike" cap="none" dirty="0">
                <a:solidFill>
                  <a:srgbClr val="B5532B"/>
                </a:solidFill>
                <a:latin typeface="Fraunces"/>
                <a:ea typeface="Fraunces"/>
                <a:cs typeface="Fraunces"/>
                <a:sym typeface="Fraunces"/>
              </a:rPr>
              <a:t>4</a:t>
            </a:r>
          </a:p>
          <a:p>
            <a:pPr marL="0" marR="0" lvl="0" indent="0" algn="l" rtl="0">
              <a:lnSpc>
                <a:spcPct val="128000"/>
              </a:lnSpc>
              <a:spcBef>
                <a:spcPts val="0"/>
              </a:spcBef>
              <a:spcAft>
                <a:spcPts val="0"/>
              </a:spcAft>
              <a:buNone/>
            </a:pPr>
            <a:r>
              <a:rPr lang="en-US" sz="1300" b="0" i="0" u="none" strike="noStrike" cap="none" dirty="0">
                <a:solidFill>
                  <a:srgbClr val="1E3A2F"/>
                </a:solidFill>
                <a:latin typeface="DM Sans"/>
                <a:ea typeface="DM Sans"/>
                <a:cs typeface="DM Sans"/>
                <a:sym typeface="DM Sans"/>
              </a:rPr>
              <a:t>Ask: what would a fair experiment look like?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dirty="0">
                <a:solidFill>
                  <a:srgbClr val="B5532B"/>
                </a:solidFill>
                <a:latin typeface="DM Sans"/>
                <a:ea typeface="DM Sans"/>
                <a:cs typeface="DM Sans"/>
                <a:sym typeface="DM Sans"/>
              </a:rPr>
              <a:t>ANALYSE · Q1 ANSWER KEY</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When should we post? Facilitator findings</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13" name="findings"/>
          <p:cNvSpPr/>
          <p:nvPr/>
        </p:nvSpPr>
        <p:spPr>
          <a:xfrm>
            <a:off x="812800" y="2151385"/>
            <a:ext cx="6551168" cy="4506615"/>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08:00 WIB looks best (avg reach ~20.8K vs 3-5K for lunchtime/evening). Tuesday looks best (23.6K avg).</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THE CATCH: nearly all Reels were at 08:00-09:00; most carousels/images at 12:00-20:00. Time is confounded with format.</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One viral Reel inflates the 08:00 and Tuesday averages.</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Among Reels only: median reach 10.4K at 08:00 vs 10.8K at 09:00 — no real difference.</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Engagement rate barely changes by weekday (~7.7% to 8.8%).</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a:t>
            </a:r>
            <a:r>
              <a:rPr lang="en-US" sz="1250" b="0" i="0" u="none" strike="noStrike" cap="none" dirty="0" err="1">
                <a:solidFill>
                  <a:srgbClr val="1E3A2F"/>
                </a:solidFill>
                <a:latin typeface="DM Sans"/>
                <a:ea typeface="DM Sans"/>
                <a:cs typeface="DM Sans"/>
                <a:sym typeface="DM Sans"/>
              </a:rPr>
              <a:t>modeled_peak_view_hour_wib</a:t>
            </a:r>
            <a:r>
              <a:rPr lang="en-US" sz="1250" b="0" i="0" u="none" strike="noStrike" cap="none" dirty="0">
                <a:solidFill>
                  <a:srgbClr val="1E3A2F"/>
                </a:solidFill>
                <a:latin typeface="DM Sans"/>
                <a:ea typeface="DM Sans"/>
                <a:cs typeface="DM Sans"/>
                <a:sym typeface="DM Sans"/>
              </a:rPr>
              <a:t> mostly mirrors posting hour — says little about when audience is active.</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A good experiment posts the SAME FORMAT at two different times over several weeks.</a:t>
            </a:r>
          </a:p>
        </p:txBody>
      </p:sp>
      <p:sp>
        <p:nvSpPr>
          <p:cNvPr id="20" name="tpbg"/>
          <p:cNvSpPr/>
          <p:nvPr/>
        </p:nvSpPr>
        <p:spPr>
          <a:xfrm>
            <a:off x="7563968" y="2151385"/>
            <a:ext cx="3815232" cy="4506615"/>
          </a:xfrm>
          <a:prstGeom prst="rect">
            <a:avLst/>
          </a:prstGeom>
          <a:solidFill>
            <a:srgbClr val="1E3A2F"/>
          </a:solidFill>
          <a:ln>
            <a:noFill/>
          </a:ln>
        </p:spPr>
        <p:txBody>
          <a:bodyPr/>
          <a:lstStyle/>
          <a:p>
            <a:endParaRPr/>
          </a:p>
        </p:txBody>
      </p:sp>
      <p:sp>
        <p:nvSpPr>
          <p:cNvPr id="21" name="tp"/>
          <p:cNvSpPr/>
          <p:nvPr/>
        </p:nvSpPr>
        <p:spPr>
          <a:xfrm>
            <a:off x="7673968" y="2261385"/>
            <a:ext cx="3595232" cy="42866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100" b="1" i="0" u="none" strike="noStrike" cap="none">
                <a:solidFill>
                  <a:srgbClr val="FBF3E8"/>
                </a:solidFill>
                <a:latin typeface="DM Sans"/>
                <a:ea typeface="DM Sans"/>
                <a:cs typeface="DM Sans"/>
                <a:sym typeface="DM Sans"/>
              </a:rPr>
              <a:t>Teaching point</a:t>
            </a:r>
          </a:p>
          <a:p>
            <a:endParaRPr lang="en-US" sz="1100" b="1" i="0" u="none" strike="noStrike" cap="none">
              <a:solidFill>
                <a:srgbClr val="FBF3E8"/>
              </a:solidFill>
              <a:latin typeface="DM Sans"/>
              <a:ea typeface="DM Sans"/>
              <a:cs typeface="DM Sans"/>
              <a:sym typeface="DM Sans"/>
            </a:endParaRPr>
          </a:p>
          <a:p>
            <a:pPr marL="0" marR="0" lvl="0" indent="0" algn="l" rtl="0">
              <a:lnSpc>
                <a:spcPct val="138000"/>
              </a:lnSpc>
              <a:spcBef>
                <a:spcPts val="0"/>
              </a:spcBef>
              <a:spcAft>
                <a:spcPts val="0"/>
              </a:spcAft>
              <a:buNone/>
            </a:pPr>
            <a:r>
              <a:rPr lang="en-US" sz="1250" b="0" i="0" u="none" strike="noStrike" cap="none">
                <a:solidFill>
                  <a:srgbClr val="FBF3E8"/>
                </a:solidFill>
                <a:latin typeface="DM Sans"/>
                <a:ea typeface="DM Sans"/>
                <a:cs typeface="DM Sans"/>
                <a:sym typeface="DM Sans"/>
              </a:rPr>
              <a:t>Confounding variables. Always ask the AI to check whether time mixes with format before claiming a "best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dirty="0">
                <a:solidFill>
                  <a:srgbClr val="B5532B"/>
                </a:solidFill>
                <a:latin typeface="DM Sans"/>
                <a:ea typeface="DM Sans"/>
                <a:cs typeface="DM Sans"/>
                <a:sym typeface="DM Sans"/>
              </a:rPr>
              <a:t>ANALYSE · QUESTION 2 OF 3</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Who are we reaching, and are they the right people?</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20" name="promptbg"/>
          <p:cNvSpPr/>
          <p:nvPr/>
        </p:nvSpPr>
        <p:spPr>
          <a:xfrm>
            <a:off x="812800" y="2170000"/>
            <a:ext cx="6022847" cy="4508000"/>
          </a:xfrm>
          <a:prstGeom prst="rect">
            <a:avLst/>
          </a:prstGeom>
          <a:solidFill>
            <a:srgbClr val="1E3A2F"/>
          </a:solidFill>
          <a:ln>
            <a:noFill/>
          </a:ln>
        </p:spPr>
        <p:txBody>
          <a:bodyPr/>
          <a:lstStyle/>
          <a:p>
            <a:endParaRPr/>
          </a:p>
        </p:txBody>
      </p:sp>
      <p:sp>
        <p:nvSpPr>
          <p:cNvPr id="21" name="prompt"/>
          <p:cNvSpPr/>
          <p:nvPr/>
        </p:nvSpPr>
        <p:spPr>
          <a:xfrm>
            <a:off x="922800" y="2280000"/>
            <a:ext cx="5802847" cy="4288000"/>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Using the attached post data. Note: columns starting modeled_ are estimates —</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Instagram does not give audience data per post.</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Our goals: grow beyond Bandung, reach working adults aged 25-44, attract packaging buyers.</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1. Show how much of each format's and pillar's reach is estimated to come from</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   followers vs non-followers (</a:t>
            </a:r>
            <a:r>
              <a:rPr lang="en-US" sz="1200" b="0" i="0" u="none" strike="noStrike" cap="none" dirty="0" err="1">
                <a:solidFill>
                  <a:srgbClr val="FBF3E8"/>
                </a:solidFill>
                <a:latin typeface="DM Sans"/>
                <a:ea typeface="DM Sans"/>
                <a:cs typeface="DM Sans"/>
                <a:sym typeface="DM Sans"/>
              </a:rPr>
              <a:t>modeled_follower_reach_pct</a:t>
            </a:r>
            <a:r>
              <a:rPr lang="en-US" sz="1200" b="0" i="0" u="none" strike="noStrike" cap="none" dirty="0">
                <a:solidFill>
                  <a:srgbClr val="FBF3E8"/>
                </a:solidFill>
                <a:latin typeface="DM Sans"/>
                <a:ea typeface="DM Sans"/>
                <a:cs typeface="DM Sans"/>
                <a:sym typeface="DM Sans"/>
              </a:rPr>
              <a:t>).</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2. Show estimated audience by content pillar: top age group, female share, top region.</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   Which pillars reach a different audience from our usual one?</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3. For feed posts only (carousels and images), compare follows_per_1k_reach and</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   </a:t>
            </a:r>
            <a:r>
              <a:rPr lang="en-US" sz="1200" b="0" i="0" u="none" strike="noStrike" cap="none" dirty="0" err="1">
                <a:solidFill>
                  <a:srgbClr val="FBF3E8"/>
                </a:solidFill>
                <a:latin typeface="DM Sans"/>
                <a:ea typeface="DM Sans"/>
                <a:cs typeface="DM Sans"/>
                <a:sym typeface="DM Sans"/>
              </a:rPr>
              <a:t>profile_visit_rate_pct</a:t>
            </a:r>
            <a:r>
              <a:rPr lang="en-US" sz="1200" b="0" i="0" u="none" strike="noStrike" cap="none" dirty="0">
                <a:solidFill>
                  <a:srgbClr val="FBF3E8"/>
                </a:solidFill>
                <a:latin typeface="DM Sans"/>
                <a:ea typeface="DM Sans"/>
                <a:cs typeface="DM Sans"/>
                <a:sym typeface="DM Sans"/>
              </a:rPr>
              <a:t> by format and pillar. Reels do not report these —</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   say what that limits.</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4. Explain what the modeled columns can responsibly be used for,</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   and what we would need to measure for real.</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5. Give me two audience recommendations and one risk.</a:t>
            </a:r>
          </a:p>
        </p:txBody>
      </p:sp>
      <p:sp>
        <p:nvSpPr>
          <p:cNvPr id="22" name="steps"/>
          <p:cNvSpPr/>
          <p:nvPr/>
        </p:nvSpPr>
        <p:spPr>
          <a:xfrm>
            <a:off x="7035647" y="2170000"/>
            <a:ext cx="4343553" cy="450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1</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Attach loopcycle_post_kpis.csv (plus audience CSVs if time allows).</a:t>
            </a:r>
          </a:p>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2</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Paste the prompt.</a:t>
            </a:r>
          </a:p>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3</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Follow-up: "Turn this into a one-page audience summary my team can use when planning content."</a:t>
            </a:r>
          </a:p>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4</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Ask: what is the difference between estimated and measured data?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dirty="0">
                <a:solidFill>
                  <a:srgbClr val="B5532B"/>
                </a:solidFill>
                <a:latin typeface="DM Sans"/>
                <a:ea typeface="DM Sans"/>
                <a:cs typeface="DM Sans"/>
                <a:sym typeface="DM Sans"/>
              </a:rPr>
              <a:t>ANALYSE · Q2 ANSWER KEY</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Who are we reaching? Facilitator findings</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13" name="findings"/>
          <p:cNvSpPr/>
          <p:nvPr/>
        </p:nvSpPr>
        <p:spPr>
          <a:xfrm>
            <a:off x="812800" y="2151385"/>
            <a:ext cx="6551168" cy="4506615"/>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Estimated follower share: images ~70%, carousels ~50%, Reels ~28% — Reels mostly reach new audiences.</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Follows per 1K reach (feed only): carousels 3.4, images 1.8. Reels cannot be compared — real measurement gap.</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Estimated top age group: 25-34 for 26 of 30 posts. Education posts skew 18-24.</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Female share: highest Loop Tote posts (~62%), lowest B2B posts (~42%).</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Greater Jakarta top estimated region for most posts. Behind-the-scenes posts skew to Bandung.</a:t>
            </a:r>
          </a:p>
          <a:p>
            <a:pPr marL="0" marR="0" lvl="0" indent="0" algn="l" rtl="0">
              <a:lnSpc>
                <a:spcPct val="135000"/>
              </a:lnSpc>
              <a:spcBef>
                <a:spcPts val="100"/>
              </a:spcBef>
              <a:spcAft>
                <a:spcPts val="0"/>
              </a:spcAft>
              <a:buNone/>
            </a:pPr>
            <a:endParaRPr lang="en-US" sz="1250" b="0" i="0" u="none" strike="noStrike" cap="none" dirty="0">
              <a:solidFill>
                <a:srgbClr val="1E3A2F"/>
              </a:solidFill>
              <a:latin typeface="DM Sans"/>
              <a:ea typeface="DM Sans"/>
              <a:cs typeface="DM Sans"/>
              <a:sym typeface="DM Sans"/>
            </a:endParaRPr>
          </a:p>
          <a:p>
            <a:pPr marL="0" marR="0" lvl="0" indent="0" algn="l" rtl="0">
              <a:lnSpc>
                <a:spcPct val="135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TRAP: modeled audience is largely the follower base blended with general reach — not independent evidence.</a:t>
            </a:r>
          </a:p>
        </p:txBody>
      </p:sp>
      <p:sp>
        <p:nvSpPr>
          <p:cNvPr id="20" name="tpbg"/>
          <p:cNvSpPr/>
          <p:nvPr/>
        </p:nvSpPr>
        <p:spPr>
          <a:xfrm>
            <a:off x="7563968" y="2151385"/>
            <a:ext cx="3815232" cy="4506615"/>
          </a:xfrm>
          <a:prstGeom prst="rect">
            <a:avLst/>
          </a:prstGeom>
          <a:solidFill>
            <a:srgbClr val="1E3A2F"/>
          </a:solidFill>
          <a:ln>
            <a:noFill/>
          </a:ln>
        </p:spPr>
        <p:txBody>
          <a:bodyPr/>
          <a:lstStyle/>
          <a:p>
            <a:endParaRPr/>
          </a:p>
        </p:txBody>
      </p:sp>
      <p:sp>
        <p:nvSpPr>
          <p:cNvPr id="21" name="tp"/>
          <p:cNvSpPr/>
          <p:nvPr/>
        </p:nvSpPr>
        <p:spPr>
          <a:xfrm>
            <a:off x="7673968" y="2261385"/>
            <a:ext cx="3595232" cy="42866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100" b="1" i="0" u="none" strike="noStrike" cap="none">
                <a:solidFill>
                  <a:srgbClr val="FBF3E8"/>
                </a:solidFill>
                <a:latin typeface="DM Sans"/>
                <a:ea typeface="DM Sans"/>
                <a:cs typeface="DM Sans"/>
                <a:sym typeface="DM Sans"/>
              </a:rPr>
              <a:t>Teaching point</a:t>
            </a:r>
          </a:p>
          <a:p>
            <a:endParaRPr lang="en-US" sz="1100" b="1" i="0" u="none" strike="noStrike" cap="none">
              <a:solidFill>
                <a:srgbClr val="FBF3E8"/>
              </a:solidFill>
              <a:latin typeface="DM Sans"/>
              <a:ea typeface="DM Sans"/>
              <a:cs typeface="DM Sans"/>
              <a:sym typeface="DM Sans"/>
            </a:endParaRPr>
          </a:p>
          <a:p>
            <a:pPr marL="0" marR="0" lvl="0" indent="0" algn="l" rtl="0">
              <a:lnSpc>
                <a:spcPct val="138000"/>
              </a:lnSpc>
              <a:spcBef>
                <a:spcPts val="0"/>
              </a:spcBef>
              <a:spcAft>
                <a:spcPts val="0"/>
              </a:spcAft>
              <a:buNone/>
            </a:pPr>
            <a:r>
              <a:rPr lang="en-US" sz="1250" b="0" i="0" u="none" strike="noStrike" cap="none">
                <a:solidFill>
                  <a:srgbClr val="FBF3E8"/>
                </a:solidFill>
                <a:latin typeface="DM Sans"/>
                <a:ea typeface="DM Sans"/>
                <a:cs typeface="DM Sans"/>
                <a:sym typeface="DM Sans"/>
              </a:rPr>
              <a:t>Ask the AI to separate real from estimated data, and to say what it would take to measure the gap for real.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dirty="0">
                <a:solidFill>
                  <a:srgbClr val="B5532B"/>
                </a:solidFill>
                <a:latin typeface="DM Sans"/>
                <a:ea typeface="DM Sans"/>
                <a:cs typeface="DM Sans"/>
                <a:sym typeface="DM Sans"/>
              </a:rPr>
              <a:t>ANALYSE · QUESTION </a:t>
            </a:r>
            <a:r>
              <a:rPr lang="en-US" sz="1200" b="1" dirty="0">
                <a:solidFill>
                  <a:srgbClr val="B5532B"/>
                </a:solidFill>
                <a:latin typeface="DM Sans"/>
                <a:ea typeface="DM Sans"/>
                <a:cs typeface="DM Sans"/>
                <a:sym typeface="DM Sans"/>
              </a:rPr>
              <a:t>3</a:t>
            </a:r>
            <a:r>
              <a:rPr lang="en-US" sz="1200" b="1" i="0" u="none" strike="noStrike" cap="none" dirty="0">
                <a:solidFill>
                  <a:srgbClr val="B5532B"/>
                </a:solidFill>
                <a:latin typeface="DM Sans"/>
                <a:ea typeface="DM Sans"/>
                <a:cs typeface="DM Sans"/>
                <a:sym typeface="DM Sans"/>
              </a:rPr>
              <a:t> OF 3</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What should we post next month?</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20" name="promptbg"/>
          <p:cNvSpPr/>
          <p:nvPr/>
        </p:nvSpPr>
        <p:spPr>
          <a:xfrm>
            <a:off x="812800" y="2170000"/>
            <a:ext cx="6022847" cy="4508000"/>
          </a:xfrm>
          <a:prstGeom prst="rect">
            <a:avLst/>
          </a:prstGeom>
          <a:solidFill>
            <a:srgbClr val="1E3A2F"/>
          </a:solidFill>
          <a:ln>
            <a:noFill/>
          </a:ln>
        </p:spPr>
        <p:txBody>
          <a:bodyPr/>
          <a:lstStyle/>
          <a:p>
            <a:endParaRPr/>
          </a:p>
        </p:txBody>
      </p:sp>
      <p:sp>
        <p:nvSpPr>
          <p:cNvPr id="21" name="prompt"/>
          <p:cNvSpPr/>
          <p:nvPr/>
        </p:nvSpPr>
        <p:spPr>
          <a:xfrm>
            <a:off x="922800" y="2280000"/>
            <a:ext cx="5802847" cy="4288000"/>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Based on everything we found in this conversation, create a 4-week Instagram plan</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for @</a:t>
            </a:r>
            <a:r>
              <a:rPr lang="en-US" sz="1200" b="0" i="0" u="none" strike="noStrike" cap="none" dirty="0" err="1">
                <a:solidFill>
                  <a:srgbClr val="FBF3E8"/>
                </a:solidFill>
                <a:latin typeface="DM Sans"/>
                <a:ea typeface="DM Sans"/>
                <a:cs typeface="DM Sans"/>
                <a:sym typeface="DM Sans"/>
              </a:rPr>
              <a:t>loopcycle.nusantara</a:t>
            </a:r>
            <a:r>
              <a:rPr lang="en-US" sz="1200" b="0" i="0" u="none" strike="noStrike" cap="none" dirty="0">
                <a:solidFill>
                  <a:srgbClr val="FBF3E8"/>
                </a:solidFill>
                <a:latin typeface="DM Sans"/>
                <a:ea typeface="DM Sans"/>
                <a:cs typeface="DM Sans"/>
                <a:sym typeface="DM Sans"/>
              </a:rPr>
              <a:t> with 12 posts.</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Constraints: we post ~3 times a week and have one person making content.</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Goals in order: (1) sell more Loop Totes, (2) build trust through waste-picker</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stories, (3) attract packaging buyers.</a:t>
            </a:r>
          </a:p>
          <a:p>
            <a:endParaRPr lang="en-US" sz="1200" b="0" i="0" u="none" strike="noStrike" cap="none" dirty="0">
              <a:solidFill>
                <a:srgbClr val="FBF3E8"/>
              </a:solidFill>
              <a:latin typeface="DM Sans"/>
              <a:ea typeface="DM Sans"/>
              <a:cs typeface="DM Sans"/>
              <a:sym typeface="DM Sans"/>
            </a:endParaRP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Output:</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1. A table: week, day, time (WIB), format, pillar, topic idea, goal, metric.</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2. For each row, one line starting "Because the data showed..." that points to</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   a specific finding. If there is no evidence, say "test".</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3. Two experiments, each with a decision rule (what result keeps or drops the idea).</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4. The three biggest limits of this data.</a:t>
            </a:r>
          </a:p>
          <a:p>
            <a:pPr marL="0" marR="0" lvl="0" indent="0" algn="l" rtl="0">
              <a:lnSpc>
                <a:spcPct val="128000"/>
              </a:lnSpc>
              <a:spcBef>
                <a:spcPts val="0"/>
              </a:spcBef>
              <a:spcAft>
                <a:spcPts val="0"/>
              </a:spcAft>
              <a:buNone/>
            </a:pPr>
            <a:r>
              <a:rPr lang="en-US" sz="1200" b="0" i="0" u="none" strike="noStrike" cap="none" dirty="0">
                <a:solidFill>
                  <a:srgbClr val="FBF3E8"/>
                </a:solidFill>
                <a:latin typeface="DM Sans"/>
                <a:ea typeface="DM Sans"/>
                <a:cs typeface="DM Sans"/>
                <a:sym typeface="DM Sans"/>
              </a:rPr>
              <a:t>5. Finally, argue against your own plan: what could make it wrong?</a:t>
            </a:r>
          </a:p>
        </p:txBody>
      </p:sp>
      <p:sp>
        <p:nvSpPr>
          <p:cNvPr id="22" name="steps"/>
          <p:cNvSpPr/>
          <p:nvPr/>
        </p:nvSpPr>
        <p:spPr>
          <a:xfrm>
            <a:off x="7035647" y="2170000"/>
            <a:ext cx="4343553" cy="450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1</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Stay in the same chat (all 5 questions in context).</a:t>
            </a:r>
          </a:p>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2</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Paste the prompt.</a:t>
            </a:r>
          </a:p>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3</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Follow-up: "Turn the plan into a CSV I can import into a content calendar."</a:t>
            </a:r>
          </a:p>
          <a:p>
            <a:pPr marL="0" marR="0" lvl="0" indent="0" algn="l" rtl="0">
              <a:lnSpc>
                <a:spcPct val="100000"/>
              </a:lnSpc>
              <a:spcBef>
                <a:spcPts val="200"/>
              </a:spcBef>
              <a:spcAft>
                <a:spcPts val="0"/>
              </a:spcAft>
              <a:buNone/>
            </a:pPr>
            <a:r>
              <a:rPr lang="en-US" sz="2000" b="0" i="0" u="none" strike="noStrike" cap="none">
                <a:solidFill>
                  <a:srgbClr val="B5532B"/>
                </a:solidFill>
                <a:latin typeface="Fraunces"/>
                <a:ea typeface="Fraunces"/>
                <a:cs typeface="Fraunces"/>
                <a:sym typeface="Fraunces"/>
              </a:rPr>
              <a:t>4</a:t>
            </a:r>
          </a:p>
          <a:p>
            <a:pPr marL="0" marR="0" lvl="0" indent="0" algn="l" rtl="0">
              <a:lnSpc>
                <a:spcPct val="128000"/>
              </a:lnSpc>
              <a:spcBef>
                <a:spcPts val="0"/>
              </a:spcBef>
              <a:spcAft>
                <a:spcPts val="0"/>
              </a:spcAft>
              <a:buNone/>
            </a:pPr>
            <a:r>
              <a:rPr lang="en-US" sz="1300" b="0" i="0" u="none" strike="noStrike" cap="none">
                <a:solidFill>
                  <a:srgbClr val="1E3A2F"/>
                </a:solidFill>
                <a:latin typeface="DM Sans"/>
                <a:ea typeface="DM Sans"/>
                <a:cs typeface="DM Sans"/>
                <a:sym typeface="DM Sans"/>
              </a:rPr>
              <a:t>Follow-up: "Write caption drafts for week 1 in our brand voice: warm, direct, no jargon."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dirty="0">
                <a:solidFill>
                  <a:srgbClr val="B5532B"/>
                </a:solidFill>
                <a:latin typeface="DM Sans"/>
                <a:ea typeface="DM Sans"/>
                <a:cs typeface="DM Sans"/>
                <a:sym typeface="DM Sans"/>
              </a:rPr>
              <a:t>ANALYSE · Q3 ANSWER KEY</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000" b="0" i="0" u="none" strike="noStrike" cap="none">
                <a:solidFill>
                  <a:srgbClr val="1E3A2F"/>
                </a:solidFill>
                <a:latin typeface="Fraunces"/>
                <a:ea typeface="Fraunces"/>
                <a:cs typeface="Fraunces"/>
                <a:sym typeface="Fraunces"/>
              </a:rPr>
              <a:t>What should we post next month? What good looks like</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13" name="findings"/>
          <p:cNvSpPr/>
          <p:nvPr/>
        </p:nvSpPr>
        <p:spPr>
          <a:xfrm>
            <a:off x="812800" y="2151385"/>
            <a:ext cx="6551168" cy="4506615"/>
          </a:xfrm>
          <a:prstGeom prst="rect">
            <a:avLst/>
          </a:prstGeom>
          <a:noFill/>
          <a:ln>
            <a:noFill/>
          </a:ln>
        </p:spPr>
        <p:txBody>
          <a:bodyPr spcFirstLastPara="1" wrap="square" lIns="0" tIns="0" rIns="0" bIns="0" anchor="t" anchorCtr="0">
            <a:noAutofit/>
          </a:bodyPr>
          <a:lstStyle/>
          <a:p>
            <a:pPr marL="0" marR="0" lvl="0" indent="0" algn="l" rtl="0">
              <a:lnSpc>
                <a:spcPct val="200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Mixes Reels (reach, new audiences) with carousels (saves, purchase intent).</a:t>
            </a:r>
          </a:p>
          <a:p>
            <a:pPr marL="0" marR="0" lvl="0" indent="0" algn="l" rtl="0">
              <a:lnSpc>
                <a:spcPct val="200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Uses Loop Tote content for purchase goal; picker stories for trust-building.</a:t>
            </a:r>
          </a:p>
          <a:p>
            <a:pPr marL="0" marR="0" lvl="0" indent="0" algn="l" rtl="0">
              <a:lnSpc>
                <a:spcPct val="200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Links every choice to a real Q1-Q4 finding; marks the rest as "test".</a:t>
            </a:r>
          </a:p>
          <a:p>
            <a:pPr marL="0" marR="0" lvl="0" indent="0" algn="l" rtl="0">
              <a:lnSpc>
                <a:spcPct val="200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Includes a fair experiment: same format, different time, defined success metric.</a:t>
            </a:r>
          </a:p>
          <a:p>
            <a:pPr marL="0" marR="0" lvl="0" indent="0" algn="l" rtl="0">
              <a:lnSpc>
                <a:spcPct val="200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Does NOT invent numbers such as sales targets or follower projections.</a:t>
            </a:r>
          </a:p>
          <a:p>
            <a:pPr marL="0" marR="0" lvl="0" indent="0" algn="l" rtl="0">
              <a:lnSpc>
                <a:spcPct val="200000"/>
              </a:lnSpc>
              <a:spcBef>
                <a:spcPts val="100"/>
              </a:spcBef>
              <a:spcAft>
                <a:spcPts val="0"/>
              </a:spcAft>
              <a:buNone/>
            </a:pPr>
            <a:r>
              <a:rPr lang="en-US" sz="1250" b="0" i="0" u="none" strike="noStrike" cap="none" dirty="0">
                <a:solidFill>
                  <a:srgbClr val="1E3A2F"/>
                </a:solidFill>
                <a:latin typeface="DM Sans"/>
                <a:ea typeface="DM Sans"/>
                <a:cs typeface="DM Sans"/>
                <a:sym typeface="DM Sans"/>
              </a:rPr>
              <a:t>•  Argues against its own plan: e.g. "sample patterns from 30 posts may not hold".</a:t>
            </a:r>
          </a:p>
        </p:txBody>
      </p:sp>
      <p:sp>
        <p:nvSpPr>
          <p:cNvPr id="20" name="tpbg"/>
          <p:cNvSpPr/>
          <p:nvPr/>
        </p:nvSpPr>
        <p:spPr>
          <a:xfrm>
            <a:off x="7563968" y="2151385"/>
            <a:ext cx="3815232" cy="4506615"/>
          </a:xfrm>
          <a:prstGeom prst="rect">
            <a:avLst/>
          </a:prstGeom>
          <a:solidFill>
            <a:srgbClr val="1E3A2F"/>
          </a:solidFill>
          <a:ln>
            <a:noFill/>
          </a:ln>
        </p:spPr>
        <p:txBody>
          <a:bodyPr/>
          <a:lstStyle/>
          <a:p>
            <a:endParaRPr/>
          </a:p>
        </p:txBody>
      </p:sp>
      <p:sp>
        <p:nvSpPr>
          <p:cNvPr id="21" name="tp"/>
          <p:cNvSpPr/>
          <p:nvPr/>
        </p:nvSpPr>
        <p:spPr>
          <a:xfrm>
            <a:off x="7673968" y="2261385"/>
            <a:ext cx="3595232" cy="42866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100" b="1" i="0" u="none" strike="noStrike" cap="none">
                <a:solidFill>
                  <a:srgbClr val="FBF3E8"/>
                </a:solidFill>
                <a:latin typeface="DM Sans"/>
                <a:ea typeface="DM Sans"/>
                <a:cs typeface="DM Sans"/>
                <a:sym typeface="DM Sans"/>
              </a:rPr>
              <a:t>Teaching point</a:t>
            </a:r>
          </a:p>
          <a:p>
            <a:endParaRPr lang="en-US" sz="1100" b="1" i="0" u="none" strike="noStrike" cap="none">
              <a:solidFill>
                <a:srgbClr val="FBF3E8"/>
              </a:solidFill>
              <a:latin typeface="DM Sans"/>
              <a:ea typeface="DM Sans"/>
              <a:cs typeface="DM Sans"/>
              <a:sym typeface="DM Sans"/>
            </a:endParaRPr>
          </a:p>
          <a:p>
            <a:pPr marL="0" marR="0" lvl="0" indent="0" algn="l" rtl="0">
              <a:lnSpc>
                <a:spcPct val="138000"/>
              </a:lnSpc>
              <a:spcBef>
                <a:spcPts val="0"/>
              </a:spcBef>
              <a:spcAft>
                <a:spcPts val="0"/>
              </a:spcAft>
              <a:buNone/>
            </a:pPr>
            <a:r>
              <a:rPr lang="en-US" sz="1250" b="0" i="0" u="none" strike="noStrike" cap="none">
                <a:solidFill>
                  <a:srgbClr val="FBF3E8"/>
                </a:solidFill>
                <a:latin typeface="DM Sans"/>
                <a:ea typeface="DM Sans"/>
                <a:cs typeface="DM Sans"/>
                <a:sym typeface="DM Sans"/>
              </a:rPr>
              <a:t>Ask the AI to critique itself. The data tells you what happened. You decide what it means for next month.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a:solidFill>
                  <a:srgbClr val="B5532B"/>
                </a:solidFill>
                <a:latin typeface="DM Sans"/>
                <a:ea typeface="DM Sans"/>
                <a:cs typeface="DM Sans"/>
                <a:sym typeface="DM Sans"/>
              </a:rPr>
              <a:t>ANALYSE · WRAP-UP</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600" b="0" i="0" u="none" strike="noStrike" cap="none">
                <a:solidFill>
                  <a:srgbClr val="1E3A2F"/>
                </a:solidFill>
                <a:latin typeface="Fraunces"/>
                <a:ea typeface="Fraunces"/>
                <a:cs typeface="Fraunces"/>
                <a:sym typeface="Fraunces"/>
              </a:rPr>
              <a:t>What makes these prompts work</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13" name="body"/>
          <p:cNvSpPr/>
          <p:nvPr/>
        </p:nvSpPr>
        <p:spPr>
          <a:xfrm>
            <a:off x="812800" y="2151385"/>
            <a:ext cx="10566400" cy="45066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600" b="1" i="0" u="none" strike="noStrike" cap="none">
                <a:solidFill>
                  <a:srgbClr val="1E3A2F"/>
                </a:solidFill>
                <a:latin typeface="DM Sans"/>
                <a:ea typeface="DM Sans"/>
                <a:cs typeface="DM Sans"/>
                <a:sym typeface="DM Sans"/>
              </a:rPr>
              <a:t>Six ingredients of a useful data prompt</a:t>
            </a:r>
          </a:p>
          <a:p>
            <a:endParaRPr lang="en-US" sz="1600" b="1" i="0" u="none" strike="noStrike" cap="none">
              <a:solidFill>
                <a:srgbClr val="1E3A2F"/>
              </a:solidFill>
              <a:latin typeface="DM Sans"/>
              <a:ea typeface="DM Sans"/>
              <a:cs typeface="DM Sans"/>
              <a:sym typeface="DM Sans"/>
            </a:endParaRPr>
          </a:p>
          <a:p>
            <a:pPr marL="0" marR="0" lvl="0" indent="0" algn="l" rtl="0">
              <a:lnSpc>
                <a:spcPct val="120000"/>
              </a:lnSpc>
              <a:spcBef>
                <a:spcPts val="150"/>
              </a:spcBef>
              <a:spcAft>
                <a:spcPts val="0"/>
              </a:spcAft>
              <a:buNone/>
            </a:pPr>
            <a:r>
              <a:rPr lang="en-US" sz="1300" b="1" i="0" u="none" strike="noStrike" cap="none">
                <a:solidFill>
                  <a:srgbClr val="B5532B"/>
                </a:solidFill>
                <a:latin typeface="DM Sans"/>
                <a:ea typeface="DM Sans"/>
                <a:cs typeface="DM Sans"/>
                <a:sym typeface="DM Sans"/>
              </a:rPr>
              <a:t>Business question first</a:t>
            </a:r>
          </a:p>
          <a:p>
            <a:pPr marL="0" marR="0" lvl="0" indent="0" algn="l" rtl="0">
              <a:lnSpc>
                <a:spcPct val="120000"/>
              </a:lnSpc>
              <a:spcBef>
                <a:spcPts val="0"/>
              </a:spcBef>
              <a:spcAft>
                <a:spcPts val="0"/>
              </a:spcAft>
              <a:buNone/>
            </a:pPr>
            <a:r>
              <a:rPr lang="en-US" sz="1200" b="0" i="0" u="none" strike="noStrike" cap="none">
                <a:solidFill>
                  <a:srgbClr val="1E3A2F"/>
                </a:solidFill>
                <a:latin typeface="DM Sans"/>
                <a:ea typeface="DM Sans"/>
                <a:cs typeface="DM Sans"/>
                <a:sym typeface="DM Sans"/>
              </a:rPr>
              <a:t>   "Which formats should we invest more in?"</a:t>
            </a:r>
          </a:p>
          <a:p>
            <a:pPr marL="0" marR="0" lvl="0" indent="0" algn="l" rtl="0">
              <a:lnSpc>
                <a:spcPct val="120000"/>
              </a:lnSpc>
              <a:spcBef>
                <a:spcPts val="150"/>
              </a:spcBef>
              <a:spcAft>
                <a:spcPts val="0"/>
              </a:spcAft>
              <a:buNone/>
            </a:pPr>
            <a:r>
              <a:rPr lang="en-US" sz="1300" b="1" i="0" u="none" strike="noStrike" cap="none">
                <a:solidFill>
                  <a:srgbClr val="B5532B"/>
                </a:solidFill>
                <a:latin typeface="DM Sans"/>
                <a:ea typeface="DM Sans"/>
                <a:cs typeface="DM Sans"/>
                <a:sym typeface="DM Sans"/>
              </a:rPr>
              <a:t>Context</a:t>
            </a:r>
          </a:p>
          <a:p>
            <a:pPr marL="0" marR="0" lvl="0" indent="0" algn="l" rtl="0">
              <a:lnSpc>
                <a:spcPct val="120000"/>
              </a:lnSpc>
              <a:spcBef>
                <a:spcPts val="0"/>
              </a:spcBef>
              <a:spcAft>
                <a:spcPts val="0"/>
              </a:spcAft>
              <a:buNone/>
            </a:pPr>
            <a:r>
              <a:rPr lang="en-US" sz="1200" b="0" i="0" u="none" strike="noStrike" cap="none">
                <a:solidFill>
                  <a:srgbClr val="1E3A2F"/>
                </a:solidFill>
                <a:latin typeface="DM Sans"/>
                <a:ea typeface="DM Sans"/>
                <a:cs typeface="DM Sans"/>
                <a:sym typeface="DM Sans"/>
              </a:rPr>
              <a:t>   Who you are, what you sell, what Instagram does for you</a:t>
            </a:r>
          </a:p>
          <a:p>
            <a:pPr marL="0" marR="0" lvl="0" indent="0" algn="l" rtl="0">
              <a:lnSpc>
                <a:spcPct val="120000"/>
              </a:lnSpc>
              <a:spcBef>
                <a:spcPts val="150"/>
              </a:spcBef>
              <a:spcAft>
                <a:spcPts val="0"/>
              </a:spcAft>
              <a:buNone/>
            </a:pPr>
            <a:r>
              <a:rPr lang="en-US" sz="1300" b="1" i="0" u="none" strike="noStrike" cap="none">
                <a:solidFill>
                  <a:srgbClr val="B5532B"/>
                </a:solidFill>
                <a:latin typeface="DM Sans"/>
                <a:ea typeface="DM Sans"/>
                <a:cs typeface="DM Sans"/>
                <a:sym typeface="DM Sans"/>
              </a:rPr>
              <a:t>Data described</a:t>
            </a:r>
          </a:p>
          <a:p>
            <a:pPr marL="0" marR="0" lvl="0" indent="0" algn="l" rtl="0">
              <a:lnSpc>
                <a:spcPct val="120000"/>
              </a:lnSpc>
              <a:spcBef>
                <a:spcPts val="0"/>
              </a:spcBef>
              <a:spcAft>
                <a:spcPts val="0"/>
              </a:spcAft>
              <a:buNone/>
            </a:pPr>
            <a:r>
              <a:rPr lang="en-US" sz="1200" b="0" i="0" u="none" strike="noStrike" cap="none">
                <a:solidFill>
                  <a:srgbClr val="1E3A2F"/>
                </a:solidFill>
                <a:latin typeface="DM Sans"/>
                <a:ea typeface="DM Sans"/>
                <a:cs typeface="DM Sans"/>
                <a:sym typeface="DM Sans"/>
              </a:rPr>
              <a:t>   What each column means, what is blank and why</a:t>
            </a:r>
          </a:p>
          <a:p>
            <a:pPr marL="0" marR="0" lvl="0" indent="0" algn="l" rtl="0">
              <a:lnSpc>
                <a:spcPct val="120000"/>
              </a:lnSpc>
              <a:spcBef>
                <a:spcPts val="150"/>
              </a:spcBef>
              <a:spcAft>
                <a:spcPts val="0"/>
              </a:spcAft>
              <a:buNone/>
            </a:pPr>
            <a:r>
              <a:rPr lang="en-US" sz="1300" b="1" i="0" u="none" strike="noStrike" cap="none">
                <a:solidFill>
                  <a:srgbClr val="B5532B"/>
                </a:solidFill>
                <a:latin typeface="DM Sans"/>
                <a:ea typeface="DM Sans"/>
                <a:cs typeface="DM Sans"/>
                <a:sym typeface="DM Sans"/>
              </a:rPr>
              <a:t>Specific steps</a:t>
            </a:r>
          </a:p>
          <a:p>
            <a:pPr marL="0" marR="0" lvl="0" indent="0" algn="l" rtl="0">
              <a:lnSpc>
                <a:spcPct val="120000"/>
              </a:lnSpc>
              <a:spcBef>
                <a:spcPts val="0"/>
              </a:spcBef>
              <a:spcAft>
                <a:spcPts val="0"/>
              </a:spcAft>
              <a:buNone/>
            </a:pPr>
            <a:r>
              <a:rPr lang="en-US" sz="1200" b="0" i="0" u="none" strike="noStrike" cap="none">
                <a:solidFill>
                  <a:srgbClr val="1E3A2F"/>
                </a:solidFill>
                <a:latin typeface="DM Sans"/>
                <a:ea typeface="DM Sans"/>
                <a:cs typeface="DM Sans"/>
                <a:sym typeface="DM Sans"/>
              </a:rPr>
              <a:t>   Numbered tasks with named columns</a:t>
            </a:r>
          </a:p>
          <a:p>
            <a:pPr marL="0" marR="0" lvl="0" indent="0" algn="l" rtl="0">
              <a:lnSpc>
                <a:spcPct val="120000"/>
              </a:lnSpc>
              <a:spcBef>
                <a:spcPts val="150"/>
              </a:spcBef>
              <a:spcAft>
                <a:spcPts val="0"/>
              </a:spcAft>
              <a:buNone/>
            </a:pPr>
            <a:r>
              <a:rPr lang="en-US" sz="1300" b="1" i="0" u="none" strike="noStrike" cap="none">
                <a:solidFill>
                  <a:srgbClr val="B5532B"/>
                </a:solidFill>
                <a:latin typeface="DM Sans"/>
                <a:ea typeface="DM Sans"/>
                <a:cs typeface="DM Sans"/>
                <a:sym typeface="DM Sans"/>
              </a:rPr>
              <a:t>Checks built in</a:t>
            </a:r>
          </a:p>
          <a:p>
            <a:pPr marL="0" marR="0" lvl="0" indent="0" algn="l" rtl="0">
              <a:lnSpc>
                <a:spcPct val="120000"/>
              </a:lnSpc>
              <a:spcBef>
                <a:spcPts val="0"/>
              </a:spcBef>
              <a:spcAft>
                <a:spcPts val="0"/>
              </a:spcAft>
              <a:buNone/>
            </a:pPr>
            <a:r>
              <a:rPr lang="en-US" sz="1200" b="0" i="0" u="none" strike="noStrike" cap="none">
                <a:solidFill>
                  <a:srgbClr val="1E3A2F"/>
                </a:solidFill>
                <a:latin typeface="DM Sans"/>
                <a:ea typeface="DM Sans"/>
                <a:cs typeface="DM Sans"/>
                <a:sym typeface="DM Sans"/>
              </a:rPr>
              <a:t>   Sample sizes, outliers, confounds, what cannot be concluded</a:t>
            </a:r>
          </a:p>
          <a:p>
            <a:pPr marL="0" marR="0" lvl="0" indent="0" algn="l" rtl="0">
              <a:lnSpc>
                <a:spcPct val="120000"/>
              </a:lnSpc>
              <a:spcBef>
                <a:spcPts val="150"/>
              </a:spcBef>
              <a:spcAft>
                <a:spcPts val="0"/>
              </a:spcAft>
              <a:buNone/>
            </a:pPr>
            <a:r>
              <a:rPr lang="en-US" sz="1300" b="1" i="0" u="none" strike="noStrike" cap="none">
                <a:solidFill>
                  <a:srgbClr val="B5532B"/>
                </a:solidFill>
                <a:latin typeface="DM Sans"/>
                <a:ea typeface="DM Sans"/>
                <a:cs typeface="DM Sans"/>
                <a:sym typeface="DM Sans"/>
              </a:rPr>
              <a:t>A decision at the end</a:t>
            </a:r>
          </a:p>
          <a:p>
            <a:pPr marL="0" marR="0" lvl="0" indent="0" algn="l" rtl="0">
              <a:lnSpc>
                <a:spcPct val="120000"/>
              </a:lnSpc>
              <a:spcBef>
                <a:spcPts val="0"/>
              </a:spcBef>
              <a:spcAft>
                <a:spcPts val="0"/>
              </a:spcAft>
              <a:buNone/>
            </a:pPr>
            <a:r>
              <a:rPr lang="en-US" sz="1200" b="0" i="0" u="none" strike="noStrike" cap="none">
                <a:solidFill>
                  <a:srgbClr val="1E3A2F"/>
                </a:solidFill>
                <a:latin typeface="DM Sans"/>
                <a:ea typeface="DM Sans"/>
                <a:cs typeface="DM Sans"/>
                <a:sym typeface="DM Sans"/>
              </a:rPr>
              <a:t>   Recommendation, content plan, or experiment design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1"/>
        <p:cNvGrpSpPr/>
        <p:nvPr/>
      </p:nvGrpSpPr>
      <p:grpSpPr>
        <a:xfrm>
          <a:off x="0" y="0"/>
          <a:ext cx="0" cy="0"/>
          <a:chOff x="0" y="0"/>
          <a:chExt cx="0" cy="0"/>
        </a:xfrm>
      </p:grpSpPr>
      <p:sp>
        <p:nvSpPr>
          <p:cNvPr id="10" name="label"/>
          <p:cNvSpPr/>
          <p:nvPr/>
        </p:nvSpPr>
        <p:spPr>
          <a:xfrm>
            <a:off x="812800" y="812800"/>
            <a:ext cx="10566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i="0" u="none" strike="noStrike" cap="none">
                <a:solidFill>
                  <a:srgbClr val="B5532B"/>
                </a:solidFill>
                <a:latin typeface="DM Sans"/>
                <a:ea typeface="DM Sans"/>
                <a:cs typeface="DM Sans"/>
                <a:sym typeface="DM Sans"/>
              </a:rPr>
              <a:t>ANALYSE · WRAP-UP</a:t>
            </a:r>
          </a:p>
        </p:txBody>
      </p:sp>
      <p:sp>
        <p:nvSpPr>
          <p:cNvPr id="11" name="title"/>
          <p:cNvSpPr/>
          <p:nvPr/>
        </p:nvSpPr>
        <p:spPr>
          <a:xfrm>
            <a:off x="812800" y="1280158"/>
            <a:ext cx="10566400"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3600" b="0" i="0" u="none" strike="noStrike" cap="none">
                <a:solidFill>
                  <a:srgbClr val="1E3A2F"/>
                </a:solidFill>
                <a:latin typeface="Fraunces"/>
                <a:ea typeface="Fraunces"/>
                <a:cs typeface="Fraunces"/>
                <a:sym typeface="Fraunces"/>
              </a:rPr>
              <a:t>Keeping yourself honest</a:t>
            </a:r>
          </a:p>
        </p:txBody>
      </p:sp>
      <p:cxnSp>
        <p:nvCxnSpPr>
          <p:cNvPr id="99" name="line"/>
          <p:cNvCxnSpPr/>
          <p:nvPr/>
        </p:nvCxnSpPr>
        <p:spPr>
          <a:xfrm>
            <a:off x="812800" y="2043435"/>
            <a:ext cx="10566400" cy="0"/>
          </a:xfrm>
          <a:prstGeom prst="straightConnector1">
            <a:avLst/>
          </a:prstGeom>
          <a:noFill/>
          <a:ln w="12700" cap="flat" cmpd="sng">
            <a:solidFill>
              <a:srgbClr val="D9CDB6"/>
            </a:solidFill>
            <a:prstDash val="solid"/>
          </a:ln>
        </p:spPr>
      </p:cxnSp>
      <p:sp>
        <p:nvSpPr>
          <p:cNvPr id="13" name="body"/>
          <p:cNvSpPr/>
          <p:nvPr/>
        </p:nvSpPr>
        <p:spPr>
          <a:xfrm>
            <a:off x="812800" y="2151385"/>
            <a:ext cx="10566400" cy="4506615"/>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None/>
            </a:pPr>
            <a:r>
              <a:rPr lang="en-US" sz="1300" b="1" i="0" u="none" strike="noStrike" cap="none">
                <a:solidFill>
                  <a:srgbClr val="B5532B"/>
                </a:solidFill>
                <a:latin typeface="DM Sans"/>
                <a:ea typeface="DM Sans"/>
                <a:cs typeface="DM Sans"/>
                <a:sym typeface="DM Sans"/>
              </a:rPr>
              <a:t>1  Spot-check a number</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   Pick one figure and recompute it in Excel or Sheets.</a:t>
            </a:r>
          </a:p>
          <a:p>
            <a:endParaRPr lang="en-US" sz="1200" b="0" i="0" u="none" strike="noStrike" cap="none">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a:solidFill>
                  <a:srgbClr val="B5532B"/>
                </a:solidFill>
                <a:latin typeface="DM Sans"/>
                <a:ea typeface="DM Sans"/>
                <a:cs typeface="DM Sans"/>
                <a:sym typeface="DM Sans"/>
              </a:rPr>
              <a:t>2  Ask for the working</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   "Show the calculation and the posts you used."</a:t>
            </a:r>
          </a:p>
          <a:p>
            <a:endParaRPr lang="en-US" sz="1200" b="0" i="0" u="none" strike="noStrike" cap="none">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a:solidFill>
                  <a:srgbClr val="B5532B"/>
                </a:solidFill>
                <a:latin typeface="DM Sans"/>
                <a:ea typeface="DM Sans"/>
                <a:cs typeface="DM Sans"/>
                <a:sym typeface="DM Sans"/>
              </a:rPr>
              <a:t>3  Ask for the opposite view</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   "What would someone who disagrees with this recommendation say?"</a:t>
            </a:r>
          </a:p>
          <a:p>
            <a:endParaRPr lang="en-US" sz="1200" b="0" i="0" u="none" strike="noStrike" cap="none">
              <a:solidFill>
                <a:srgbClr val="1E3A2F"/>
              </a:solidFill>
              <a:latin typeface="DM Sans"/>
              <a:ea typeface="DM Sans"/>
              <a:cs typeface="DM Sans"/>
              <a:sym typeface="DM Sans"/>
            </a:endParaRPr>
          </a:p>
          <a:p>
            <a:pPr marL="0" marR="0" lvl="0" indent="0" algn="l" rtl="0">
              <a:lnSpc>
                <a:spcPct val="130000"/>
              </a:lnSpc>
              <a:spcBef>
                <a:spcPts val="0"/>
              </a:spcBef>
              <a:spcAft>
                <a:spcPts val="0"/>
              </a:spcAft>
              <a:buNone/>
            </a:pPr>
            <a:r>
              <a:rPr lang="en-US" sz="1300" b="1" i="0" u="none" strike="noStrike" cap="none">
                <a:solidFill>
                  <a:srgbClr val="B5532B"/>
                </a:solidFill>
                <a:latin typeface="DM Sans"/>
                <a:ea typeface="DM Sans"/>
                <a:cs typeface="DM Sans"/>
                <a:sym typeface="DM Sans"/>
              </a:rPr>
              <a:t>4  Watch for confident language on small samples</a:t>
            </a:r>
          </a:p>
          <a:p>
            <a:pPr marL="0" marR="0" lvl="0" indent="0" algn="l" rtl="0">
              <a:lnSpc>
                <a:spcPct val="130000"/>
              </a:lnSpc>
              <a:spcBef>
                <a:spcPts val="0"/>
              </a:spcBef>
              <a:spcAft>
                <a:spcPts val="0"/>
              </a:spcAft>
              <a:buNone/>
            </a:pPr>
            <a:r>
              <a:rPr lang="en-US" sz="1200" b="0" i="0" u="none" strike="noStrike" cap="none">
                <a:solidFill>
                  <a:srgbClr val="1E3A2F"/>
                </a:solidFill>
                <a:latin typeface="DM Sans"/>
                <a:ea typeface="DM Sans"/>
                <a:cs typeface="DM Sans"/>
                <a:sym typeface="DM Sans"/>
              </a:rPr>
              <a:t>   Words like "proves" or "clearly shows" on fewer than 5 posts are red flags.</a:t>
            </a:r>
          </a:p>
          <a:p>
            <a:endParaRPr lang="en-US" sz="1200" b="0" i="0" u="none" strike="noStrike" cap="none">
              <a:solidFill>
                <a:srgbClr val="1E3A2F"/>
              </a:solidFill>
              <a:latin typeface="DM Sans"/>
              <a:ea typeface="DM Sans"/>
              <a:cs typeface="DM Sans"/>
              <a:sym typeface="DM Sans"/>
            </a:endParaRPr>
          </a:p>
          <a:p>
            <a:pPr marL="0" marR="0" lvl="0" indent="0" algn="l" rtl="0">
              <a:lnSpc>
                <a:spcPct val="140000"/>
              </a:lnSpc>
              <a:spcBef>
                <a:spcPts val="0"/>
              </a:spcBef>
              <a:spcAft>
                <a:spcPts val="0"/>
              </a:spcAft>
              <a:buNone/>
            </a:pPr>
            <a:r>
              <a:rPr lang="en-US" sz="1400" b="1" i="0" u="none" strike="noStrike" cap="none">
                <a:solidFill>
                  <a:srgbClr val="1E3A2F"/>
                </a:solidFill>
                <a:latin typeface="DM Sans"/>
                <a:ea typeface="DM Sans"/>
                <a:cs typeface="DM Sans"/>
                <a:sym typeface="DM Sans"/>
              </a:rPr>
              <a:t>Wrap-up question for the room</a:t>
            </a:r>
          </a:p>
          <a:p>
            <a:pPr marL="0" marR="0" lvl="0" indent="0" algn="l" rtl="0">
              <a:lnSpc>
                <a:spcPct val="130000"/>
              </a:lnSpc>
              <a:spcBef>
                <a:spcPts val="0"/>
              </a:spcBef>
              <a:spcAft>
                <a:spcPts val="0"/>
              </a:spcAft>
              <a:buNone/>
            </a:pPr>
            <a:r>
              <a:rPr lang="en-US" sz="1300" b="0" i="1" u="none" strike="noStrike" cap="none">
                <a:solidFill>
                  <a:srgbClr val="1E3A2F"/>
                </a:solidFill>
                <a:latin typeface="DM Sans"/>
                <a:ea typeface="DM Sans"/>
                <a:cs typeface="DM Sans"/>
                <a:sym typeface="DM Sans"/>
              </a:rPr>
              <a:t>"Which of the five answers would you act on tomorrow, which would you test first,</a:t>
            </a:r>
          </a:p>
          <a:p>
            <a:pPr marL="0" marR="0" lvl="0" indent="0" algn="l" rtl="0">
              <a:lnSpc>
                <a:spcPct val="130000"/>
              </a:lnSpc>
              <a:spcBef>
                <a:spcPts val="0"/>
              </a:spcBef>
              <a:spcAft>
                <a:spcPts val="0"/>
              </a:spcAft>
              <a:buNone/>
            </a:pPr>
            <a:r>
              <a:rPr lang="en-US" sz="1300" b="0" i="1" u="none" strike="noStrike" cap="none">
                <a:solidFill>
                  <a:srgbClr val="1E3A2F"/>
                </a:solidFill>
                <a:latin typeface="DM Sans"/>
                <a:ea typeface="DM Sans"/>
                <a:cs typeface="DM Sans"/>
                <a:sym typeface="DM Sans"/>
              </a:rPr>
              <a:t> and which would you ignore because the data cannot support it?"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B5532B"/>
        </a:solidFill>
        <a:effectLst/>
      </p:bgPr>
    </p:bg>
    <p:spTree>
      <p:nvGrpSpPr>
        <p:cNvPr id="1" name=""/>
        <p:cNvGrpSpPr/>
        <p:nvPr/>
      </p:nvGrpSpPr>
      <p:grpSpPr>
        <a:xfrm>
          <a:off x="0" y="0"/>
          <a:ext cx="0" cy="0"/>
          <a:chOff x="0" y="0"/>
          <a:chExt cx="0" cy="0"/>
        </a:xfrm>
      </p:grpSpPr>
      <p:sp>
        <p:nvSpPr>
          <p:cNvPr id="2" name="TextBox 1"/>
          <p:cNvSpPr txBox="1"/>
          <p:nvPr/>
        </p:nvSpPr>
        <p:spPr>
          <a:xfrm>
            <a:off x="813816" y="1938528"/>
            <a:ext cx="10570464" cy="237744"/>
          </a:xfrm>
          <a:prstGeom prst="rect">
            <a:avLst/>
          </a:prstGeom>
          <a:noFill/>
        </p:spPr>
        <p:txBody>
          <a:bodyPr wrap="square">
            <a:spAutoFit/>
          </a:bodyPr>
          <a:lstStyle/>
          <a:p>
            <a:pPr algn="l"/>
            <a:r>
              <a:rPr sz="800" b="1" i="0">
                <a:solidFill>
                  <a:srgbClr val="FBF3E8"/>
                </a:solidFill>
              </a:rPr>
              <a:t>PART FIVE · REVIEWS &amp; COMMENTS</a:t>
            </a:r>
          </a:p>
        </p:txBody>
      </p:sp>
      <p:sp>
        <p:nvSpPr>
          <p:cNvPr id="3" name="TextBox 2"/>
          <p:cNvSpPr txBox="1"/>
          <p:nvPr/>
        </p:nvSpPr>
        <p:spPr>
          <a:xfrm>
            <a:off x="813816" y="2368296"/>
            <a:ext cx="10570464" cy="822960"/>
          </a:xfrm>
          <a:prstGeom prst="rect">
            <a:avLst/>
          </a:prstGeom>
          <a:noFill/>
        </p:spPr>
        <p:txBody>
          <a:bodyPr wrap="square">
            <a:spAutoFit/>
          </a:bodyPr>
          <a:lstStyle/>
          <a:p>
            <a:pPr algn="l"/>
            <a:r>
              <a:rPr sz="4600" b="0" i="0">
                <a:solidFill>
                  <a:srgbClr val="FBF3E8"/>
                </a:solidFill>
              </a:rPr>
              <a:t>Analyse customer reviews</a:t>
            </a:r>
          </a:p>
        </p:txBody>
      </p:sp>
      <p:sp>
        <p:nvSpPr>
          <p:cNvPr id="4" name="TextBox 3"/>
          <p:cNvSpPr txBox="1"/>
          <p:nvPr/>
        </p:nvSpPr>
        <p:spPr>
          <a:xfrm>
            <a:off x="813816" y="3017520"/>
            <a:ext cx="10570464" cy="822960"/>
          </a:xfrm>
          <a:prstGeom prst="rect">
            <a:avLst/>
          </a:prstGeom>
          <a:noFill/>
        </p:spPr>
        <p:txBody>
          <a:bodyPr wrap="square">
            <a:spAutoFit/>
          </a:bodyPr>
          <a:lstStyle/>
          <a:p>
            <a:pPr algn="l"/>
            <a:r>
              <a:rPr sz="4600" b="0" i="0">
                <a:solidFill>
                  <a:srgbClr val="FBF3E8"/>
                </a:solidFill>
              </a:rPr>
              <a:t>and comments with AI.</a:t>
            </a:r>
          </a:p>
        </p:txBody>
      </p:sp>
      <p:sp>
        <p:nvSpPr>
          <p:cNvPr id="5" name="TextBox 4"/>
          <p:cNvSpPr txBox="1"/>
          <p:nvPr/>
        </p:nvSpPr>
        <p:spPr>
          <a:xfrm>
            <a:off x="813816" y="4160520"/>
            <a:ext cx="10067544" cy="749808"/>
          </a:xfrm>
          <a:prstGeom prst="rect">
            <a:avLst/>
          </a:prstGeom>
          <a:noFill/>
        </p:spPr>
        <p:txBody>
          <a:bodyPr wrap="square">
            <a:spAutoFit/>
          </a:bodyPr>
          <a:lstStyle/>
          <a:p>
            <a:pPr algn="l"/>
            <a:r>
              <a:rPr sz="1650" b="0" i="0">
                <a:solidFill>
                  <a:srgbClr val="FBF3E8"/>
                </a:solidFill>
              </a:rPr>
              <a:t>5 questions, 5 prompts — 358 product reviews · 1,515 Instagram comments · 8 platforms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SETUP</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700" b="0" i="0">
                <a:solidFill>
                  <a:srgbClr val="1E3A2F"/>
                </a:solidFill>
              </a:rPr>
              <a:t>What participants need</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5184648" cy="4507992"/>
          </a:xfrm>
          <a:prstGeom prst="rect">
            <a:avLst/>
          </a:prstGeom>
          <a:noFill/>
        </p:spPr>
        <p:txBody>
          <a:bodyPr wrap="square">
            <a:spAutoFit/>
          </a:bodyPr>
          <a:lstStyle/>
          <a:p>
            <a:pPr algn="l"/>
            <a:r>
              <a:rPr sz="1060" b="1">
                <a:solidFill>
                  <a:srgbClr val="B5532B"/>
                </a:solidFill>
              </a:rPr>
              <a:t>Files you need</a:t>
            </a:r>
          </a:p>
          <a:p>
            <a:pPr algn="l"/>
            <a:endParaRPr sz="1060" b="1">
              <a:solidFill>
                <a:srgbClr val="B5532B"/>
              </a:solidFill>
            </a:endParaRPr>
          </a:p>
          <a:p>
            <a:pPr algn="l"/>
            <a:r>
              <a:rPr sz="980" b="1">
                <a:solidFill>
                  <a:srgbClr val="1E3A2F"/>
                </a:solidFill>
              </a:rPr>
              <a:t>Review files (one per platform)</a:t>
            </a:r>
          </a:p>
          <a:p>
            <a:pPr algn="l"/>
            <a:r>
              <a:rPr sz="910" b="0">
                <a:solidFill>
                  <a:srgbClr val="1E3A2F"/>
                </a:solidFill>
              </a:rPr>
              <a:t>loopcycle_reviews_amazon / shopee / tokopedia / tiktok_shop /
lazada / blibli / shopify_website / google_store.csv
(358 reviews in total — column names differ by platform)</a:t>
            </a:r>
          </a:p>
          <a:p>
            <a:pPr algn="l"/>
            <a:endParaRPr sz="910" b="0">
              <a:solidFill>
                <a:srgbClr val="1E3A2F"/>
              </a:solidFill>
            </a:endParaRPr>
          </a:p>
          <a:p>
            <a:pPr algn="l"/>
            <a:r>
              <a:rPr sz="980" b="1">
                <a:solidFill>
                  <a:srgbClr val="1E3A2F"/>
                </a:solidFill>
              </a:rPr>
              <a:t>loopcycle_instagram_comments.csv</a:t>
            </a:r>
          </a:p>
          <a:p>
            <a:pPr algn="l"/>
            <a:r>
              <a:rPr sz="910" b="0">
                <a:solidFill>
                  <a:srgbClr val="1E3A2F"/>
                </a:solidFill>
              </a:rPr>
              <a:t>1,515 comments on 8 Loop Tote posts, including brand replies.</a:t>
            </a:r>
          </a:p>
          <a:p>
            <a:pPr algn="l"/>
            <a:endParaRPr sz="910" b="0">
              <a:solidFill>
                <a:srgbClr val="1E3A2F"/>
              </a:solidFill>
            </a:endParaRPr>
          </a:p>
          <a:p>
            <a:pPr algn="l"/>
            <a:r>
              <a:rPr sz="980" b="1">
                <a:solidFill>
                  <a:srgbClr val="1E3A2F"/>
                </a:solidFill>
              </a:rPr>
              <a:t>loopcycle_tote_orders.csv  (optional)</a:t>
            </a:r>
          </a:p>
          <a:p>
            <a:pPr algn="l"/>
            <a:r>
              <a:rPr sz="910" b="0">
                <a:solidFill>
                  <a:srgbClr val="1E3A2F"/>
                </a:solidFill>
              </a:rPr>
              <a:t>Link reviews to orders for delivery-time follow-ups.</a:t>
            </a:r>
          </a:p>
        </p:txBody>
      </p:sp>
      <p:sp>
        <p:nvSpPr>
          <p:cNvPr id="6" name="TextBox 5"/>
          <p:cNvSpPr txBox="1"/>
          <p:nvPr/>
        </p:nvSpPr>
        <p:spPr>
          <a:xfrm>
            <a:off x="6199632" y="2148840"/>
            <a:ext cx="5184648" cy="4507992"/>
          </a:xfrm>
          <a:prstGeom prst="rect">
            <a:avLst/>
          </a:prstGeom>
          <a:noFill/>
        </p:spPr>
        <p:txBody>
          <a:bodyPr wrap="square">
            <a:spAutoFit/>
          </a:bodyPr>
          <a:lstStyle/>
          <a:p>
            <a:pPr algn="l"/>
            <a:r>
              <a:rPr sz="1060" b="1">
                <a:solidFill>
                  <a:srgbClr val="B5532B"/>
                </a:solidFill>
              </a:rPr>
              <a:t>Tell participants before they start</a:t>
            </a:r>
          </a:p>
          <a:p>
            <a:pPr algn="l"/>
            <a:endParaRPr sz="1060" b="1">
              <a:solidFill>
                <a:srgbClr val="B5532B"/>
              </a:solidFill>
            </a:endParaRPr>
          </a:p>
          <a:p>
            <a:pPr algn="l"/>
            <a:r>
              <a:rPr sz="980" b="1">
                <a:solidFill>
                  <a:srgbClr val="1E3A2F"/>
                </a:solidFill>
              </a:rPr>
              <a:t>1  The data is synthetic.</a:t>
            </a:r>
          </a:p>
          <a:p>
            <a:pPr algn="l"/>
            <a:r>
              <a:rPr sz="910" b="0">
                <a:solidFill>
                  <a:srgbClr val="1E3A2F"/>
                </a:solidFill>
              </a:rPr>
              <a:t>Do not treat any figure as real.</a:t>
            </a:r>
          </a:p>
          <a:p>
            <a:pPr algn="l"/>
            <a:endParaRPr sz="910" b="0">
              <a:solidFill>
                <a:srgbClr val="1E3A2F"/>
              </a:solidFill>
            </a:endParaRPr>
          </a:p>
          <a:p>
            <a:pPr algn="l"/>
            <a:r>
              <a:rPr sz="980" b="1">
                <a:solidFill>
                  <a:srgbClr val="1E3A2F"/>
                </a:solidFill>
              </a:rPr>
              <a:t>2  Answer keys are hidden in the last two columns.</a:t>
            </a:r>
          </a:p>
          <a:p>
            <a:pPr algn="l"/>
            <a:r>
              <a:rPr sz="910" b="0">
                <a:solidFill>
                  <a:srgbClr val="1E3A2F"/>
                </a:solidFill>
              </a:rPr>
              <a:t>synthetic_sentiment_label and synthetic_topic are answer keys. The prompts tell the AI not to use them until the checking step.</a:t>
            </a:r>
          </a:p>
          <a:p>
            <a:pPr algn="l"/>
            <a:endParaRPr sz="910" b="0">
              <a:solidFill>
                <a:srgbClr val="1E3A2F"/>
              </a:solidFill>
            </a:endParaRPr>
          </a:p>
          <a:p>
            <a:pPr algn="l"/>
            <a:r>
              <a:rPr sz="980" b="1">
                <a:solidFill>
                  <a:srgbClr val="1E3A2F"/>
                </a:solidFill>
              </a:rPr>
              <a:t>3  Platforms do not behave alike.</a:t>
            </a:r>
          </a:p>
          <a:p>
            <a:pPr algn="l"/>
            <a:r>
              <a:rPr sz="910" b="0">
                <a:solidFill>
                  <a:srgbClr val="1E3A2F"/>
                </a:solidFill>
              </a:rPr>
              <a:t>Some files have no reply column, one has three ratings, and dates come in different formats.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SHARED CONTEXT</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Paste this first — before any question</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656832"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437376" cy="4288536"/>
          </a:xfrm>
          <a:prstGeom prst="rect">
            <a:avLst/>
          </a:prstGeom>
          <a:noFill/>
        </p:spPr>
        <p:txBody>
          <a:bodyPr wrap="square">
            <a:spAutoFit/>
          </a:bodyPr>
          <a:lstStyle/>
          <a:p>
            <a:pPr algn="l"/>
            <a:r>
              <a:rPr sz="900" dirty="0">
                <a:solidFill>
                  <a:srgbClr val="FBF3E8"/>
                </a:solidFill>
              </a:rPr>
              <a:t>You are a customer-insight analyst helping a small social enterprise.</a:t>
            </a:r>
          </a:p>
          <a:p>
            <a:pPr algn="l"/>
            <a:endParaRPr sz="900" dirty="0">
              <a:solidFill>
                <a:srgbClr val="FBF3E8"/>
              </a:solidFill>
            </a:endParaRPr>
          </a:p>
          <a:p>
            <a:pPr algn="l"/>
            <a:r>
              <a:rPr sz="900" dirty="0">
                <a:solidFill>
                  <a:srgbClr val="FBF3E8"/>
                </a:solidFill>
              </a:rPr>
              <a:t>Context: </a:t>
            </a:r>
            <a:r>
              <a:rPr sz="900" dirty="0" err="1">
                <a:solidFill>
                  <a:srgbClr val="FBF3E8"/>
                </a:solidFill>
              </a:rPr>
              <a:t>LoopCycle</a:t>
            </a:r>
            <a:r>
              <a:rPr sz="900" dirty="0">
                <a:solidFill>
                  <a:srgbClr val="FBF3E8"/>
                </a:solidFill>
              </a:rPr>
              <a:t> Nusantara (Bandung, Indonesia) sells the Loop Tote,</a:t>
            </a:r>
          </a:p>
          <a:p>
            <a:pPr algn="l"/>
            <a:r>
              <a:rPr sz="900" dirty="0">
                <a:solidFill>
                  <a:srgbClr val="FBF3E8"/>
                </a:solidFill>
              </a:rPr>
              <a:t>a tote bag made from 14 recycled bottles, sourced from registered waste</a:t>
            </a:r>
          </a:p>
          <a:p>
            <a:pPr algn="l"/>
            <a:r>
              <a:rPr sz="900" dirty="0">
                <a:solidFill>
                  <a:srgbClr val="FBF3E8"/>
                </a:solidFill>
              </a:rPr>
              <a:t>pickers. Our platforms: Shopee, Tokopedia, TikTok Shop, Lazada, Blibli,</a:t>
            </a:r>
          </a:p>
          <a:p>
            <a:pPr algn="l"/>
            <a:r>
              <a:rPr sz="900" dirty="0">
                <a:solidFill>
                  <a:srgbClr val="FBF3E8"/>
                </a:solidFill>
              </a:rPr>
              <a:t>Shopify website, Amazon, Google store, and Instagram (@</a:t>
            </a:r>
            <a:r>
              <a:rPr sz="900" dirty="0" err="1">
                <a:solidFill>
                  <a:srgbClr val="FBF3E8"/>
                </a:solidFill>
              </a:rPr>
              <a:t>loopcycle.nusantara</a:t>
            </a:r>
            <a:r>
              <a:rPr sz="900" dirty="0">
                <a:solidFill>
                  <a:srgbClr val="FBF3E8"/>
                </a:solidFill>
              </a:rPr>
              <a:t>).</a:t>
            </a:r>
          </a:p>
          <a:p>
            <a:pPr algn="l"/>
            <a:endParaRPr sz="900" dirty="0">
              <a:solidFill>
                <a:srgbClr val="FBF3E8"/>
              </a:solidFill>
            </a:endParaRPr>
          </a:p>
          <a:p>
            <a:pPr algn="l"/>
            <a:r>
              <a:rPr sz="900" dirty="0">
                <a:solidFill>
                  <a:srgbClr val="FBF3E8"/>
                </a:solidFill>
              </a:rPr>
              <a:t>Data (all English, all synthetic):</a:t>
            </a:r>
          </a:p>
          <a:p>
            <a:pPr algn="l"/>
            <a:r>
              <a:rPr sz="900" dirty="0">
                <a:solidFill>
                  <a:srgbClr val="FBF3E8"/>
                </a:solidFill>
              </a:rPr>
              <a:t>- 8 review CSV files (358 reviews total). Column names differ by platform.</a:t>
            </a:r>
          </a:p>
          <a:p>
            <a:pPr algn="l"/>
            <a:r>
              <a:rPr sz="900" dirty="0">
                <a:solidFill>
                  <a:srgbClr val="FBF3E8"/>
                </a:solidFill>
              </a:rPr>
              <a:t>  Amazon: rating | </a:t>
            </a:r>
            <a:r>
              <a:rPr sz="900" dirty="0" err="1">
                <a:solidFill>
                  <a:srgbClr val="FBF3E8"/>
                </a:solidFill>
              </a:rPr>
              <a:t>review_title</a:t>
            </a:r>
            <a:r>
              <a:rPr sz="900" dirty="0">
                <a:solidFill>
                  <a:srgbClr val="FBF3E8"/>
                </a:solidFill>
              </a:rPr>
              <a:t> + </a:t>
            </a:r>
            <a:r>
              <a:rPr sz="900" dirty="0" err="1">
                <a:solidFill>
                  <a:srgbClr val="FBF3E8"/>
                </a:solidFill>
              </a:rPr>
              <a:t>review_text</a:t>
            </a:r>
            <a:r>
              <a:rPr sz="900" dirty="0">
                <a:solidFill>
                  <a:srgbClr val="FBF3E8"/>
                </a:solidFill>
              </a:rPr>
              <a:t> | </a:t>
            </a:r>
            <a:r>
              <a:rPr sz="900" dirty="0" err="1">
                <a:solidFill>
                  <a:srgbClr val="FBF3E8"/>
                </a:solidFill>
              </a:rPr>
              <a:t>review_date</a:t>
            </a:r>
            <a:endParaRPr sz="900" dirty="0">
              <a:solidFill>
                <a:srgbClr val="FBF3E8"/>
              </a:solidFill>
            </a:endParaRPr>
          </a:p>
          <a:p>
            <a:pPr algn="l"/>
            <a:r>
              <a:rPr sz="900" dirty="0">
                <a:solidFill>
                  <a:srgbClr val="FBF3E8"/>
                </a:solidFill>
              </a:rPr>
              <a:t>  Shopee: </a:t>
            </a:r>
            <a:r>
              <a:rPr sz="900" dirty="0" err="1">
                <a:solidFill>
                  <a:srgbClr val="FBF3E8"/>
                </a:solidFill>
              </a:rPr>
              <a:t>rating_star</a:t>
            </a:r>
            <a:r>
              <a:rPr sz="900" dirty="0">
                <a:solidFill>
                  <a:srgbClr val="FBF3E8"/>
                </a:solidFill>
              </a:rPr>
              <a:t> | comment | </a:t>
            </a:r>
            <a:r>
              <a:rPr sz="900" dirty="0" err="1">
                <a:solidFill>
                  <a:srgbClr val="FBF3E8"/>
                </a:solidFill>
              </a:rPr>
              <a:t>seller_reply</a:t>
            </a:r>
            <a:r>
              <a:rPr sz="900" dirty="0">
                <a:solidFill>
                  <a:srgbClr val="FBF3E8"/>
                </a:solidFill>
              </a:rPr>
              <a:t> | </a:t>
            </a:r>
            <a:r>
              <a:rPr sz="900" dirty="0" err="1">
                <a:solidFill>
                  <a:srgbClr val="FBF3E8"/>
                </a:solidFill>
              </a:rPr>
              <a:t>create_time</a:t>
            </a:r>
            <a:r>
              <a:rPr sz="900" dirty="0">
                <a:solidFill>
                  <a:srgbClr val="FBF3E8"/>
                </a:solidFill>
              </a:rPr>
              <a:t> (Unix)</a:t>
            </a:r>
          </a:p>
          <a:p>
            <a:pPr algn="l"/>
            <a:r>
              <a:rPr sz="900" dirty="0">
                <a:solidFill>
                  <a:srgbClr val="FBF3E8"/>
                </a:solidFill>
              </a:rPr>
              <a:t>  Tokopedia: rating | </a:t>
            </a:r>
            <a:r>
              <a:rPr sz="900" dirty="0" err="1">
                <a:solidFill>
                  <a:srgbClr val="FBF3E8"/>
                </a:solidFill>
              </a:rPr>
              <a:t>review_message</a:t>
            </a:r>
            <a:r>
              <a:rPr sz="900" dirty="0">
                <a:solidFill>
                  <a:srgbClr val="FBF3E8"/>
                </a:solidFill>
              </a:rPr>
              <a:t> | </a:t>
            </a:r>
            <a:r>
              <a:rPr sz="900" dirty="0" err="1">
                <a:solidFill>
                  <a:srgbClr val="FBF3E8"/>
                </a:solidFill>
              </a:rPr>
              <a:t>seller_response</a:t>
            </a:r>
            <a:r>
              <a:rPr sz="900" dirty="0">
                <a:solidFill>
                  <a:srgbClr val="FBF3E8"/>
                </a:solidFill>
              </a:rPr>
              <a:t> | </a:t>
            </a:r>
            <a:r>
              <a:rPr sz="900" dirty="0" err="1">
                <a:solidFill>
                  <a:srgbClr val="FBF3E8"/>
                </a:solidFill>
              </a:rPr>
              <a:t>review_time</a:t>
            </a:r>
            <a:endParaRPr sz="900" dirty="0">
              <a:solidFill>
                <a:srgbClr val="FBF3E8"/>
              </a:solidFill>
            </a:endParaRPr>
          </a:p>
          <a:p>
            <a:pPr algn="l"/>
            <a:r>
              <a:rPr sz="900" dirty="0">
                <a:solidFill>
                  <a:srgbClr val="FBF3E8"/>
                </a:solidFill>
              </a:rPr>
              <a:t>  TikTok Shop: </a:t>
            </a:r>
            <a:r>
              <a:rPr sz="900" dirty="0" err="1">
                <a:solidFill>
                  <a:srgbClr val="FBF3E8"/>
                </a:solidFill>
              </a:rPr>
              <a:t>review_rating</a:t>
            </a:r>
            <a:r>
              <a:rPr sz="900" dirty="0">
                <a:solidFill>
                  <a:srgbClr val="FBF3E8"/>
                </a:solidFill>
              </a:rPr>
              <a:t> | </a:t>
            </a:r>
            <a:r>
              <a:rPr sz="900" dirty="0" err="1">
                <a:solidFill>
                  <a:srgbClr val="FBF3E8"/>
                </a:solidFill>
              </a:rPr>
              <a:t>review_content</a:t>
            </a:r>
            <a:r>
              <a:rPr sz="900" dirty="0">
                <a:solidFill>
                  <a:srgbClr val="FBF3E8"/>
                </a:solidFill>
              </a:rPr>
              <a:t> | </a:t>
            </a:r>
            <a:r>
              <a:rPr sz="900" dirty="0" err="1">
                <a:solidFill>
                  <a:srgbClr val="FBF3E8"/>
                </a:solidFill>
              </a:rPr>
              <a:t>seller_reply</a:t>
            </a:r>
            <a:endParaRPr sz="900" dirty="0">
              <a:solidFill>
                <a:srgbClr val="FBF3E8"/>
              </a:solidFill>
            </a:endParaRPr>
          </a:p>
          <a:p>
            <a:pPr algn="l"/>
            <a:r>
              <a:rPr sz="900" dirty="0">
                <a:solidFill>
                  <a:srgbClr val="FBF3E8"/>
                </a:solidFill>
              </a:rPr>
              <a:t>  Lazada: </a:t>
            </a:r>
            <a:r>
              <a:rPr sz="900" dirty="0" err="1">
                <a:solidFill>
                  <a:srgbClr val="FBF3E8"/>
                </a:solidFill>
              </a:rPr>
              <a:t>product_rating</a:t>
            </a:r>
            <a:r>
              <a:rPr sz="900" dirty="0">
                <a:solidFill>
                  <a:srgbClr val="FBF3E8"/>
                </a:solidFill>
              </a:rPr>
              <a:t> (+ </a:t>
            </a:r>
            <a:r>
              <a:rPr sz="900" dirty="0" err="1">
                <a:solidFill>
                  <a:srgbClr val="FBF3E8"/>
                </a:solidFill>
              </a:rPr>
              <a:t>seller_rating</a:t>
            </a:r>
            <a:r>
              <a:rPr sz="900" dirty="0">
                <a:solidFill>
                  <a:srgbClr val="FBF3E8"/>
                </a:solidFill>
              </a:rPr>
              <a:t>, </a:t>
            </a:r>
            <a:r>
              <a:rPr sz="900" dirty="0" err="1">
                <a:solidFill>
                  <a:srgbClr val="FBF3E8"/>
                </a:solidFill>
              </a:rPr>
              <a:t>delivery_rating</a:t>
            </a:r>
            <a:r>
              <a:rPr sz="900" dirty="0">
                <a:solidFill>
                  <a:srgbClr val="FBF3E8"/>
                </a:solidFill>
              </a:rPr>
              <a:t>) | </a:t>
            </a:r>
            <a:r>
              <a:rPr sz="900" dirty="0" err="1">
                <a:solidFill>
                  <a:srgbClr val="FBF3E8"/>
                </a:solidFill>
              </a:rPr>
              <a:t>review_title</a:t>
            </a:r>
            <a:endParaRPr sz="900" dirty="0">
              <a:solidFill>
                <a:srgbClr val="FBF3E8"/>
              </a:solidFill>
            </a:endParaRPr>
          </a:p>
          <a:p>
            <a:pPr algn="l"/>
            <a:r>
              <a:rPr sz="900" dirty="0">
                <a:solidFill>
                  <a:srgbClr val="FBF3E8"/>
                </a:solidFill>
              </a:rPr>
              <a:t>  Blibli: rating | </a:t>
            </a:r>
            <a:r>
              <a:rPr sz="900" dirty="0" err="1">
                <a:solidFill>
                  <a:srgbClr val="FBF3E8"/>
                </a:solidFill>
              </a:rPr>
              <a:t>review_content</a:t>
            </a:r>
            <a:r>
              <a:rPr sz="900" dirty="0">
                <a:solidFill>
                  <a:srgbClr val="FBF3E8"/>
                </a:solidFill>
              </a:rPr>
              <a:t> | </a:t>
            </a:r>
            <a:r>
              <a:rPr sz="900" dirty="0" err="1">
                <a:solidFill>
                  <a:srgbClr val="FBF3E8"/>
                </a:solidFill>
              </a:rPr>
              <a:t>merchant_reply</a:t>
            </a:r>
            <a:r>
              <a:rPr sz="900" dirty="0">
                <a:solidFill>
                  <a:srgbClr val="FBF3E8"/>
                </a:solidFill>
              </a:rPr>
              <a:t> | </a:t>
            </a:r>
            <a:r>
              <a:rPr sz="900" dirty="0" err="1">
                <a:solidFill>
                  <a:srgbClr val="FBF3E8"/>
                </a:solidFill>
              </a:rPr>
              <a:t>review_date</a:t>
            </a:r>
            <a:r>
              <a:rPr sz="900" dirty="0">
                <a:solidFill>
                  <a:srgbClr val="FBF3E8"/>
                </a:solidFill>
              </a:rPr>
              <a:t> (dd/mm/</a:t>
            </a:r>
            <a:r>
              <a:rPr sz="900" dirty="0" err="1">
                <a:solidFill>
                  <a:srgbClr val="FBF3E8"/>
                </a:solidFill>
              </a:rPr>
              <a:t>yyyy</a:t>
            </a:r>
            <a:r>
              <a:rPr sz="900" dirty="0">
                <a:solidFill>
                  <a:srgbClr val="FBF3E8"/>
                </a:solidFill>
              </a:rPr>
              <a:t>)</a:t>
            </a:r>
          </a:p>
          <a:p>
            <a:pPr algn="l"/>
            <a:r>
              <a:rPr sz="900" dirty="0">
                <a:solidFill>
                  <a:srgbClr val="FBF3E8"/>
                </a:solidFill>
              </a:rPr>
              <a:t>  Shopify website: rating | </a:t>
            </a:r>
            <a:r>
              <a:rPr sz="900" dirty="0" err="1">
                <a:solidFill>
                  <a:srgbClr val="FBF3E8"/>
                </a:solidFill>
              </a:rPr>
              <a:t>review_title</a:t>
            </a:r>
            <a:r>
              <a:rPr sz="900" dirty="0">
                <a:solidFill>
                  <a:srgbClr val="FBF3E8"/>
                </a:solidFill>
              </a:rPr>
              <a:t> + </a:t>
            </a:r>
            <a:r>
              <a:rPr sz="900" dirty="0" err="1">
                <a:solidFill>
                  <a:srgbClr val="FBF3E8"/>
                </a:solidFill>
              </a:rPr>
              <a:t>review_body</a:t>
            </a:r>
            <a:r>
              <a:rPr sz="900" dirty="0">
                <a:solidFill>
                  <a:srgbClr val="FBF3E8"/>
                </a:solidFill>
              </a:rPr>
              <a:t> | </a:t>
            </a:r>
            <a:r>
              <a:rPr sz="900" dirty="0" err="1">
                <a:solidFill>
                  <a:srgbClr val="FBF3E8"/>
                </a:solidFill>
              </a:rPr>
              <a:t>merchant_reply</a:t>
            </a:r>
            <a:endParaRPr sz="900" dirty="0">
              <a:solidFill>
                <a:srgbClr val="FBF3E8"/>
              </a:solidFill>
            </a:endParaRPr>
          </a:p>
          <a:p>
            <a:pPr algn="l"/>
            <a:r>
              <a:rPr sz="900" dirty="0">
                <a:solidFill>
                  <a:srgbClr val="FBF3E8"/>
                </a:solidFill>
              </a:rPr>
              <a:t>  Google store: </a:t>
            </a:r>
            <a:r>
              <a:rPr sz="900" dirty="0" err="1">
                <a:solidFill>
                  <a:srgbClr val="FBF3E8"/>
                </a:solidFill>
              </a:rPr>
              <a:t>star_rating</a:t>
            </a:r>
            <a:r>
              <a:rPr sz="900" dirty="0">
                <a:solidFill>
                  <a:srgbClr val="FBF3E8"/>
                </a:solidFill>
              </a:rPr>
              <a:t> | </a:t>
            </a:r>
            <a:r>
              <a:rPr sz="900" dirty="0" err="1">
                <a:solidFill>
                  <a:srgbClr val="FBF3E8"/>
                </a:solidFill>
              </a:rPr>
              <a:t>review_text</a:t>
            </a:r>
            <a:r>
              <a:rPr sz="900" dirty="0">
                <a:solidFill>
                  <a:srgbClr val="FBF3E8"/>
                </a:solidFill>
              </a:rPr>
              <a:t> | </a:t>
            </a:r>
            <a:r>
              <a:rPr sz="900" dirty="0" err="1">
                <a:solidFill>
                  <a:srgbClr val="FBF3E8"/>
                </a:solidFill>
              </a:rPr>
              <a:t>owner_response</a:t>
            </a:r>
            <a:endParaRPr sz="900" dirty="0">
              <a:solidFill>
                <a:srgbClr val="FBF3E8"/>
              </a:solidFill>
            </a:endParaRPr>
          </a:p>
          <a:p>
            <a:pPr algn="l"/>
            <a:r>
              <a:rPr sz="900" dirty="0">
                <a:solidFill>
                  <a:srgbClr val="FBF3E8"/>
                </a:solidFill>
              </a:rPr>
              <a:t>- </a:t>
            </a:r>
            <a:r>
              <a:rPr sz="900" dirty="0" err="1">
                <a:solidFill>
                  <a:srgbClr val="FBF3E8"/>
                </a:solidFill>
              </a:rPr>
              <a:t>loopcycle_instagram_comments.csv</a:t>
            </a:r>
            <a:r>
              <a:rPr sz="900" dirty="0">
                <a:solidFill>
                  <a:srgbClr val="FBF3E8"/>
                </a:solidFill>
              </a:rPr>
              <a:t>: 1,515 comments on 8 posts.</a:t>
            </a:r>
          </a:p>
          <a:p>
            <a:pPr algn="l"/>
            <a:r>
              <a:rPr sz="900" dirty="0">
                <a:solidFill>
                  <a:srgbClr val="FBF3E8"/>
                </a:solidFill>
              </a:rPr>
              <a:t>  Replies have a non-blank </a:t>
            </a:r>
            <a:r>
              <a:rPr sz="900" dirty="0" err="1">
                <a:solidFill>
                  <a:srgbClr val="FBF3E8"/>
                </a:solidFill>
              </a:rPr>
              <a:t>parent_comment_id</a:t>
            </a:r>
            <a:r>
              <a:rPr sz="900" dirty="0">
                <a:solidFill>
                  <a:srgbClr val="FBF3E8"/>
                </a:solidFill>
              </a:rPr>
              <a:t>.</a:t>
            </a:r>
          </a:p>
          <a:p>
            <a:pPr algn="l"/>
            <a:r>
              <a:rPr sz="900" dirty="0">
                <a:solidFill>
                  <a:srgbClr val="FBF3E8"/>
                </a:solidFill>
              </a:rPr>
              <a:t>- The last two columns (</a:t>
            </a:r>
            <a:r>
              <a:rPr sz="900" dirty="0" err="1">
                <a:solidFill>
                  <a:srgbClr val="FBF3E8"/>
                </a:solidFill>
              </a:rPr>
              <a:t>synthetic_sentiment_label</a:t>
            </a:r>
            <a:r>
              <a:rPr sz="900" dirty="0">
                <a:solidFill>
                  <a:srgbClr val="FBF3E8"/>
                </a:solidFill>
              </a:rPr>
              <a:t>, </a:t>
            </a:r>
            <a:r>
              <a:rPr sz="900" dirty="0" err="1">
                <a:solidFill>
                  <a:srgbClr val="FBF3E8"/>
                </a:solidFill>
              </a:rPr>
              <a:t>synthetic_topic</a:t>
            </a:r>
            <a:r>
              <a:rPr sz="900" dirty="0">
                <a:solidFill>
                  <a:srgbClr val="FBF3E8"/>
                </a:solidFill>
              </a:rPr>
              <a:t>)</a:t>
            </a:r>
          </a:p>
          <a:p>
            <a:pPr algn="l"/>
            <a:r>
              <a:rPr sz="900" dirty="0">
                <a:solidFill>
                  <a:srgbClr val="FBF3E8"/>
                </a:solidFill>
              </a:rPr>
              <a:t>  are answer keys — do not use them until I ask you to.</a:t>
            </a:r>
          </a:p>
          <a:p>
            <a:pPr algn="l"/>
            <a:endParaRPr sz="900" dirty="0">
              <a:solidFill>
                <a:srgbClr val="FBF3E8"/>
              </a:solidFill>
            </a:endParaRPr>
          </a:p>
          <a:p>
            <a:pPr algn="l"/>
            <a:r>
              <a:rPr sz="900" dirty="0">
                <a:solidFill>
                  <a:srgbClr val="FBF3E8"/>
                </a:solidFill>
              </a:rPr>
              <a:t>Rules: use only the data I give you. Show how many reviews or</a:t>
            </a:r>
          </a:p>
          <a:p>
            <a:pPr algn="l"/>
            <a:r>
              <a:rPr sz="900" dirty="0">
                <a:solidFill>
                  <a:srgbClr val="FBF3E8"/>
                </a:solidFill>
              </a:rPr>
              <a:t>comments sit behind every figure. Say clearly when a sample is too</a:t>
            </a:r>
          </a:p>
          <a:p>
            <a:pPr algn="l"/>
            <a:r>
              <a:rPr sz="900" dirty="0">
                <a:solidFill>
                  <a:srgbClr val="FBF3E8"/>
                </a:solidFill>
              </a:rPr>
              <a:t>small to draw conclusions. Never invent data or quotes.</a:t>
            </a:r>
          </a:p>
        </p:txBody>
      </p:sp>
      <p:sp>
        <p:nvSpPr>
          <p:cNvPr id="7" name="TextBox 6"/>
          <p:cNvSpPr txBox="1"/>
          <p:nvPr/>
        </p:nvSpPr>
        <p:spPr>
          <a:xfrm>
            <a:off x="7616952" y="2148840"/>
            <a:ext cx="440740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Open a new chat in ChatGPT, Claude or Gemini.</a:t>
            </a:r>
          </a:p>
          <a:p>
            <a:pPr algn="l"/>
            <a:r>
              <a:rPr sz="1500">
                <a:solidFill>
                  <a:srgbClr val="B5532B"/>
                </a:solidFill>
              </a:rPr>
              <a:t>2</a:t>
            </a:r>
          </a:p>
          <a:p>
            <a:pPr algn="l"/>
            <a:r>
              <a:rPr sz="980">
                <a:solidFill>
                  <a:srgbClr val="1E3A2F"/>
                </a:solidFill>
              </a:rPr>
              <a:t>Paste this context block first.</a:t>
            </a:r>
          </a:p>
          <a:p>
            <a:pPr algn="l"/>
            <a:r>
              <a:rPr sz="1500">
                <a:solidFill>
                  <a:srgbClr val="B5532B"/>
                </a:solidFill>
              </a:rPr>
              <a:t>3</a:t>
            </a:r>
          </a:p>
          <a:p>
            <a:pPr algn="l"/>
            <a:r>
              <a:rPr sz="980">
                <a:solidFill>
                  <a:srgbClr val="1E3A2F"/>
                </a:solidFill>
              </a:rPr>
              <a:t>Attach the review files and / or the Instagram comments file.</a:t>
            </a:r>
          </a:p>
          <a:p>
            <a:pPr algn="l"/>
            <a:r>
              <a:rPr sz="1500">
                <a:solidFill>
                  <a:srgbClr val="B5532B"/>
                </a:solidFill>
              </a:rPr>
              <a:t>4</a:t>
            </a:r>
          </a:p>
          <a:p>
            <a:pPr algn="l"/>
            <a:r>
              <a:rPr sz="980">
                <a:solidFill>
                  <a:srgbClr val="1E3A2F"/>
                </a:solidFill>
              </a:rPr>
              <a:t>Then paste your question prompt.</a:t>
            </a:r>
          </a:p>
          <a:p>
            <a:pPr algn="l"/>
            <a:r>
              <a:rPr sz="1500">
                <a:solidFill>
                  <a:srgbClr val="B5532B"/>
                </a:solidFill>
              </a:rPr>
              <a:t>5</a:t>
            </a:r>
          </a:p>
          <a:p>
            <a:pPr algn="l"/>
            <a:r>
              <a:rPr sz="980">
                <a:solidFill>
                  <a:srgbClr val="1E3A2F"/>
                </a:solidFill>
              </a:rPr>
              <a:t>Keep the same chat open for all 5 questions.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1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What are customers really saying?</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1754326"/>
          </a:xfrm>
          <a:prstGeom prst="rect">
            <a:avLst/>
          </a:prstGeom>
          <a:noFill/>
        </p:spPr>
        <p:txBody>
          <a:bodyPr wrap="square">
            <a:spAutoFit/>
          </a:bodyPr>
          <a:lstStyle/>
          <a:p>
            <a:pPr algn="l"/>
            <a:r>
              <a:rPr sz="900" dirty="0">
                <a:solidFill>
                  <a:srgbClr val="FBF3E8"/>
                </a:solidFill>
              </a:rPr>
              <a:t>Using the attached review and comment files:</a:t>
            </a:r>
          </a:p>
          <a:p>
            <a:pPr algn="l"/>
            <a:endParaRPr sz="900" dirty="0">
              <a:solidFill>
                <a:srgbClr val="FBF3E8"/>
              </a:solidFill>
            </a:endParaRPr>
          </a:p>
          <a:p>
            <a:pPr algn="l"/>
            <a:r>
              <a:rPr sz="900" dirty="0">
                <a:solidFill>
                  <a:srgbClr val="FBF3E8"/>
                </a:solidFill>
              </a:rPr>
              <a:t>1. Combine the 8 review files. Flag which columns you used for</a:t>
            </a:r>
            <a:r>
              <a:rPr lang="en-US" sz="900" dirty="0">
                <a:solidFill>
                  <a:srgbClr val="FBF3E8"/>
                </a:solidFill>
              </a:rPr>
              <a:t> </a:t>
            </a:r>
            <a:r>
              <a:rPr sz="900" dirty="0">
                <a:solidFill>
                  <a:srgbClr val="FBF3E8"/>
                </a:solidFill>
              </a:rPr>
              <a:t>rating, review text, reply and date on each platform.</a:t>
            </a:r>
          </a:p>
          <a:p>
            <a:pPr algn="l"/>
            <a:r>
              <a:rPr sz="900" dirty="0">
                <a:solidFill>
                  <a:srgbClr val="FBF3E8"/>
                </a:solidFill>
              </a:rPr>
              <a:t>2. Classify each review as: positive, neutral, negative,</a:t>
            </a:r>
            <a:r>
              <a:rPr lang="en-US" sz="900" dirty="0">
                <a:solidFill>
                  <a:srgbClr val="FBF3E8"/>
                </a:solidFill>
              </a:rPr>
              <a:t> </a:t>
            </a:r>
            <a:r>
              <a:rPr sz="900" dirty="0">
                <a:solidFill>
                  <a:srgbClr val="FBF3E8"/>
                </a:solidFill>
              </a:rPr>
              <a:t>or unrelated (complaint is not about the product).</a:t>
            </a:r>
          </a:p>
          <a:p>
            <a:pPr algn="l"/>
            <a:r>
              <a:rPr sz="900" dirty="0">
                <a:solidFill>
                  <a:srgbClr val="FBF3E8"/>
                </a:solidFill>
              </a:rPr>
              <a:t>   Show your count for each label.</a:t>
            </a:r>
          </a:p>
          <a:p>
            <a:pPr algn="l"/>
            <a:r>
              <a:rPr sz="900" dirty="0">
                <a:solidFill>
                  <a:srgbClr val="FBF3E8"/>
                </a:solidFill>
              </a:rPr>
              <a:t>3. For each label, list the top 3 topics with counts.</a:t>
            </a:r>
          </a:p>
          <a:p>
            <a:pPr algn="l"/>
            <a:r>
              <a:rPr sz="900" dirty="0">
                <a:solidFill>
                  <a:srgbClr val="FBF3E8"/>
                </a:solidFill>
              </a:rPr>
              <a:t>4. List 5 reviews a human should read first and explain why.</a:t>
            </a:r>
          </a:p>
          <a:p>
            <a:pPr algn="l"/>
            <a:r>
              <a:rPr sz="900" dirty="0">
                <a:solidFill>
                  <a:srgbClr val="FBF3E8"/>
                </a:solidFill>
              </a:rPr>
              <a:t>5. Now check your labels against </a:t>
            </a:r>
            <a:r>
              <a:rPr sz="900" dirty="0" err="1">
                <a:solidFill>
                  <a:srgbClr val="FBF3E8"/>
                </a:solidFill>
              </a:rPr>
              <a:t>synthetic_sentiment_label</a:t>
            </a:r>
            <a:r>
              <a:rPr sz="900" dirty="0">
                <a:solidFill>
                  <a:srgbClr val="FBF3E8"/>
                </a:solidFill>
              </a:rPr>
              <a:t>.</a:t>
            </a:r>
            <a:r>
              <a:rPr lang="en-US" sz="900" dirty="0">
                <a:solidFill>
                  <a:srgbClr val="FBF3E8"/>
                </a:solidFill>
              </a:rPr>
              <a:t> </a:t>
            </a:r>
            <a:r>
              <a:rPr sz="900" dirty="0">
                <a:solidFill>
                  <a:srgbClr val="FBF3E8"/>
                </a:solidFill>
              </a:rPr>
              <a:t>Show a confusion matrix and explain where you went wrong.</a:t>
            </a:r>
          </a:p>
          <a:p>
            <a:pPr algn="l"/>
            <a:endParaRPr sz="900" dirty="0">
              <a:solidFill>
                <a:srgbClr val="FBF3E8"/>
              </a:solidFill>
            </a:endParaRPr>
          </a:p>
          <a:p>
            <a:pPr algn="l"/>
            <a:r>
              <a:rPr sz="900" dirty="0">
                <a:solidFill>
                  <a:srgbClr val="FBF3E8"/>
                </a:solidFill>
              </a:rPr>
              <a:t>Files: all 8 review CSVs</a:t>
            </a:r>
          </a:p>
          <a:p>
            <a:pPr algn="l"/>
            <a:r>
              <a:rPr sz="900" dirty="0">
                <a:solidFill>
                  <a:srgbClr val="FBF3E8"/>
                </a:solidFill>
              </a:rPr>
              <a:t>Do not use the synthetic_ columns until step 5.</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Attach all 8 review files.</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"Where did the star rating mislead you — e.g. a positive review with 4 stars or an unrelated review with 4 stars?"</a:t>
            </a:r>
          </a:p>
          <a:p>
            <a:pPr algn="l"/>
            <a:r>
              <a:rPr sz="1500">
                <a:solidFill>
                  <a:srgbClr val="B5532B"/>
                </a:solidFill>
              </a:rPr>
              <a:t>4</a:t>
            </a:r>
          </a:p>
          <a:p>
            <a:pPr algn="l"/>
            <a:r>
              <a:rPr sz="980">
                <a:solidFill>
                  <a:srgbClr val="1E3A2F"/>
                </a:solidFill>
              </a:rPr>
              <a:t>Ask: "Which reviews should a human read first, and why?"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Q1 ANSWER KEY</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What are customers really saying? Facilitator findings</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6547104" cy="4507992"/>
          </a:xfrm>
          <a:prstGeom prst="rect">
            <a:avLst/>
          </a:prstGeom>
          <a:noFill/>
        </p:spPr>
        <p:txBody>
          <a:bodyPr wrap="square">
            <a:spAutoFit/>
          </a:bodyPr>
          <a:lstStyle/>
          <a:p>
            <a:pPr algn="l"/>
            <a:r>
              <a:rPr sz="950">
                <a:solidFill>
                  <a:srgbClr val="1E3A2F"/>
                </a:solidFill>
              </a:rPr>
              <a:t>•  358 reviews: Shopee 127, Shopify 93, Tokopedia 46, Google store 33,
   Lazada 24, TikTok Shop 14, Amazon 13, Blibli 8.</a:t>
            </a:r>
          </a:p>
          <a:p>
            <a:pPr algn="l"/>
            <a:r>
              <a:rPr sz="950">
                <a:solidFill>
                  <a:srgbClr val="1E3A2F"/>
                </a:solidFill>
              </a:rPr>
              <a:t>•  Answer-key split: positive 208 (58%), unrelated 64 (18%),
   neutral 48 (13%), negative 38 (11%).</a:t>
            </a:r>
          </a:p>
          <a:p>
            <a:pPr algn="l"/>
            <a:r>
              <a:rPr sz="950">
                <a:solidFill>
                  <a:srgbClr val="1E3A2F"/>
                </a:solidFill>
              </a:rPr>
              <a:t>•  Top positive topics: quality, appearance, sustainability, usability.</a:t>
            </a:r>
          </a:p>
          <a:p>
            <a:pPr algn="l"/>
            <a:r>
              <a:rPr sz="950">
                <a:solidFill>
                  <a:srgbClr val="1E3A2F"/>
                </a:solidFill>
              </a:rPr>
              <a:t>•  Top negative: quality (21/38 — stitching, smell, rough fabric),
   then appearance (7). Top unrelated: delivery delay (21),
   packaging damage (14), seller service (10).</a:t>
            </a:r>
          </a:p>
          <a:p>
            <a:pPr algn="l"/>
            <a:r>
              <a:rPr sz="950">
                <a:solidFill>
                  <a:srgbClr val="1E3A2F"/>
                </a:solidFill>
              </a:rPr>
              <a:t>•  Rating traps: 39 positive reviews are only 4 stars; 16 unrelated
   are 4 stars; 5 neutral reviews are 2 stars. Stars ≠ sentiment.</a:t>
            </a:r>
          </a:p>
          <a:p>
            <a:pPr algn="l"/>
            <a:r>
              <a:rPr sz="950">
                <a:solidFill>
                  <a:srgbClr val="1E3A2F"/>
                </a:solidFill>
              </a:rPr>
              <a:t>•  Wrangling traps: Shopee dates are Unix timestamps, Blibli dates
   are dd/mm/yyyy, Lazada has 3 ratings (use product_rating),
   Amazon and Google store have no reply field.</a:t>
            </a:r>
          </a:p>
        </p:txBody>
      </p:sp>
      <p:sp>
        <p:nvSpPr>
          <p:cNvPr id="6" name="Rectangle 5"/>
          <p:cNvSpPr/>
          <p:nvPr/>
        </p:nvSpPr>
        <p:spPr>
          <a:xfrm>
            <a:off x="7562088" y="2148840"/>
            <a:ext cx="381304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71816" y="2258568"/>
            <a:ext cx="3593592" cy="4288536"/>
          </a:xfrm>
          <a:prstGeom prst="rect">
            <a:avLst/>
          </a:prstGeom>
          <a:noFill/>
        </p:spPr>
        <p:txBody>
          <a:bodyPr wrap="square">
            <a:spAutoFit/>
          </a:bodyPr>
          <a:lstStyle/>
          <a:p>
            <a:pPr algn="l"/>
            <a:r>
              <a:rPr sz="830" b="1">
                <a:solidFill>
                  <a:srgbClr val="FBF3E8"/>
                </a:solidFill>
              </a:rPr>
              <a:t>Teaching point</a:t>
            </a:r>
          </a:p>
          <a:p>
            <a:pPr algn="l"/>
            <a:r>
              <a:rPr sz="950">
                <a:solidFill>
                  <a:srgbClr val="FBF3E8"/>
                </a:solidFill>
              </a:rPr>
              <a:t>AI does the first pass in minutes, but you must measure its accuracy against a trusted reference. The answer keys are there for exactly this check.</a:t>
            </a:r>
          </a:p>
          <a:p>
            <a:endParaRPr sz="950">
              <a:solidFill>
                <a:srgbClr val="FBF3E8"/>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2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Is the problem the product, or everything around it?</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4288536"/>
          </a:xfrm>
          <a:prstGeom prst="rect">
            <a:avLst/>
          </a:prstGeom>
          <a:noFill/>
        </p:spPr>
        <p:txBody>
          <a:bodyPr wrap="square">
            <a:spAutoFit/>
          </a:bodyPr>
          <a:lstStyle/>
          <a:p>
            <a:pPr algn="l"/>
            <a:r>
              <a:rPr sz="900">
                <a:solidFill>
                  <a:srgbClr val="FBF3E8"/>
                </a:solidFill>
              </a:rPr>
              <a:t>Use the combined review table (or rebuild it).</a:t>
            </a:r>
          </a:p>
          <a:p>
            <a:pPr algn="l"/>
            <a:endParaRPr sz="900">
              <a:solidFill>
                <a:srgbClr val="FBF3E8"/>
              </a:solidFill>
            </a:endParaRPr>
          </a:p>
          <a:p>
            <a:pPr algn="l"/>
            <a:r>
              <a:rPr sz="900">
                <a:solidFill>
                  <a:srgbClr val="FBF3E8"/>
                </a:solidFill>
              </a:rPr>
              <a:t>1. Split reviews into: about the product, about delivery or</a:t>
            </a:r>
          </a:p>
          <a:p>
            <a:pPr algn="l"/>
            <a:r>
              <a:rPr sz="900">
                <a:solidFill>
                  <a:srgbClr val="FBF3E8"/>
                </a:solidFill>
              </a:rPr>
              <a:t>   packaging, about seller service, about the store, or other.</a:t>
            </a:r>
          </a:p>
          <a:p>
            <a:pPr algn="l"/>
            <a:r>
              <a:rPr sz="900">
                <a:solidFill>
                  <a:srgbClr val="FBF3E8"/>
                </a:solidFill>
              </a:rPr>
              <a:t>2. Calculate the average rating overall and for product-focused</a:t>
            </a:r>
          </a:p>
          <a:p>
            <a:pPr algn="l"/>
            <a:r>
              <a:rPr sz="900">
                <a:solidFill>
                  <a:srgbClr val="FBF3E8"/>
                </a:solidFill>
              </a:rPr>
              <a:t>   reviews only. Show the difference.</a:t>
            </a:r>
          </a:p>
          <a:p>
            <a:pPr algn="l"/>
            <a:r>
              <a:rPr sz="900">
                <a:solidFill>
                  <a:srgbClr val="FBF3E8"/>
                </a:solidFill>
              </a:rPr>
              <a:t>3. List the top product issues and top non-product issues with</a:t>
            </a:r>
          </a:p>
          <a:p>
            <a:pPr algn="l"/>
            <a:r>
              <a:rPr sz="900">
                <a:solidFill>
                  <a:srgbClr val="FBF3E8"/>
                </a:solidFill>
              </a:rPr>
              <a:t>   counts and one example quote per issue.</a:t>
            </a:r>
          </a:p>
          <a:p>
            <a:pPr algn="l"/>
            <a:r>
              <a:rPr sz="900">
                <a:solidFill>
                  <a:srgbClr val="FBF3E8"/>
                </a:solidFill>
              </a:rPr>
              <a:t>4. Show by platform how much of the low-rating problem is</a:t>
            </a:r>
          </a:p>
          <a:p>
            <a:pPr algn="l"/>
            <a:r>
              <a:rPr sz="900">
                <a:solidFill>
                  <a:srgbClr val="FBF3E8"/>
                </a:solidFill>
              </a:rPr>
              <a:t>   non-product. Flag platforms where this is over 20%.</a:t>
            </a:r>
          </a:p>
          <a:p>
            <a:pPr algn="l"/>
            <a:r>
              <a:rPr sz="900">
                <a:solidFill>
                  <a:srgbClr val="FBF3E8"/>
                </a:solidFill>
              </a:rPr>
              <a:t>5. Tell me which three things we should fix first, and why.</a:t>
            </a:r>
          </a:p>
          <a:p>
            <a:pPr algn="l"/>
            <a:endParaRPr sz="900">
              <a:solidFill>
                <a:srgbClr val="FBF3E8"/>
              </a:solidFill>
            </a:endParaRPr>
          </a:p>
          <a:p>
            <a:pPr algn="l"/>
            <a:r>
              <a:rPr sz="900">
                <a:solidFill>
                  <a:srgbClr val="FBF3E8"/>
                </a:solidFill>
              </a:rPr>
              <a:t>Follow-up: if I also give you loopcycle_tote_orders.csv, how</a:t>
            </a:r>
          </a:p>
          <a:p>
            <a:pPr algn="l"/>
            <a:r>
              <a:rPr sz="900">
                <a:solidFill>
                  <a:srgbClr val="FBF3E8"/>
                </a:solidFill>
              </a:rPr>
              <a:t>would you check whether delivery complaints match longer delivery</a:t>
            </a:r>
          </a:p>
          <a:p>
            <a:pPr algn="l"/>
            <a:r>
              <a:rPr sz="900">
                <a:solidFill>
                  <a:srgbClr val="FBF3E8"/>
                </a:solidFill>
              </a:rPr>
              <a:t>times? Describe the join and columns, then do it.</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Reuse the same chat (combined table already in context).</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"Separate what is being complained about from how unhappy the customer is."</a:t>
            </a:r>
          </a:p>
          <a:p>
            <a:pPr algn="l"/>
            <a:r>
              <a:rPr sz="1500">
                <a:solidFill>
                  <a:srgbClr val="B5532B"/>
                </a:solidFill>
              </a:rPr>
              <a:t>4</a:t>
            </a:r>
          </a:p>
          <a:p>
            <a:pPr algn="l"/>
            <a:r>
              <a:rPr sz="980">
                <a:solidFill>
                  <a:srgbClr val="1E3A2F"/>
                </a:solidFill>
              </a:rPr>
              <a:t>Optionally attach loopcycle_tote_orders.csv for the join.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Q2 ANSWER KEY</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Is the problem the product? Facilitator findings</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6547104" cy="4507992"/>
          </a:xfrm>
          <a:prstGeom prst="rect">
            <a:avLst/>
          </a:prstGeom>
          <a:noFill/>
        </p:spPr>
        <p:txBody>
          <a:bodyPr wrap="square">
            <a:spAutoFit/>
          </a:bodyPr>
          <a:lstStyle/>
          <a:p>
            <a:pPr algn="l"/>
            <a:r>
              <a:rPr sz="950">
                <a:solidFill>
                  <a:srgbClr val="1E3A2F"/>
                </a:solidFill>
              </a:rPr>
              <a:t>•  Average rating 3.87; rises to 4.12 when unrelated reviews removed.</a:t>
            </a:r>
          </a:p>
          <a:p>
            <a:pPr algn="l"/>
            <a:r>
              <a:rPr sz="950">
                <a:solidFill>
                  <a:srgbClr val="1E3A2F"/>
                </a:solidFill>
              </a:rPr>
              <a:t>•  69 one- and two-star reviews: 26 (38%) are not about the product;
   38 are product complaints; 5 are neutral.</a:t>
            </a:r>
          </a:p>
          <a:p>
            <a:pPr algn="l"/>
            <a:r>
              <a:rPr sz="950">
                <a:solidFill>
                  <a:srgbClr val="1E3A2F"/>
                </a:solidFill>
              </a:rPr>
              <a:t>•  Product complaints: quality 21 (stitching, plastic smell, rough
   fabric), appearance 7 (colour faded or darker than photos),
   usability 4, value 3.</a:t>
            </a:r>
          </a:p>
          <a:p>
            <a:pPr algn="l"/>
            <a:r>
              <a:rPr sz="950">
                <a:solidFill>
                  <a:srgbClr val="1E3A2F"/>
                </a:solidFill>
              </a:rPr>
              <a:t>•  Non-product complaints: delivery delay 21, packaging damage 14,
   seller service 10, courier handling 6, wrong item 5.</a:t>
            </a:r>
          </a:p>
          <a:p>
            <a:pPr algn="l"/>
            <a:r>
              <a:rPr sz="950">
                <a:solidFill>
                  <a:srgbClr val="1E3A2F"/>
                </a:solidFill>
              </a:rPr>
              <a:t>•  Shopee 28/127 and Tokopedia 10/46 are non-product (~22% each).
   Lazada delivery rating averages 1.5 on delivery-complaint reviews.</a:t>
            </a:r>
          </a:p>
          <a:p>
            <a:pPr algn="l"/>
            <a:r>
              <a:rPr sz="950">
                <a:solidFill>
                  <a:srgbClr val="1E3A2F"/>
                </a:solidFill>
              </a:rPr>
              <a:t>•  Good fixes: stitching and smell checks before shipping, sturdier
   packaging, better courier choice, faster seller replies.</a:t>
            </a:r>
          </a:p>
        </p:txBody>
      </p:sp>
      <p:sp>
        <p:nvSpPr>
          <p:cNvPr id="6" name="Rectangle 5"/>
          <p:cNvSpPr/>
          <p:nvPr/>
        </p:nvSpPr>
        <p:spPr>
          <a:xfrm>
            <a:off x="7562088" y="2148840"/>
            <a:ext cx="381304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71816" y="2258568"/>
            <a:ext cx="3593592" cy="4288536"/>
          </a:xfrm>
          <a:prstGeom prst="rect">
            <a:avLst/>
          </a:prstGeom>
          <a:noFill/>
        </p:spPr>
        <p:txBody>
          <a:bodyPr wrap="square">
            <a:spAutoFit/>
          </a:bodyPr>
          <a:lstStyle/>
          <a:p>
            <a:pPr algn="l"/>
            <a:r>
              <a:rPr sz="830" b="1">
                <a:solidFill>
                  <a:srgbClr val="FBF3E8"/>
                </a:solidFill>
              </a:rPr>
              <a:t>Teaching point</a:t>
            </a:r>
          </a:p>
          <a:p>
            <a:pPr algn="l"/>
            <a:r>
              <a:rPr sz="950">
                <a:solidFill>
                  <a:srgbClr val="FBF3E8"/>
                </a:solidFill>
              </a:rPr>
              <a:t>Ask the AI to separate what is being complained about from how unhappy the customer is. Fixing the wrong thing wastes money.</a:t>
            </a:r>
          </a:p>
          <a:p>
            <a:endParaRPr sz="950">
              <a:solidFill>
                <a:srgbClr val="FBF3E8"/>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3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How do platforms differ, and are we responding where it matters?</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4288536"/>
          </a:xfrm>
          <a:prstGeom prst="rect">
            <a:avLst/>
          </a:prstGeom>
          <a:noFill/>
        </p:spPr>
        <p:txBody>
          <a:bodyPr wrap="square">
            <a:spAutoFit/>
          </a:bodyPr>
          <a:lstStyle/>
          <a:p>
            <a:pPr algn="l"/>
            <a:r>
              <a:rPr sz="900">
                <a:solidFill>
                  <a:srgbClr val="FBF3E8"/>
                </a:solidFill>
              </a:rPr>
              <a:t>1. Compare each platform: number of reviews, average rating,</a:t>
            </a:r>
          </a:p>
          <a:p>
            <a:pPr algn="l"/>
            <a:r>
              <a:rPr sz="900">
                <a:solidFill>
                  <a:srgbClr val="FBF3E8"/>
                </a:solidFill>
              </a:rPr>
              <a:t>   sentiment mix, average review length, reply rate.</a:t>
            </a:r>
          </a:p>
          <a:p>
            <a:pPr algn="l"/>
            <a:r>
              <a:rPr sz="900">
                <a:solidFill>
                  <a:srgbClr val="FBF3E8"/>
                </a:solidFill>
              </a:rPr>
              <a:t>2. Show the seller reply rate by sentiment (positive, neutral,</a:t>
            </a:r>
          </a:p>
          <a:p>
            <a:pPr algn="l"/>
            <a:r>
              <a:rPr sz="900">
                <a:solidFill>
                  <a:srgbClr val="FBF3E8"/>
                </a:solidFill>
              </a:rPr>
              <a:t>   negative, unrelated). Which groups do we reply to most?</a:t>
            </a:r>
          </a:p>
          <a:p>
            <a:pPr algn="l"/>
            <a:r>
              <a:rPr sz="900">
                <a:solidFill>
                  <a:srgbClr val="FBF3E8"/>
                </a:solidFill>
              </a:rPr>
              <a:t>3. Which kinds of reviews get no reply? What is the risk or</a:t>
            </a:r>
          </a:p>
          <a:p>
            <a:pPr algn="l"/>
            <a:r>
              <a:rPr sz="900">
                <a:solidFill>
                  <a:srgbClr val="FBF3E8"/>
                </a:solidFill>
              </a:rPr>
              <a:t>   opportunity in each case?</a:t>
            </a:r>
          </a:p>
          <a:p>
            <a:pPr algn="l"/>
            <a:r>
              <a:rPr sz="900">
                <a:solidFill>
                  <a:srgbClr val="FBF3E8"/>
                </a:solidFill>
              </a:rPr>
              <a:t>4. Identify two things that look like platform differences but</a:t>
            </a:r>
          </a:p>
          <a:p>
            <a:pPr algn="l"/>
            <a:r>
              <a:rPr sz="900">
                <a:solidFill>
                  <a:srgbClr val="FBF3E8"/>
                </a:solidFill>
              </a:rPr>
              <a:t>   could be caused by sample size or different review prompts.</a:t>
            </a:r>
          </a:p>
          <a:p>
            <a:pPr algn="l"/>
            <a:r>
              <a:rPr sz="900">
                <a:solidFill>
                  <a:srgbClr val="FBF3E8"/>
                </a:solidFill>
              </a:rPr>
              <a:t>5. Recommend a reply policy: which reviews we answer within</a:t>
            </a:r>
          </a:p>
          <a:p>
            <a:pPr algn="l"/>
            <a:r>
              <a:rPr sz="900">
                <a:solidFill>
                  <a:srgbClr val="FBF3E8"/>
                </a:solidFill>
              </a:rPr>
              <a:t>   24 hours, which later, and which we can skip.</a:t>
            </a:r>
          </a:p>
          <a:p>
            <a:pPr algn="l"/>
            <a:endParaRPr sz="900">
              <a:solidFill>
                <a:srgbClr val="FBF3E8"/>
              </a:solidFill>
            </a:endParaRPr>
          </a:p>
          <a:p>
            <a:pPr algn="l"/>
            <a:r>
              <a:rPr sz="900">
                <a:solidFill>
                  <a:srgbClr val="FBF3E8"/>
                </a:solidFill>
              </a:rPr>
              <a:t>Follow-up: Write three reply templates (delivery delay,</a:t>
            </a:r>
          </a:p>
          <a:p>
            <a:pPr algn="l"/>
            <a:r>
              <a:rPr sz="900">
                <a:solidFill>
                  <a:srgbClr val="FBF3E8"/>
                </a:solidFill>
              </a:rPr>
              <a:t>product defect, neutral feedback) in our brand voice:</a:t>
            </a:r>
          </a:p>
          <a:p>
            <a:pPr algn="l"/>
            <a:r>
              <a:rPr sz="900">
                <a:solidFill>
                  <a:srgbClr val="FBF3E8"/>
                </a:solidFill>
              </a:rPr>
              <a:t>warm, direct, no jargon.</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Reuse the same chat.</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"Write three reply templates in our brand voice: warm, direct, no jargon."</a:t>
            </a:r>
          </a:p>
          <a:p>
            <a:pPr algn="l"/>
            <a:r>
              <a:rPr sz="1500">
                <a:solidFill>
                  <a:srgbClr val="B5532B"/>
                </a:solidFill>
              </a:rPr>
              <a:t>4</a:t>
            </a:r>
          </a:p>
          <a:p>
            <a:pPr algn="l"/>
            <a:r>
              <a:rPr sz="980">
                <a:solidFill>
                  <a:srgbClr val="1E3A2F"/>
                </a:solidFill>
              </a:rPr>
              <a:t>Ask: "Which platform comparison is least trustworthy because of sample size?"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Q3 ANSWER KEY</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How do platforms differ? Facilitator findings</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6547104" cy="4507992"/>
          </a:xfrm>
          <a:prstGeom prst="rect">
            <a:avLst/>
          </a:prstGeom>
          <a:noFill/>
        </p:spPr>
        <p:txBody>
          <a:bodyPr wrap="square">
            <a:spAutoFit/>
          </a:bodyPr>
          <a:lstStyle/>
          <a:p>
            <a:pPr algn="l"/>
            <a:r>
              <a:rPr sz="950">
                <a:solidFill>
                  <a:srgbClr val="1E3A2F"/>
                </a:solidFill>
              </a:rPr>
              <a:t>•  Shopee 127 reviews, avg 3.79, 53% replied. Tokopedia 46, 3.59,
   50%. Shopify 93, 4.02, 40% (longest reviews ~23 words).</a:t>
            </a:r>
          </a:p>
          <a:p>
            <a:pPr algn="l"/>
            <a:r>
              <a:rPr sz="950">
                <a:solidFill>
                  <a:srgbClr val="1E3A2F"/>
                </a:solidFill>
              </a:rPr>
              <a:t>•  Lazada 24, 3.92, 54%. TikTok Shop 14, 4.14, 21%. Blibli 8,
   4.38, 88% (but only 8 reviews — unreliable). Amazon 13, 3.31,
   no reply field. Google store 33, 4.09, 48%.</a:t>
            </a:r>
          </a:p>
          <a:p>
            <a:pPr algn="l"/>
            <a:r>
              <a:rPr sz="950">
                <a:solidFill>
                  <a:srgbClr val="1E3A2F"/>
                </a:solidFill>
              </a:rPr>
              <a:t>•  Reply rate by sentiment: unrelated 85%, negative 84%,
   positive 36%, neutral 24%. Complaints get answered;
   neutral reviews rarely do.</a:t>
            </a:r>
          </a:p>
          <a:p>
            <a:pPr algn="l"/>
            <a:r>
              <a:rPr sz="950">
                <a:solidFill>
                  <a:srgbClr val="1E3A2F"/>
                </a:solidFill>
              </a:rPr>
              <a:t>•  On Shopee, 29% of unrelated reviews include photos/video
   vs 22% positive and 6% negative: photos used as evidence.</a:t>
            </a:r>
          </a:p>
          <a:p>
            <a:pPr algn="l"/>
            <a:r>
              <a:rPr sz="950">
                <a:solidFill>
                  <a:srgbClr val="1E3A2F"/>
                </a:solidFill>
              </a:rPr>
              <a:t>•  TRAP: Amazon, TikTok Shop, Blibli have 13, 14, 8 reviews.
   Blibli's 88% reply rate rests on 8 reviews — treat with caution.</a:t>
            </a:r>
          </a:p>
        </p:txBody>
      </p:sp>
      <p:sp>
        <p:nvSpPr>
          <p:cNvPr id="6" name="Rectangle 5"/>
          <p:cNvSpPr/>
          <p:nvPr/>
        </p:nvSpPr>
        <p:spPr>
          <a:xfrm>
            <a:off x="7562088" y="2148840"/>
            <a:ext cx="381304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71816" y="2258568"/>
            <a:ext cx="3593592" cy="4288536"/>
          </a:xfrm>
          <a:prstGeom prst="rect">
            <a:avLst/>
          </a:prstGeom>
          <a:noFill/>
        </p:spPr>
        <p:txBody>
          <a:bodyPr wrap="square">
            <a:spAutoFit/>
          </a:bodyPr>
          <a:lstStyle/>
          <a:p>
            <a:pPr algn="l"/>
            <a:r>
              <a:rPr sz="830" b="1">
                <a:solidFill>
                  <a:srgbClr val="FBF3E8"/>
                </a:solidFill>
              </a:rPr>
              <a:t>Teaching point</a:t>
            </a:r>
          </a:p>
          <a:p>
            <a:pPr algn="l"/>
            <a:r>
              <a:rPr sz="950">
                <a:solidFill>
                  <a:srgbClr val="FBF3E8"/>
                </a:solidFill>
              </a:rPr>
              <a:t>Compare like with like, and flag when sample size makes a comparison meaningless. A missing reply field does not mean 'no replies'.</a:t>
            </a:r>
          </a:p>
          <a:p>
            <a:endParaRPr sz="950">
              <a:solidFill>
                <a:srgbClr val="FBF3E8"/>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4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What are people saying on Instagram, and which comments stop them buying?</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4288536"/>
          </a:xfrm>
          <a:prstGeom prst="rect">
            <a:avLst/>
          </a:prstGeom>
          <a:noFill/>
        </p:spPr>
        <p:txBody>
          <a:bodyPr wrap="square">
            <a:spAutoFit/>
          </a:bodyPr>
          <a:lstStyle/>
          <a:p>
            <a:pPr algn="l"/>
            <a:r>
              <a:rPr sz="900">
                <a:solidFill>
                  <a:srgbClr val="FBF3E8"/>
                </a:solidFill>
              </a:rPr>
              <a:t>Use loopcycle_instagram_comments.csv.</a:t>
            </a:r>
          </a:p>
          <a:p>
            <a:pPr algn="l"/>
            <a:r>
              <a:rPr sz="900">
                <a:solidFill>
                  <a:srgbClr val="FBF3E8"/>
                </a:solidFill>
              </a:rPr>
              <a:t>Ignore the synthetic_ columns until step 5.</a:t>
            </a:r>
          </a:p>
          <a:p>
            <a:pPr algn="l"/>
            <a:endParaRPr sz="900">
              <a:solidFill>
                <a:srgbClr val="FBF3E8"/>
              </a:solidFill>
            </a:endParaRPr>
          </a:p>
          <a:p>
            <a:pPr algn="l"/>
            <a:r>
              <a:rPr sz="900">
                <a:solidFill>
                  <a:srgbClr val="FBF3E8"/>
                </a:solidFill>
              </a:rPr>
              <a:t>1. Separate top-level comments (parent_comment_id blank) from</a:t>
            </a:r>
          </a:p>
          <a:p>
            <a:pPr algn="l"/>
            <a:r>
              <a:rPr sz="900">
                <a:solidFill>
                  <a:srgbClr val="FBF3E8"/>
                </a:solidFill>
              </a:rPr>
              <a:t>   replies. Count each group.</a:t>
            </a:r>
          </a:p>
          <a:p>
            <a:pPr algn="l"/>
            <a:r>
              <a:rPr sz="900">
                <a:solidFill>
                  <a:srgbClr val="FBF3E8"/>
                </a:solidFill>
              </a:rPr>
              <a:t>2. Classify top-level comments as: praise, question, objection</a:t>
            </a:r>
          </a:p>
          <a:p>
            <a:pPr algn="l"/>
            <a:r>
              <a:rPr sz="900">
                <a:solidFill>
                  <a:srgbClr val="FBF3E8"/>
                </a:solidFill>
              </a:rPr>
              <a:t>   (price / trust / quality / availability), or noise</a:t>
            </a:r>
          </a:p>
          <a:p>
            <a:pPr algn="l"/>
            <a:r>
              <a:rPr sz="900">
                <a:solidFill>
                  <a:srgbClr val="FBF3E8"/>
                </a:solidFill>
              </a:rPr>
              <a:t>   (spam, quiz guesses, off-topic).</a:t>
            </a:r>
          </a:p>
          <a:p>
            <a:pPr algn="l"/>
            <a:r>
              <a:rPr sz="900">
                <a:solidFill>
                  <a:srgbClr val="FBF3E8"/>
                </a:solidFill>
              </a:rPr>
              <a:t>3. For each group, calculate the share that received a brand reply.</a:t>
            </a:r>
          </a:p>
          <a:p>
            <a:pPr algn="l"/>
            <a:r>
              <a:rPr sz="900">
                <a:solidFill>
                  <a:srgbClr val="FBF3E8"/>
                </a:solidFill>
              </a:rPr>
              <a:t>   Which groups do we reply to least?</a:t>
            </a:r>
          </a:p>
          <a:p>
            <a:pPr algn="l"/>
            <a:r>
              <a:rPr sz="900">
                <a:solidFill>
                  <a:srgbClr val="FBF3E8"/>
                </a:solidFill>
              </a:rPr>
              <a:t>4. Compare posts: which attract the most questions, objections</a:t>
            </a:r>
          </a:p>
          <a:p>
            <a:pPr algn="l"/>
            <a:r>
              <a:rPr sz="900">
                <a:solidFill>
                  <a:srgbClr val="FBF3E8"/>
                </a:solidFill>
              </a:rPr>
              <a:t>   and complaints?</a:t>
            </a:r>
          </a:p>
          <a:p>
            <a:pPr algn="l"/>
            <a:r>
              <a:rPr sz="900">
                <a:solidFill>
                  <a:srgbClr val="FBF3E8"/>
                </a:solidFill>
              </a:rPr>
              <a:t>5. Check your classification against synthetic_topic and</a:t>
            </a:r>
          </a:p>
          <a:p>
            <a:pPr algn="l"/>
            <a:r>
              <a:rPr sz="900">
                <a:solidFill>
                  <a:srgbClr val="FBF3E8"/>
                </a:solidFill>
              </a:rPr>
              <a:t>   synthetic_sentiment_label. Where did you go wrong?</a:t>
            </a:r>
          </a:p>
          <a:p>
            <a:pPr algn="l"/>
            <a:r>
              <a:rPr sz="900">
                <a:solidFill>
                  <a:srgbClr val="FBF3E8"/>
                </a:solidFill>
              </a:rPr>
              <a:t>6. Give 5 recommendations for managing comments, including</a:t>
            </a:r>
          </a:p>
          <a:p>
            <a:pPr algn="l"/>
            <a:r>
              <a:rPr sz="900">
                <a:solidFill>
                  <a:srgbClr val="FBF3E8"/>
                </a:solidFill>
              </a:rPr>
              <a:t>   three reusable reply templates.</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Attach loopcycle_instagram_comments.csv.</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"Estimate how many potential buyers these unanswered comments might represent, and say what we cannot know from this data."</a:t>
            </a:r>
          </a:p>
          <a:p>
            <a:pPr algn="l"/>
            <a:r>
              <a:rPr sz="1500">
                <a:solidFill>
                  <a:srgbClr val="B5532B"/>
                </a:solidFill>
              </a:rPr>
              <a:t>4</a:t>
            </a:r>
          </a:p>
          <a:p>
            <a:pPr algn="l"/>
            <a:r>
              <a:rPr sz="980">
                <a:solidFill>
                  <a:srgbClr val="1E3A2F"/>
                </a:solidFill>
              </a:rPr>
              <a:t>Optionally attach loopcycle_post_kpis.csv for post context.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Q4 ANSWER KEY</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Instagram comments. Facilitator findings</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6547104" cy="4507992"/>
          </a:xfrm>
          <a:prstGeom prst="rect">
            <a:avLst/>
          </a:prstGeom>
          <a:noFill/>
        </p:spPr>
        <p:txBody>
          <a:bodyPr wrap="square">
            <a:spAutoFit/>
          </a:bodyPr>
          <a:lstStyle/>
          <a:p>
            <a:pPr algn="l"/>
            <a:r>
              <a:rPr sz="950">
                <a:solidFill>
                  <a:srgbClr val="1E3A2F"/>
                </a:solidFill>
              </a:rPr>
              <a:t>•  1,515 rows: 1,130 top-level comments, 352 brand replies,
   33 follower replies.</a:t>
            </a:r>
          </a:p>
          <a:p>
            <a:pPr algn="l"/>
            <a:r>
              <a:rPr sz="950">
                <a:solidFill>
                  <a:srgbClr val="1E3A2F"/>
                </a:solidFill>
              </a:rPr>
              <a:t>•  Sentiment: positive 509 (45%), neutral 389 (34%),
   unrelated 144 (13%), negative 88 (8%).
   Neutral high partly because quiz post attracted ~146 guesses.</a:t>
            </a:r>
          </a:p>
          <a:p>
            <a:pPr algn="l"/>
            <a:r>
              <a:rPr sz="950">
                <a:solidFill>
                  <a:srgbClr val="1E3A2F"/>
                </a:solidFill>
              </a:rPr>
              <a:t>•  Reply gap: 93% of delivery complaints answered; but only 2/24
   price complaints (8%), 0/11 'is it really recycled?' doubts,
   4/13 quality complaints, 4/11 sold-out comments.</a:t>
            </a:r>
          </a:p>
          <a:p>
            <a:pPr algn="l"/>
            <a:r>
              <a:rPr sz="950">
                <a:solidFill>
                  <a:srgbClr val="1E3A2F"/>
                </a:solidFill>
              </a:rPr>
              <a:t>•  Questions: 243 total, 133 answered (55%). Where-to-buy
   42/59, price 15/24, shipping 18/26.</a:t>
            </a:r>
          </a:p>
          <a:p>
            <a:pPr algn="l"/>
            <a:r>
              <a:rPr sz="950">
                <a:solidFill>
                  <a:srgbClr val="1E3A2F"/>
                </a:solidFill>
              </a:rPr>
              <a:t>•  Batik drop post: ~21% negative + 21% unrelated (sold-out,
   checkout trouble) vs ~4% negative on the launch Reel.</a:t>
            </a:r>
          </a:p>
          <a:p>
            <a:pPr algn="l"/>
            <a:r>
              <a:rPr sz="950">
                <a:solidFill>
                  <a:srgbClr val="1E3A2F"/>
                </a:solidFill>
              </a:rPr>
              <a:t>•  Traps: quiz guesses are neutral noise. Spam (32 comments,
   22 hidden) and off-topic count as 'unrelated'. Brand replies
   must be matched via parent_comment_id.</a:t>
            </a:r>
          </a:p>
        </p:txBody>
      </p:sp>
      <p:sp>
        <p:nvSpPr>
          <p:cNvPr id="6" name="Rectangle 5"/>
          <p:cNvSpPr/>
          <p:nvPr/>
        </p:nvSpPr>
        <p:spPr>
          <a:xfrm>
            <a:off x="7562088" y="2148840"/>
            <a:ext cx="381304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71816" y="2258568"/>
            <a:ext cx="3593592" cy="4288536"/>
          </a:xfrm>
          <a:prstGeom prst="rect">
            <a:avLst/>
          </a:prstGeom>
          <a:noFill/>
        </p:spPr>
        <p:txBody>
          <a:bodyPr wrap="square">
            <a:spAutoFit/>
          </a:bodyPr>
          <a:lstStyle/>
          <a:p>
            <a:pPr algn="l"/>
            <a:r>
              <a:rPr sz="830" b="1">
                <a:solidFill>
                  <a:srgbClr val="FBF3E8"/>
                </a:solidFill>
              </a:rPr>
              <a:t>Teaching point</a:t>
            </a:r>
          </a:p>
          <a:p>
            <a:pPr algn="l"/>
            <a:r>
              <a:rPr sz="950">
                <a:solidFill>
                  <a:srgbClr val="FBF3E8"/>
                </a:solidFill>
              </a:rPr>
              <a:t>The comments we ignore are often the persuasion barriers — price and trust — not the operational problems. These are the ones worth answering first.</a:t>
            </a:r>
          </a:p>
          <a:p>
            <a:endParaRPr sz="950">
              <a:solidFill>
                <a:srgbClr val="FBF3E8"/>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5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What should we fix, say and measure next?</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4288536"/>
          </a:xfrm>
          <a:prstGeom prst="rect">
            <a:avLst/>
          </a:prstGeom>
          <a:noFill/>
        </p:spPr>
        <p:txBody>
          <a:bodyPr wrap="square">
            <a:spAutoFit/>
          </a:bodyPr>
          <a:lstStyle/>
          <a:p>
            <a:pPr algn="l"/>
            <a:r>
              <a:rPr sz="900">
                <a:solidFill>
                  <a:srgbClr val="FBF3E8"/>
                </a:solidFill>
              </a:rPr>
              <a:t>Using the review and comment findings from this conversation:</a:t>
            </a:r>
          </a:p>
          <a:p>
            <a:pPr algn="l"/>
            <a:endParaRPr sz="900">
              <a:solidFill>
                <a:srgbClr val="FBF3E8"/>
              </a:solidFill>
            </a:endParaRPr>
          </a:p>
          <a:p>
            <a:pPr algn="l"/>
            <a:r>
              <a:rPr sz="900">
                <a:solidFill>
                  <a:srgbClr val="FBF3E8"/>
                </a:solidFill>
              </a:rPr>
              <a:t>1. Compare themes across reviews and comments: what appears</a:t>
            </a:r>
          </a:p>
          <a:p>
            <a:pPr algn="l"/>
            <a:r>
              <a:rPr sz="900">
                <a:solidFill>
                  <a:srgbClr val="FBF3E8"/>
                </a:solidFill>
              </a:rPr>
              <a:t>   in both, only in reviews, or only in comments?</a:t>
            </a:r>
          </a:p>
          <a:p>
            <a:pPr algn="l"/>
            <a:r>
              <a:rPr sz="900">
                <a:solidFill>
                  <a:srgbClr val="FBF3E8"/>
                </a:solidFill>
              </a:rPr>
              <a:t>2. Build a prioritised action list of at most 8 items across</a:t>
            </a:r>
          </a:p>
          <a:p>
            <a:pPr algn="l"/>
            <a:r>
              <a:rPr sz="900">
                <a:solidFill>
                  <a:srgbClr val="FBF3E8"/>
                </a:solidFill>
              </a:rPr>
              <a:t>   product, logistics, content, and community management.</a:t>
            </a:r>
          </a:p>
          <a:p>
            <a:pPr algn="l"/>
            <a:r>
              <a:rPr sz="900">
                <a:solidFill>
                  <a:srgbClr val="FBF3E8"/>
                </a:solidFill>
              </a:rPr>
              <a:t>3. Write the content we should publish: three FAQ-style</a:t>
            </a:r>
          </a:p>
          <a:p>
            <a:pPr algn="l"/>
            <a:r>
              <a:rPr sz="900">
                <a:solidFill>
                  <a:srgbClr val="FBF3E8"/>
                </a:solidFill>
              </a:rPr>
              <a:t>   Instagram posts that address the top objections (price,</a:t>
            </a:r>
          </a:p>
          <a:p>
            <a:pPr algn="l"/>
            <a:r>
              <a:rPr sz="900">
                <a:solidFill>
                  <a:srgbClr val="FBF3E8"/>
                </a:solidFill>
              </a:rPr>
              <a:t>   sustainability trust, quality).</a:t>
            </a:r>
          </a:p>
          <a:p>
            <a:pPr algn="l"/>
            <a:r>
              <a:rPr sz="900">
                <a:solidFill>
                  <a:srgbClr val="FBF3E8"/>
                </a:solidFill>
              </a:rPr>
              <a:t>4. Propose 5 KPIs to track monthly (e.g. share of 1–2 star</a:t>
            </a:r>
          </a:p>
          <a:p>
            <a:pPr algn="l"/>
            <a:r>
              <a:rPr sz="900">
                <a:solidFill>
                  <a:srgbClr val="FBF3E8"/>
                </a:solidFill>
              </a:rPr>
              <a:t>   reviews that are non-product, reply rate for objections).</a:t>
            </a:r>
          </a:p>
          <a:p>
            <a:pPr algn="l"/>
            <a:r>
              <a:rPr sz="900">
                <a:solidFill>
                  <a:srgbClr val="FBF3E8"/>
                </a:solidFill>
              </a:rPr>
              <a:t>5. List what this data cannot tell us and what extra data</a:t>
            </a:r>
          </a:p>
          <a:p>
            <a:pPr algn="l"/>
            <a:r>
              <a:rPr sz="900">
                <a:solidFill>
                  <a:srgbClr val="FBF3E8"/>
                </a:solidFill>
              </a:rPr>
              <a:t>   we should collect.</a:t>
            </a:r>
          </a:p>
          <a:p>
            <a:pPr algn="l"/>
            <a:r>
              <a:rPr sz="900">
                <a:solidFill>
                  <a:srgbClr val="FBF3E8"/>
                </a:solidFill>
              </a:rPr>
              <a:t>6. Finally, argue against your own priorities: what would</a:t>
            </a:r>
          </a:p>
          <a:p>
            <a:pPr algn="l"/>
            <a:r>
              <a:rPr sz="900">
                <a:solidFill>
                  <a:srgbClr val="FBF3E8"/>
                </a:solidFill>
              </a:rPr>
              <a:t>   make them wrong?</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Stay in the same chat (all previous findings in context).</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"Turn this into a one-page brief for the founder."</a:t>
            </a:r>
          </a:p>
          <a:p>
            <a:pPr algn="l"/>
            <a:r>
              <a:rPr sz="1500">
                <a:solidFill>
                  <a:srgbClr val="B5532B"/>
                </a:solidFill>
              </a:rPr>
              <a:t>4</a:t>
            </a:r>
          </a:p>
          <a:p>
            <a:pPr algn="l"/>
            <a:r>
              <a:rPr sz="980">
                <a:solidFill>
                  <a:srgbClr val="1E3A2F"/>
                </a:solidFill>
              </a:rPr>
              <a:t>Ask: "Which three actions could we start this week without spending money?"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Q5 ANSWER KEY</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What should we fix, say and measure next? What good looks like</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6547104" cy="4507992"/>
          </a:xfrm>
          <a:prstGeom prst="rect">
            <a:avLst/>
          </a:prstGeom>
          <a:noFill/>
        </p:spPr>
        <p:txBody>
          <a:bodyPr wrap="square">
            <a:spAutoFit/>
          </a:bodyPr>
          <a:lstStyle/>
          <a:p>
            <a:pPr algn="l"/>
            <a:r>
              <a:rPr sz="950">
                <a:solidFill>
                  <a:srgbClr val="1E3A2F"/>
                </a:solidFill>
              </a:rPr>
              <a:t>•  Separates pre-purchase friction (price, trust, availability,
   shipping — mostly in comments) from post-purchase problems
   (quality, delivery, packaging — mostly in reviews).</a:t>
            </a:r>
          </a:p>
          <a:p>
            <a:pPr algn="l"/>
            <a:r>
              <a:rPr sz="950">
                <a:solidFill>
                  <a:srgbClr val="1E3A2F"/>
                </a:solidFill>
              </a:rPr>
              <a:t>•  Spots the overlap: delivery and packaging issues appear in both.</a:t>
            </a:r>
          </a:p>
          <a:p>
            <a:pPr algn="l"/>
            <a:r>
              <a:rPr sz="950">
                <a:solidFill>
                  <a:srgbClr val="1E3A2F"/>
                </a:solidFill>
              </a:rPr>
              <a:t>•  Prioritises: answering price and trust objections with content
   (14-bottle story, QR traceability), stitching and smell checks,
   better packaging and courier choice, reply policy covering
   neutral reviews and unanswered questions.</a:t>
            </a:r>
          </a:p>
          <a:p>
            <a:pPr algn="l"/>
            <a:r>
              <a:rPr sz="950">
                <a:solidFill>
                  <a:srgbClr val="1E3A2F"/>
                </a:solidFill>
              </a:rPr>
              <a:t>•  Uses counts as evidence; labels small samples as 'test'.</a:t>
            </a:r>
          </a:p>
          <a:p>
            <a:pPr algn="l"/>
            <a:r>
              <a:rPr sz="950">
                <a:solidFill>
                  <a:srgbClr val="1E3A2F"/>
                </a:solidFill>
              </a:rPr>
              <a:t>•  Proposes KPIs measurable from these files.</a:t>
            </a:r>
          </a:p>
          <a:p>
            <a:pPr algn="l"/>
            <a:r>
              <a:rPr sz="950">
                <a:solidFill>
                  <a:srgbClr val="1E3A2F"/>
                </a:solidFill>
              </a:rPr>
              <a:t>•  Argues against its own plan (e.g. '30-post patterns may not hold
   for a different season or product launch').</a:t>
            </a:r>
          </a:p>
        </p:txBody>
      </p:sp>
      <p:sp>
        <p:nvSpPr>
          <p:cNvPr id="6" name="Rectangle 5"/>
          <p:cNvSpPr/>
          <p:nvPr/>
        </p:nvSpPr>
        <p:spPr>
          <a:xfrm>
            <a:off x="7562088" y="2148840"/>
            <a:ext cx="381304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71816" y="2258568"/>
            <a:ext cx="3593592" cy="4288536"/>
          </a:xfrm>
          <a:prstGeom prst="rect">
            <a:avLst/>
          </a:prstGeom>
          <a:noFill/>
        </p:spPr>
        <p:txBody>
          <a:bodyPr wrap="square">
            <a:spAutoFit/>
          </a:bodyPr>
          <a:lstStyle/>
          <a:p>
            <a:pPr algn="l"/>
            <a:r>
              <a:rPr sz="830" b="1">
                <a:solidFill>
                  <a:srgbClr val="FBF3E8"/>
                </a:solidFill>
              </a:rPr>
              <a:t>Teaching point</a:t>
            </a:r>
          </a:p>
          <a:p>
            <a:pPr algn="l"/>
            <a:r>
              <a:rPr sz="950">
                <a:solidFill>
                  <a:srgbClr val="FBF3E8"/>
                </a:solidFill>
              </a:rPr>
              <a:t>Ask the AI to critique itself. Analysis only helps if it ends in decisions — and a human must stay responsible for the final choice.</a:t>
            </a:r>
          </a:p>
          <a:p>
            <a:endParaRPr sz="950">
              <a:solidFill>
                <a:srgbClr val="FBF3E8"/>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TRAPS</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700" b="0" i="0">
                <a:solidFill>
                  <a:srgbClr val="1E3A2F"/>
                </a:solidFill>
              </a:rPr>
              <a:t>Traps this session is built around</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1847088"/>
            <a:ext cx="3474720" cy="320040"/>
          </a:xfrm>
          <a:prstGeom prst="rect">
            <a:avLst/>
          </a:prstGeom>
          <a:solidFill>
            <a:srgbClr val="B5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98264" y="1847088"/>
            <a:ext cx="6858000" cy="320040"/>
          </a:xfrm>
          <a:prstGeom prst="rect">
            <a:avLst/>
          </a:prstGeom>
          <a:solidFill>
            <a:srgbClr val="B5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865376"/>
            <a:ext cx="3383280" cy="274320"/>
          </a:xfrm>
          <a:prstGeom prst="rect">
            <a:avLst/>
          </a:prstGeom>
          <a:noFill/>
        </p:spPr>
        <p:txBody>
          <a:bodyPr wrap="square">
            <a:spAutoFit/>
          </a:bodyPr>
          <a:lstStyle/>
          <a:p>
            <a:pPr algn="l"/>
            <a:r>
              <a:rPr sz="900" b="1" i="0">
                <a:solidFill>
                  <a:srgbClr val="FBF3E8"/>
                </a:solidFill>
              </a:rPr>
              <a:t>Trap</a:t>
            </a:r>
          </a:p>
        </p:txBody>
      </p:sp>
      <p:sp>
        <p:nvSpPr>
          <p:cNvPr id="8" name="TextBox 7"/>
          <p:cNvSpPr txBox="1"/>
          <p:nvPr/>
        </p:nvSpPr>
        <p:spPr>
          <a:xfrm>
            <a:off x="4489704" y="1865376"/>
            <a:ext cx="6766560" cy="274320"/>
          </a:xfrm>
          <a:prstGeom prst="rect">
            <a:avLst/>
          </a:prstGeom>
          <a:noFill/>
        </p:spPr>
        <p:txBody>
          <a:bodyPr wrap="square">
            <a:spAutoFit/>
          </a:bodyPr>
          <a:lstStyle/>
          <a:p>
            <a:pPr algn="l"/>
            <a:r>
              <a:rPr sz="900" b="1" i="0">
                <a:solidFill>
                  <a:srgbClr val="FBF3E8"/>
                </a:solidFill>
              </a:rPr>
              <a:t>Where it shows up</a:t>
            </a:r>
          </a:p>
        </p:txBody>
      </p:sp>
      <p:sp>
        <p:nvSpPr>
          <p:cNvPr id="9" name="Rectangle 8"/>
          <p:cNvSpPr/>
          <p:nvPr/>
        </p:nvSpPr>
        <p:spPr>
          <a:xfrm>
            <a:off x="813816" y="2194560"/>
            <a:ext cx="347472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98264" y="2194560"/>
            <a:ext cx="685800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276856"/>
            <a:ext cx="3383280" cy="475488"/>
          </a:xfrm>
          <a:prstGeom prst="rect">
            <a:avLst/>
          </a:prstGeom>
          <a:noFill/>
        </p:spPr>
        <p:txBody>
          <a:bodyPr wrap="square">
            <a:spAutoFit/>
          </a:bodyPr>
          <a:lstStyle/>
          <a:p>
            <a:pPr algn="l"/>
            <a:r>
              <a:rPr sz="950" b="1" i="0">
                <a:solidFill>
                  <a:srgbClr val="1E3A2F"/>
                </a:solidFill>
              </a:rPr>
              <a:t>Messy, mismatched files</a:t>
            </a:r>
          </a:p>
        </p:txBody>
      </p:sp>
      <p:sp>
        <p:nvSpPr>
          <p:cNvPr id="12" name="TextBox 11"/>
          <p:cNvSpPr txBox="1"/>
          <p:nvPr/>
        </p:nvSpPr>
        <p:spPr>
          <a:xfrm>
            <a:off x="4489704" y="2276856"/>
            <a:ext cx="6766560" cy="475488"/>
          </a:xfrm>
          <a:prstGeom prst="rect">
            <a:avLst/>
          </a:prstGeom>
          <a:noFill/>
        </p:spPr>
        <p:txBody>
          <a:bodyPr wrap="square">
            <a:spAutoFit/>
          </a:bodyPr>
          <a:lstStyle/>
          <a:p>
            <a:pPr algn="l"/>
            <a:r>
              <a:rPr sz="950" b="0" i="0">
                <a:solidFill>
                  <a:srgbClr val="1F2A24"/>
                </a:solidFill>
              </a:rPr>
              <a:t>Q1: 8 formats, different date and rating columns</a:t>
            </a:r>
          </a:p>
        </p:txBody>
      </p:sp>
      <p:sp>
        <p:nvSpPr>
          <p:cNvPr id="13" name="Rectangle 12"/>
          <p:cNvSpPr/>
          <p:nvPr/>
        </p:nvSpPr>
        <p:spPr>
          <a:xfrm>
            <a:off x="813816" y="2670048"/>
            <a:ext cx="3474720" cy="4572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98264" y="2670048"/>
            <a:ext cx="6858000" cy="4572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2752344"/>
            <a:ext cx="3383280" cy="475488"/>
          </a:xfrm>
          <a:prstGeom prst="rect">
            <a:avLst/>
          </a:prstGeom>
          <a:noFill/>
        </p:spPr>
        <p:txBody>
          <a:bodyPr wrap="square">
            <a:spAutoFit/>
          </a:bodyPr>
          <a:lstStyle/>
          <a:p>
            <a:pPr algn="l"/>
            <a:r>
              <a:rPr sz="950" b="1" i="0">
                <a:solidFill>
                  <a:srgbClr val="1E3A2F"/>
                </a:solidFill>
              </a:rPr>
              <a:t>Stars are not sentiment</a:t>
            </a:r>
          </a:p>
        </p:txBody>
      </p:sp>
      <p:sp>
        <p:nvSpPr>
          <p:cNvPr id="16" name="TextBox 15"/>
          <p:cNvSpPr txBox="1"/>
          <p:nvPr/>
        </p:nvSpPr>
        <p:spPr>
          <a:xfrm>
            <a:off x="4489704" y="2752344"/>
            <a:ext cx="6766560" cy="475488"/>
          </a:xfrm>
          <a:prstGeom prst="rect">
            <a:avLst/>
          </a:prstGeom>
          <a:noFill/>
        </p:spPr>
        <p:txBody>
          <a:bodyPr wrap="square">
            <a:spAutoFit/>
          </a:bodyPr>
          <a:lstStyle/>
          <a:p>
            <a:pPr algn="l"/>
            <a:r>
              <a:rPr sz="950" b="0" i="0">
                <a:solidFill>
                  <a:srgbClr val="1F2A24"/>
                </a:solidFill>
              </a:rPr>
              <a:t>Q1, Q2: 4-star unrelated reviews, 2-star neutral reviews</a:t>
            </a:r>
          </a:p>
        </p:txBody>
      </p:sp>
      <p:sp>
        <p:nvSpPr>
          <p:cNvPr id="17" name="Rectangle 16"/>
          <p:cNvSpPr/>
          <p:nvPr/>
        </p:nvSpPr>
        <p:spPr>
          <a:xfrm>
            <a:off x="813816" y="3145536"/>
            <a:ext cx="347472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98264" y="3145536"/>
            <a:ext cx="685800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227832"/>
            <a:ext cx="3383280" cy="475488"/>
          </a:xfrm>
          <a:prstGeom prst="rect">
            <a:avLst/>
          </a:prstGeom>
          <a:noFill/>
        </p:spPr>
        <p:txBody>
          <a:bodyPr wrap="square">
            <a:spAutoFit/>
          </a:bodyPr>
          <a:lstStyle/>
          <a:p>
            <a:pPr algn="l"/>
            <a:r>
              <a:rPr sz="950" b="1" i="0">
                <a:solidFill>
                  <a:srgbClr val="1E3A2F"/>
                </a:solidFill>
              </a:rPr>
              <a:t>Product vs everything else</a:t>
            </a:r>
          </a:p>
        </p:txBody>
      </p:sp>
      <p:sp>
        <p:nvSpPr>
          <p:cNvPr id="20" name="TextBox 19"/>
          <p:cNvSpPr txBox="1"/>
          <p:nvPr/>
        </p:nvSpPr>
        <p:spPr>
          <a:xfrm>
            <a:off x="4489704" y="3227832"/>
            <a:ext cx="6766560" cy="475488"/>
          </a:xfrm>
          <a:prstGeom prst="rect">
            <a:avLst/>
          </a:prstGeom>
          <a:noFill/>
        </p:spPr>
        <p:txBody>
          <a:bodyPr wrap="square">
            <a:spAutoFit/>
          </a:bodyPr>
          <a:lstStyle/>
          <a:p>
            <a:pPr algn="l"/>
            <a:r>
              <a:rPr sz="950" b="0" i="0">
                <a:solidFill>
                  <a:srgbClr val="1F2A24"/>
                </a:solidFill>
              </a:rPr>
              <a:t>Q2: 38% of low ratings are not about the bag</a:t>
            </a:r>
          </a:p>
        </p:txBody>
      </p:sp>
      <p:sp>
        <p:nvSpPr>
          <p:cNvPr id="21" name="Rectangle 20"/>
          <p:cNvSpPr/>
          <p:nvPr/>
        </p:nvSpPr>
        <p:spPr>
          <a:xfrm>
            <a:off x="813816" y="3621024"/>
            <a:ext cx="3474720" cy="4572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98264" y="3621024"/>
            <a:ext cx="6858000" cy="4572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3703320"/>
            <a:ext cx="3383280" cy="475488"/>
          </a:xfrm>
          <a:prstGeom prst="rect">
            <a:avLst/>
          </a:prstGeom>
          <a:noFill/>
        </p:spPr>
        <p:txBody>
          <a:bodyPr wrap="square">
            <a:spAutoFit/>
          </a:bodyPr>
          <a:lstStyle/>
          <a:p>
            <a:pPr algn="l"/>
            <a:r>
              <a:rPr sz="950" b="1" i="0">
                <a:solidFill>
                  <a:srgbClr val="1E3A2F"/>
                </a:solidFill>
              </a:rPr>
              <a:t>Tiny samples</a:t>
            </a:r>
          </a:p>
        </p:txBody>
      </p:sp>
      <p:sp>
        <p:nvSpPr>
          <p:cNvPr id="24" name="TextBox 23"/>
          <p:cNvSpPr txBox="1"/>
          <p:nvPr/>
        </p:nvSpPr>
        <p:spPr>
          <a:xfrm>
            <a:off x="4489704" y="3703320"/>
            <a:ext cx="6766560" cy="475488"/>
          </a:xfrm>
          <a:prstGeom prst="rect">
            <a:avLst/>
          </a:prstGeom>
          <a:noFill/>
        </p:spPr>
        <p:txBody>
          <a:bodyPr wrap="square">
            <a:spAutoFit/>
          </a:bodyPr>
          <a:lstStyle/>
          <a:p>
            <a:pPr algn="l"/>
            <a:r>
              <a:rPr sz="950" b="0" i="0">
                <a:solidFill>
                  <a:srgbClr val="1F2A24"/>
                </a:solidFill>
              </a:rPr>
              <a:t>Q3: Amazon (13), TikTok Shop (14), Blibli (8)</a:t>
            </a:r>
          </a:p>
        </p:txBody>
      </p:sp>
      <p:sp>
        <p:nvSpPr>
          <p:cNvPr id="25" name="Rectangle 24"/>
          <p:cNvSpPr/>
          <p:nvPr/>
        </p:nvSpPr>
        <p:spPr>
          <a:xfrm>
            <a:off x="813816" y="4096512"/>
            <a:ext cx="347472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98264" y="4096512"/>
            <a:ext cx="685800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5256" y="4178808"/>
            <a:ext cx="3383280" cy="475488"/>
          </a:xfrm>
          <a:prstGeom prst="rect">
            <a:avLst/>
          </a:prstGeom>
          <a:noFill/>
        </p:spPr>
        <p:txBody>
          <a:bodyPr wrap="square">
            <a:spAutoFit/>
          </a:bodyPr>
          <a:lstStyle/>
          <a:p>
            <a:pPr algn="l"/>
            <a:r>
              <a:rPr sz="950" b="1" i="0">
                <a:solidFill>
                  <a:srgbClr val="1E3A2F"/>
                </a:solidFill>
              </a:rPr>
              <a:t>Noise that looks like signal</a:t>
            </a:r>
          </a:p>
        </p:txBody>
      </p:sp>
      <p:sp>
        <p:nvSpPr>
          <p:cNvPr id="28" name="TextBox 27"/>
          <p:cNvSpPr txBox="1"/>
          <p:nvPr/>
        </p:nvSpPr>
        <p:spPr>
          <a:xfrm>
            <a:off x="4489704" y="4178808"/>
            <a:ext cx="6766560" cy="475488"/>
          </a:xfrm>
          <a:prstGeom prst="rect">
            <a:avLst/>
          </a:prstGeom>
          <a:noFill/>
        </p:spPr>
        <p:txBody>
          <a:bodyPr wrap="square">
            <a:spAutoFit/>
          </a:bodyPr>
          <a:lstStyle/>
          <a:p>
            <a:pPr algn="l"/>
            <a:r>
              <a:rPr sz="950" b="0" i="0">
                <a:solidFill>
                  <a:srgbClr val="1F2A24"/>
                </a:solidFill>
              </a:rPr>
              <a:t>Q4: quiz guesses, spam, off-topic comments</a:t>
            </a:r>
          </a:p>
        </p:txBody>
      </p:sp>
      <p:sp>
        <p:nvSpPr>
          <p:cNvPr id="29" name="Rectangle 28"/>
          <p:cNvSpPr/>
          <p:nvPr/>
        </p:nvSpPr>
        <p:spPr>
          <a:xfrm>
            <a:off x="813816" y="4572000"/>
            <a:ext cx="3474720" cy="4572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398264" y="4572000"/>
            <a:ext cx="6858000" cy="4572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 y="4654296"/>
            <a:ext cx="3383280" cy="475488"/>
          </a:xfrm>
          <a:prstGeom prst="rect">
            <a:avLst/>
          </a:prstGeom>
          <a:noFill/>
        </p:spPr>
        <p:txBody>
          <a:bodyPr wrap="square">
            <a:spAutoFit/>
          </a:bodyPr>
          <a:lstStyle/>
          <a:p>
            <a:pPr algn="l"/>
            <a:r>
              <a:rPr sz="950" b="1" i="0">
                <a:solidFill>
                  <a:srgbClr val="1E3A2F"/>
                </a:solidFill>
              </a:rPr>
              <a:t>What we ignore</a:t>
            </a:r>
          </a:p>
        </p:txBody>
      </p:sp>
      <p:sp>
        <p:nvSpPr>
          <p:cNvPr id="32" name="TextBox 31"/>
          <p:cNvSpPr txBox="1"/>
          <p:nvPr/>
        </p:nvSpPr>
        <p:spPr>
          <a:xfrm>
            <a:off x="4489704" y="4654296"/>
            <a:ext cx="6766560" cy="475488"/>
          </a:xfrm>
          <a:prstGeom prst="rect">
            <a:avLst/>
          </a:prstGeom>
          <a:noFill/>
        </p:spPr>
        <p:txBody>
          <a:bodyPr wrap="square">
            <a:spAutoFit/>
          </a:bodyPr>
          <a:lstStyle/>
          <a:p>
            <a:pPr algn="l"/>
            <a:r>
              <a:rPr sz="950" b="0" i="0">
                <a:solidFill>
                  <a:srgbClr val="1F2A24"/>
                </a:solidFill>
              </a:rPr>
              <a:t>Q4: price and trust objections go unanswered</a:t>
            </a:r>
          </a:p>
        </p:txBody>
      </p:sp>
      <p:sp>
        <p:nvSpPr>
          <p:cNvPr id="33" name="Rectangle 32"/>
          <p:cNvSpPr/>
          <p:nvPr/>
        </p:nvSpPr>
        <p:spPr>
          <a:xfrm>
            <a:off x="813816" y="5047488"/>
            <a:ext cx="347472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98264" y="5047488"/>
            <a:ext cx="6858000" cy="457200"/>
          </a:xfrm>
          <a:prstGeom prst="rect">
            <a:avLst/>
          </a:prstGeom>
          <a:solidFill>
            <a:srgbClr val="FFF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5256" y="5129784"/>
            <a:ext cx="3383280" cy="475488"/>
          </a:xfrm>
          <a:prstGeom prst="rect">
            <a:avLst/>
          </a:prstGeom>
          <a:noFill/>
        </p:spPr>
        <p:txBody>
          <a:bodyPr wrap="square">
            <a:spAutoFit/>
          </a:bodyPr>
          <a:lstStyle/>
          <a:p>
            <a:pPr algn="l"/>
            <a:r>
              <a:rPr sz="950" b="1" i="0">
                <a:solidFill>
                  <a:srgbClr val="1E3A2F"/>
                </a:solidFill>
              </a:rPr>
              <a:t>Answer keys in the data</a:t>
            </a:r>
          </a:p>
        </p:txBody>
      </p:sp>
      <p:sp>
        <p:nvSpPr>
          <p:cNvPr id="36" name="TextBox 35"/>
          <p:cNvSpPr txBox="1"/>
          <p:nvPr/>
        </p:nvSpPr>
        <p:spPr>
          <a:xfrm>
            <a:off x="4489704" y="5129784"/>
            <a:ext cx="6766560" cy="475488"/>
          </a:xfrm>
          <a:prstGeom prst="rect">
            <a:avLst/>
          </a:prstGeom>
          <a:noFill/>
        </p:spPr>
        <p:txBody>
          <a:bodyPr wrap="square">
            <a:spAutoFit/>
          </a:bodyPr>
          <a:lstStyle/>
          <a:p>
            <a:pPr algn="l"/>
            <a:r>
              <a:rPr sz="950" b="0" i="0">
                <a:solidFill>
                  <a:srgbClr val="1F2A24"/>
                </a:solidFill>
              </a:rPr>
              <a:t>Q1, Q4: AI labels must be checked against a trusted reference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FACILITATOR NOTES</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700" b="0" i="0">
                <a:solidFill>
                  <a:srgbClr val="1E3A2F"/>
                </a:solidFill>
              </a:rPr>
              <a:t>Keep participants honest</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2148840"/>
            <a:ext cx="5943600" cy="3474720"/>
          </a:xfrm>
          <a:prstGeom prst="rect">
            <a:avLst/>
          </a:prstGeom>
          <a:noFill/>
        </p:spPr>
        <p:txBody>
          <a:bodyPr wrap="square">
            <a:spAutoFit/>
          </a:bodyPr>
          <a:lstStyle/>
          <a:p>
            <a:r>
              <a:rPr sz="1050" b="1">
                <a:solidFill>
                  <a:srgbClr val="B5532B"/>
                </a:solidFill>
              </a:rPr>
              <a:t>Spot-check  </a:t>
            </a:r>
            <a:r>
              <a:rPr sz="1050" b="0">
                <a:solidFill>
                  <a:srgbClr val="1F2A24"/>
                </a:solidFill>
              </a:rPr>
              <a:t>Each participant reads 10 reviews or comments and decides whether the AI's label is right.</a:t>
            </a:r>
          </a:p>
          <a:p>
            <a:endParaRPr sz="1050" b="0">
              <a:solidFill>
                <a:srgbClr val="1F2A24"/>
              </a:solidFill>
            </a:endParaRPr>
          </a:p>
          <a:p>
            <a:r>
              <a:rPr sz="1050" b="1">
                <a:solidFill>
                  <a:srgbClr val="B5532B"/>
                </a:solidFill>
              </a:rPr>
              <a:t>Ask for the working  </a:t>
            </a:r>
            <a:r>
              <a:rPr sz="1050" b="0">
                <a:solidFill>
                  <a:srgbClr val="1F2A24"/>
                </a:solidFill>
              </a:rPr>
              <a:t>"Show the rows behind this number."</a:t>
            </a:r>
          </a:p>
          <a:p>
            <a:endParaRPr sz="1050" b="0">
              <a:solidFill>
                <a:srgbClr val="1F2A24"/>
              </a:solidFill>
            </a:endParaRPr>
          </a:p>
          <a:p>
            <a:r>
              <a:rPr sz="1050" b="1">
                <a:solidFill>
                  <a:srgbClr val="B5532B"/>
                </a:solidFill>
              </a:rPr>
              <a:t>Ask for the opposite view  </a:t>
            </a:r>
            <a:r>
              <a:rPr sz="1050" b="0">
                <a:solidFill>
                  <a:srgbClr val="1F2A24"/>
                </a:solidFill>
              </a:rPr>
              <a:t>"What would someone who disagrees say?"</a:t>
            </a:r>
          </a:p>
          <a:p>
            <a:endParaRPr sz="1050" b="0">
              <a:solidFill>
                <a:srgbClr val="1F2A24"/>
              </a:solidFill>
            </a:endParaRPr>
          </a:p>
          <a:p>
            <a:r>
              <a:rPr sz="1050" b="1">
                <a:solidFill>
                  <a:srgbClr val="B5532B"/>
                </a:solidFill>
              </a:rPr>
              <a:t>Watch for over-confidence  </a:t>
            </a:r>
            <a:r>
              <a:rPr sz="1050" b="0">
                <a:solidFill>
                  <a:srgbClr val="1F2A24"/>
                </a:solidFill>
              </a:rPr>
              <a:t>On small samples, and for invented quotes. Check that every quote exists in the data.</a:t>
            </a:r>
          </a:p>
          <a:p>
            <a:endParaRPr sz="1050" b="0">
              <a:solidFill>
                <a:srgbClr val="1F2A24"/>
              </a:solidFill>
            </a:endParaRPr>
          </a:p>
        </p:txBody>
      </p:sp>
      <p:sp>
        <p:nvSpPr>
          <p:cNvPr id="6" name="Rectangle 5"/>
          <p:cNvSpPr/>
          <p:nvPr/>
        </p:nvSpPr>
        <p:spPr>
          <a:xfrm>
            <a:off x="813816" y="5074920"/>
            <a:ext cx="10570464" cy="150876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96696" y="5166360"/>
            <a:ext cx="10241280" cy="274320"/>
          </a:xfrm>
          <a:prstGeom prst="rect">
            <a:avLst/>
          </a:prstGeom>
          <a:noFill/>
        </p:spPr>
        <p:txBody>
          <a:bodyPr wrap="square">
            <a:spAutoFit/>
          </a:bodyPr>
          <a:lstStyle/>
          <a:p>
            <a:pPr algn="l"/>
            <a:r>
              <a:rPr sz="850" b="1" i="0">
                <a:solidFill>
                  <a:srgbClr val="E3A83E"/>
                </a:solidFill>
              </a:rPr>
              <a:t>Wrap-up question for the room</a:t>
            </a:r>
          </a:p>
        </p:txBody>
      </p:sp>
      <p:sp>
        <p:nvSpPr>
          <p:cNvPr id="8" name="TextBox 7"/>
          <p:cNvSpPr txBox="1"/>
          <p:nvPr/>
        </p:nvSpPr>
        <p:spPr>
          <a:xfrm>
            <a:off x="996696" y="5486400"/>
            <a:ext cx="10241280" cy="914400"/>
          </a:xfrm>
          <a:prstGeom prst="rect">
            <a:avLst/>
          </a:prstGeom>
          <a:noFill/>
        </p:spPr>
        <p:txBody>
          <a:bodyPr wrap="square">
            <a:spAutoFit/>
          </a:bodyPr>
          <a:lstStyle/>
          <a:p>
            <a:pPr algn="l"/>
            <a:r>
              <a:rPr sz="1200" b="0" i="0">
                <a:solidFill>
                  <a:srgbClr val="FBF3E8"/>
                </a:solidFill>
              </a:rPr>
              <a:t>"Which finding would change what you do tomorrow, which would you check first before acting, and what would you want to ask customers directly?"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E3A2F"/>
        </a:solidFill>
        <a:effectLst/>
      </p:bgPr>
    </p:bg>
    <p:spTree>
      <p:nvGrpSpPr>
        <p:cNvPr id="1" name="Shape 537"/>
        <p:cNvGrpSpPr/>
        <p:nvPr/>
      </p:nvGrpSpPr>
      <p:grpSpPr>
        <a:xfrm>
          <a:off x="0" y="0"/>
          <a:ext cx="0" cy="0"/>
          <a:chOff x="0" y="0"/>
          <a:chExt cx="0" cy="0"/>
        </a:xfrm>
      </p:grpSpPr>
      <p:pic>
        <p:nvPicPr>
          <p:cNvPr id="538" name="Google Shape;538;p32" descr="ellipse"/>
          <p:cNvPicPr preferRelativeResize="0"/>
          <p:nvPr/>
        </p:nvPicPr>
        <p:blipFill rotWithShape="1">
          <a:blip r:embed="rId3">
            <a:alphaModFix/>
          </a:blip>
          <a:srcRect/>
          <a:stretch/>
        </p:blipFill>
        <p:spPr>
          <a:xfrm>
            <a:off x="8763000" y="812800"/>
            <a:ext cx="2540000" cy="2540000"/>
          </a:xfrm>
          <a:prstGeom prst="rect">
            <a:avLst/>
          </a:prstGeom>
          <a:noFill/>
          <a:ln>
            <a:noFill/>
          </a:ln>
        </p:spPr>
      </p:pic>
      <p:pic>
        <p:nvPicPr>
          <p:cNvPr id="539" name="Google Shape;539;p32" descr="ellipse"/>
          <p:cNvPicPr preferRelativeResize="0"/>
          <p:nvPr/>
        </p:nvPicPr>
        <p:blipFill rotWithShape="1">
          <a:blip r:embed="rId4">
            <a:alphaModFix/>
          </a:blip>
          <a:srcRect/>
          <a:stretch/>
        </p:blipFill>
        <p:spPr>
          <a:xfrm>
            <a:off x="8255000" y="2794000"/>
            <a:ext cx="889000" cy="889000"/>
          </a:xfrm>
          <a:prstGeom prst="rect">
            <a:avLst/>
          </a:prstGeom>
          <a:noFill/>
          <a:ln>
            <a:noFill/>
          </a:ln>
        </p:spPr>
      </p:pic>
      <p:sp>
        <p:nvSpPr>
          <p:cNvPr id="540" name="Google Shape;540;p32"/>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MASTERCLASS · AI FOR CONTENT CREATION</a:t>
            </a:r>
            <a:endParaRPr sz="1200" b="0" i="0" u="none" strike="noStrike" cap="none">
              <a:solidFill>
                <a:schemeClr val="dk1"/>
              </a:solidFill>
              <a:latin typeface="Calibri"/>
              <a:ea typeface="Calibri"/>
              <a:cs typeface="Calibri"/>
              <a:sym typeface="Calibri"/>
            </a:endParaRPr>
          </a:p>
        </p:txBody>
      </p:sp>
      <p:sp>
        <p:nvSpPr>
          <p:cNvPr id="541" name="Google Shape;541;p32"/>
          <p:cNvSpPr/>
          <p:nvPr/>
        </p:nvSpPr>
        <p:spPr>
          <a:xfrm>
            <a:off x="812800" y="2793990"/>
            <a:ext cx="7521600" cy="1625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5F0E6"/>
              </a:buClr>
              <a:buSzPts val="6000"/>
              <a:buFont typeface="Fraunces"/>
              <a:buNone/>
            </a:pPr>
            <a:r>
              <a:rPr lang="en-US" sz="6000">
                <a:solidFill>
                  <a:srgbClr val="F5F0E6"/>
                </a:solidFill>
                <a:latin typeface="Fraunces"/>
                <a:ea typeface="Fraunces"/>
                <a:cs typeface="Fraunces"/>
                <a:sym typeface="Fraunces"/>
              </a:rPr>
              <a:t>Thank You</a:t>
            </a:r>
            <a:endParaRPr sz="6000" b="0" i="0" u="none" strike="noStrike" cap="none">
              <a:solidFill>
                <a:schemeClr val="dk1"/>
              </a:solidFill>
              <a:latin typeface="Calibri"/>
              <a:ea typeface="Calibri"/>
              <a:cs typeface="Calibri"/>
              <a:sym typeface="Calibri"/>
            </a:endParaRPr>
          </a:p>
        </p:txBody>
      </p:sp>
      <p:sp>
        <p:nvSpPr>
          <p:cNvPr id="542" name="Google Shape;542;p32"/>
          <p:cNvSpPr/>
          <p:nvPr/>
        </p:nvSpPr>
        <p:spPr>
          <a:xfrm>
            <a:off x="812800" y="583184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A9B8AD"/>
              </a:buClr>
              <a:buSzPts val="1200"/>
              <a:buFont typeface="DM Sans"/>
              <a:buNone/>
            </a:pPr>
            <a:r>
              <a:rPr lang="en-US" sz="1200">
                <a:solidFill>
                  <a:srgbClr val="A9B8AD"/>
                </a:solidFill>
                <a:latin typeface="DM Sans"/>
                <a:ea typeface="DM Sans"/>
                <a:cs typeface="DM Sans"/>
                <a:sym typeface="DM Sans"/>
              </a:rPr>
              <a:t>ASEAN Oct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11</TotalTime>
  <Words>9707</Words>
  <Application>Microsoft Macintosh PowerPoint</Application>
  <PresentationFormat>Widescreen</PresentationFormat>
  <Paragraphs>887</Paragraphs>
  <Slides>55</Slides>
  <Notes>40</Notes>
  <HiddenSlides>18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Fraunces</vt:lpstr>
      <vt:lpstr>Calibri</vt:lpstr>
      <vt:lpstr>DM Sans</vt:lpstr>
      <vt:lpstr>Georgia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Prasad, Bharath</cp:lastModifiedBy>
  <cp:revision>4</cp:revision>
  <dcterms:modified xsi:type="dcterms:W3CDTF">2026-10-08T07:58:49Z</dcterms:modified>
</cp:coreProperties>
</file>