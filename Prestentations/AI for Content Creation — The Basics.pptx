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285" r:id="rId34"/>
  </p:sldIdLst>
  <p:sldSz cy="6858000" cx="12192000"/>
  <p:notesSz cx="6858000" cy="12192000"/>
  <p:embeddedFontLst>
    <p:embeddedFont>
      <p:font typeface="Fraunces"/>
      <p:regular r:id="rId35"/>
      <p:bold r:id="rId36"/>
      <p:italic r:id="rId37"/>
      <p:boldItalic r:id="rId38"/>
    </p:embeddedFont>
    <p:embeddedFont>
      <p:font typeface="DM Sans"/>
      <p:regular r:id="rId39"/>
      <p:bold r:id="rId40"/>
      <p:italic r:id="rId41"/>
      <p:boldItalic r:id="rId4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font" Target="fonts/Fraunces-regular.fntdata"/><Relationship Id="rId36" Type="http://schemas.openxmlformats.org/officeDocument/2006/relationships/font" Target="fonts/Fraunces-bold.fntdata"/><Relationship Id="rId37" Type="http://schemas.openxmlformats.org/officeDocument/2006/relationships/font" Target="fonts/Fraunces-italic.fntdata"/><Relationship Id="rId38" Type="http://schemas.openxmlformats.org/officeDocument/2006/relationships/font" Target="fonts/Fraunces-boldItalic.fntdata"/><Relationship Id="rId39" Type="http://schemas.openxmlformats.org/officeDocument/2006/relationships/font" Target="fonts/DMSans-regular.fntdata"/><Relationship Id="rId40" Type="http://schemas.openxmlformats.org/officeDocument/2006/relationships/font" Target="fonts/DMSans-bold.fntdata"/><Relationship Id="rId41" Type="http://schemas.openxmlformats.org/officeDocument/2006/relationships/font" Target="fonts/DMSans-italic.fntdata"/><Relationship Id="rId42" Type="http://schemas.openxmlformats.org/officeDocument/2006/relationships/font" Target="fonts/DMSans-boldItalic.fntdata"/><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h282c34934c4eb66e_3_32:notes"/>
          <p:cNvSpPr/>
          <p:nvPr>
            <p:ph idx="2" type="sldImg"/>
          </p:nvPr>
        </p:nvSpPr>
        <p:spPr>
          <a:xfrm>
            <a:off x="-635000" y="914400"/>
            <a:ext cx="8127900"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 name="Google Shape;24;h282c34934c4eb66e_3_32:notes"/>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p>
            <a:pPr indent="0" lvl="0" marL="457200" rtl="0" algn="l">
              <a:lnSpc>
                <a:spcPct val="100000"/>
              </a:lnSpc>
              <a:spcBef>
                <a:spcPts val="0"/>
              </a:spcBef>
              <a:spcAft>
                <a:spcPts val="0"/>
              </a:spcAft>
              <a:buSzPts val="1100"/>
              <a:buNone/>
            </a:pPr>
            <a:r>
              <a:t/>
            </a:r>
            <a:endParaRPr/>
          </a:p>
        </p:txBody>
      </p:sp>
      <p:sp>
        <p:nvSpPr>
          <p:cNvPr id="25" name="Google Shape;25;h282c34934c4eb66e_3_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min. Anchor in their reality before any technology. Most marketing teams in social enterprises are one to three people doing the work of a whole agency, across channels, audiences and languages. Ask: which of these three stretches your team most? Frame AI as capacity, not replacement.</a:t>
            </a:r>
            <a:endParaRP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The one idea: it predicts the next likely word, over and over. Walk through the compost example: "rich soil" is most likely, "gold" is possible but unlikely. Then land the key point for marketers: because it always produces something likely-sounding, it will sound confident even when it is wrong. Fluent is not the same as true.</a:t>
            </a:r>
            <a:endParaRPr/>
          </a:p>
        </p:txBody>
      </p:sp>
      <p:sp>
        <p:nvSpPr>
          <p:cNvPr id="52" name="Google Shape;5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 name="Google Shape;6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min. Keep it light: read, coached, refined. No need for technical terms. The takeaway is the dark box: because it learned from the whole internet, its default voice is the average voice. That is why unedited AI content feels generic. Everything in the prompting section is about pulling it away from average and toward your brand.</a:t>
            </a:r>
            <a:endParaRPr/>
          </a:p>
        </p:txBody>
      </p:sp>
      <p:sp>
        <p:nvSpPr>
          <p:cNvPr id="70" name="Google Shape;7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min. This is the mental model to keep all day. Ask the room: how would you brief a new intern on day one? You would not just say "write something about us". You would explain who you are, who the audience is, and show examples. Same with AI. And you would never publish an intern's first draft without reading it.</a:t>
            </a:r>
            <a:endParaRPr/>
          </a:p>
        </p:txBody>
      </p:sp>
      <p:sp>
        <p:nvSpPr>
          <p:cNvPr id="93" name="Google Shape;9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Left column is where to lean in. Localising is a big one for teams across Southeast Asia: one story adapted for English-speaking funders and local-language customers. Right column is where to stay alert. The first item matters most for impact brands: it will happily invent a number like "reduced waste by 40%" if you do not give it your real data.</a:t>
            </a:r>
            <a:endParaRPr/>
          </a:p>
        </p:txBody>
      </p:sp>
      <p:sp>
        <p:nvSpPr>
          <p:cNvPr id="115" name="Google Shape;11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 name="Google Shape;1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Keep this quick; do not turn it into a product comparison. Point out that many of them already have AI inside tools they use daily, like Canva. The key message is the last line: skills transfer across tools, because they all respond to the same thing, a good brief. That is our bridge to prompting.</a:t>
            </a:r>
            <a:endParaRPr/>
          </a:p>
        </p:txBody>
      </p:sp>
      <p:sp>
        <p:nvSpPr>
          <p:cNvPr id="130" name="Google Shape;1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 Pause here. This is the reframe that makes marketers confident: prompting is not a technical skill, it is briefing, which they already do every week. Let it land, then move on.</a:t>
            </a:r>
            <a:endParaRPr/>
          </a:p>
        </p:txBody>
      </p:sp>
      <p:sp>
        <p:nvSpPr>
          <p:cNvPr id="152" name="Google Shape;15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~2.5 min. Map each part to something they already put in an agency brief: role is who is writing, task is the deliverable, context is the background and audience, format is the specs, examples are the mood board. Context and examples are where most of the quality comes from, and they are the parts people most often skip.</a:t>
            </a:r>
            <a:endParaRPr/>
          </a:p>
        </p:txBody>
      </p:sp>
      <p:sp>
        <p:nvSpPr>
          <p:cNvPr id="160" name="Google Shape;16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Read both aloud. Point to "Use only these facts" in the specific brief: that single line is the best protection against invented impact numbers. If time allows, invite someone to suggest one more line they would add to the specific brief.</a:t>
            </a:r>
            <a:endParaRPr/>
          </a:p>
        </p:txBody>
      </p:sp>
      <p:sp>
        <p:nvSpPr>
          <p:cNvPr id="183" name="Google Shape;18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These are the moves they will practise in the hands-on. Number 3 is the one most people have never tried and it surprises them: the AI asks you the questions a good copywriter would. Number 5 turns the AI into a reviewer, useful before anything goes to funders.</a:t>
            </a:r>
            <a:endParaRPr/>
          </a:p>
        </p:txBody>
      </p:sp>
      <p:sp>
        <p:nvSpPr>
          <p:cNvPr id="199" name="Google Shape;19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This is the slide that is specific to social enterprises. Their brand rests on trust with customers, funders and communities. An AI-invented impact figure or a fake photo of "our farmers" can undo years of credibility. Protecting beneficiary data is both an ethical and, in several countries, a legal matter.</a:t>
            </a:r>
            <a:endParaRPr/>
          </a:p>
        </p:txBody>
      </p:sp>
      <p:sp>
        <p:nvSpPr>
          <p:cNvPr id="227" name="Google Shape;22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Close the loop: speed is now cheap, so the value marketers bring shifts to judgment, knowing their audience, their facts and their voice. Then transition straight into the hands-on.</a:t>
            </a:r>
            <a:endParaRPr/>
          </a:p>
        </p:txBody>
      </p:sp>
      <p:sp>
        <p:nvSpPr>
          <p:cNvPr id="249" name="Google Shape;24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framing, about 30 seconds. Tell people they do not need to type along; the hands-on repeats exactly these four steps with the Loop Tote. Ask them to watch two things: how the prompt is built, and what you check before accepting the output.</a:t>
            </a:r>
            <a:endParaRPr/>
          </a:p>
        </p:txBody>
      </p:sp>
      <p:sp>
        <p:nvSpPr>
          <p:cNvPr id="261" name="Google Shape;26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out the difference from the Loop Tote: this story is about a real person. Her quotes are sacred; the AI may shape the text around them but must never rewrite them. Paste this brief as text into the chat for the demo.</a:t>
            </a:r>
            <a:endParaRPr/>
          </a:p>
        </p:txBody>
      </p:sp>
      <p:sp>
        <p:nvSpPr>
          <p:cNvPr id="273" name="Google Shape;27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 first draft, then the refinement. Drafts often drift into brand self-praise; the follow-up pulls the focus back to her. Read her quotes in the output against the brief out loud so the room sees the check happen.</a:t>
            </a:r>
            <a:endParaRPr/>
          </a:p>
        </p:txBody>
      </p:sp>
      <p:sp>
        <p:nvSpPr>
          <p:cNvPr id="304" name="Google Shape;30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deliberate contrast with the hands-on. For a product like the Loop Tote, AI video is fine. For a real person's story, AI plans the shoot and the edit; it does not fabricate her. Mention consent: she should know how and where her story will be used.</a:t>
            </a:r>
            <a:endParaRPr/>
          </a:p>
        </p:txBody>
      </p:sp>
      <p:sp>
        <p:nvSpPr>
          <p:cNvPr id="322" name="Google Shape;32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last line of the prompt is the teaching point: dignity. Stories about low-income workers can slide into poverty imagery. Ask the AI to flag it, then apply your own judgment.</a:t>
            </a:r>
            <a:endParaRPr/>
          </a:p>
        </p:txBody>
      </p:sp>
      <p:sp>
        <p:nvSpPr>
          <p:cNvPr id="340" name="Google Shape;34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7" name="Google Shape;35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 table and pick one live, explaining why. Variation A usually wins for picker stories because her voice carries it. Then move to the comparison slide.</a:t>
            </a:r>
            <a:endParaRPr/>
          </a:p>
        </p:txBody>
      </p:sp>
      <p:sp>
        <p:nvSpPr>
          <p:cNvPr id="358" name="Google Shape;35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 name="Google Shape;37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lessons. First, what the published post does well: centres her, ends with an engagement question that feeds a follow-up reel, and has alt text. Second, the slip: the interview and the caption disagree on when she started. Humans miss these too. Run the "list facts that don't match" prompt live, then hand over to the hands-on.</a:t>
            </a:r>
            <a:endParaRPr/>
          </a:p>
        </p:txBody>
      </p:sp>
      <p:sp>
        <p:nvSpPr>
          <p:cNvPr id="376" name="Google Shape;37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 name="Google Shape;39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hands-on. Everyone works on the same fictional-style launch so results can be compared. Suggest roughly 8 to 10 minutes per step. Steps 2 to 4 happen in the same chat as step 1, so the AI remembers the caption. Share the Loop Tote brief as copyable text (chat, WhatsApp or a shared doc) so people can paste it.</a:t>
            </a:r>
            <a:endParaRPr/>
          </a:p>
        </p:txBody>
      </p:sp>
      <p:sp>
        <p:nvSpPr>
          <p:cNvPr id="393" name="Google Shape;39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4" name="Google Shape;40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only source of facts for the whole exercise. Remind people: if a number or claim is not on this slide, it should not appear in their content. Share this as text so they can paste it into their chat.</a:t>
            </a:r>
            <a:endParaRPr/>
          </a:p>
        </p:txBody>
      </p:sp>
      <p:sp>
        <p:nvSpPr>
          <p:cNvPr id="405" name="Google Shape;40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 name="Google Shape;438;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8 to 10 minutes. The most common slip is the AI inventing a figure, like tonnes of plastic saved. Ask people to check their caption line by line against the brief. If they finish early, try the “ask me 3 questions first” follow-up and compare.</a:t>
            </a:r>
            <a:endParaRPr/>
          </a:p>
        </p:txBody>
      </p:sp>
      <p:sp>
        <p:nvSpPr>
          <p:cNvPr id="439" name="Google Shape;439;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8 to 10 minutes. Not everyone will have a video tool; the prompt itself is the deliverable. Point out the guardrail: AI video of workers or pickers must not be passed off as the real community. Product and process shots are fine.</a:t>
            </a:r>
            <a:endParaRPr/>
          </a:p>
        </p:txBody>
      </p:sp>
      <p:sp>
        <p:nvSpPr>
          <p:cNvPr id="457" name="Google Shape;45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5 to 8 minutes. The AI cannot see live Instagram data, so it may suggest tags that are dead, spammy or dominated by unrelated content. The manual check in step 4 matters.</a:t>
            </a:r>
            <a:endParaRPr/>
          </a:p>
        </p:txBody>
      </p:sp>
      <p:sp>
        <p:nvSpPr>
          <p:cNvPr id="475" name="Google Shape;475;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2" name="Google Shape;4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8 to 10 minutes. Variations are where AI saves the most time: one story, several angles, ready for A/B testing or different channels. Ask two or three people which angle they picked and why.</a:t>
            </a:r>
            <a:endParaRPr/>
          </a:p>
        </p:txBody>
      </p:sp>
      <p:sp>
        <p:nvSpPr>
          <p:cNvPr id="493" name="Google Shape;4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0" name="Google Shape;510;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Share-back, about 5 minutes. The brand's own post is a reference, not the "right answer". Notice two things it has that most AI drafts miss: alt text for accessibility and a simple engagement question. Close by asking what surprised people most.</a:t>
            </a:r>
            <a:endParaRPr/>
          </a:p>
        </p:txBody>
      </p:sp>
      <p:sp>
        <p:nvSpPr>
          <p:cNvPr id="511" name="Google Shape;511;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h282c34934c4eb66e_3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7" name="Google Shape;527;h282c34934c4eb66e_3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Set up the hands-on. Everyone works on the same fictional-style launch so results can be compared. Suggest roughly 8 to 10 minutes per step. Steps 2 to 4 happen in the same chat as step 1, so the AI remembers the caption. Share the Loop Tote brief as copyable text (chat, WhatsApp or a shared doc) so people can paste it. ‹#›</a:t>
            </a:r>
          </a:p>
        </p:txBody>
      </p:sp>
      <p:sp>
        <p:nvSpPr>
          <p:cNvPr id="528" name="Google Shape;528;h282c34934c4eb66e_3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h282c34934c4eb66e_3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 name="Google Shape;535;h282c34934c4eb66e_3_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536" name="Google Shape;536;h282c34934c4eb66e_3_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Give participants 2 minutes to open the files before moving on. The KPI file is enough for Questions 1, 3 and 5. The caption file is needed for Question 2. The audience files are optional extras for Question 4.</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Get everyone to paste this before they start. "Show how many posts are behind every figure" and "say when a sample is too small" are what separate a useful analysis from a confident but misleading one. Demo: paste "Analyse my Instagram data." first. Then paste Question 1. Ask the group what they got from each. The weak prompt usually gives generic averages with no decision.</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~10-12 minutes. Goal: format and pillar comparison tables. The trap is the education pillar: one viral Reel inflates the average. A good AI answer spots this. Ask participants: did yours flag it? If not, add "Check whether any average is distorted by one unusual post."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Debrief Q1. Ask 2-3 people to share one number they verified in the spreadsheet. Build the habit of spot-checking.</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~10-12 minutes. Needs both files. Key trap: hashtag_count is 2 for 28 of 30 posts — cannot be tested. A good AI answer says so explicitly. Ask: did your AI tell you what it COULD NOT conclude?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Debrief Q2. Ask: how many of you got an AI answer that told you what it COULD NOT conclude? That is the quality bar.</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~10-12 minutes. The "best time to post" question teams love. The answer is almost always: you cannot tell because time is mixed up with format. Nearly all Reels were posted at 08:00-09:00 and most carousels at 12:00-20:00. Ask: did your AI spot the confound?</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Debrief Q3. The most common misconception in social media analytics. Ask: how many got a "best time" answer without the confound flagged?</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~10-12 minutes. About the difference between real and estimated data. The modeled audience columns are estimates based on the follower base — not independent evidence. A good AI answer says so. Ask: did yours separate real from estimated?</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Debrief Q4. Ask: what would you need to do to actually measure your audience composition per post? This is where the conversation about Instagram's data limits belongs.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~10-12 minutes. The synthesis question. A good answer mixes Reels (reach/new audiences) with carousels (saves/intent), links choices to real findings from Q1-Q4, marks the rest as tests, and includes a fair experiment. The key moment: ask the AI to argue against its own plan.</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Debrief Q5. Ask the room: which answer would you act on tomorrow, which would you test first, and which would you ignore because the data cannot support it?</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minutes. Walk through the table quickly — participants have seen all six in action. These are the same things that go in a good agency brief.</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minutes. The four honesty checks work during the session and after. End with the wrap-up question — it forces each participant to apply judgment, not just trust the AI output.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7.png"/><Relationship Id="rId6"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png"/><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3A2F"/>
        </a:solidFill>
      </p:bgPr>
    </p:bg>
    <p:spTree>
      <p:nvGrpSpPr>
        <p:cNvPr id="15" name="Shape 15"/>
        <p:cNvGrpSpPr/>
        <p:nvPr/>
      </p:nvGrpSpPr>
      <p:grpSpPr>
        <a:xfrm>
          <a:off x="0" y="0"/>
          <a:ext cx="0" cy="0"/>
          <a:chOff x="0" y="0"/>
          <a:chExt cx="0" cy="0"/>
        </a:xfrm>
      </p:grpSpPr>
      <p:pic>
        <p:nvPicPr>
          <p:cNvPr descr="ellipse" id="16" name="Google Shape;16;p3"/>
          <p:cNvPicPr preferRelativeResize="0"/>
          <p:nvPr/>
        </p:nvPicPr>
        <p:blipFill rotWithShape="1">
          <a:blip r:embed="rId3">
            <a:alphaModFix/>
          </a:blip>
          <a:srcRect b="0" l="0" r="0" t="0"/>
          <a:stretch/>
        </p:blipFill>
        <p:spPr>
          <a:xfrm>
            <a:off x="8763000" y="812800"/>
            <a:ext cx="2540000" cy="2540000"/>
          </a:xfrm>
          <a:prstGeom prst="rect">
            <a:avLst/>
          </a:prstGeom>
          <a:noFill/>
          <a:ln>
            <a:noFill/>
          </a:ln>
        </p:spPr>
      </p:pic>
      <p:pic>
        <p:nvPicPr>
          <p:cNvPr descr="ellipse" id="17" name="Google Shape;17;p3"/>
          <p:cNvPicPr preferRelativeResize="0"/>
          <p:nvPr/>
        </p:nvPicPr>
        <p:blipFill rotWithShape="1">
          <a:blip r:embed="rId4">
            <a:alphaModFix/>
          </a:blip>
          <a:srcRect b="0" l="0" r="0" t="0"/>
          <a:stretch/>
        </p:blipFill>
        <p:spPr>
          <a:xfrm>
            <a:off x="8255000" y="2794000"/>
            <a:ext cx="889000" cy="889000"/>
          </a:xfrm>
          <a:prstGeom prst="rect">
            <a:avLst/>
          </a:prstGeom>
          <a:noFill/>
          <a:ln>
            <a:noFill/>
          </a:ln>
        </p:spPr>
      </p:pic>
      <p:sp>
        <p:nvSpPr>
          <p:cNvPr id="18" name="Google Shape;18;p3"/>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MASTERCLASS · AI FOR CONTENT CREATION</a:t>
            </a:r>
            <a:endParaRPr b="0" i="0" sz="1200" u="none" cap="none" strike="noStrike">
              <a:solidFill>
                <a:schemeClr val="dk1"/>
              </a:solidFill>
              <a:latin typeface="Calibri"/>
              <a:ea typeface="Calibri"/>
              <a:cs typeface="Calibri"/>
              <a:sym typeface="Calibri"/>
            </a:endParaRPr>
          </a:p>
        </p:txBody>
      </p:sp>
      <p:sp>
        <p:nvSpPr>
          <p:cNvPr id="19" name="Google Shape;19;p3"/>
          <p:cNvSpPr/>
          <p:nvPr/>
        </p:nvSpPr>
        <p:spPr>
          <a:xfrm>
            <a:off x="812800" y="2345690"/>
            <a:ext cx="7521575" cy="162560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5F0E6"/>
              </a:buClr>
              <a:buSzPts val="6000"/>
              <a:buFont typeface="Fraunces"/>
              <a:buNone/>
            </a:pPr>
            <a:r>
              <a:rPr b="0" i="0" lang="en-US" sz="6000" u="none" cap="none" strike="noStrike">
                <a:solidFill>
                  <a:srgbClr val="F5F0E6"/>
                </a:solidFill>
                <a:latin typeface="Fraunces"/>
                <a:ea typeface="Fraunces"/>
                <a:cs typeface="Fraunces"/>
                <a:sym typeface="Fraunces"/>
              </a:rPr>
              <a:t>Your stories,</a:t>
            </a:r>
            <a:endParaRPr b="0" i="0" sz="6000" u="none" cap="none" strike="noStrike">
              <a:solidFill>
                <a:schemeClr val="dk1"/>
              </a:solidFill>
              <a:latin typeface="Calibri"/>
              <a:ea typeface="Calibri"/>
              <a:cs typeface="Calibri"/>
              <a:sym typeface="Calibri"/>
            </a:endParaRPr>
          </a:p>
          <a:p>
            <a:pPr indent="0" lvl="0" marL="0" marR="0" rtl="0" algn="l">
              <a:lnSpc>
                <a:spcPct val="104999"/>
              </a:lnSpc>
              <a:spcBef>
                <a:spcPts val="0"/>
              </a:spcBef>
              <a:spcAft>
                <a:spcPts val="0"/>
              </a:spcAft>
              <a:buClr>
                <a:srgbClr val="F5F0E6"/>
              </a:buClr>
              <a:buSzPts val="6000"/>
              <a:buFont typeface="Fraunces"/>
              <a:buNone/>
            </a:pPr>
            <a:r>
              <a:rPr b="0" i="0" lang="en-US" sz="6000" u="none" cap="none" strike="noStrike">
                <a:solidFill>
                  <a:srgbClr val="F5F0E6"/>
                </a:solidFill>
                <a:latin typeface="Fraunces"/>
                <a:ea typeface="Fraunces"/>
                <a:cs typeface="Fraunces"/>
                <a:sym typeface="Fraunces"/>
              </a:rPr>
              <a:t>told faster.</a:t>
            </a:r>
            <a:endParaRPr b="0" i="0" sz="6000" u="none" cap="none" strike="noStrike">
              <a:solidFill>
                <a:schemeClr val="dk1"/>
              </a:solidFill>
              <a:latin typeface="Calibri"/>
              <a:ea typeface="Calibri"/>
              <a:cs typeface="Calibri"/>
              <a:sym typeface="Calibri"/>
            </a:endParaRPr>
          </a:p>
        </p:txBody>
      </p:sp>
      <p:sp>
        <p:nvSpPr>
          <p:cNvPr id="20" name="Google Shape;20;p3"/>
          <p:cNvSpPr/>
          <p:nvPr/>
        </p:nvSpPr>
        <p:spPr>
          <a:xfrm>
            <a:off x="812800" y="4510831"/>
            <a:ext cx="7521600" cy="3885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CFD8CF"/>
              </a:buClr>
              <a:buSzPts val="2200"/>
              <a:buFont typeface="DM Sans"/>
              <a:buNone/>
            </a:pPr>
            <a:r>
              <a:rPr b="0" i="0" lang="en-US" sz="2200" u="none" cap="none" strike="noStrike">
                <a:solidFill>
                  <a:srgbClr val="CFD8CF"/>
                </a:solidFill>
                <a:latin typeface="DM Sans"/>
                <a:ea typeface="DM Sans"/>
                <a:cs typeface="DM Sans"/>
                <a:sym typeface="DM Sans"/>
              </a:rPr>
              <a:t>The basics of AI and prompting, before we build.</a:t>
            </a:r>
            <a:endParaRPr b="0" i="0" sz="2200" u="none" cap="none" strike="noStrike">
              <a:solidFill>
                <a:schemeClr val="dk1"/>
              </a:solidFill>
              <a:latin typeface="Calibri"/>
              <a:ea typeface="Calibri"/>
              <a:cs typeface="Calibri"/>
              <a:sym typeface="Calibri"/>
            </a:endParaRPr>
          </a:p>
        </p:txBody>
      </p:sp>
      <p:sp>
        <p:nvSpPr>
          <p:cNvPr id="21" name="Google Shape;21;p3"/>
          <p:cNvSpPr/>
          <p:nvPr/>
        </p:nvSpPr>
        <p:spPr>
          <a:xfrm>
            <a:off x="812800" y="583184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6" name="Shape 26"/>
        <p:cNvGrpSpPr/>
        <p:nvPr/>
      </p:nvGrpSpPr>
      <p:grpSpPr>
        <a:xfrm>
          <a:off x="0" y="0"/>
          <a:ext cx="0" cy="0"/>
          <a:chOff x="0" y="0"/>
          <a:chExt cx="0" cy="0"/>
        </a:xfrm>
      </p:grpSpPr>
      <p:sp>
        <p:nvSpPr>
          <p:cNvPr id="27" name="Google Shape;27;p4"/>
          <p:cNvSpPr/>
          <p:nvPr/>
        </p:nvSpPr>
        <p:spPr>
          <a:xfrm>
            <a:off x="548640" y="457200"/>
            <a:ext cx="6400800" cy="2925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1E3A2F"/>
              </a:buClr>
              <a:buSzPts val="3600"/>
              <a:buFont typeface="Fraunces"/>
              <a:buNone/>
            </a:pPr>
            <a:r>
              <a:rPr lang="en-US" sz="3600">
                <a:solidFill>
                  <a:srgbClr val="1E3A2F"/>
                </a:solidFill>
                <a:latin typeface="Fraunces"/>
                <a:ea typeface="Fraunces"/>
                <a:cs typeface="Fraunces"/>
                <a:sym typeface="Fraunces"/>
              </a:rPr>
              <a:t>About Us</a:t>
            </a:r>
            <a:endParaRPr sz="3600">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00"/>
              <a:buFont typeface="Arial"/>
              <a:buNone/>
            </a:pPr>
            <a:r>
              <a:t/>
            </a:r>
            <a:endParaRPr i="1" sz="1000">
              <a:solidFill>
                <a:srgbClr val="D97757"/>
              </a:solidFill>
              <a:latin typeface="Georgia"/>
              <a:ea typeface="Georgia"/>
              <a:cs typeface="Georgia"/>
              <a:sym typeface="Georgia"/>
            </a:endParaRPr>
          </a:p>
        </p:txBody>
      </p:sp>
      <p:pic>
        <p:nvPicPr>
          <p:cNvPr id="28" name="Google Shape;28;p4"/>
          <p:cNvPicPr preferRelativeResize="0"/>
          <p:nvPr/>
        </p:nvPicPr>
        <p:blipFill>
          <a:blip r:embed="rId3">
            <a:alphaModFix/>
          </a:blip>
          <a:stretch>
            <a:fillRect/>
          </a:stretch>
        </p:blipFill>
        <p:spPr>
          <a:xfrm>
            <a:off x="1219200" y="888475"/>
            <a:ext cx="9753600" cy="5448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3" name="Shape 33"/>
        <p:cNvGrpSpPr/>
        <p:nvPr/>
      </p:nvGrpSpPr>
      <p:grpSpPr>
        <a:xfrm>
          <a:off x="0" y="0"/>
          <a:ext cx="0" cy="0"/>
          <a:chOff x="0" y="0"/>
          <a:chExt cx="0" cy="0"/>
        </a:xfrm>
      </p:grpSpPr>
      <p:sp>
        <p:nvSpPr>
          <p:cNvPr id="34" name="Google Shape;34;p5"/>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Small teams. Big stories.</a:t>
            </a:r>
            <a:endParaRPr b="0" i="0" sz="3600" u="none" cap="none" strike="noStrike">
              <a:solidFill>
                <a:schemeClr val="dk1"/>
              </a:solidFill>
              <a:latin typeface="Calibri"/>
              <a:ea typeface="Calibri"/>
              <a:cs typeface="Calibri"/>
              <a:sym typeface="Calibri"/>
            </a:endParaRPr>
          </a:p>
        </p:txBody>
      </p:sp>
      <p:sp>
        <p:nvSpPr>
          <p:cNvPr id="35" name="Google Shape;35;p5"/>
          <p:cNvSpPr/>
          <p:nvPr/>
        </p:nvSpPr>
        <p:spPr>
          <a:xfrm>
            <a:off x="812800" y="1943946"/>
            <a:ext cx="8502650" cy="38862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F2A24"/>
              </a:buClr>
              <a:buSzPts val="2200"/>
              <a:buFont typeface="Fraunces"/>
              <a:buNone/>
            </a:pPr>
            <a:r>
              <a:rPr b="0" i="0" lang="en-US" sz="2200" u="none" cap="none" strike="noStrike">
                <a:solidFill>
                  <a:srgbClr val="1F2A24"/>
                </a:solidFill>
                <a:latin typeface="Fraunces"/>
                <a:ea typeface="Fraunces"/>
                <a:cs typeface="Fraunces"/>
                <a:sym typeface="Fraunces"/>
              </a:rPr>
              <a:t>You have more impact to share than hands to share it.</a:t>
            </a:r>
            <a:endParaRPr b="0" i="0" sz="2200" u="none" cap="none" strike="noStrike">
              <a:solidFill>
                <a:schemeClr val="dk1"/>
              </a:solidFill>
              <a:latin typeface="Calibri"/>
              <a:ea typeface="Calibri"/>
              <a:cs typeface="Calibri"/>
              <a:sym typeface="Calibri"/>
            </a:endParaRPr>
          </a:p>
        </p:txBody>
      </p:sp>
      <p:sp>
        <p:nvSpPr>
          <p:cNvPr id="36" name="Google Shape;36;p5"/>
          <p:cNvSpPr/>
          <p:nvPr/>
        </p:nvSpPr>
        <p:spPr>
          <a:xfrm>
            <a:off x="815975" y="2938568"/>
            <a:ext cx="3380317" cy="2208530"/>
          </a:xfrm>
          <a:prstGeom prst="roundRect">
            <a:avLst>
              <a:gd fmla="val 5607"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37" name="Google Shape;37;p5"/>
          <p:cNvPicPr preferRelativeResize="0"/>
          <p:nvPr/>
        </p:nvPicPr>
        <p:blipFill rotWithShape="1">
          <a:blip r:embed="rId3">
            <a:alphaModFix/>
          </a:blip>
          <a:srcRect b="0" l="0" r="0" t="0"/>
          <a:stretch/>
        </p:blipFill>
        <p:spPr>
          <a:xfrm>
            <a:off x="1073150" y="3195743"/>
            <a:ext cx="355600" cy="355600"/>
          </a:xfrm>
          <a:prstGeom prst="rect">
            <a:avLst/>
          </a:prstGeom>
          <a:noFill/>
          <a:ln>
            <a:noFill/>
          </a:ln>
        </p:spPr>
      </p:pic>
      <p:sp>
        <p:nvSpPr>
          <p:cNvPr id="38" name="Google Shape;38;p5"/>
          <p:cNvSpPr/>
          <p:nvPr/>
        </p:nvSpPr>
        <p:spPr>
          <a:xfrm>
            <a:off x="1073150" y="3652943"/>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Every channel</a:t>
            </a:r>
            <a:endParaRPr b="0" i="0" sz="2200" u="none" cap="none" strike="noStrike">
              <a:solidFill>
                <a:schemeClr val="dk1"/>
              </a:solidFill>
              <a:latin typeface="Calibri"/>
              <a:ea typeface="Calibri"/>
              <a:cs typeface="Calibri"/>
              <a:sym typeface="Calibri"/>
            </a:endParaRPr>
          </a:p>
        </p:txBody>
      </p:sp>
      <p:sp>
        <p:nvSpPr>
          <p:cNvPr id="39" name="Google Shape;39;p5"/>
          <p:cNvSpPr/>
          <p:nvPr/>
        </p:nvSpPr>
        <p:spPr>
          <a:xfrm>
            <a:off x="1073150" y="4089823"/>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Instagram, LinkedIn, newsletters, WhatsApp, every single week.</a:t>
            </a:r>
            <a:endParaRPr b="0" i="0" sz="1500" u="none" cap="none" strike="noStrike">
              <a:solidFill>
                <a:schemeClr val="dk1"/>
              </a:solidFill>
              <a:latin typeface="Calibri"/>
              <a:ea typeface="Calibri"/>
              <a:cs typeface="Calibri"/>
              <a:sym typeface="Calibri"/>
            </a:endParaRPr>
          </a:p>
        </p:txBody>
      </p:sp>
      <p:sp>
        <p:nvSpPr>
          <p:cNvPr id="40" name="Google Shape;40;p5"/>
          <p:cNvSpPr/>
          <p:nvPr/>
        </p:nvSpPr>
        <p:spPr>
          <a:xfrm>
            <a:off x="4405842" y="2938568"/>
            <a:ext cx="3380317" cy="2208530"/>
          </a:xfrm>
          <a:prstGeom prst="roundRect">
            <a:avLst>
              <a:gd fmla="val 5607"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41" name="Google Shape;41;p5"/>
          <p:cNvPicPr preferRelativeResize="0"/>
          <p:nvPr/>
        </p:nvPicPr>
        <p:blipFill rotWithShape="1">
          <a:blip r:embed="rId4">
            <a:alphaModFix/>
          </a:blip>
          <a:srcRect b="0" l="0" r="0" t="0"/>
          <a:stretch/>
        </p:blipFill>
        <p:spPr>
          <a:xfrm>
            <a:off x="4663017" y="3195743"/>
            <a:ext cx="355600" cy="355600"/>
          </a:xfrm>
          <a:prstGeom prst="rect">
            <a:avLst/>
          </a:prstGeom>
          <a:noFill/>
          <a:ln>
            <a:noFill/>
          </a:ln>
        </p:spPr>
      </p:pic>
      <p:sp>
        <p:nvSpPr>
          <p:cNvPr id="42" name="Google Shape;42;p5"/>
          <p:cNvSpPr/>
          <p:nvPr/>
        </p:nvSpPr>
        <p:spPr>
          <a:xfrm>
            <a:off x="4663017" y="3652943"/>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Many audiences</a:t>
            </a:r>
            <a:endParaRPr b="0" i="0" sz="2200" u="none" cap="none" strike="noStrike">
              <a:solidFill>
                <a:schemeClr val="dk1"/>
              </a:solidFill>
              <a:latin typeface="Calibri"/>
              <a:ea typeface="Calibri"/>
              <a:cs typeface="Calibri"/>
              <a:sym typeface="Calibri"/>
            </a:endParaRPr>
          </a:p>
        </p:txBody>
      </p:sp>
      <p:sp>
        <p:nvSpPr>
          <p:cNvPr id="43" name="Google Shape;43;p5"/>
          <p:cNvSpPr/>
          <p:nvPr/>
        </p:nvSpPr>
        <p:spPr>
          <a:xfrm>
            <a:off x="4663017" y="4089823"/>
            <a:ext cx="2951946"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Customers, buyers, funders, partners and the communities you serve.</a:t>
            </a:r>
            <a:endParaRPr b="0" i="0" sz="1500" u="none" cap="none" strike="noStrike">
              <a:solidFill>
                <a:schemeClr val="dk1"/>
              </a:solidFill>
              <a:latin typeface="Calibri"/>
              <a:ea typeface="Calibri"/>
              <a:cs typeface="Calibri"/>
              <a:sym typeface="Calibri"/>
            </a:endParaRPr>
          </a:p>
        </p:txBody>
      </p:sp>
      <p:sp>
        <p:nvSpPr>
          <p:cNvPr id="44" name="Google Shape;44;p5"/>
          <p:cNvSpPr/>
          <p:nvPr/>
        </p:nvSpPr>
        <p:spPr>
          <a:xfrm>
            <a:off x="7995708" y="2938568"/>
            <a:ext cx="3380317" cy="2208530"/>
          </a:xfrm>
          <a:prstGeom prst="roundRect">
            <a:avLst>
              <a:gd fmla="val 5607"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lobe" id="45" name="Google Shape;45;p5"/>
          <p:cNvPicPr preferRelativeResize="0"/>
          <p:nvPr/>
        </p:nvPicPr>
        <p:blipFill rotWithShape="1">
          <a:blip r:embed="rId5">
            <a:alphaModFix/>
          </a:blip>
          <a:srcRect b="0" l="0" r="0" t="0"/>
          <a:stretch/>
        </p:blipFill>
        <p:spPr>
          <a:xfrm>
            <a:off x="8252883" y="3195743"/>
            <a:ext cx="355600" cy="355600"/>
          </a:xfrm>
          <a:prstGeom prst="rect">
            <a:avLst/>
          </a:prstGeom>
          <a:noFill/>
          <a:ln>
            <a:noFill/>
          </a:ln>
        </p:spPr>
      </p:pic>
      <p:sp>
        <p:nvSpPr>
          <p:cNvPr id="46" name="Google Shape;46;p5"/>
          <p:cNvSpPr/>
          <p:nvPr/>
        </p:nvSpPr>
        <p:spPr>
          <a:xfrm>
            <a:off x="8252883" y="3652943"/>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Many languages</a:t>
            </a:r>
            <a:endParaRPr b="0" i="0" sz="2200" u="none" cap="none" strike="noStrike">
              <a:solidFill>
                <a:schemeClr val="dk1"/>
              </a:solidFill>
              <a:latin typeface="Calibri"/>
              <a:ea typeface="Calibri"/>
              <a:cs typeface="Calibri"/>
              <a:sym typeface="Calibri"/>
            </a:endParaRPr>
          </a:p>
        </p:txBody>
      </p:sp>
      <p:sp>
        <p:nvSpPr>
          <p:cNvPr id="47" name="Google Shape;47;p5"/>
          <p:cNvSpPr/>
          <p:nvPr/>
        </p:nvSpPr>
        <p:spPr>
          <a:xfrm>
            <a:off x="8252883" y="4089823"/>
            <a:ext cx="2951946"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English for funders, local languages for customers and communities.</a:t>
            </a:r>
            <a:endParaRPr b="0" i="0" sz="1500" u="none" cap="none" strike="noStrike">
              <a:solidFill>
                <a:schemeClr val="dk1"/>
              </a:solidFill>
              <a:latin typeface="Calibri"/>
              <a:ea typeface="Calibri"/>
              <a:cs typeface="Calibri"/>
              <a:sym typeface="Calibri"/>
            </a:endParaRPr>
          </a:p>
        </p:txBody>
      </p:sp>
      <p:sp>
        <p:nvSpPr>
          <p:cNvPr id="48" name="Google Shape;48;p5"/>
          <p:cNvSpPr/>
          <p:nvPr/>
        </p:nvSpPr>
        <p:spPr>
          <a:xfrm>
            <a:off x="812800" y="5778500"/>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AI won't replace your storytelling. </a:t>
            </a:r>
            <a:r>
              <a:rPr b="1" i="0" lang="en-US" sz="1500" u="none" cap="none" strike="noStrike">
                <a:solidFill>
                  <a:srgbClr val="1F2A24"/>
                </a:solidFill>
                <a:latin typeface="DM Sans"/>
                <a:ea typeface="DM Sans"/>
                <a:cs typeface="DM Sans"/>
                <a:sym typeface="DM Sans"/>
              </a:rPr>
              <a:t>It can give you back the hours.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53" name="Shape 53"/>
        <p:cNvGrpSpPr/>
        <p:nvPr/>
      </p:nvGrpSpPr>
      <p:grpSpPr>
        <a:xfrm>
          <a:off x="0" y="0"/>
          <a:ext cx="0" cy="0"/>
          <a:chOff x="0" y="0"/>
          <a:chExt cx="0" cy="0"/>
        </a:xfrm>
      </p:grpSpPr>
      <p:sp>
        <p:nvSpPr>
          <p:cNvPr id="54" name="Google Shape;54;p6"/>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What is a large language model?</a:t>
            </a:r>
            <a:endParaRPr b="0" i="0" sz="3600" u="none" cap="none" strike="noStrike">
              <a:solidFill>
                <a:schemeClr val="dk1"/>
              </a:solidFill>
              <a:latin typeface="Calibri"/>
              <a:ea typeface="Calibri"/>
              <a:cs typeface="Calibri"/>
              <a:sym typeface="Calibri"/>
            </a:endParaRPr>
          </a:p>
        </p:txBody>
      </p:sp>
      <p:sp>
        <p:nvSpPr>
          <p:cNvPr id="55" name="Google Shape;55;p6"/>
          <p:cNvSpPr/>
          <p:nvPr/>
        </p:nvSpPr>
        <p:spPr>
          <a:xfrm>
            <a:off x="812800" y="2518093"/>
            <a:ext cx="5232400" cy="7239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A prediction engine that has read more text than any person ever could.</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812800" y="3419793"/>
            <a:ext cx="5232400" cy="854075"/>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It writes one word at a time, always choosing a likely next word. That's why it sounds fluent, and why </a:t>
            </a:r>
            <a:r>
              <a:rPr b="1" i="0" lang="en-US" sz="1500" u="none" cap="none" strike="noStrike">
                <a:solidFill>
                  <a:srgbClr val="5B6760"/>
                </a:solidFill>
                <a:latin typeface="DM Sans"/>
                <a:ea typeface="DM Sans"/>
                <a:cs typeface="DM Sans"/>
                <a:sym typeface="DM Sans"/>
              </a:rPr>
              <a:t>fluent isn't the same as true.</a:t>
            </a:r>
            <a:endParaRPr b="0" i="0" sz="1500" u="none" cap="none" strike="noStrike">
              <a:solidFill>
                <a:schemeClr val="dk1"/>
              </a:solidFill>
              <a:latin typeface="Calibri"/>
              <a:ea typeface="Calibri"/>
              <a:cs typeface="Calibri"/>
              <a:sym typeface="Calibri"/>
            </a:endParaRPr>
          </a:p>
        </p:txBody>
      </p:sp>
      <p:sp>
        <p:nvSpPr>
          <p:cNvPr id="57" name="Google Shape;57;p6"/>
          <p:cNvSpPr/>
          <p:nvPr/>
        </p:nvSpPr>
        <p:spPr>
          <a:xfrm>
            <a:off x="6299200" y="1671320"/>
            <a:ext cx="5080000" cy="3423920"/>
          </a:xfrm>
          <a:prstGeom prst="roundRect">
            <a:avLst>
              <a:gd fmla="val 4451"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6604000" y="1976120"/>
            <a:ext cx="460451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WHAT COMES NEXT?</a:t>
            </a:r>
            <a:endParaRPr b="0" i="0" sz="1200" u="none" cap="none" strike="noStrike">
              <a:solidFill>
                <a:schemeClr val="dk1"/>
              </a:solidFill>
              <a:latin typeface="Calibri"/>
              <a:ea typeface="Calibri"/>
              <a:cs typeface="Calibri"/>
              <a:sym typeface="Calibri"/>
            </a:endParaRPr>
          </a:p>
        </p:txBody>
      </p:sp>
      <p:sp>
        <p:nvSpPr>
          <p:cNvPr id="59" name="Google Shape;59;p6"/>
          <p:cNvSpPr/>
          <p:nvPr/>
        </p:nvSpPr>
        <p:spPr>
          <a:xfrm>
            <a:off x="6604000" y="2367280"/>
            <a:ext cx="4604512" cy="7239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"Our compost turns kitchen waste into ___"</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6604000" y="3243580"/>
            <a:ext cx="1320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rich soil</a:t>
            </a:r>
            <a:endParaRPr b="0" i="0" sz="1500" u="none" cap="none" strike="noStrike">
              <a:solidFill>
                <a:schemeClr val="dk1"/>
              </a:solidFill>
              <a:latin typeface="Calibri"/>
              <a:ea typeface="Calibri"/>
              <a:cs typeface="Calibri"/>
              <a:sym typeface="Calibri"/>
            </a:endParaRPr>
          </a:p>
        </p:txBody>
      </p:sp>
      <p:sp>
        <p:nvSpPr>
          <p:cNvPr id="61" name="Google Shape;61;p6"/>
          <p:cNvSpPr/>
          <p:nvPr/>
        </p:nvSpPr>
        <p:spPr>
          <a:xfrm>
            <a:off x="8026400" y="3288030"/>
            <a:ext cx="2667000" cy="177800"/>
          </a:xfrm>
          <a:prstGeom prst="roundRect">
            <a:avLst>
              <a:gd fmla="val 50000" name="adj"/>
            </a:avLst>
          </a:prstGeom>
          <a:solidFill>
            <a:srgbClr val="E3A8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6"/>
          <p:cNvSpPr/>
          <p:nvPr/>
        </p:nvSpPr>
        <p:spPr>
          <a:xfrm>
            <a:off x="6604000" y="3688080"/>
            <a:ext cx="1320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fertiliser</a:t>
            </a:r>
            <a:endParaRPr b="0" i="0" sz="1500" u="none" cap="none" strike="noStrike">
              <a:solidFill>
                <a:schemeClr val="dk1"/>
              </a:solidFill>
              <a:latin typeface="Calibri"/>
              <a:ea typeface="Calibri"/>
              <a:cs typeface="Calibri"/>
              <a:sym typeface="Calibri"/>
            </a:endParaRPr>
          </a:p>
        </p:txBody>
      </p:sp>
      <p:sp>
        <p:nvSpPr>
          <p:cNvPr id="63" name="Google Shape;63;p6"/>
          <p:cNvSpPr/>
          <p:nvPr/>
        </p:nvSpPr>
        <p:spPr>
          <a:xfrm>
            <a:off x="8026400" y="3732530"/>
            <a:ext cx="1206500" cy="177800"/>
          </a:xfrm>
          <a:prstGeom prst="roundRect">
            <a:avLst>
              <a:gd fmla="val 50000" name="adj"/>
            </a:avLst>
          </a:prstGeom>
          <a:solidFill>
            <a:srgbClr val="8FB0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6"/>
          <p:cNvSpPr/>
          <p:nvPr/>
        </p:nvSpPr>
        <p:spPr>
          <a:xfrm>
            <a:off x="6604000" y="4132580"/>
            <a:ext cx="1320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gold</a:t>
            </a:r>
            <a:endParaRPr b="0" i="0" sz="1500" u="none" cap="none" strike="noStrike">
              <a:solidFill>
                <a:schemeClr val="dk1"/>
              </a:solidFill>
              <a:latin typeface="Calibri"/>
              <a:ea typeface="Calibri"/>
              <a:cs typeface="Calibri"/>
              <a:sym typeface="Calibri"/>
            </a:endParaRPr>
          </a:p>
        </p:txBody>
      </p:sp>
      <p:sp>
        <p:nvSpPr>
          <p:cNvPr id="65" name="Google Shape;65;p6"/>
          <p:cNvSpPr/>
          <p:nvPr/>
        </p:nvSpPr>
        <p:spPr>
          <a:xfrm>
            <a:off x="8026400" y="4177030"/>
            <a:ext cx="254000" cy="177800"/>
          </a:xfrm>
          <a:prstGeom prst="roundRect">
            <a:avLst>
              <a:gd fmla="val 50000" name="adj"/>
            </a:avLst>
          </a:prstGeom>
          <a:solidFill>
            <a:srgbClr val="5E7F6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6"/>
          <p:cNvSpPr/>
          <p:nvPr/>
        </p:nvSpPr>
        <p:spPr>
          <a:xfrm>
            <a:off x="6604000" y="4577080"/>
            <a:ext cx="460451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B8AD"/>
              </a:buClr>
              <a:buSzPts val="1200"/>
              <a:buFont typeface="DM Sans"/>
              <a:buNone/>
            </a:pPr>
            <a:r>
              <a:rPr b="0" i="0" lang="en-US" sz="1200" u="none" cap="none" strike="noStrike">
                <a:solidFill>
                  <a:srgbClr val="A9B8AD"/>
                </a:solidFill>
                <a:latin typeface="DM Sans"/>
                <a:ea typeface="DM Sans"/>
                <a:cs typeface="DM Sans"/>
                <a:sym typeface="DM Sans"/>
              </a:rPr>
              <a:t>Illustrative, not real probabilities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71" name="Shape 71"/>
        <p:cNvGrpSpPr/>
        <p:nvPr/>
      </p:nvGrpSpPr>
      <p:grpSpPr>
        <a:xfrm>
          <a:off x="0" y="0"/>
          <a:ext cx="0" cy="0"/>
          <a:chOff x="0" y="0"/>
          <a:chExt cx="0" cy="0"/>
        </a:xfrm>
      </p:grpSpPr>
      <p:sp>
        <p:nvSpPr>
          <p:cNvPr id="72" name="Google Shape;72;p7"/>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How it learned, in three steps</a:t>
            </a:r>
            <a:endParaRPr b="0" i="0" sz="3600" u="none" cap="none" strike="noStrike">
              <a:solidFill>
                <a:schemeClr val="dk1"/>
              </a:solidFill>
              <a:latin typeface="Calibri"/>
              <a:ea typeface="Calibri"/>
              <a:cs typeface="Calibri"/>
              <a:sym typeface="Calibri"/>
            </a:endParaRPr>
          </a:p>
        </p:txBody>
      </p:sp>
      <p:sp>
        <p:nvSpPr>
          <p:cNvPr id="73" name="Google Shape;73;p7"/>
          <p:cNvSpPr/>
          <p:nvPr/>
        </p:nvSpPr>
        <p:spPr>
          <a:xfrm>
            <a:off x="815975" y="1997711"/>
            <a:ext cx="3041650" cy="2244090"/>
          </a:xfrm>
          <a:prstGeom prst="roundRect">
            <a:avLst>
              <a:gd fmla="val 5518"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1073150" y="2254886"/>
            <a:ext cx="2603119"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01</a:t>
            </a:r>
            <a:endParaRPr b="0" i="0" sz="2200" u="none" cap="none" strike="noStrike">
              <a:solidFill>
                <a:schemeClr val="dk1"/>
              </a:solidFill>
              <a:latin typeface="Calibri"/>
              <a:ea typeface="Calibri"/>
              <a:cs typeface="Calibri"/>
              <a:sym typeface="Calibri"/>
            </a:endParaRPr>
          </a:p>
        </p:txBody>
      </p:sp>
      <p:sp>
        <p:nvSpPr>
          <p:cNvPr id="75" name="Google Shape;75;p7"/>
          <p:cNvSpPr/>
          <p:nvPr/>
        </p:nvSpPr>
        <p:spPr>
          <a:xfrm>
            <a:off x="1073150" y="2747645"/>
            <a:ext cx="260311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Read</a:t>
            </a:r>
            <a:endParaRPr b="0" i="0" sz="2200" u="none" cap="none" strike="noStrike">
              <a:solidFill>
                <a:schemeClr val="dk1"/>
              </a:solidFill>
              <a:latin typeface="Calibri"/>
              <a:ea typeface="Calibri"/>
              <a:cs typeface="Calibri"/>
              <a:sym typeface="Calibri"/>
            </a:endParaRPr>
          </a:p>
        </p:txBody>
      </p:sp>
      <p:sp>
        <p:nvSpPr>
          <p:cNvPr id="76" name="Google Shape;76;p7"/>
          <p:cNvSpPr/>
          <p:nvPr/>
        </p:nvSpPr>
        <p:spPr>
          <a:xfrm>
            <a:off x="1073150" y="3184525"/>
            <a:ext cx="2603119"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Trained on a vast library of books, websites and articles.</a:t>
            </a:r>
            <a:endParaRPr b="0" i="0" sz="1500" u="none" cap="none" strike="noStrike">
              <a:solidFill>
                <a:schemeClr val="dk1"/>
              </a:solidFill>
              <a:latin typeface="Calibri"/>
              <a:ea typeface="Calibri"/>
              <a:cs typeface="Calibri"/>
              <a:sym typeface="Calibri"/>
            </a:endParaRPr>
          </a:p>
        </p:txBody>
      </p:sp>
      <p:pic>
        <p:nvPicPr>
          <p:cNvPr descr="arrow-right" id="77" name="Google Shape;77;p7"/>
          <p:cNvPicPr preferRelativeResize="0"/>
          <p:nvPr/>
        </p:nvPicPr>
        <p:blipFill rotWithShape="1">
          <a:blip r:embed="rId3">
            <a:alphaModFix/>
          </a:blip>
          <a:srcRect b="0" l="0" r="0" t="0"/>
          <a:stretch/>
        </p:blipFill>
        <p:spPr>
          <a:xfrm>
            <a:off x="4013200" y="3018155"/>
            <a:ext cx="406400" cy="203200"/>
          </a:xfrm>
          <a:prstGeom prst="rect">
            <a:avLst/>
          </a:prstGeom>
          <a:noFill/>
          <a:ln>
            <a:noFill/>
          </a:ln>
        </p:spPr>
      </p:pic>
      <p:sp>
        <p:nvSpPr>
          <p:cNvPr id="78" name="Google Shape;78;p7"/>
          <p:cNvSpPr/>
          <p:nvPr/>
        </p:nvSpPr>
        <p:spPr>
          <a:xfrm>
            <a:off x="4575175" y="1997711"/>
            <a:ext cx="3041650" cy="2244090"/>
          </a:xfrm>
          <a:prstGeom prst="roundRect">
            <a:avLst>
              <a:gd fmla="val 5518"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4832350" y="2254886"/>
            <a:ext cx="2603119"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02</a:t>
            </a:r>
            <a:endParaRPr b="0" i="0" sz="2200" u="none" cap="none" strike="noStrike">
              <a:solidFill>
                <a:schemeClr val="dk1"/>
              </a:solidFill>
              <a:latin typeface="Calibri"/>
              <a:ea typeface="Calibri"/>
              <a:cs typeface="Calibri"/>
              <a:sym typeface="Calibri"/>
            </a:endParaRPr>
          </a:p>
        </p:txBody>
      </p:sp>
      <p:sp>
        <p:nvSpPr>
          <p:cNvPr id="80" name="Google Shape;80;p7"/>
          <p:cNvSpPr/>
          <p:nvPr/>
        </p:nvSpPr>
        <p:spPr>
          <a:xfrm>
            <a:off x="4832350" y="2747645"/>
            <a:ext cx="260311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Coached</a:t>
            </a:r>
            <a:endParaRPr b="0" i="0" sz="2200" u="none" cap="none" strike="noStrike">
              <a:solidFill>
                <a:schemeClr val="dk1"/>
              </a:solidFill>
              <a:latin typeface="Calibri"/>
              <a:ea typeface="Calibri"/>
              <a:cs typeface="Calibri"/>
              <a:sym typeface="Calibri"/>
            </a:endParaRPr>
          </a:p>
        </p:txBody>
      </p:sp>
      <p:sp>
        <p:nvSpPr>
          <p:cNvPr id="81" name="Google Shape;81;p7"/>
          <p:cNvSpPr/>
          <p:nvPr/>
        </p:nvSpPr>
        <p:spPr>
          <a:xfrm>
            <a:off x="4832350" y="3184525"/>
            <a:ext cx="2603119"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Shown many examples of good answers. Learned to follow instructions.</a:t>
            </a:r>
            <a:endParaRPr b="0" i="0" sz="1500" u="none" cap="none" strike="noStrike">
              <a:solidFill>
                <a:schemeClr val="dk1"/>
              </a:solidFill>
              <a:latin typeface="Calibri"/>
              <a:ea typeface="Calibri"/>
              <a:cs typeface="Calibri"/>
              <a:sym typeface="Calibri"/>
            </a:endParaRPr>
          </a:p>
        </p:txBody>
      </p:sp>
      <p:pic>
        <p:nvPicPr>
          <p:cNvPr descr="arrow-right" id="82" name="Google Shape;82;p7"/>
          <p:cNvPicPr preferRelativeResize="0"/>
          <p:nvPr/>
        </p:nvPicPr>
        <p:blipFill rotWithShape="1">
          <a:blip r:embed="rId3">
            <a:alphaModFix/>
          </a:blip>
          <a:srcRect b="0" l="0" r="0" t="0"/>
          <a:stretch/>
        </p:blipFill>
        <p:spPr>
          <a:xfrm>
            <a:off x="7772400" y="3018155"/>
            <a:ext cx="406400" cy="203200"/>
          </a:xfrm>
          <a:prstGeom prst="rect">
            <a:avLst/>
          </a:prstGeom>
          <a:noFill/>
          <a:ln>
            <a:noFill/>
          </a:ln>
        </p:spPr>
      </p:pic>
      <p:sp>
        <p:nvSpPr>
          <p:cNvPr id="83" name="Google Shape;83;p7"/>
          <p:cNvSpPr/>
          <p:nvPr/>
        </p:nvSpPr>
        <p:spPr>
          <a:xfrm>
            <a:off x="8334375" y="1997711"/>
            <a:ext cx="3041650" cy="2244090"/>
          </a:xfrm>
          <a:prstGeom prst="roundRect">
            <a:avLst>
              <a:gd fmla="val 5518"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8591550" y="2254886"/>
            <a:ext cx="2603119"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03</a:t>
            </a:r>
            <a:endParaRPr b="0" i="0" sz="2200" u="none" cap="none" strike="noStrike">
              <a:solidFill>
                <a:schemeClr val="dk1"/>
              </a:solidFill>
              <a:latin typeface="Calibri"/>
              <a:ea typeface="Calibri"/>
              <a:cs typeface="Calibri"/>
              <a:sym typeface="Calibri"/>
            </a:endParaRPr>
          </a:p>
        </p:txBody>
      </p:sp>
      <p:sp>
        <p:nvSpPr>
          <p:cNvPr id="85" name="Google Shape;85;p7"/>
          <p:cNvSpPr/>
          <p:nvPr/>
        </p:nvSpPr>
        <p:spPr>
          <a:xfrm>
            <a:off x="8591550" y="2747645"/>
            <a:ext cx="260311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Refined</a:t>
            </a:r>
            <a:endParaRPr b="0" i="0" sz="2200" u="none" cap="none" strike="noStrike">
              <a:solidFill>
                <a:schemeClr val="dk1"/>
              </a:solidFill>
              <a:latin typeface="Calibri"/>
              <a:ea typeface="Calibri"/>
              <a:cs typeface="Calibri"/>
              <a:sym typeface="Calibri"/>
            </a:endParaRPr>
          </a:p>
        </p:txBody>
      </p:sp>
      <p:sp>
        <p:nvSpPr>
          <p:cNvPr id="86" name="Google Shape;86;p7"/>
          <p:cNvSpPr/>
          <p:nvPr/>
        </p:nvSpPr>
        <p:spPr>
          <a:xfrm>
            <a:off x="8591550" y="3184525"/>
            <a:ext cx="2603119"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People rated its answers. Learned what "helpful" looks like.</a:t>
            </a:r>
            <a:endParaRPr b="0" i="0" sz="1500" u="none" cap="none" strike="noStrike">
              <a:solidFill>
                <a:schemeClr val="dk1"/>
              </a:solidFill>
              <a:latin typeface="Calibri"/>
              <a:ea typeface="Calibri"/>
              <a:cs typeface="Calibri"/>
              <a:sym typeface="Calibri"/>
            </a:endParaRPr>
          </a:p>
        </p:txBody>
      </p:sp>
      <p:sp>
        <p:nvSpPr>
          <p:cNvPr id="87" name="Google Shape;87;p7"/>
          <p:cNvSpPr/>
          <p:nvPr/>
        </p:nvSpPr>
        <p:spPr>
          <a:xfrm>
            <a:off x="812800" y="4923789"/>
            <a:ext cx="10566400" cy="1121410"/>
          </a:xfrm>
          <a:prstGeom prst="roundRect">
            <a:avLst>
              <a:gd fmla="val 1132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1117600" y="5177789"/>
            <a:ext cx="10255504"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WHAT THIS MEANS FOR YOU</a:t>
            </a:r>
            <a:endParaRPr b="0" i="0" sz="1200" u="none" cap="none" strike="noStrike">
              <a:solidFill>
                <a:schemeClr val="dk1"/>
              </a:solidFill>
              <a:latin typeface="Calibri"/>
              <a:ea typeface="Calibri"/>
              <a:cs typeface="Calibri"/>
              <a:sym typeface="Calibri"/>
            </a:endParaRPr>
          </a:p>
        </p:txBody>
      </p:sp>
      <p:sp>
        <p:nvSpPr>
          <p:cNvPr id="89" name="Google Shape;89;p7"/>
          <p:cNvSpPr/>
          <p:nvPr/>
        </p:nvSpPr>
        <p:spPr>
          <a:xfrm>
            <a:off x="1117600" y="5441950"/>
            <a:ext cx="10255504" cy="37465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It learned from everyone, so it sounds like everyone. Make it sound like you.</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94" name="Shape 94"/>
        <p:cNvGrpSpPr/>
        <p:nvPr/>
      </p:nvGrpSpPr>
      <p:grpSpPr>
        <a:xfrm>
          <a:off x="0" y="0"/>
          <a:ext cx="0" cy="0"/>
          <a:chOff x="0" y="0"/>
          <a:chExt cx="0" cy="0"/>
        </a:xfrm>
      </p:grpSpPr>
      <p:sp>
        <p:nvSpPr>
          <p:cNvPr id="95" name="Google Shape;95;p8"/>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Think of it as a brilliant intern on their first day</a:t>
            </a:r>
            <a:endParaRPr b="0" i="0" sz="3600" u="none" cap="none" strike="noStrike">
              <a:solidFill>
                <a:schemeClr val="dk1"/>
              </a:solidFill>
              <a:latin typeface="Calibri"/>
              <a:ea typeface="Calibri"/>
              <a:cs typeface="Calibri"/>
              <a:sym typeface="Calibri"/>
            </a:endParaRPr>
          </a:p>
        </p:txBody>
      </p:sp>
      <p:sp>
        <p:nvSpPr>
          <p:cNvPr id="96" name="Google Shape;96;p8"/>
          <p:cNvSpPr/>
          <p:nvPr/>
        </p:nvSpPr>
        <p:spPr>
          <a:xfrm>
            <a:off x="815975" y="1623696"/>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Book" id="97" name="Google Shape;97;p8"/>
          <p:cNvPicPr preferRelativeResize="0"/>
          <p:nvPr/>
        </p:nvPicPr>
        <p:blipFill rotWithShape="1">
          <a:blip r:embed="rId3">
            <a:alphaModFix/>
          </a:blip>
          <a:srcRect b="0" l="0" r="0" t="0"/>
          <a:stretch/>
        </p:blipFill>
        <p:spPr>
          <a:xfrm>
            <a:off x="1073150" y="1896111"/>
            <a:ext cx="304800" cy="304800"/>
          </a:xfrm>
          <a:prstGeom prst="rect">
            <a:avLst/>
          </a:prstGeom>
          <a:noFill/>
          <a:ln>
            <a:noFill/>
          </a:ln>
        </p:spPr>
      </p:pic>
      <p:sp>
        <p:nvSpPr>
          <p:cNvPr id="98" name="Google Shape;98;p8"/>
          <p:cNvSpPr/>
          <p:nvPr/>
        </p:nvSpPr>
        <p:spPr>
          <a:xfrm>
            <a:off x="1504950" y="1880871"/>
            <a:ext cx="1594062"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Widely read</a:t>
            </a:r>
            <a:endParaRPr b="0" i="0" sz="2200" u="none" cap="none" strike="noStrike">
              <a:solidFill>
                <a:schemeClr val="dk1"/>
              </a:solidFill>
              <a:latin typeface="Calibri"/>
              <a:ea typeface="Calibri"/>
              <a:cs typeface="Calibri"/>
              <a:sym typeface="Calibri"/>
            </a:endParaRPr>
          </a:p>
        </p:txBody>
      </p:sp>
      <p:sp>
        <p:nvSpPr>
          <p:cNvPr id="99" name="Google Shape;99;p8"/>
          <p:cNvSpPr/>
          <p:nvPr/>
        </p:nvSpPr>
        <p:spPr>
          <a:xfrm>
            <a:off x="1073150" y="22923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Broad knowledge on almost any topic, available instantly.</a:t>
            </a:r>
            <a:endParaRPr b="0" i="0" sz="1500" u="none" cap="none" strike="noStrike">
              <a:solidFill>
                <a:schemeClr val="dk1"/>
              </a:solidFill>
              <a:latin typeface="Calibri"/>
              <a:ea typeface="Calibri"/>
              <a:cs typeface="Calibri"/>
              <a:sym typeface="Calibri"/>
            </a:endParaRPr>
          </a:p>
        </p:txBody>
      </p:sp>
      <p:sp>
        <p:nvSpPr>
          <p:cNvPr id="100" name="Google Shape;100;p8"/>
          <p:cNvSpPr/>
          <p:nvPr/>
        </p:nvSpPr>
        <p:spPr>
          <a:xfrm>
            <a:off x="6200775" y="1623696"/>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earch" id="101" name="Google Shape;101;p8"/>
          <p:cNvPicPr preferRelativeResize="0"/>
          <p:nvPr/>
        </p:nvPicPr>
        <p:blipFill rotWithShape="1">
          <a:blip r:embed="rId4">
            <a:alphaModFix/>
          </a:blip>
          <a:srcRect b="0" l="0" r="0" t="0"/>
          <a:stretch/>
        </p:blipFill>
        <p:spPr>
          <a:xfrm>
            <a:off x="6457950" y="1896111"/>
            <a:ext cx="304800" cy="304800"/>
          </a:xfrm>
          <a:prstGeom prst="rect">
            <a:avLst/>
          </a:prstGeom>
          <a:noFill/>
          <a:ln>
            <a:noFill/>
          </a:ln>
        </p:spPr>
      </p:pic>
      <p:sp>
        <p:nvSpPr>
          <p:cNvPr id="102" name="Google Shape;102;p8"/>
          <p:cNvSpPr/>
          <p:nvPr/>
        </p:nvSpPr>
        <p:spPr>
          <a:xfrm>
            <a:off x="6889750" y="1880871"/>
            <a:ext cx="3392993"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Knows nothing about you</a:t>
            </a:r>
            <a:endParaRPr b="0" i="0" sz="2200" u="none" cap="none" strike="noStrike">
              <a:solidFill>
                <a:schemeClr val="dk1"/>
              </a:solidFill>
              <a:latin typeface="Calibri"/>
              <a:ea typeface="Calibri"/>
              <a:cs typeface="Calibri"/>
              <a:sym typeface="Calibri"/>
            </a:endParaRPr>
          </a:p>
        </p:txBody>
      </p:sp>
      <p:sp>
        <p:nvSpPr>
          <p:cNvPr id="103" name="Google Shape;103;p8"/>
          <p:cNvSpPr/>
          <p:nvPr/>
        </p:nvSpPr>
        <p:spPr>
          <a:xfrm>
            <a:off x="6457950" y="22923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Your mission, your </a:t>
            </a:r>
            <a:r>
              <a:rPr lang="en-US" sz="1500">
                <a:solidFill>
                  <a:srgbClr val="5B6760"/>
                </a:solidFill>
                <a:latin typeface="DM Sans"/>
                <a:ea typeface="DM Sans"/>
                <a:cs typeface="DM Sans"/>
                <a:sym typeface="DM Sans"/>
              </a:rPr>
              <a:t>protagonists</a:t>
            </a:r>
            <a:r>
              <a:rPr b="0" i="0" lang="en-US" sz="1500" u="none" cap="none" strike="noStrike">
                <a:solidFill>
                  <a:srgbClr val="5B6760"/>
                </a:solidFill>
                <a:latin typeface="DM Sans"/>
                <a:ea typeface="DM Sans"/>
                <a:cs typeface="DM Sans"/>
                <a:sym typeface="DM Sans"/>
              </a:rPr>
              <a:t>, your brand voice: you have to tell it.</a:t>
            </a:r>
            <a:endParaRPr b="0" i="0" sz="1500" u="none" cap="none" strike="noStrike">
              <a:solidFill>
                <a:schemeClr val="dk1"/>
              </a:solidFill>
              <a:latin typeface="Calibri"/>
              <a:ea typeface="Calibri"/>
              <a:cs typeface="Calibri"/>
              <a:sym typeface="Calibri"/>
            </a:endParaRPr>
          </a:p>
        </p:txBody>
      </p:sp>
      <p:sp>
        <p:nvSpPr>
          <p:cNvPr id="104" name="Google Shape;104;p8"/>
          <p:cNvSpPr/>
          <p:nvPr/>
        </p:nvSpPr>
        <p:spPr>
          <a:xfrm>
            <a:off x="815975" y="3292475"/>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umbsUp" id="105" name="Google Shape;105;p8"/>
          <p:cNvPicPr preferRelativeResize="0"/>
          <p:nvPr/>
        </p:nvPicPr>
        <p:blipFill rotWithShape="1">
          <a:blip r:embed="rId5">
            <a:alphaModFix/>
          </a:blip>
          <a:srcRect b="0" l="0" r="0" t="0"/>
          <a:stretch/>
        </p:blipFill>
        <p:spPr>
          <a:xfrm>
            <a:off x="1073150" y="3564889"/>
            <a:ext cx="304800" cy="304800"/>
          </a:xfrm>
          <a:prstGeom prst="rect">
            <a:avLst/>
          </a:prstGeom>
          <a:noFill/>
          <a:ln>
            <a:noFill/>
          </a:ln>
        </p:spPr>
      </p:pic>
      <p:sp>
        <p:nvSpPr>
          <p:cNvPr id="106" name="Google Shape;106;p8"/>
          <p:cNvSpPr/>
          <p:nvPr/>
        </p:nvSpPr>
        <p:spPr>
          <a:xfrm>
            <a:off x="1504950" y="3549650"/>
            <a:ext cx="2003355"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Eager to please</a:t>
            </a:r>
            <a:endParaRPr b="0" i="0" sz="2200" u="none" cap="none" strike="noStrike">
              <a:solidFill>
                <a:schemeClr val="dk1"/>
              </a:solidFill>
              <a:latin typeface="Calibri"/>
              <a:ea typeface="Calibri"/>
              <a:cs typeface="Calibri"/>
              <a:sym typeface="Calibri"/>
            </a:endParaRPr>
          </a:p>
        </p:txBody>
      </p:sp>
      <p:sp>
        <p:nvSpPr>
          <p:cNvPr id="107" name="Google Shape;107;p8"/>
          <p:cNvSpPr/>
          <p:nvPr/>
        </p:nvSpPr>
        <p:spPr>
          <a:xfrm>
            <a:off x="1073150" y="39611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Rarely says "I don't know". It fills gaps with confident guesses.</a:t>
            </a:r>
            <a:endParaRPr b="0" i="0" sz="1500" u="none" cap="none" strike="noStrike">
              <a:solidFill>
                <a:schemeClr val="dk1"/>
              </a:solidFill>
              <a:latin typeface="Calibri"/>
              <a:ea typeface="Calibri"/>
              <a:cs typeface="Calibri"/>
              <a:sym typeface="Calibri"/>
            </a:endParaRPr>
          </a:p>
        </p:txBody>
      </p:sp>
      <p:sp>
        <p:nvSpPr>
          <p:cNvPr id="108" name="Google Shape;108;p8"/>
          <p:cNvSpPr/>
          <p:nvPr/>
        </p:nvSpPr>
        <p:spPr>
          <a:xfrm>
            <a:off x="6200775" y="3292475"/>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Circle" id="109" name="Google Shape;109;p8"/>
          <p:cNvPicPr preferRelativeResize="0"/>
          <p:nvPr/>
        </p:nvPicPr>
        <p:blipFill rotWithShape="1">
          <a:blip r:embed="rId6">
            <a:alphaModFix/>
          </a:blip>
          <a:srcRect b="0" l="0" r="0" t="0"/>
          <a:stretch/>
        </p:blipFill>
        <p:spPr>
          <a:xfrm>
            <a:off x="6457950" y="3564889"/>
            <a:ext cx="304800" cy="304800"/>
          </a:xfrm>
          <a:prstGeom prst="rect">
            <a:avLst/>
          </a:prstGeom>
          <a:noFill/>
          <a:ln>
            <a:noFill/>
          </a:ln>
        </p:spPr>
      </p:pic>
      <p:sp>
        <p:nvSpPr>
          <p:cNvPr id="110" name="Google Shape;110;p8"/>
          <p:cNvSpPr/>
          <p:nvPr/>
        </p:nvSpPr>
        <p:spPr>
          <a:xfrm>
            <a:off x="6889750" y="3549650"/>
            <a:ext cx="276357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Needs your direction</a:t>
            </a:r>
            <a:endParaRPr b="0" i="0" sz="2200" u="none" cap="none" strike="noStrike">
              <a:solidFill>
                <a:schemeClr val="dk1"/>
              </a:solidFill>
              <a:latin typeface="Calibri"/>
              <a:ea typeface="Calibri"/>
              <a:cs typeface="Calibri"/>
              <a:sym typeface="Calibri"/>
            </a:endParaRPr>
          </a:p>
        </p:txBody>
      </p:sp>
      <p:sp>
        <p:nvSpPr>
          <p:cNvPr id="111" name="Google Shape;111;p8"/>
          <p:cNvSpPr/>
          <p:nvPr/>
        </p:nvSpPr>
        <p:spPr>
          <a:xfrm>
            <a:off x="6457950" y="39611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Great work comes from a clear brief and your final review.</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16" name="Shape 116"/>
        <p:cNvGrpSpPr/>
        <p:nvPr/>
      </p:nvGrpSpPr>
      <p:grpSpPr>
        <a:xfrm>
          <a:off x="0" y="0"/>
          <a:ext cx="0" cy="0"/>
          <a:chOff x="0" y="0"/>
          <a:chExt cx="0" cy="0"/>
        </a:xfrm>
      </p:grpSpPr>
      <p:sp>
        <p:nvSpPr>
          <p:cNvPr id="117" name="Google Shape;117;p9"/>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Where it shines, where it stumbles</a:t>
            </a:r>
            <a:endParaRPr b="0" i="0" sz="3600" u="none" cap="none" strike="noStrike">
              <a:solidFill>
                <a:schemeClr val="dk1"/>
              </a:solidFill>
              <a:latin typeface="Calibri"/>
              <a:ea typeface="Calibri"/>
              <a:cs typeface="Calibri"/>
              <a:sym typeface="Calibri"/>
            </a:endParaRPr>
          </a:p>
        </p:txBody>
      </p:sp>
      <p:sp>
        <p:nvSpPr>
          <p:cNvPr id="118" name="Google Shape;118;p9"/>
          <p:cNvSpPr/>
          <p:nvPr/>
        </p:nvSpPr>
        <p:spPr>
          <a:xfrm>
            <a:off x="815975" y="2265046"/>
            <a:ext cx="5175250" cy="2564130"/>
          </a:xfrm>
          <a:prstGeom prst="roundRect">
            <a:avLst>
              <a:gd fmla="val 4829"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tar" id="119" name="Google Shape;119;p9"/>
          <p:cNvPicPr preferRelativeResize="0"/>
          <p:nvPr/>
        </p:nvPicPr>
        <p:blipFill rotWithShape="1">
          <a:blip r:embed="rId3">
            <a:alphaModFix/>
          </a:blip>
          <a:srcRect b="0" l="0" r="0" t="0"/>
          <a:stretch/>
        </p:blipFill>
        <p:spPr>
          <a:xfrm>
            <a:off x="1123950" y="2588261"/>
            <a:ext cx="304800" cy="304800"/>
          </a:xfrm>
          <a:prstGeom prst="rect">
            <a:avLst/>
          </a:prstGeom>
          <a:noFill/>
          <a:ln>
            <a:noFill/>
          </a:ln>
        </p:spPr>
      </p:pic>
      <p:sp>
        <p:nvSpPr>
          <p:cNvPr id="120" name="Google Shape;120;p9"/>
          <p:cNvSpPr/>
          <p:nvPr/>
        </p:nvSpPr>
        <p:spPr>
          <a:xfrm>
            <a:off x="1555750" y="2573021"/>
            <a:ext cx="910484"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F6B4C"/>
              </a:buClr>
              <a:buSzPts val="2200"/>
              <a:buFont typeface="Fraunces"/>
              <a:buNone/>
            </a:pPr>
            <a:r>
              <a:rPr b="0" i="0" lang="en-US" sz="2200" u="none" cap="none" strike="noStrike">
                <a:solidFill>
                  <a:srgbClr val="2F6B4C"/>
                </a:solidFill>
                <a:latin typeface="Fraunces"/>
                <a:ea typeface="Fraunces"/>
                <a:cs typeface="Fraunces"/>
                <a:sym typeface="Fraunces"/>
              </a:rPr>
              <a:t>Shines</a:t>
            </a:r>
            <a:endParaRPr b="0" i="0" sz="2200" u="none" cap="none" strike="noStrike">
              <a:solidFill>
                <a:schemeClr val="dk1"/>
              </a:solidFill>
              <a:latin typeface="Calibri"/>
              <a:ea typeface="Calibri"/>
              <a:cs typeface="Calibri"/>
              <a:sym typeface="Calibri"/>
            </a:endParaRPr>
          </a:p>
        </p:txBody>
      </p:sp>
      <p:sp>
        <p:nvSpPr>
          <p:cNvPr id="121" name="Google Shape;121;p9"/>
          <p:cNvSpPr/>
          <p:nvPr/>
        </p:nvSpPr>
        <p:spPr>
          <a:xfrm>
            <a:off x="1195070" y="3060700"/>
            <a:ext cx="4617339" cy="1485900"/>
          </a:xfrm>
          <a:prstGeom prst="rect">
            <a:avLst/>
          </a:prstGeom>
          <a:noFill/>
          <a:ln>
            <a:noFill/>
          </a:ln>
        </p:spPr>
        <p:txBody>
          <a:bodyPr anchorCtr="0" anchor="t" bIns="0" lIns="0" spcFirstLastPara="1" rIns="0" wrap="square" tIns="0">
            <a:noAutofit/>
          </a:bodyPr>
          <a:lstStyle/>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First drafts in seconds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Ten headline options instead of one</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Rewriting one story for many audiences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Translating and localising across languages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Turning long reports into short posts</a:t>
            </a:r>
            <a:endParaRPr b="0" i="0" sz="1500" u="none" cap="none" strike="noStrike">
              <a:solidFill>
                <a:schemeClr val="dk1"/>
              </a:solidFill>
              <a:latin typeface="Calibri"/>
              <a:ea typeface="Calibri"/>
              <a:cs typeface="Calibri"/>
              <a:sym typeface="Calibri"/>
            </a:endParaRPr>
          </a:p>
        </p:txBody>
      </p:sp>
      <p:sp>
        <p:nvSpPr>
          <p:cNvPr id="122" name="Google Shape;122;p9"/>
          <p:cNvSpPr/>
          <p:nvPr/>
        </p:nvSpPr>
        <p:spPr>
          <a:xfrm>
            <a:off x="6200775" y="2265046"/>
            <a:ext cx="5175250" cy="2564130"/>
          </a:xfrm>
          <a:prstGeom prst="roundRect">
            <a:avLst>
              <a:gd fmla="val 4829"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Warning" id="123" name="Google Shape;123;p9"/>
          <p:cNvPicPr preferRelativeResize="0"/>
          <p:nvPr/>
        </p:nvPicPr>
        <p:blipFill rotWithShape="1">
          <a:blip r:embed="rId4">
            <a:alphaModFix/>
          </a:blip>
          <a:srcRect b="0" l="0" r="0" t="0"/>
          <a:stretch/>
        </p:blipFill>
        <p:spPr>
          <a:xfrm>
            <a:off x="6508750" y="2588261"/>
            <a:ext cx="304800" cy="304800"/>
          </a:xfrm>
          <a:prstGeom prst="rect">
            <a:avLst/>
          </a:prstGeom>
          <a:noFill/>
          <a:ln>
            <a:noFill/>
          </a:ln>
        </p:spPr>
      </p:pic>
      <p:sp>
        <p:nvSpPr>
          <p:cNvPr id="124" name="Google Shape;124;p9"/>
          <p:cNvSpPr/>
          <p:nvPr/>
        </p:nvSpPr>
        <p:spPr>
          <a:xfrm>
            <a:off x="6940550" y="2573021"/>
            <a:ext cx="1259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Stumbles</a:t>
            </a:r>
            <a:endParaRPr b="0" i="0" sz="2200" u="none" cap="none" strike="noStrike">
              <a:solidFill>
                <a:schemeClr val="dk1"/>
              </a:solidFill>
              <a:latin typeface="Calibri"/>
              <a:ea typeface="Calibri"/>
              <a:cs typeface="Calibri"/>
              <a:sym typeface="Calibri"/>
            </a:endParaRPr>
          </a:p>
        </p:txBody>
      </p:sp>
      <p:sp>
        <p:nvSpPr>
          <p:cNvPr id="125" name="Google Shape;125;p9"/>
          <p:cNvSpPr/>
          <p:nvPr/>
        </p:nvSpPr>
        <p:spPr>
          <a:xfrm>
            <a:off x="6579870" y="3060700"/>
            <a:ext cx="4617339" cy="1485900"/>
          </a:xfrm>
          <a:prstGeom prst="rect">
            <a:avLst/>
          </a:prstGeom>
          <a:noFill/>
          <a:ln>
            <a:noFill/>
          </a:ln>
        </p:spPr>
        <p:txBody>
          <a:bodyPr anchorCtr="0" anchor="t" bIns="0" lIns="0" spcFirstLastPara="1" rIns="0" wrap="square" tIns="0">
            <a:noAutofit/>
          </a:bodyPr>
          <a:lstStyle/>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Inventing facts, figures and quotes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A generic, over-polished "AI voice"</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Not knowing your context or community</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Missing local and cultural nuance</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Not knowing recent events</a:t>
            </a:r>
            <a:endParaRPr b="0" i="0" sz="1500" u="none" cap="none" strike="noStrike">
              <a:solidFill>
                <a:schemeClr val="dk1"/>
              </a:solidFill>
              <a:latin typeface="Calibri"/>
              <a:ea typeface="Calibri"/>
              <a:cs typeface="Calibri"/>
              <a:sym typeface="Calibri"/>
            </a:endParaRPr>
          </a:p>
        </p:txBody>
      </p:sp>
      <p:sp>
        <p:nvSpPr>
          <p:cNvPr id="126" name="Google Shape;126;p9"/>
          <p:cNvSpPr/>
          <p:nvPr/>
        </p:nvSpPr>
        <p:spPr>
          <a:xfrm>
            <a:off x="812800" y="5778500"/>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Use it for speed and range. </a:t>
            </a:r>
            <a:r>
              <a:rPr b="1" i="0" lang="en-US" sz="1500" u="none" cap="none" strike="noStrike">
                <a:solidFill>
                  <a:srgbClr val="1F2A24"/>
                </a:solidFill>
                <a:latin typeface="DM Sans"/>
                <a:ea typeface="DM Sans"/>
                <a:cs typeface="DM Sans"/>
                <a:sym typeface="DM Sans"/>
              </a:rPr>
              <a:t>Bring the facts, the context and the voice yourself.</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31" name="Shape 131"/>
        <p:cNvGrpSpPr/>
        <p:nvPr/>
      </p:nvGrpSpPr>
      <p:grpSpPr>
        <a:xfrm>
          <a:off x="0" y="0"/>
          <a:ext cx="0" cy="0"/>
          <a:chOff x="0" y="0"/>
          <a:chExt cx="0" cy="0"/>
        </a:xfrm>
      </p:grpSpPr>
      <p:sp>
        <p:nvSpPr>
          <p:cNvPr id="132" name="Google Shape;132;p10"/>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The tools you'll meet</a:t>
            </a:r>
            <a:endParaRPr b="0" i="0" sz="3600" u="none" cap="none" strike="noStrike">
              <a:solidFill>
                <a:schemeClr val="dk1"/>
              </a:solidFill>
              <a:latin typeface="Calibri"/>
              <a:ea typeface="Calibri"/>
              <a:cs typeface="Calibri"/>
              <a:sym typeface="Calibri"/>
            </a:endParaRPr>
          </a:p>
        </p:txBody>
      </p:sp>
      <p:sp>
        <p:nvSpPr>
          <p:cNvPr id="133" name="Google Shape;133;p10"/>
          <p:cNvSpPr/>
          <p:nvPr/>
        </p:nvSpPr>
        <p:spPr>
          <a:xfrm>
            <a:off x="815975" y="2217421"/>
            <a:ext cx="3380317" cy="2576830"/>
          </a:xfrm>
          <a:prstGeom prst="roundRect">
            <a:avLst>
              <a:gd fmla="val 4805"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134" name="Google Shape;134;p10"/>
          <p:cNvPicPr preferRelativeResize="0"/>
          <p:nvPr/>
        </p:nvPicPr>
        <p:blipFill rotWithShape="1">
          <a:blip r:embed="rId3">
            <a:alphaModFix/>
          </a:blip>
          <a:srcRect b="0" l="0" r="0" t="0"/>
          <a:stretch/>
        </p:blipFill>
        <p:spPr>
          <a:xfrm>
            <a:off x="1073150" y="2474596"/>
            <a:ext cx="355600" cy="355600"/>
          </a:xfrm>
          <a:prstGeom prst="rect">
            <a:avLst/>
          </a:prstGeom>
          <a:noFill/>
          <a:ln>
            <a:noFill/>
          </a:ln>
        </p:spPr>
      </p:pic>
      <p:sp>
        <p:nvSpPr>
          <p:cNvPr id="135" name="Google Shape;135;p10"/>
          <p:cNvSpPr/>
          <p:nvPr/>
        </p:nvSpPr>
        <p:spPr>
          <a:xfrm>
            <a:off x="1073150" y="2931796"/>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Chat assistants</a:t>
            </a:r>
            <a:endParaRPr b="0" i="0" sz="2200" u="none" cap="none" strike="noStrike">
              <a:solidFill>
                <a:schemeClr val="dk1"/>
              </a:solidFill>
              <a:latin typeface="Calibri"/>
              <a:ea typeface="Calibri"/>
              <a:cs typeface="Calibri"/>
              <a:sym typeface="Calibri"/>
            </a:endParaRPr>
          </a:p>
        </p:txBody>
      </p:sp>
      <p:sp>
        <p:nvSpPr>
          <p:cNvPr id="136" name="Google Shape;136;p10"/>
          <p:cNvSpPr/>
          <p:nvPr/>
        </p:nvSpPr>
        <p:spPr>
          <a:xfrm>
            <a:off x="1073150" y="3368675"/>
            <a:ext cx="295194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1" i="0" lang="en-US" sz="1500" u="none" cap="none" strike="noStrike">
                <a:solidFill>
                  <a:srgbClr val="1F2A24"/>
                </a:solidFill>
                <a:latin typeface="DM Sans"/>
                <a:ea typeface="DM Sans"/>
                <a:cs typeface="DM Sans"/>
                <a:sym typeface="DM Sans"/>
              </a:rPr>
              <a:t>ChatGPT · Claude · </a:t>
            </a:r>
            <a:r>
              <a:rPr b="1" i="0" lang="en-US" sz="1500" u="none" cap="none" strike="noStrike">
                <a:solidFill>
                  <a:srgbClr val="2F6B4C"/>
                </a:solidFill>
                <a:latin typeface="DM Sans"/>
                <a:ea typeface="DM Sans"/>
                <a:cs typeface="DM Sans"/>
                <a:sym typeface="DM Sans"/>
              </a:rPr>
              <a:t>Gemini</a:t>
            </a:r>
            <a:endParaRPr b="0" i="0" sz="1500" u="none" cap="none" strike="noStrike">
              <a:solidFill>
                <a:srgbClr val="2F6B4C"/>
              </a:solidFill>
              <a:latin typeface="Calibri"/>
              <a:ea typeface="Calibri"/>
              <a:cs typeface="Calibri"/>
              <a:sym typeface="Calibri"/>
            </a:endParaRPr>
          </a:p>
        </p:txBody>
      </p:sp>
      <p:sp>
        <p:nvSpPr>
          <p:cNvPr id="137" name="Google Shape;137;p10"/>
          <p:cNvSpPr/>
          <p:nvPr/>
        </p:nvSpPr>
        <p:spPr>
          <a:xfrm>
            <a:off x="1073150" y="37369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Writing, brainstorming, editing and research.</a:t>
            </a:r>
            <a:endParaRPr b="0" i="0" sz="1500" u="none" cap="none" strike="noStrike">
              <a:solidFill>
                <a:schemeClr val="dk1"/>
              </a:solidFill>
              <a:latin typeface="Calibri"/>
              <a:ea typeface="Calibri"/>
              <a:cs typeface="Calibri"/>
              <a:sym typeface="Calibri"/>
            </a:endParaRPr>
          </a:p>
        </p:txBody>
      </p:sp>
      <p:sp>
        <p:nvSpPr>
          <p:cNvPr id="138" name="Google Shape;138;p10"/>
          <p:cNvSpPr/>
          <p:nvPr/>
        </p:nvSpPr>
        <p:spPr>
          <a:xfrm>
            <a:off x="4405842" y="2217421"/>
            <a:ext cx="3380317" cy="2576830"/>
          </a:xfrm>
          <a:prstGeom prst="roundRect">
            <a:avLst>
              <a:gd fmla="val 4805"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ool" id="139" name="Google Shape;139;p10"/>
          <p:cNvPicPr preferRelativeResize="0"/>
          <p:nvPr/>
        </p:nvPicPr>
        <p:blipFill rotWithShape="1">
          <a:blip r:embed="rId4">
            <a:alphaModFix/>
          </a:blip>
          <a:srcRect b="0" l="0" r="0" t="0"/>
          <a:stretch/>
        </p:blipFill>
        <p:spPr>
          <a:xfrm>
            <a:off x="4663017" y="2474596"/>
            <a:ext cx="355600" cy="355600"/>
          </a:xfrm>
          <a:prstGeom prst="rect">
            <a:avLst/>
          </a:prstGeom>
          <a:noFill/>
          <a:ln>
            <a:noFill/>
          </a:ln>
        </p:spPr>
      </p:pic>
      <p:sp>
        <p:nvSpPr>
          <p:cNvPr id="140" name="Google Shape;140;p10"/>
          <p:cNvSpPr/>
          <p:nvPr/>
        </p:nvSpPr>
        <p:spPr>
          <a:xfrm>
            <a:off x="4663017" y="2931796"/>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Inside your apps</a:t>
            </a:r>
            <a:endParaRPr b="0" i="0" sz="2200" u="none" cap="none" strike="noStrike">
              <a:solidFill>
                <a:schemeClr val="dk1"/>
              </a:solidFill>
              <a:latin typeface="Calibri"/>
              <a:ea typeface="Calibri"/>
              <a:cs typeface="Calibri"/>
              <a:sym typeface="Calibri"/>
            </a:endParaRPr>
          </a:p>
        </p:txBody>
      </p:sp>
      <p:sp>
        <p:nvSpPr>
          <p:cNvPr id="141" name="Google Shape;141;p10"/>
          <p:cNvSpPr/>
          <p:nvPr/>
        </p:nvSpPr>
        <p:spPr>
          <a:xfrm>
            <a:off x="4663017" y="3368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1" i="0" lang="en-US" sz="1500" u="none" cap="none" strike="noStrike">
                <a:solidFill>
                  <a:srgbClr val="1F2A24"/>
                </a:solidFill>
                <a:latin typeface="DM Sans"/>
                <a:ea typeface="DM Sans"/>
                <a:cs typeface="DM Sans"/>
                <a:sym typeface="DM Sans"/>
              </a:rPr>
              <a:t>Canva · </a:t>
            </a:r>
            <a:r>
              <a:rPr b="1" i="0" lang="en-US" sz="1500" u="none" cap="none" strike="noStrike">
                <a:solidFill>
                  <a:srgbClr val="2F6B4C"/>
                </a:solidFill>
                <a:latin typeface="DM Sans"/>
                <a:ea typeface="DM Sans"/>
                <a:cs typeface="DM Sans"/>
                <a:sym typeface="DM Sans"/>
              </a:rPr>
              <a:t>Google Workspace</a:t>
            </a:r>
            <a:r>
              <a:rPr b="1" i="0" lang="en-US" sz="1500" u="none" cap="none" strike="noStrike">
                <a:solidFill>
                  <a:srgbClr val="1F2A24"/>
                </a:solidFill>
                <a:latin typeface="DM Sans"/>
                <a:ea typeface="DM Sans"/>
                <a:cs typeface="DM Sans"/>
                <a:sym typeface="DM Sans"/>
              </a:rPr>
              <a:t> · Microsoft 365 · Meta</a:t>
            </a:r>
            <a:endParaRPr b="0" i="0" sz="1500" u="none" cap="none" strike="noStrike">
              <a:solidFill>
                <a:schemeClr val="dk1"/>
              </a:solidFill>
              <a:latin typeface="Calibri"/>
              <a:ea typeface="Calibri"/>
              <a:cs typeface="Calibri"/>
              <a:sym typeface="Calibri"/>
            </a:endParaRPr>
          </a:p>
        </p:txBody>
      </p:sp>
      <p:sp>
        <p:nvSpPr>
          <p:cNvPr id="142" name="Google Shape;142;p10"/>
          <p:cNvSpPr/>
          <p:nvPr/>
        </p:nvSpPr>
        <p:spPr>
          <a:xfrm>
            <a:off x="4663017" y="4003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AI help right where you already work.</a:t>
            </a:r>
            <a:endParaRPr b="0" i="0" sz="1500" u="none" cap="none" strike="noStrike">
              <a:solidFill>
                <a:schemeClr val="dk1"/>
              </a:solidFill>
              <a:latin typeface="Calibri"/>
              <a:ea typeface="Calibri"/>
              <a:cs typeface="Calibri"/>
              <a:sym typeface="Calibri"/>
            </a:endParaRPr>
          </a:p>
        </p:txBody>
      </p:sp>
      <p:sp>
        <p:nvSpPr>
          <p:cNvPr id="143" name="Google Shape;143;p10"/>
          <p:cNvSpPr/>
          <p:nvPr/>
        </p:nvSpPr>
        <p:spPr>
          <a:xfrm>
            <a:off x="7995708" y="2217421"/>
            <a:ext cx="3380317" cy="2576830"/>
          </a:xfrm>
          <a:prstGeom prst="roundRect">
            <a:avLst>
              <a:gd fmla="val 4805"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144" name="Google Shape;144;p10"/>
          <p:cNvPicPr preferRelativeResize="0"/>
          <p:nvPr/>
        </p:nvPicPr>
        <p:blipFill rotWithShape="1">
          <a:blip r:embed="rId5">
            <a:alphaModFix/>
          </a:blip>
          <a:srcRect b="0" l="0" r="0" t="0"/>
          <a:stretch/>
        </p:blipFill>
        <p:spPr>
          <a:xfrm>
            <a:off x="8252883" y="2474596"/>
            <a:ext cx="355600" cy="355600"/>
          </a:xfrm>
          <a:prstGeom prst="rect">
            <a:avLst/>
          </a:prstGeom>
          <a:noFill/>
          <a:ln>
            <a:noFill/>
          </a:ln>
        </p:spPr>
      </p:pic>
      <p:sp>
        <p:nvSpPr>
          <p:cNvPr id="145" name="Google Shape;145;p10"/>
          <p:cNvSpPr/>
          <p:nvPr/>
        </p:nvSpPr>
        <p:spPr>
          <a:xfrm>
            <a:off x="8252883" y="2931796"/>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Image and video</a:t>
            </a:r>
            <a:endParaRPr b="0" i="0" sz="2200" u="none" cap="none" strike="noStrike">
              <a:solidFill>
                <a:schemeClr val="dk1"/>
              </a:solidFill>
              <a:latin typeface="Calibri"/>
              <a:ea typeface="Calibri"/>
              <a:cs typeface="Calibri"/>
              <a:sym typeface="Calibri"/>
            </a:endParaRPr>
          </a:p>
        </p:txBody>
      </p:sp>
      <p:sp>
        <p:nvSpPr>
          <p:cNvPr id="146" name="Google Shape;146;p10"/>
          <p:cNvSpPr/>
          <p:nvPr/>
        </p:nvSpPr>
        <p:spPr>
          <a:xfrm>
            <a:off x="8252883" y="3368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1" i="0" lang="en-US" sz="1500" u="none" cap="none" strike="noStrike">
                <a:solidFill>
                  <a:srgbClr val="1F2A24"/>
                </a:solidFill>
                <a:latin typeface="DM Sans"/>
                <a:ea typeface="DM Sans"/>
                <a:cs typeface="DM Sans"/>
                <a:sym typeface="DM Sans"/>
              </a:rPr>
              <a:t>Canva · Adobe Firefly · </a:t>
            </a:r>
            <a:r>
              <a:rPr b="1" lang="en-US" sz="1500">
                <a:solidFill>
                  <a:srgbClr val="2F6B4C"/>
                </a:solidFill>
                <a:latin typeface="DM Sans"/>
                <a:ea typeface="DM Sans"/>
                <a:cs typeface="DM Sans"/>
                <a:sym typeface="DM Sans"/>
              </a:rPr>
              <a:t>Google Vids </a:t>
            </a:r>
            <a:r>
              <a:rPr b="1" lang="en-US" sz="1500">
                <a:solidFill>
                  <a:srgbClr val="1F2A24"/>
                </a:solidFill>
                <a:latin typeface="DM Sans"/>
                <a:ea typeface="DM Sans"/>
                <a:cs typeface="DM Sans"/>
                <a:sym typeface="DM Sans"/>
              </a:rPr>
              <a:t>· </a:t>
            </a:r>
            <a:r>
              <a:rPr b="1" lang="en-US" sz="1500">
                <a:solidFill>
                  <a:srgbClr val="2F6B4C"/>
                </a:solidFill>
                <a:latin typeface="DM Sans"/>
                <a:ea typeface="DM Sans"/>
                <a:cs typeface="DM Sans"/>
                <a:sym typeface="DM Sans"/>
              </a:rPr>
              <a:t>Gemini Canvas</a:t>
            </a:r>
            <a:endParaRPr b="0" i="0" sz="1500" u="none" cap="none" strike="noStrike">
              <a:solidFill>
                <a:srgbClr val="2F6B4C"/>
              </a:solidFill>
              <a:latin typeface="Calibri"/>
              <a:ea typeface="Calibri"/>
              <a:cs typeface="Calibri"/>
              <a:sym typeface="Calibri"/>
            </a:endParaRPr>
          </a:p>
        </p:txBody>
      </p:sp>
      <p:sp>
        <p:nvSpPr>
          <p:cNvPr id="147" name="Google Shape;147;p10"/>
          <p:cNvSpPr/>
          <p:nvPr/>
        </p:nvSpPr>
        <p:spPr>
          <a:xfrm>
            <a:off x="8252883" y="4003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Visual drafts, variations and resizing.</a:t>
            </a:r>
            <a:endParaRPr b="0" i="0" sz="1500" u="none" cap="none" strike="noStrike">
              <a:solidFill>
                <a:schemeClr val="dk1"/>
              </a:solidFill>
              <a:latin typeface="Calibri"/>
              <a:ea typeface="Calibri"/>
              <a:cs typeface="Calibri"/>
              <a:sym typeface="Calibri"/>
            </a:endParaRPr>
          </a:p>
        </p:txBody>
      </p:sp>
      <p:sp>
        <p:nvSpPr>
          <p:cNvPr id="148" name="Google Shape;148;p10"/>
          <p:cNvSpPr/>
          <p:nvPr/>
        </p:nvSpPr>
        <p:spPr>
          <a:xfrm>
            <a:off x="812800" y="5695950"/>
            <a:ext cx="10883392" cy="37465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The tool matters less than the brief you give it.</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5532B"/>
        </a:solidFill>
      </p:bgPr>
    </p:bg>
    <p:spTree>
      <p:nvGrpSpPr>
        <p:cNvPr id="153" name="Shape 153"/>
        <p:cNvGrpSpPr/>
        <p:nvPr/>
      </p:nvGrpSpPr>
      <p:grpSpPr>
        <a:xfrm>
          <a:off x="0" y="0"/>
          <a:ext cx="0" cy="0"/>
          <a:chOff x="0" y="0"/>
          <a:chExt cx="0" cy="0"/>
        </a:xfrm>
      </p:grpSpPr>
      <p:sp>
        <p:nvSpPr>
          <p:cNvPr id="154" name="Google Shape;154;p11"/>
          <p:cNvSpPr/>
          <p:nvPr/>
        </p:nvSpPr>
        <p:spPr>
          <a:xfrm>
            <a:off x="812800" y="19050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BF3E8"/>
              </a:buClr>
              <a:buSzPts val="1200"/>
              <a:buFont typeface="DM Sans"/>
              <a:buNone/>
            </a:pPr>
            <a:r>
              <a:rPr b="1" i="0" lang="en-US" sz="1200" u="none" cap="none" strike="noStrike">
                <a:solidFill>
                  <a:srgbClr val="FBF3E8"/>
                </a:solidFill>
                <a:latin typeface="DM Sans"/>
                <a:ea typeface="DM Sans"/>
                <a:cs typeface="DM Sans"/>
                <a:sym typeface="DM Sans"/>
              </a:rPr>
              <a:t>PART TWO · PROMPTING</a:t>
            </a:r>
            <a:endParaRPr b="0" i="0" sz="1200" u="none" cap="none" strike="noStrike">
              <a:solidFill>
                <a:schemeClr val="dk1"/>
              </a:solidFill>
              <a:latin typeface="Calibri"/>
              <a:ea typeface="Calibri"/>
              <a:cs typeface="Calibri"/>
              <a:sym typeface="Calibri"/>
            </a:endParaRPr>
          </a:p>
        </p:txBody>
      </p:sp>
      <p:sp>
        <p:nvSpPr>
          <p:cNvPr id="155" name="Google Shape;155;p11"/>
          <p:cNvSpPr/>
          <p:nvPr/>
        </p:nvSpPr>
        <p:spPr>
          <a:xfrm>
            <a:off x="812800" y="2372361"/>
            <a:ext cx="10883392" cy="1625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BF3E8"/>
              </a:buClr>
              <a:buSzPts val="6000"/>
              <a:buFont typeface="Fraunces"/>
              <a:buNone/>
            </a:pPr>
            <a:r>
              <a:rPr b="0" i="0" lang="en-US" sz="6000" u="none" cap="none" strike="noStrike">
                <a:solidFill>
                  <a:srgbClr val="FBF3E8"/>
                </a:solidFill>
                <a:latin typeface="Fraunces"/>
                <a:ea typeface="Fraunces"/>
                <a:cs typeface="Fraunces"/>
                <a:sym typeface="Fraunces"/>
              </a:rPr>
              <a:t>A prompt is a</a:t>
            </a:r>
            <a:r>
              <a:rPr lang="en-US" sz="6000">
                <a:solidFill>
                  <a:schemeClr val="dk1"/>
                </a:solidFill>
                <a:latin typeface="Calibri"/>
                <a:ea typeface="Calibri"/>
                <a:cs typeface="Calibri"/>
                <a:sym typeface="Calibri"/>
              </a:rPr>
              <a:t> </a:t>
            </a:r>
            <a:endParaRPr sz="6000">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BF3E8"/>
              </a:buClr>
              <a:buSzPts val="6000"/>
              <a:buFont typeface="Fraunces"/>
              <a:buNone/>
            </a:pPr>
            <a:r>
              <a:rPr b="0" i="0" lang="en-US" sz="6000" u="none" cap="none" strike="noStrike">
                <a:solidFill>
                  <a:srgbClr val="FBF3E8"/>
                </a:solidFill>
                <a:latin typeface="Fraunces"/>
                <a:ea typeface="Fraunces"/>
                <a:cs typeface="Fraunces"/>
                <a:sym typeface="Fraunces"/>
              </a:rPr>
              <a:t>creative brief.</a:t>
            </a:r>
            <a:endParaRPr b="0" i="0" sz="6000" u="none" cap="none" strike="noStrike">
              <a:solidFill>
                <a:schemeClr val="dk1"/>
              </a:solidFill>
              <a:latin typeface="Calibri"/>
              <a:ea typeface="Calibri"/>
              <a:cs typeface="Calibri"/>
              <a:sym typeface="Calibri"/>
            </a:endParaRPr>
          </a:p>
        </p:txBody>
      </p:sp>
      <p:sp>
        <p:nvSpPr>
          <p:cNvPr id="156" name="Google Shape;156;p11"/>
          <p:cNvSpPr/>
          <p:nvPr/>
        </p:nvSpPr>
        <p:spPr>
          <a:xfrm>
            <a:off x="812800" y="4226558"/>
            <a:ext cx="8502650" cy="75184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BF3E8"/>
              </a:buClr>
              <a:buSzPts val="2200"/>
              <a:buFont typeface="DM Sans"/>
              <a:buNone/>
            </a:pPr>
            <a:r>
              <a:rPr b="0" i="0" lang="en-US" sz="2200" u="none" cap="none" strike="noStrike">
                <a:solidFill>
                  <a:srgbClr val="FBF3E8"/>
                </a:solidFill>
                <a:latin typeface="DM Sans"/>
                <a:ea typeface="DM Sans"/>
                <a:cs typeface="DM Sans"/>
                <a:sym typeface="DM Sans"/>
              </a:rPr>
              <a:t>If you can brief a designer or an agency, you already know how to prompt.</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61" name="Shape 161"/>
        <p:cNvGrpSpPr/>
        <p:nvPr/>
      </p:nvGrpSpPr>
      <p:grpSpPr>
        <a:xfrm>
          <a:off x="0" y="0"/>
          <a:ext cx="0" cy="0"/>
          <a:chOff x="0" y="0"/>
          <a:chExt cx="0" cy="0"/>
        </a:xfrm>
      </p:grpSpPr>
      <p:sp>
        <p:nvSpPr>
          <p:cNvPr id="162" name="Google Shape;162;p12"/>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Five parts of a good brief</a:t>
            </a:r>
            <a:endParaRPr b="0" i="0" sz="3600" u="none" cap="none" strike="noStrike">
              <a:solidFill>
                <a:schemeClr val="dk1"/>
              </a:solidFill>
              <a:latin typeface="Calibri"/>
              <a:ea typeface="Calibri"/>
              <a:cs typeface="Calibri"/>
              <a:sym typeface="Calibri"/>
            </a:endParaRPr>
          </a:p>
        </p:txBody>
      </p:sp>
      <p:sp>
        <p:nvSpPr>
          <p:cNvPr id="163" name="Google Shape;163;p12"/>
          <p:cNvSpPr/>
          <p:nvPr/>
        </p:nvSpPr>
        <p:spPr>
          <a:xfrm>
            <a:off x="812800" y="1518921"/>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Example: an Instagram caption for a rice brand working with smallholder farmers</a:t>
            </a:r>
            <a:endParaRPr b="0" i="0" sz="1500" u="none" cap="none" strike="noStrike">
              <a:solidFill>
                <a:schemeClr val="dk1"/>
              </a:solidFill>
              <a:latin typeface="Calibri"/>
              <a:ea typeface="Calibri"/>
              <a:cs typeface="Calibri"/>
              <a:sym typeface="Calibri"/>
            </a:endParaRPr>
          </a:p>
        </p:txBody>
      </p:sp>
      <p:cxnSp>
        <p:nvCxnSpPr>
          <p:cNvPr id="164" name="Google Shape;164;p12"/>
          <p:cNvCxnSpPr/>
          <p:nvPr/>
        </p:nvCxnSpPr>
        <p:spPr>
          <a:xfrm>
            <a:off x="812800" y="1995171"/>
            <a:ext cx="10566400" cy="0"/>
          </a:xfrm>
          <a:prstGeom prst="straightConnector1">
            <a:avLst/>
          </a:prstGeom>
          <a:noFill/>
          <a:ln cap="flat" cmpd="sng" w="12700">
            <a:solidFill>
              <a:srgbClr val="D9CDB6"/>
            </a:solidFill>
            <a:prstDash val="solid"/>
            <a:round/>
            <a:headEnd len="sm" w="sm" type="none"/>
            <a:tailEnd len="sm" w="sm" type="none"/>
          </a:ln>
        </p:spPr>
      </p:cxnSp>
      <p:sp>
        <p:nvSpPr>
          <p:cNvPr id="165" name="Google Shape;165;p12"/>
          <p:cNvSpPr/>
          <p:nvPr/>
        </p:nvSpPr>
        <p:spPr>
          <a:xfrm>
            <a:off x="812800" y="21285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ROLE</a:t>
            </a:r>
            <a:endParaRPr b="0" i="0" sz="1500" u="none" cap="none" strike="noStrike">
              <a:solidFill>
                <a:schemeClr val="dk1"/>
              </a:solidFill>
              <a:latin typeface="Calibri"/>
              <a:ea typeface="Calibri"/>
              <a:cs typeface="Calibri"/>
              <a:sym typeface="Calibri"/>
            </a:endParaRPr>
          </a:p>
        </p:txBody>
      </p:sp>
      <p:sp>
        <p:nvSpPr>
          <p:cNvPr id="166" name="Google Shape;166;p12"/>
          <p:cNvSpPr/>
          <p:nvPr/>
        </p:nvSpPr>
        <p:spPr>
          <a:xfrm>
            <a:off x="2641600" y="21285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"You are the social media writer for [Brand], an impact brand."</a:t>
            </a:r>
            <a:endParaRPr b="0" i="0" sz="1500" u="none" cap="none" strike="noStrike">
              <a:solidFill>
                <a:schemeClr val="dk1"/>
              </a:solidFill>
              <a:latin typeface="Calibri"/>
              <a:ea typeface="Calibri"/>
              <a:cs typeface="Calibri"/>
              <a:sym typeface="Calibri"/>
            </a:endParaRPr>
          </a:p>
        </p:txBody>
      </p:sp>
      <p:cxnSp>
        <p:nvCxnSpPr>
          <p:cNvPr id="167" name="Google Shape;167;p12"/>
          <p:cNvCxnSpPr/>
          <p:nvPr/>
        </p:nvCxnSpPr>
        <p:spPr>
          <a:xfrm>
            <a:off x="812800" y="2528571"/>
            <a:ext cx="10566400" cy="0"/>
          </a:xfrm>
          <a:prstGeom prst="straightConnector1">
            <a:avLst/>
          </a:prstGeom>
          <a:noFill/>
          <a:ln cap="flat" cmpd="sng" w="12700">
            <a:solidFill>
              <a:srgbClr val="D9CDB6"/>
            </a:solidFill>
            <a:prstDash val="solid"/>
            <a:round/>
            <a:headEnd len="sm" w="sm" type="none"/>
            <a:tailEnd len="sm" w="sm" type="none"/>
          </a:ln>
        </p:spPr>
      </p:cxnSp>
      <p:sp>
        <p:nvSpPr>
          <p:cNvPr id="168" name="Google Shape;168;p12"/>
          <p:cNvSpPr/>
          <p:nvPr/>
        </p:nvSpPr>
        <p:spPr>
          <a:xfrm>
            <a:off x="812800" y="26619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TASK</a:t>
            </a:r>
            <a:endParaRPr b="0" i="0" sz="1500" u="none" cap="none" strike="noStrike">
              <a:solidFill>
                <a:schemeClr val="dk1"/>
              </a:solidFill>
              <a:latin typeface="Calibri"/>
              <a:ea typeface="Calibri"/>
              <a:cs typeface="Calibri"/>
              <a:sym typeface="Calibri"/>
            </a:endParaRPr>
          </a:p>
        </p:txBody>
      </p:sp>
      <p:sp>
        <p:nvSpPr>
          <p:cNvPr id="169" name="Google Shape;169;p12"/>
          <p:cNvSpPr/>
          <p:nvPr/>
        </p:nvSpPr>
        <p:spPr>
          <a:xfrm>
            <a:off x="2641600" y="26619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"Write an Instagram caption announcing our new harvest."</a:t>
            </a:r>
            <a:endParaRPr b="0" i="0" sz="1500" u="none" cap="none" strike="noStrike">
              <a:solidFill>
                <a:schemeClr val="dk1"/>
              </a:solidFill>
              <a:latin typeface="Calibri"/>
              <a:ea typeface="Calibri"/>
              <a:cs typeface="Calibri"/>
              <a:sym typeface="Calibri"/>
            </a:endParaRPr>
          </a:p>
        </p:txBody>
      </p:sp>
      <p:cxnSp>
        <p:nvCxnSpPr>
          <p:cNvPr id="170" name="Google Shape;170;p12"/>
          <p:cNvCxnSpPr/>
          <p:nvPr/>
        </p:nvCxnSpPr>
        <p:spPr>
          <a:xfrm>
            <a:off x="812800" y="3061971"/>
            <a:ext cx="10566400" cy="0"/>
          </a:xfrm>
          <a:prstGeom prst="straightConnector1">
            <a:avLst/>
          </a:prstGeom>
          <a:noFill/>
          <a:ln cap="flat" cmpd="sng" w="12700">
            <a:solidFill>
              <a:srgbClr val="D9CDB6"/>
            </a:solidFill>
            <a:prstDash val="solid"/>
            <a:round/>
            <a:headEnd len="sm" w="sm" type="none"/>
            <a:tailEnd len="sm" w="sm" type="none"/>
          </a:ln>
        </p:spPr>
      </p:cxnSp>
      <p:sp>
        <p:nvSpPr>
          <p:cNvPr id="171" name="Google Shape;171;p12"/>
          <p:cNvSpPr/>
          <p:nvPr/>
        </p:nvSpPr>
        <p:spPr>
          <a:xfrm>
            <a:off x="812800" y="31953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CONTEXT</a:t>
            </a:r>
            <a:endParaRPr b="0" i="0" sz="1500" u="none" cap="none" strike="noStrike">
              <a:solidFill>
                <a:schemeClr val="dk1"/>
              </a:solidFill>
              <a:latin typeface="Calibri"/>
              <a:ea typeface="Calibri"/>
              <a:cs typeface="Calibri"/>
              <a:sym typeface="Calibri"/>
            </a:endParaRPr>
          </a:p>
        </p:txBody>
      </p:sp>
      <p:sp>
        <p:nvSpPr>
          <p:cNvPr id="172" name="Google Shape;172;p12"/>
          <p:cNvSpPr/>
          <p:nvPr/>
        </p:nvSpPr>
        <p:spPr>
          <a:xfrm>
            <a:off x="2641600" y="3195321"/>
            <a:ext cx="8999728"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"We buy organic rice directly from smallholder farmers in [region]. Our followers are young urban families who care where their food comes from."</a:t>
            </a:r>
            <a:endParaRPr b="0" i="0" sz="1500" u="none" cap="none" strike="noStrike">
              <a:solidFill>
                <a:schemeClr val="dk1"/>
              </a:solidFill>
              <a:latin typeface="Calibri"/>
              <a:ea typeface="Calibri"/>
              <a:cs typeface="Calibri"/>
              <a:sym typeface="Calibri"/>
            </a:endParaRPr>
          </a:p>
        </p:txBody>
      </p:sp>
      <p:cxnSp>
        <p:nvCxnSpPr>
          <p:cNvPr id="173" name="Google Shape;173;p12"/>
          <p:cNvCxnSpPr/>
          <p:nvPr/>
        </p:nvCxnSpPr>
        <p:spPr>
          <a:xfrm>
            <a:off x="812800" y="3862071"/>
            <a:ext cx="10566400" cy="0"/>
          </a:xfrm>
          <a:prstGeom prst="straightConnector1">
            <a:avLst/>
          </a:prstGeom>
          <a:noFill/>
          <a:ln cap="flat" cmpd="sng" w="12700">
            <a:solidFill>
              <a:srgbClr val="D9CDB6"/>
            </a:solidFill>
            <a:prstDash val="solid"/>
            <a:round/>
            <a:headEnd len="sm" w="sm" type="none"/>
            <a:tailEnd len="sm" w="sm" type="none"/>
          </a:ln>
        </p:spPr>
      </p:cxnSp>
      <p:sp>
        <p:nvSpPr>
          <p:cNvPr id="174" name="Google Shape;174;p12"/>
          <p:cNvSpPr/>
          <p:nvPr/>
        </p:nvSpPr>
        <p:spPr>
          <a:xfrm>
            <a:off x="812800" y="39954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FORMAT</a:t>
            </a:r>
            <a:endParaRPr b="0" i="0" sz="1500" u="none" cap="none" strike="noStrike">
              <a:solidFill>
                <a:schemeClr val="dk1"/>
              </a:solidFill>
              <a:latin typeface="Calibri"/>
              <a:ea typeface="Calibri"/>
              <a:cs typeface="Calibri"/>
              <a:sym typeface="Calibri"/>
            </a:endParaRPr>
          </a:p>
        </p:txBody>
      </p:sp>
      <p:sp>
        <p:nvSpPr>
          <p:cNvPr id="175" name="Google Shape;175;p12"/>
          <p:cNvSpPr/>
          <p:nvPr/>
        </p:nvSpPr>
        <p:spPr>
          <a:xfrm>
            <a:off x="2641600" y="39954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"Under 80 words. Warm, not preachy. End with a question. Three hashtags."</a:t>
            </a:r>
            <a:endParaRPr b="0" i="0" sz="1500" u="none" cap="none" strike="noStrike">
              <a:solidFill>
                <a:schemeClr val="dk1"/>
              </a:solidFill>
              <a:latin typeface="Calibri"/>
              <a:ea typeface="Calibri"/>
              <a:cs typeface="Calibri"/>
              <a:sym typeface="Calibri"/>
            </a:endParaRPr>
          </a:p>
        </p:txBody>
      </p:sp>
      <p:cxnSp>
        <p:nvCxnSpPr>
          <p:cNvPr id="176" name="Google Shape;176;p12"/>
          <p:cNvCxnSpPr/>
          <p:nvPr/>
        </p:nvCxnSpPr>
        <p:spPr>
          <a:xfrm>
            <a:off x="812800" y="4395471"/>
            <a:ext cx="10566400" cy="0"/>
          </a:xfrm>
          <a:prstGeom prst="straightConnector1">
            <a:avLst/>
          </a:prstGeom>
          <a:noFill/>
          <a:ln cap="flat" cmpd="sng" w="12700">
            <a:solidFill>
              <a:srgbClr val="D9CDB6"/>
            </a:solidFill>
            <a:prstDash val="solid"/>
            <a:round/>
            <a:headEnd len="sm" w="sm" type="none"/>
            <a:tailEnd len="sm" w="sm" type="none"/>
          </a:ln>
        </p:spPr>
      </p:cxnSp>
      <p:cxnSp>
        <p:nvCxnSpPr>
          <p:cNvPr id="177" name="Google Shape;177;p12"/>
          <p:cNvCxnSpPr/>
          <p:nvPr/>
        </p:nvCxnSpPr>
        <p:spPr>
          <a:xfrm>
            <a:off x="812800" y="4928871"/>
            <a:ext cx="10566400" cy="0"/>
          </a:xfrm>
          <a:prstGeom prst="straightConnector1">
            <a:avLst/>
          </a:prstGeom>
          <a:noFill/>
          <a:ln cap="flat" cmpd="sng" w="12700">
            <a:solidFill>
              <a:srgbClr val="D9CDB6"/>
            </a:solidFill>
            <a:prstDash val="solid"/>
            <a:round/>
            <a:headEnd len="sm" w="sm" type="none"/>
            <a:tailEnd len="sm" w="sm" type="none"/>
          </a:ln>
        </p:spPr>
      </p:cxnSp>
      <p:sp>
        <p:nvSpPr>
          <p:cNvPr id="178" name="Google Shape;178;p12"/>
          <p:cNvSpPr/>
          <p:nvPr/>
        </p:nvSpPr>
        <p:spPr>
          <a:xfrm>
            <a:off x="812800" y="45288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EXAMPLES</a:t>
            </a:r>
            <a:endParaRPr b="0" i="0" sz="1500" u="none" cap="none" strike="noStrike">
              <a:solidFill>
                <a:schemeClr val="dk1"/>
              </a:solidFill>
              <a:latin typeface="Calibri"/>
              <a:ea typeface="Calibri"/>
              <a:cs typeface="Calibri"/>
              <a:sym typeface="Calibri"/>
            </a:endParaRPr>
          </a:p>
        </p:txBody>
      </p:sp>
      <p:sp>
        <p:nvSpPr>
          <p:cNvPr id="179" name="Google Shape;179;p12"/>
          <p:cNvSpPr/>
          <p:nvPr/>
        </p:nvSpPr>
        <p:spPr>
          <a:xfrm>
            <a:off x="2641600" y="45288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"Here are two past posts that sound like us: [paste posts]"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84" name="Shape 184"/>
        <p:cNvGrpSpPr/>
        <p:nvPr/>
      </p:nvGrpSpPr>
      <p:grpSpPr>
        <a:xfrm>
          <a:off x="0" y="0"/>
          <a:ext cx="0" cy="0"/>
          <a:chOff x="0" y="0"/>
          <a:chExt cx="0" cy="0"/>
        </a:xfrm>
      </p:grpSpPr>
      <p:sp>
        <p:nvSpPr>
          <p:cNvPr id="185" name="Google Shape;185;p13"/>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Same request, two briefs</a:t>
            </a:r>
            <a:endParaRPr b="0" i="0" sz="3600" u="none" cap="none" strike="noStrike">
              <a:solidFill>
                <a:schemeClr val="dk1"/>
              </a:solidFill>
              <a:latin typeface="Calibri"/>
              <a:ea typeface="Calibri"/>
              <a:cs typeface="Calibri"/>
              <a:sym typeface="Calibri"/>
            </a:endParaRPr>
          </a:p>
        </p:txBody>
      </p:sp>
      <p:sp>
        <p:nvSpPr>
          <p:cNvPr id="186" name="Google Shape;186;p13"/>
          <p:cNvSpPr/>
          <p:nvPr/>
        </p:nvSpPr>
        <p:spPr>
          <a:xfrm>
            <a:off x="815975" y="1623696"/>
            <a:ext cx="5175250" cy="3566160"/>
          </a:xfrm>
          <a:prstGeom prst="roundRect">
            <a:avLst>
              <a:gd fmla="val 3472"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3"/>
          <p:cNvSpPr/>
          <p:nvPr/>
        </p:nvSpPr>
        <p:spPr>
          <a:xfrm>
            <a:off x="1123950" y="1931671"/>
            <a:ext cx="4696079"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VAGUE</a:t>
            </a:r>
            <a:endParaRPr b="0" i="0" sz="1200" u="none" cap="none" strike="noStrike">
              <a:solidFill>
                <a:schemeClr val="dk1"/>
              </a:solidFill>
              <a:latin typeface="Calibri"/>
              <a:ea typeface="Calibri"/>
              <a:cs typeface="Calibri"/>
              <a:sym typeface="Calibri"/>
            </a:endParaRPr>
          </a:p>
        </p:txBody>
      </p:sp>
      <p:sp>
        <p:nvSpPr>
          <p:cNvPr id="188" name="Google Shape;188;p13"/>
          <p:cNvSpPr/>
          <p:nvPr/>
        </p:nvSpPr>
        <p:spPr>
          <a:xfrm>
            <a:off x="1123950" y="2297429"/>
            <a:ext cx="4696079" cy="37465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"Write a post about our recycling."</a:t>
            </a:r>
            <a:endParaRPr b="0" i="0" sz="2200" u="none" cap="none" strike="noStrike">
              <a:solidFill>
                <a:schemeClr val="dk1"/>
              </a:solidFill>
              <a:latin typeface="Calibri"/>
              <a:ea typeface="Calibri"/>
              <a:cs typeface="Calibri"/>
              <a:sym typeface="Calibri"/>
            </a:endParaRPr>
          </a:p>
        </p:txBody>
      </p:sp>
      <p:cxnSp>
        <p:nvCxnSpPr>
          <p:cNvPr id="189" name="Google Shape;189;p13"/>
          <p:cNvCxnSpPr/>
          <p:nvPr/>
        </p:nvCxnSpPr>
        <p:spPr>
          <a:xfrm>
            <a:off x="1123950" y="4192904"/>
            <a:ext cx="4559300" cy="0"/>
          </a:xfrm>
          <a:prstGeom prst="straightConnector1">
            <a:avLst/>
          </a:prstGeom>
          <a:noFill/>
          <a:ln cap="flat" cmpd="sng" w="9525">
            <a:solidFill>
              <a:srgbClr val="E2D9C6"/>
            </a:solidFill>
            <a:prstDash val="solid"/>
            <a:round/>
            <a:headEnd len="sm" w="sm" type="none"/>
            <a:tailEnd len="sm" w="sm" type="none"/>
          </a:ln>
        </p:spPr>
      </p:cxnSp>
      <p:sp>
        <p:nvSpPr>
          <p:cNvPr id="190" name="Google Shape;190;p13"/>
          <p:cNvSpPr/>
          <p:nvPr/>
        </p:nvSpPr>
        <p:spPr>
          <a:xfrm>
            <a:off x="1123950" y="4348479"/>
            <a:ext cx="4696079"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1" i="0" lang="en-US" sz="1500" u="none" cap="none" strike="noStrike">
                <a:solidFill>
                  <a:srgbClr val="5B6760"/>
                </a:solidFill>
                <a:latin typeface="DM Sans"/>
                <a:ea typeface="DM Sans"/>
                <a:cs typeface="DM Sans"/>
                <a:sym typeface="DM Sans"/>
              </a:rPr>
              <a:t>You get:</a:t>
            </a:r>
            <a:r>
              <a:rPr b="0" i="0" lang="en-US" sz="1500" u="none" cap="none" strike="noStrike">
                <a:solidFill>
                  <a:srgbClr val="5B6760"/>
                </a:solidFill>
                <a:latin typeface="DM Sans"/>
                <a:ea typeface="DM Sans"/>
                <a:cs typeface="DM Sans"/>
                <a:sym typeface="DM Sans"/>
              </a:rPr>
              <a:t> generic copy that could be any brand, possibly with an invented statistic.</a:t>
            </a:r>
            <a:endParaRPr b="0" i="0" sz="1500" u="none" cap="none" strike="noStrike">
              <a:solidFill>
                <a:schemeClr val="dk1"/>
              </a:solidFill>
              <a:latin typeface="Calibri"/>
              <a:ea typeface="Calibri"/>
              <a:cs typeface="Calibri"/>
              <a:sym typeface="Calibri"/>
            </a:endParaRPr>
          </a:p>
        </p:txBody>
      </p:sp>
      <p:sp>
        <p:nvSpPr>
          <p:cNvPr id="191" name="Google Shape;191;p13"/>
          <p:cNvSpPr/>
          <p:nvPr/>
        </p:nvSpPr>
        <p:spPr>
          <a:xfrm>
            <a:off x="6197600" y="1620521"/>
            <a:ext cx="5181600" cy="3572510"/>
          </a:xfrm>
          <a:prstGeom prst="roundRect">
            <a:avLst>
              <a:gd fmla="val 355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3"/>
          <p:cNvSpPr/>
          <p:nvPr/>
        </p:nvSpPr>
        <p:spPr>
          <a:xfrm>
            <a:off x="6502400" y="1925321"/>
            <a:ext cx="470916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SPECIFIC</a:t>
            </a:r>
            <a:endParaRPr b="0" i="0" sz="1200" u="none" cap="none" strike="noStrike">
              <a:solidFill>
                <a:schemeClr val="dk1"/>
              </a:solidFill>
              <a:latin typeface="Calibri"/>
              <a:ea typeface="Calibri"/>
              <a:cs typeface="Calibri"/>
              <a:sym typeface="Calibri"/>
            </a:endParaRPr>
          </a:p>
        </p:txBody>
      </p:sp>
      <p:sp>
        <p:nvSpPr>
          <p:cNvPr id="193" name="Google Shape;193;p13"/>
          <p:cNvSpPr/>
          <p:nvPr/>
        </p:nvSpPr>
        <p:spPr>
          <a:xfrm>
            <a:off x="6502400" y="2291079"/>
            <a:ext cx="4709160" cy="16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"You are the comms lead at [Brand], which turns discarded fishing nets into [product] in [country]. Write a LinkedIn post for corporate buyers about our new collection. Confident, not preachy. About 120 words. Use only these facts: [facts]. End with a clear call to action."</a:t>
            </a:r>
            <a:endParaRPr b="0" i="0" sz="1500" u="none" cap="none" strike="noStrike">
              <a:solidFill>
                <a:schemeClr val="dk1"/>
              </a:solidFill>
              <a:latin typeface="Calibri"/>
              <a:ea typeface="Calibri"/>
              <a:cs typeface="Calibri"/>
              <a:sym typeface="Calibri"/>
            </a:endParaRPr>
          </a:p>
        </p:txBody>
      </p:sp>
      <p:cxnSp>
        <p:nvCxnSpPr>
          <p:cNvPr id="194" name="Google Shape;194;p13"/>
          <p:cNvCxnSpPr/>
          <p:nvPr/>
        </p:nvCxnSpPr>
        <p:spPr>
          <a:xfrm>
            <a:off x="6502400" y="4199254"/>
            <a:ext cx="4572000" cy="0"/>
          </a:xfrm>
          <a:prstGeom prst="straightConnector1">
            <a:avLst/>
          </a:prstGeom>
          <a:noFill/>
          <a:ln cap="flat" cmpd="sng" w="9525">
            <a:solidFill>
              <a:srgbClr val="3F5F50"/>
            </a:solidFill>
            <a:prstDash val="solid"/>
            <a:round/>
            <a:headEnd len="sm" w="sm" type="none"/>
            <a:tailEnd len="sm" w="sm" type="none"/>
          </a:ln>
        </p:spPr>
      </p:cxnSp>
      <p:sp>
        <p:nvSpPr>
          <p:cNvPr id="195" name="Google Shape;195;p13"/>
          <p:cNvSpPr/>
          <p:nvPr/>
        </p:nvSpPr>
        <p:spPr>
          <a:xfrm>
            <a:off x="6502400" y="4354829"/>
            <a:ext cx="470916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FD8CF"/>
              </a:buClr>
              <a:buSzPts val="1500"/>
              <a:buFont typeface="DM Sans"/>
              <a:buNone/>
            </a:pPr>
            <a:r>
              <a:rPr b="1" i="0" lang="en-US" sz="1500" u="none" cap="none" strike="noStrike">
                <a:solidFill>
                  <a:srgbClr val="CFD8CF"/>
                </a:solidFill>
                <a:latin typeface="DM Sans"/>
                <a:ea typeface="DM Sans"/>
                <a:cs typeface="DM Sans"/>
                <a:sym typeface="DM Sans"/>
              </a:rPr>
              <a:t>You get:</a:t>
            </a:r>
            <a:r>
              <a:rPr b="0" i="0" lang="en-US" sz="1500" u="none" cap="none" strike="noStrike">
                <a:solidFill>
                  <a:srgbClr val="CFD8CF"/>
                </a:solidFill>
                <a:latin typeface="DM Sans"/>
                <a:ea typeface="DM Sans"/>
                <a:cs typeface="DM Sans"/>
                <a:sym typeface="DM Sans"/>
              </a:rPr>
              <a:t> on-brand, factual copy that's nearly ready to publish.</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00" name="Shape 200"/>
        <p:cNvGrpSpPr/>
        <p:nvPr/>
      </p:nvGrpSpPr>
      <p:grpSpPr>
        <a:xfrm>
          <a:off x="0" y="0"/>
          <a:ext cx="0" cy="0"/>
          <a:chOff x="0" y="0"/>
          <a:chExt cx="0" cy="0"/>
        </a:xfrm>
      </p:grpSpPr>
      <p:sp>
        <p:nvSpPr>
          <p:cNvPr id="201" name="Google Shape;201;p14"/>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Five moves that make the difference</a:t>
            </a:r>
            <a:endParaRPr b="0" i="0" sz="3600" u="none" cap="none" strike="noStrike">
              <a:solidFill>
                <a:schemeClr val="dk1"/>
              </a:solidFill>
              <a:latin typeface="Calibri"/>
              <a:ea typeface="Calibri"/>
              <a:cs typeface="Calibri"/>
              <a:sym typeface="Calibri"/>
            </a:endParaRPr>
          </a:p>
        </p:txBody>
      </p:sp>
      <p:cxnSp>
        <p:nvCxnSpPr>
          <p:cNvPr id="202" name="Google Shape;202;p14"/>
          <p:cNvCxnSpPr/>
          <p:nvPr/>
        </p:nvCxnSpPr>
        <p:spPr>
          <a:xfrm>
            <a:off x="812800" y="1576071"/>
            <a:ext cx="10566400" cy="0"/>
          </a:xfrm>
          <a:prstGeom prst="straightConnector1">
            <a:avLst/>
          </a:prstGeom>
          <a:noFill/>
          <a:ln cap="flat" cmpd="sng" w="12700">
            <a:solidFill>
              <a:srgbClr val="D9CDB6"/>
            </a:solidFill>
            <a:prstDash val="solid"/>
            <a:round/>
            <a:headEnd len="sm" w="sm" type="none"/>
            <a:tailEnd len="sm" w="sm" type="none"/>
          </a:ln>
        </p:spPr>
      </p:cxnSp>
      <p:sp>
        <p:nvSpPr>
          <p:cNvPr id="203" name="Google Shape;203;p14"/>
          <p:cNvSpPr/>
          <p:nvPr/>
        </p:nvSpPr>
        <p:spPr>
          <a:xfrm>
            <a:off x="812800" y="1734821"/>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204" name="Google Shape;204;p14"/>
          <p:cNvSpPr/>
          <p:nvPr/>
        </p:nvSpPr>
        <p:spPr>
          <a:xfrm>
            <a:off x="1524000" y="1797050"/>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Show your voice</a:t>
            </a:r>
            <a:endParaRPr b="0" i="0" sz="1500" u="none" cap="none" strike="noStrike">
              <a:solidFill>
                <a:schemeClr val="dk1"/>
              </a:solidFill>
              <a:latin typeface="Calibri"/>
              <a:ea typeface="Calibri"/>
              <a:cs typeface="Calibri"/>
              <a:sym typeface="Calibri"/>
            </a:endParaRPr>
          </a:p>
        </p:txBody>
      </p:sp>
      <p:sp>
        <p:nvSpPr>
          <p:cNvPr id="205" name="Google Shape;205;p14"/>
          <p:cNvSpPr/>
          <p:nvPr/>
        </p:nvSpPr>
        <p:spPr>
          <a:xfrm>
            <a:off x="4394200" y="1797050"/>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"Here are three of our past posts. Match this tone."</a:t>
            </a:r>
            <a:endParaRPr b="0" i="0" sz="1500" u="none" cap="none" strike="noStrike">
              <a:solidFill>
                <a:schemeClr val="dk1"/>
              </a:solidFill>
              <a:latin typeface="Calibri"/>
              <a:ea typeface="Calibri"/>
              <a:cs typeface="Calibri"/>
              <a:sym typeface="Calibri"/>
            </a:endParaRPr>
          </a:p>
        </p:txBody>
      </p:sp>
      <p:cxnSp>
        <p:nvCxnSpPr>
          <p:cNvPr id="206" name="Google Shape;206;p14"/>
          <p:cNvCxnSpPr/>
          <p:nvPr/>
        </p:nvCxnSpPr>
        <p:spPr>
          <a:xfrm>
            <a:off x="812800" y="2284729"/>
            <a:ext cx="10566400" cy="0"/>
          </a:xfrm>
          <a:prstGeom prst="straightConnector1">
            <a:avLst/>
          </a:prstGeom>
          <a:noFill/>
          <a:ln cap="flat" cmpd="sng" w="12700">
            <a:solidFill>
              <a:srgbClr val="D9CDB6"/>
            </a:solidFill>
            <a:prstDash val="solid"/>
            <a:round/>
            <a:headEnd len="sm" w="sm" type="none"/>
            <a:tailEnd len="sm" w="sm" type="none"/>
          </a:ln>
        </p:spPr>
      </p:cxnSp>
      <p:sp>
        <p:nvSpPr>
          <p:cNvPr id="207" name="Google Shape;207;p14"/>
          <p:cNvSpPr/>
          <p:nvPr/>
        </p:nvSpPr>
        <p:spPr>
          <a:xfrm>
            <a:off x="812800" y="2443479"/>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208" name="Google Shape;208;p14"/>
          <p:cNvSpPr/>
          <p:nvPr/>
        </p:nvSpPr>
        <p:spPr>
          <a:xfrm>
            <a:off x="1524000" y="2505708"/>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Ask for options</a:t>
            </a:r>
            <a:endParaRPr b="0" i="0" sz="1500" u="none" cap="none" strike="noStrike">
              <a:solidFill>
                <a:schemeClr val="dk1"/>
              </a:solidFill>
              <a:latin typeface="Calibri"/>
              <a:ea typeface="Calibri"/>
              <a:cs typeface="Calibri"/>
              <a:sym typeface="Calibri"/>
            </a:endParaRPr>
          </a:p>
        </p:txBody>
      </p:sp>
      <p:sp>
        <p:nvSpPr>
          <p:cNvPr id="209" name="Google Shape;209;p14"/>
          <p:cNvSpPr/>
          <p:nvPr/>
        </p:nvSpPr>
        <p:spPr>
          <a:xfrm>
            <a:off x="4394200" y="2505708"/>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"Give me ten headlines, from playful to serious."</a:t>
            </a:r>
            <a:endParaRPr b="0" i="0" sz="1500" u="none" cap="none" strike="noStrike">
              <a:solidFill>
                <a:schemeClr val="dk1"/>
              </a:solidFill>
              <a:latin typeface="Calibri"/>
              <a:ea typeface="Calibri"/>
              <a:cs typeface="Calibri"/>
              <a:sym typeface="Calibri"/>
            </a:endParaRPr>
          </a:p>
        </p:txBody>
      </p:sp>
      <p:cxnSp>
        <p:nvCxnSpPr>
          <p:cNvPr id="210" name="Google Shape;210;p14"/>
          <p:cNvCxnSpPr/>
          <p:nvPr/>
        </p:nvCxnSpPr>
        <p:spPr>
          <a:xfrm>
            <a:off x="812800" y="2993392"/>
            <a:ext cx="10566400" cy="0"/>
          </a:xfrm>
          <a:prstGeom prst="straightConnector1">
            <a:avLst/>
          </a:prstGeom>
          <a:noFill/>
          <a:ln cap="flat" cmpd="sng" w="12700">
            <a:solidFill>
              <a:srgbClr val="D9CDB6"/>
            </a:solidFill>
            <a:prstDash val="solid"/>
            <a:round/>
            <a:headEnd len="sm" w="sm" type="none"/>
            <a:tailEnd len="sm" w="sm" type="none"/>
          </a:ln>
        </p:spPr>
      </p:cxnSp>
      <p:sp>
        <p:nvSpPr>
          <p:cNvPr id="211" name="Google Shape;211;p14"/>
          <p:cNvSpPr/>
          <p:nvPr/>
        </p:nvSpPr>
        <p:spPr>
          <a:xfrm>
            <a:off x="812800" y="3152142"/>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212" name="Google Shape;212;p14"/>
          <p:cNvSpPr/>
          <p:nvPr/>
        </p:nvSpPr>
        <p:spPr>
          <a:xfrm>
            <a:off x="1524000" y="3214371"/>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Let it interview you</a:t>
            </a:r>
            <a:endParaRPr b="0" i="0" sz="1500" u="none" cap="none" strike="noStrike">
              <a:solidFill>
                <a:schemeClr val="dk1"/>
              </a:solidFill>
              <a:latin typeface="Calibri"/>
              <a:ea typeface="Calibri"/>
              <a:cs typeface="Calibri"/>
              <a:sym typeface="Calibri"/>
            </a:endParaRPr>
          </a:p>
        </p:txBody>
      </p:sp>
      <p:sp>
        <p:nvSpPr>
          <p:cNvPr id="213" name="Google Shape;213;p14"/>
          <p:cNvSpPr/>
          <p:nvPr/>
        </p:nvSpPr>
        <p:spPr>
          <a:xfrm>
            <a:off x="4394200" y="3214371"/>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"Before you write, ask me three questions."</a:t>
            </a:r>
            <a:endParaRPr b="0" i="0" sz="1500" u="none" cap="none" strike="noStrike">
              <a:solidFill>
                <a:schemeClr val="dk1"/>
              </a:solidFill>
              <a:latin typeface="Calibri"/>
              <a:ea typeface="Calibri"/>
              <a:cs typeface="Calibri"/>
              <a:sym typeface="Calibri"/>
            </a:endParaRPr>
          </a:p>
        </p:txBody>
      </p:sp>
      <p:cxnSp>
        <p:nvCxnSpPr>
          <p:cNvPr id="214" name="Google Shape;214;p14"/>
          <p:cNvCxnSpPr/>
          <p:nvPr/>
        </p:nvCxnSpPr>
        <p:spPr>
          <a:xfrm>
            <a:off x="812800" y="3702050"/>
            <a:ext cx="10566400" cy="0"/>
          </a:xfrm>
          <a:prstGeom prst="straightConnector1">
            <a:avLst/>
          </a:prstGeom>
          <a:noFill/>
          <a:ln cap="flat" cmpd="sng" w="12700">
            <a:solidFill>
              <a:srgbClr val="D9CDB6"/>
            </a:solidFill>
            <a:prstDash val="solid"/>
            <a:round/>
            <a:headEnd len="sm" w="sm" type="none"/>
            <a:tailEnd len="sm" w="sm" type="none"/>
          </a:ln>
        </p:spPr>
      </p:cxnSp>
      <p:sp>
        <p:nvSpPr>
          <p:cNvPr id="215" name="Google Shape;215;p14"/>
          <p:cNvSpPr/>
          <p:nvPr/>
        </p:nvSpPr>
        <p:spPr>
          <a:xfrm>
            <a:off x="812800" y="3860800"/>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216" name="Google Shape;216;p14"/>
          <p:cNvSpPr/>
          <p:nvPr/>
        </p:nvSpPr>
        <p:spPr>
          <a:xfrm>
            <a:off x="1524000" y="3923029"/>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Edit like an editor</a:t>
            </a:r>
            <a:endParaRPr b="0" i="0" sz="1500" u="none" cap="none" strike="noStrike">
              <a:solidFill>
                <a:schemeClr val="dk1"/>
              </a:solidFill>
              <a:latin typeface="Calibri"/>
              <a:ea typeface="Calibri"/>
              <a:cs typeface="Calibri"/>
              <a:sym typeface="Calibri"/>
            </a:endParaRPr>
          </a:p>
        </p:txBody>
      </p:sp>
      <p:sp>
        <p:nvSpPr>
          <p:cNvPr id="217" name="Google Shape;217;p14"/>
          <p:cNvSpPr/>
          <p:nvPr/>
        </p:nvSpPr>
        <p:spPr>
          <a:xfrm>
            <a:off x="4394200" y="3923029"/>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"Shorter. Warmer. Cut the jargon."</a:t>
            </a:r>
            <a:endParaRPr b="0" i="0" sz="1500" u="none" cap="none" strike="noStrike">
              <a:solidFill>
                <a:schemeClr val="dk1"/>
              </a:solidFill>
              <a:latin typeface="Calibri"/>
              <a:ea typeface="Calibri"/>
              <a:cs typeface="Calibri"/>
              <a:sym typeface="Calibri"/>
            </a:endParaRPr>
          </a:p>
        </p:txBody>
      </p:sp>
      <p:cxnSp>
        <p:nvCxnSpPr>
          <p:cNvPr id="218" name="Google Shape;218;p14"/>
          <p:cNvCxnSpPr/>
          <p:nvPr/>
        </p:nvCxnSpPr>
        <p:spPr>
          <a:xfrm>
            <a:off x="812800" y="4410708"/>
            <a:ext cx="10566400" cy="0"/>
          </a:xfrm>
          <a:prstGeom prst="straightConnector1">
            <a:avLst/>
          </a:prstGeom>
          <a:noFill/>
          <a:ln cap="flat" cmpd="sng" w="12700">
            <a:solidFill>
              <a:srgbClr val="D9CDB6"/>
            </a:solidFill>
            <a:prstDash val="solid"/>
            <a:round/>
            <a:headEnd len="sm" w="sm" type="none"/>
            <a:tailEnd len="sm" w="sm" type="none"/>
          </a:ln>
        </p:spPr>
      </p:cxnSp>
      <p:cxnSp>
        <p:nvCxnSpPr>
          <p:cNvPr id="219" name="Google Shape;219;p14"/>
          <p:cNvCxnSpPr/>
          <p:nvPr/>
        </p:nvCxnSpPr>
        <p:spPr>
          <a:xfrm>
            <a:off x="812800" y="5119367"/>
            <a:ext cx="10566400" cy="0"/>
          </a:xfrm>
          <a:prstGeom prst="straightConnector1">
            <a:avLst/>
          </a:prstGeom>
          <a:noFill/>
          <a:ln cap="flat" cmpd="sng" w="12700">
            <a:solidFill>
              <a:srgbClr val="D9CDB6"/>
            </a:solidFill>
            <a:prstDash val="solid"/>
            <a:round/>
            <a:headEnd len="sm" w="sm" type="none"/>
            <a:tailEnd len="sm" w="sm" type="none"/>
          </a:ln>
        </p:spPr>
      </p:cxnSp>
      <p:sp>
        <p:nvSpPr>
          <p:cNvPr id="220" name="Google Shape;220;p14"/>
          <p:cNvSpPr/>
          <p:nvPr/>
        </p:nvSpPr>
        <p:spPr>
          <a:xfrm>
            <a:off x="812800" y="4569458"/>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5</a:t>
            </a:r>
            <a:endParaRPr b="0" i="0" sz="2200" u="none" cap="none" strike="noStrike">
              <a:solidFill>
                <a:schemeClr val="dk1"/>
              </a:solidFill>
              <a:latin typeface="Calibri"/>
              <a:ea typeface="Calibri"/>
              <a:cs typeface="Calibri"/>
              <a:sym typeface="Calibri"/>
            </a:endParaRPr>
          </a:p>
        </p:txBody>
      </p:sp>
      <p:sp>
        <p:nvSpPr>
          <p:cNvPr id="221" name="Google Shape;221;p14"/>
          <p:cNvSpPr/>
          <p:nvPr/>
        </p:nvSpPr>
        <p:spPr>
          <a:xfrm>
            <a:off x="1524000" y="4631692"/>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Ask for a critique</a:t>
            </a:r>
            <a:endParaRPr b="0" i="0" sz="1500" u="none" cap="none" strike="noStrike">
              <a:solidFill>
                <a:schemeClr val="dk1"/>
              </a:solidFill>
              <a:latin typeface="Calibri"/>
              <a:ea typeface="Calibri"/>
              <a:cs typeface="Calibri"/>
              <a:sym typeface="Calibri"/>
            </a:endParaRPr>
          </a:p>
        </p:txBody>
      </p:sp>
      <p:sp>
        <p:nvSpPr>
          <p:cNvPr id="222" name="Google Shape;222;p14"/>
          <p:cNvSpPr/>
          <p:nvPr/>
        </p:nvSpPr>
        <p:spPr>
          <a:xfrm>
            <a:off x="4394200" y="4631692"/>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"What would a sceptical buyer question in this post?"</a:t>
            </a:r>
            <a:endParaRPr b="0" i="0" sz="1500" u="none" cap="none" strike="noStrike">
              <a:solidFill>
                <a:schemeClr val="dk1"/>
              </a:solidFill>
              <a:latin typeface="Calibri"/>
              <a:ea typeface="Calibri"/>
              <a:cs typeface="Calibri"/>
              <a:sym typeface="Calibri"/>
            </a:endParaRPr>
          </a:p>
        </p:txBody>
      </p:sp>
      <p:sp>
        <p:nvSpPr>
          <p:cNvPr id="223" name="Google Shape;223;p14"/>
          <p:cNvSpPr/>
          <p:nvPr/>
        </p:nvSpPr>
        <p:spPr>
          <a:xfrm>
            <a:off x="812800" y="5379721"/>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The first answer is a first draft. </a:t>
            </a:r>
            <a:r>
              <a:rPr b="1" i="0" lang="en-US" sz="1500" u="none" cap="none" strike="noStrike">
                <a:solidFill>
                  <a:srgbClr val="1F2A24"/>
                </a:solidFill>
                <a:latin typeface="DM Sans"/>
                <a:ea typeface="DM Sans"/>
                <a:cs typeface="DM Sans"/>
                <a:sym typeface="DM Sans"/>
              </a:rPr>
              <a:t>Keep the conversation going.</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28" name="Shape 228"/>
        <p:cNvGrpSpPr/>
        <p:nvPr/>
      </p:nvGrpSpPr>
      <p:grpSpPr>
        <a:xfrm>
          <a:off x="0" y="0"/>
          <a:ext cx="0" cy="0"/>
          <a:chOff x="0" y="0"/>
          <a:chExt cx="0" cy="0"/>
        </a:xfrm>
      </p:grpSpPr>
      <p:sp>
        <p:nvSpPr>
          <p:cNvPr id="229" name="Google Shape;229;p15"/>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Four guardrails for impact brands</a:t>
            </a:r>
            <a:endParaRPr b="0" i="0" sz="3600" u="none" cap="none" strike="noStrike">
              <a:solidFill>
                <a:schemeClr val="dk1"/>
              </a:solidFill>
              <a:latin typeface="Calibri"/>
              <a:ea typeface="Calibri"/>
              <a:cs typeface="Calibri"/>
              <a:sym typeface="Calibri"/>
            </a:endParaRPr>
          </a:p>
        </p:txBody>
      </p:sp>
      <p:sp>
        <p:nvSpPr>
          <p:cNvPr id="230" name="Google Shape;230;p15"/>
          <p:cNvSpPr/>
          <p:nvPr/>
        </p:nvSpPr>
        <p:spPr>
          <a:xfrm>
            <a:off x="815975" y="1623696"/>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Verified" id="231" name="Google Shape;231;p15"/>
          <p:cNvPicPr preferRelativeResize="0"/>
          <p:nvPr/>
        </p:nvPicPr>
        <p:blipFill rotWithShape="1">
          <a:blip r:embed="rId3">
            <a:alphaModFix/>
          </a:blip>
          <a:srcRect b="0" l="0" r="0" t="0"/>
          <a:stretch/>
        </p:blipFill>
        <p:spPr>
          <a:xfrm>
            <a:off x="1073150" y="1896108"/>
            <a:ext cx="304800" cy="304800"/>
          </a:xfrm>
          <a:prstGeom prst="rect">
            <a:avLst/>
          </a:prstGeom>
          <a:noFill/>
          <a:ln>
            <a:noFill/>
          </a:ln>
        </p:spPr>
      </p:pic>
      <p:sp>
        <p:nvSpPr>
          <p:cNvPr id="232" name="Google Shape;232;p15"/>
          <p:cNvSpPr/>
          <p:nvPr/>
        </p:nvSpPr>
        <p:spPr>
          <a:xfrm>
            <a:off x="1504950" y="1880871"/>
            <a:ext cx="2740687"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Check every number</a:t>
            </a:r>
            <a:endParaRPr b="0" i="0" sz="2200" u="none" cap="none" strike="noStrike">
              <a:solidFill>
                <a:schemeClr val="dk1"/>
              </a:solidFill>
              <a:latin typeface="Calibri"/>
              <a:ea typeface="Calibri"/>
              <a:cs typeface="Calibri"/>
              <a:sym typeface="Calibri"/>
            </a:endParaRPr>
          </a:p>
        </p:txBody>
      </p:sp>
      <p:sp>
        <p:nvSpPr>
          <p:cNvPr id="233" name="Google Shape;233;p15"/>
          <p:cNvSpPr/>
          <p:nvPr/>
        </p:nvSpPr>
        <p:spPr>
          <a:xfrm>
            <a:off x="1073150" y="23177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Your impact claims are your credibility. An invented statistic is greenwashing, even by accident.</a:t>
            </a:r>
            <a:endParaRPr b="0" i="0" sz="1500" u="none" cap="none" strike="noStrike">
              <a:solidFill>
                <a:schemeClr val="dk1"/>
              </a:solidFill>
              <a:latin typeface="Calibri"/>
              <a:ea typeface="Calibri"/>
              <a:cs typeface="Calibri"/>
              <a:sym typeface="Calibri"/>
            </a:endParaRPr>
          </a:p>
        </p:txBody>
      </p:sp>
      <p:sp>
        <p:nvSpPr>
          <p:cNvPr id="234" name="Google Shape;234;p15"/>
          <p:cNvSpPr/>
          <p:nvPr/>
        </p:nvSpPr>
        <p:spPr>
          <a:xfrm>
            <a:off x="6200775" y="1623696"/>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ck" id="235" name="Google Shape;235;p15"/>
          <p:cNvPicPr preferRelativeResize="0"/>
          <p:nvPr/>
        </p:nvPicPr>
        <p:blipFill rotWithShape="1">
          <a:blip r:embed="rId4">
            <a:alphaModFix/>
          </a:blip>
          <a:srcRect b="0" l="0" r="0" t="0"/>
          <a:stretch/>
        </p:blipFill>
        <p:spPr>
          <a:xfrm>
            <a:off x="6457950" y="1896108"/>
            <a:ext cx="304800" cy="304800"/>
          </a:xfrm>
          <a:prstGeom prst="rect">
            <a:avLst/>
          </a:prstGeom>
          <a:noFill/>
          <a:ln>
            <a:noFill/>
          </a:ln>
        </p:spPr>
      </p:pic>
      <p:sp>
        <p:nvSpPr>
          <p:cNvPr id="236" name="Google Shape;236;p15"/>
          <p:cNvSpPr/>
          <p:nvPr/>
        </p:nvSpPr>
        <p:spPr>
          <a:xfrm>
            <a:off x="6889750" y="1880871"/>
            <a:ext cx="193620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Protect people</a:t>
            </a:r>
            <a:endParaRPr b="0" i="0" sz="2200" u="none" cap="none" strike="noStrike">
              <a:solidFill>
                <a:schemeClr val="dk1"/>
              </a:solidFill>
              <a:latin typeface="Calibri"/>
              <a:ea typeface="Calibri"/>
              <a:cs typeface="Calibri"/>
              <a:sym typeface="Calibri"/>
            </a:endParaRPr>
          </a:p>
        </p:txBody>
      </p:sp>
      <p:sp>
        <p:nvSpPr>
          <p:cNvPr id="237" name="Google Shape;237;p15"/>
          <p:cNvSpPr/>
          <p:nvPr/>
        </p:nvSpPr>
        <p:spPr>
          <a:xfrm>
            <a:off x="6457950" y="23177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Keep beneficiary names, photos and donor data out of public AI tools.</a:t>
            </a:r>
            <a:endParaRPr b="0" i="0" sz="1500" u="none" cap="none" strike="noStrike">
              <a:solidFill>
                <a:schemeClr val="dk1"/>
              </a:solidFill>
              <a:latin typeface="Calibri"/>
              <a:ea typeface="Calibri"/>
              <a:cs typeface="Calibri"/>
              <a:sym typeface="Calibri"/>
            </a:endParaRPr>
          </a:p>
        </p:txBody>
      </p:sp>
      <p:sp>
        <p:nvSpPr>
          <p:cNvPr id="238" name="Google Shape;238;p15"/>
          <p:cNvSpPr/>
          <p:nvPr/>
        </p:nvSpPr>
        <p:spPr>
          <a:xfrm>
            <a:off x="815975" y="3317875"/>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239" name="Google Shape;239;p15"/>
          <p:cNvPicPr preferRelativeResize="0"/>
          <p:nvPr/>
        </p:nvPicPr>
        <p:blipFill rotWithShape="1">
          <a:blip r:embed="rId5">
            <a:alphaModFix/>
          </a:blip>
          <a:srcRect b="0" l="0" r="0" t="0"/>
          <a:stretch/>
        </p:blipFill>
        <p:spPr>
          <a:xfrm>
            <a:off x="1073150" y="3590292"/>
            <a:ext cx="304800" cy="304800"/>
          </a:xfrm>
          <a:prstGeom prst="rect">
            <a:avLst/>
          </a:prstGeom>
          <a:noFill/>
          <a:ln>
            <a:noFill/>
          </a:ln>
        </p:spPr>
      </p:pic>
      <p:sp>
        <p:nvSpPr>
          <p:cNvPr id="240" name="Google Shape;240;p15"/>
          <p:cNvSpPr/>
          <p:nvPr/>
        </p:nvSpPr>
        <p:spPr>
          <a:xfrm>
            <a:off x="1504950" y="3575050"/>
            <a:ext cx="2116288"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Keep your voice</a:t>
            </a:r>
            <a:endParaRPr b="0" i="0" sz="2200" u="none" cap="none" strike="noStrike">
              <a:solidFill>
                <a:schemeClr val="dk1"/>
              </a:solidFill>
              <a:latin typeface="Calibri"/>
              <a:ea typeface="Calibri"/>
              <a:cs typeface="Calibri"/>
              <a:sym typeface="Calibri"/>
            </a:endParaRPr>
          </a:p>
        </p:txBody>
      </p:sp>
      <p:sp>
        <p:nvSpPr>
          <p:cNvPr id="241" name="Google Shape;241;p15"/>
          <p:cNvSpPr/>
          <p:nvPr/>
        </p:nvSpPr>
        <p:spPr>
          <a:xfrm>
            <a:off x="1073150" y="40119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Edit until it sounds like you. Your community will notice if it doesn't.</a:t>
            </a:r>
            <a:endParaRPr b="0" i="0" sz="1500" u="none" cap="none" strike="noStrike">
              <a:solidFill>
                <a:schemeClr val="dk1"/>
              </a:solidFill>
              <a:latin typeface="Calibri"/>
              <a:ea typeface="Calibri"/>
              <a:cs typeface="Calibri"/>
              <a:sym typeface="Calibri"/>
            </a:endParaRPr>
          </a:p>
        </p:txBody>
      </p:sp>
      <p:sp>
        <p:nvSpPr>
          <p:cNvPr id="242" name="Google Shape;242;p15"/>
          <p:cNvSpPr/>
          <p:nvPr/>
        </p:nvSpPr>
        <p:spPr>
          <a:xfrm>
            <a:off x="6200775" y="3317875"/>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rust" id="243" name="Google Shape;243;p15"/>
          <p:cNvPicPr preferRelativeResize="0"/>
          <p:nvPr/>
        </p:nvPicPr>
        <p:blipFill rotWithShape="1">
          <a:blip r:embed="rId6">
            <a:alphaModFix/>
          </a:blip>
          <a:srcRect b="0" l="0" r="0" t="0"/>
          <a:stretch/>
        </p:blipFill>
        <p:spPr>
          <a:xfrm>
            <a:off x="6457950" y="3590292"/>
            <a:ext cx="304800" cy="304800"/>
          </a:xfrm>
          <a:prstGeom prst="rect">
            <a:avLst/>
          </a:prstGeom>
          <a:noFill/>
          <a:ln>
            <a:noFill/>
          </a:ln>
        </p:spPr>
      </p:pic>
      <p:sp>
        <p:nvSpPr>
          <p:cNvPr id="244" name="Google Shape;244;p15"/>
          <p:cNvSpPr/>
          <p:nvPr/>
        </p:nvSpPr>
        <p:spPr>
          <a:xfrm>
            <a:off x="6889750" y="3575050"/>
            <a:ext cx="296142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Be honest with images</a:t>
            </a:r>
            <a:endParaRPr b="0" i="0" sz="2200" u="none" cap="none" strike="noStrike">
              <a:solidFill>
                <a:schemeClr val="dk1"/>
              </a:solidFill>
              <a:latin typeface="Calibri"/>
              <a:ea typeface="Calibri"/>
              <a:cs typeface="Calibri"/>
              <a:sym typeface="Calibri"/>
            </a:endParaRPr>
          </a:p>
        </p:txBody>
      </p:sp>
      <p:sp>
        <p:nvSpPr>
          <p:cNvPr id="245" name="Google Shape;245;p15"/>
          <p:cNvSpPr/>
          <p:nvPr/>
        </p:nvSpPr>
        <p:spPr>
          <a:xfrm>
            <a:off x="6457950" y="40119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Never present AI-made images of </a:t>
            </a:r>
            <a:r>
              <a:rPr lang="en-US" sz="1500">
                <a:solidFill>
                  <a:srgbClr val="5B6760"/>
                </a:solidFill>
                <a:latin typeface="DM Sans"/>
                <a:ea typeface="DM Sans"/>
                <a:cs typeface="DM Sans"/>
                <a:sym typeface="DM Sans"/>
              </a:rPr>
              <a:t>people</a:t>
            </a:r>
            <a:r>
              <a:rPr b="0" i="0" lang="en-US" sz="1500" u="none" cap="none" strike="noStrike">
                <a:solidFill>
                  <a:srgbClr val="5B6760"/>
                </a:solidFill>
                <a:latin typeface="DM Sans"/>
                <a:ea typeface="DM Sans"/>
                <a:cs typeface="DM Sans"/>
                <a:sym typeface="DM Sans"/>
              </a:rPr>
              <a:t>, communities or places as real.</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3A2F"/>
        </a:solidFill>
      </p:bgPr>
    </p:bg>
    <p:spTree>
      <p:nvGrpSpPr>
        <p:cNvPr id="250" name="Shape 250"/>
        <p:cNvGrpSpPr/>
        <p:nvPr/>
      </p:nvGrpSpPr>
      <p:grpSpPr>
        <a:xfrm>
          <a:off x="0" y="0"/>
          <a:ext cx="0" cy="0"/>
          <a:chOff x="0" y="0"/>
          <a:chExt cx="0" cy="0"/>
        </a:xfrm>
      </p:grpSpPr>
      <p:pic>
        <p:nvPicPr>
          <p:cNvPr descr="ellipse" id="251" name="Google Shape;251;p16"/>
          <p:cNvPicPr preferRelativeResize="0"/>
          <p:nvPr/>
        </p:nvPicPr>
        <p:blipFill rotWithShape="1">
          <a:blip r:embed="rId3">
            <a:alphaModFix/>
          </a:blip>
          <a:srcRect b="0" l="0" r="0" t="0"/>
          <a:stretch/>
        </p:blipFill>
        <p:spPr>
          <a:xfrm>
            <a:off x="9398000" y="4064000"/>
            <a:ext cx="1905000" cy="1905000"/>
          </a:xfrm>
          <a:prstGeom prst="rect">
            <a:avLst/>
          </a:prstGeom>
          <a:noFill/>
          <a:ln>
            <a:noFill/>
          </a:ln>
        </p:spPr>
      </p:pic>
      <p:pic>
        <p:nvPicPr>
          <p:cNvPr descr="ellipse" id="252" name="Google Shape;252;p16"/>
          <p:cNvPicPr preferRelativeResize="0"/>
          <p:nvPr/>
        </p:nvPicPr>
        <p:blipFill rotWithShape="1">
          <a:blip r:embed="rId4">
            <a:alphaModFix/>
          </a:blip>
          <a:srcRect b="0" l="0" r="0" t="0"/>
          <a:stretch/>
        </p:blipFill>
        <p:spPr>
          <a:xfrm>
            <a:off x="9017000" y="3810000"/>
            <a:ext cx="698500" cy="698500"/>
          </a:xfrm>
          <a:prstGeom prst="rect">
            <a:avLst/>
          </a:prstGeom>
          <a:noFill/>
          <a:ln>
            <a:noFill/>
          </a:ln>
        </p:spPr>
      </p:pic>
      <p:sp>
        <p:nvSpPr>
          <p:cNvPr id="253" name="Google Shape;253;p16"/>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ONE IDEA TO TAKE WITH YOU</a:t>
            </a:r>
            <a:endParaRPr b="0" i="0" sz="1200" u="none" cap="none" strike="noStrike">
              <a:solidFill>
                <a:schemeClr val="dk1"/>
              </a:solidFill>
              <a:latin typeface="Calibri"/>
              <a:ea typeface="Calibri"/>
              <a:cs typeface="Calibri"/>
              <a:sym typeface="Calibri"/>
            </a:endParaRPr>
          </a:p>
        </p:txBody>
      </p:sp>
      <p:sp>
        <p:nvSpPr>
          <p:cNvPr id="254" name="Google Shape;254;p16"/>
          <p:cNvSpPr/>
          <p:nvPr/>
        </p:nvSpPr>
        <p:spPr>
          <a:xfrm>
            <a:off x="812800" y="1874517"/>
            <a:ext cx="9810900" cy="1366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5F0E6"/>
              </a:buClr>
              <a:buSzPts val="4800"/>
              <a:buFont typeface="Fraunces"/>
              <a:buNone/>
            </a:pPr>
            <a:r>
              <a:rPr b="0" i="0" lang="en-US" sz="4800" u="none" cap="none" strike="noStrike">
                <a:solidFill>
                  <a:srgbClr val="F5F0E6"/>
                </a:solidFill>
                <a:latin typeface="Fraunces"/>
                <a:ea typeface="Fraunces"/>
                <a:cs typeface="Fraunces"/>
                <a:sym typeface="Fraunces"/>
              </a:rPr>
              <a:t>When first drafts are free, judgment becomes the scarce skill.</a:t>
            </a:r>
            <a:endParaRPr b="0" i="0" sz="4800" u="none" cap="none" strike="noStrike">
              <a:solidFill>
                <a:schemeClr val="dk1"/>
              </a:solidFill>
              <a:latin typeface="Calibri"/>
              <a:ea typeface="Calibri"/>
              <a:cs typeface="Calibri"/>
              <a:sym typeface="Calibri"/>
            </a:endParaRPr>
          </a:p>
        </p:txBody>
      </p:sp>
      <p:sp>
        <p:nvSpPr>
          <p:cNvPr id="255" name="Google Shape;255;p16"/>
          <p:cNvSpPr/>
          <p:nvPr/>
        </p:nvSpPr>
        <p:spPr>
          <a:xfrm>
            <a:off x="737200" y="5013421"/>
            <a:ext cx="9810900" cy="416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2200"/>
              <a:buFont typeface="Fraunces"/>
              <a:buNone/>
            </a:pPr>
            <a:r>
              <a:rPr b="0" i="1" lang="en-US" sz="2200" u="none" cap="none" strike="noStrike">
                <a:solidFill>
                  <a:srgbClr val="E3A83E"/>
                </a:solidFill>
                <a:latin typeface="Fraunces"/>
                <a:ea typeface="Fraunces"/>
                <a:cs typeface="Fraunces"/>
                <a:sym typeface="Fraunces"/>
              </a:rPr>
              <a:t>AI drafts. You decide.</a:t>
            </a:r>
            <a:endParaRPr b="0" i="0" sz="2200" u="none" cap="none" strike="noStrike">
              <a:solidFill>
                <a:schemeClr val="dk1"/>
              </a:solidFill>
              <a:latin typeface="Calibri"/>
              <a:ea typeface="Calibri"/>
              <a:cs typeface="Calibri"/>
              <a:sym typeface="Calibri"/>
            </a:endParaRPr>
          </a:p>
        </p:txBody>
      </p:sp>
      <p:pic>
        <p:nvPicPr>
          <p:cNvPr descr="Play" id="256" name="Google Shape;256;p16"/>
          <p:cNvPicPr preferRelativeResize="0"/>
          <p:nvPr/>
        </p:nvPicPr>
        <p:blipFill rotWithShape="1">
          <a:blip r:embed="rId5">
            <a:alphaModFix/>
          </a:blip>
          <a:srcRect b="0" l="0" r="0" t="0"/>
          <a:stretch/>
        </p:blipFill>
        <p:spPr>
          <a:xfrm>
            <a:off x="812800" y="5784850"/>
            <a:ext cx="254000" cy="254000"/>
          </a:xfrm>
          <a:prstGeom prst="rect">
            <a:avLst/>
          </a:prstGeom>
          <a:noFill/>
          <a:ln>
            <a:noFill/>
          </a:ln>
        </p:spPr>
      </p:pic>
      <p:sp>
        <p:nvSpPr>
          <p:cNvPr id="257" name="Google Shape;257;p16"/>
          <p:cNvSpPr/>
          <p:nvPr/>
        </p:nvSpPr>
        <p:spPr>
          <a:xfrm>
            <a:off x="1193800" y="5778500"/>
            <a:ext cx="3109354"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Up next: a live demo, then your turn.</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3A83E"/>
        </a:solidFill>
      </p:bgPr>
    </p:bg>
    <p:spTree>
      <p:nvGrpSpPr>
        <p:cNvPr id="262" name="Shape 262"/>
        <p:cNvGrpSpPr/>
        <p:nvPr/>
      </p:nvGrpSpPr>
      <p:grpSpPr>
        <a:xfrm>
          <a:off x="0" y="0"/>
          <a:ext cx="0" cy="0"/>
          <a:chOff x="0" y="0"/>
          <a:chExt cx="0" cy="0"/>
        </a:xfrm>
      </p:grpSpPr>
      <p:sp>
        <p:nvSpPr>
          <p:cNvPr id="263" name="Google Shape;263;p17"/>
          <p:cNvSpPr/>
          <p:nvPr/>
        </p:nvSpPr>
        <p:spPr>
          <a:xfrm>
            <a:off x="812800" y="1724658"/>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200"/>
              <a:buFont typeface="DM Sans"/>
              <a:buNone/>
            </a:pPr>
            <a:r>
              <a:rPr b="1" i="0" lang="en-US" sz="1200" u="none" cap="none" strike="noStrike">
                <a:solidFill>
                  <a:srgbClr val="1E3A2F"/>
                </a:solidFill>
                <a:latin typeface="DM Sans"/>
                <a:ea typeface="DM Sans"/>
                <a:cs typeface="DM Sans"/>
                <a:sym typeface="DM Sans"/>
              </a:rPr>
              <a:t>LIVE DEMO · WATCH FIRST</a:t>
            </a:r>
            <a:endParaRPr b="0" i="0" sz="1200" u="none" cap="none" strike="noStrike">
              <a:solidFill>
                <a:schemeClr val="dk1"/>
              </a:solidFill>
              <a:latin typeface="Calibri"/>
              <a:ea typeface="Calibri"/>
              <a:cs typeface="Calibri"/>
              <a:sym typeface="Calibri"/>
            </a:endParaRPr>
          </a:p>
        </p:txBody>
      </p:sp>
      <p:sp>
        <p:nvSpPr>
          <p:cNvPr id="264" name="Google Shape;264;p17"/>
          <p:cNvSpPr/>
          <p:nvPr/>
        </p:nvSpPr>
        <p:spPr>
          <a:xfrm>
            <a:off x="812800" y="2192021"/>
            <a:ext cx="10883392" cy="162560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1E3A2F"/>
              </a:buClr>
              <a:buSzPts val="6000"/>
              <a:buFont typeface="Fraunces"/>
              <a:buNone/>
            </a:pPr>
            <a:r>
              <a:rPr b="0" i="0" lang="en-US" sz="6000" u="none" cap="none" strike="noStrike">
                <a:solidFill>
                  <a:srgbClr val="1E3A2F"/>
                </a:solidFill>
                <a:latin typeface="Fraunces"/>
                <a:ea typeface="Fraunces"/>
                <a:cs typeface="Fraunces"/>
                <a:sym typeface="Fraunces"/>
              </a:rPr>
              <a:t>Picker stories:</a:t>
            </a:r>
            <a:endParaRPr b="0" i="0" sz="6000" u="none" cap="none" strike="noStrike">
              <a:solidFill>
                <a:schemeClr val="dk1"/>
              </a:solidFill>
              <a:latin typeface="Calibri"/>
              <a:ea typeface="Calibri"/>
              <a:cs typeface="Calibri"/>
              <a:sym typeface="Calibri"/>
            </a:endParaRPr>
          </a:p>
          <a:p>
            <a:pPr indent="0" lvl="0" marL="0" marR="0" rtl="0" algn="l">
              <a:lnSpc>
                <a:spcPct val="104999"/>
              </a:lnSpc>
              <a:spcBef>
                <a:spcPts val="0"/>
              </a:spcBef>
              <a:spcAft>
                <a:spcPts val="0"/>
              </a:spcAft>
              <a:buClr>
                <a:srgbClr val="1E3A2F"/>
              </a:buClr>
              <a:buSzPts val="6000"/>
              <a:buFont typeface="Fraunces"/>
              <a:buNone/>
            </a:pPr>
            <a:r>
              <a:rPr b="0" i="0" lang="en-US" sz="6000" u="none" cap="none" strike="noStrike">
                <a:solidFill>
                  <a:srgbClr val="1E3A2F"/>
                </a:solidFill>
                <a:latin typeface="Fraunces"/>
                <a:ea typeface="Fraunces"/>
                <a:cs typeface="Fraunces"/>
                <a:sym typeface="Fraunces"/>
              </a:rPr>
              <a:t>Ibu Sari.</a:t>
            </a:r>
            <a:endParaRPr b="0" i="0" sz="6000" u="none" cap="none" strike="noStrike">
              <a:solidFill>
                <a:schemeClr val="dk1"/>
              </a:solidFill>
              <a:latin typeface="Calibri"/>
              <a:ea typeface="Calibri"/>
              <a:cs typeface="Calibri"/>
              <a:sym typeface="Calibri"/>
            </a:endParaRPr>
          </a:p>
        </p:txBody>
      </p:sp>
      <p:sp>
        <p:nvSpPr>
          <p:cNvPr id="265" name="Google Shape;265;p17"/>
          <p:cNvSpPr/>
          <p:nvPr/>
        </p:nvSpPr>
        <p:spPr>
          <a:xfrm>
            <a:off x="812800" y="4178106"/>
            <a:ext cx="9156600" cy="3885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E3A2F"/>
              </a:buClr>
              <a:buSzPts val="2200"/>
              <a:buFont typeface="DM Sans"/>
              <a:buNone/>
            </a:pPr>
            <a:r>
              <a:rPr b="0" i="0" lang="en-US" sz="2200" u="none" cap="none" strike="noStrike">
                <a:solidFill>
                  <a:srgbClr val="1E3A2F"/>
                </a:solidFill>
                <a:latin typeface="DM Sans"/>
                <a:ea typeface="DM Sans"/>
                <a:cs typeface="DM Sans"/>
                <a:sym typeface="DM Sans"/>
              </a:rPr>
              <a:t>The same four prompts you'll use next. Watch what I type, and what I check.</a:t>
            </a:r>
            <a:endParaRPr b="0" i="0" sz="2200" u="none" cap="none" strike="noStrike">
              <a:solidFill>
                <a:schemeClr val="dk1"/>
              </a:solidFill>
              <a:latin typeface="Calibri"/>
              <a:ea typeface="Calibri"/>
              <a:cs typeface="Calibri"/>
              <a:sym typeface="Calibri"/>
            </a:endParaRPr>
          </a:p>
        </p:txBody>
      </p:sp>
      <p:sp>
        <p:nvSpPr>
          <p:cNvPr id="266" name="Google Shape;266;p17"/>
          <p:cNvSpPr/>
          <p:nvPr/>
        </p:nvSpPr>
        <p:spPr>
          <a:xfrm>
            <a:off x="812800" y="5495042"/>
            <a:ext cx="13191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1 · Caption</a:t>
            </a:r>
            <a:endParaRPr b="0" i="0" sz="1500" u="none" cap="none" strike="noStrike">
              <a:solidFill>
                <a:schemeClr val="dk1"/>
              </a:solidFill>
              <a:latin typeface="Calibri"/>
              <a:ea typeface="Calibri"/>
              <a:cs typeface="Calibri"/>
              <a:sym typeface="Calibri"/>
            </a:endParaRPr>
          </a:p>
        </p:txBody>
      </p:sp>
      <p:sp>
        <p:nvSpPr>
          <p:cNvPr id="267" name="Google Shape;267;p17"/>
          <p:cNvSpPr/>
          <p:nvPr/>
        </p:nvSpPr>
        <p:spPr>
          <a:xfrm>
            <a:off x="2284413" y="5495042"/>
            <a:ext cx="16035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2 · Video plan</a:t>
            </a:r>
            <a:endParaRPr b="0" i="0" sz="1500" u="none" cap="none" strike="noStrike">
              <a:solidFill>
                <a:schemeClr val="dk1"/>
              </a:solidFill>
              <a:latin typeface="Calibri"/>
              <a:ea typeface="Calibri"/>
              <a:cs typeface="Calibri"/>
              <a:sym typeface="Calibri"/>
            </a:endParaRPr>
          </a:p>
        </p:txBody>
      </p:sp>
      <p:sp>
        <p:nvSpPr>
          <p:cNvPr id="268" name="Google Shape;268;p17"/>
          <p:cNvSpPr/>
          <p:nvPr/>
        </p:nvSpPr>
        <p:spPr>
          <a:xfrm>
            <a:off x="4040399" y="5495042"/>
            <a:ext cx="14931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3 · Hashtags</a:t>
            </a:r>
            <a:endParaRPr b="0" i="0" sz="1500" u="none" cap="none" strike="noStrike">
              <a:solidFill>
                <a:schemeClr val="dk1"/>
              </a:solidFill>
              <a:latin typeface="Calibri"/>
              <a:ea typeface="Calibri"/>
              <a:cs typeface="Calibri"/>
              <a:sym typeface="Calibri"/>
            </a:endParaRPr>
          </a:p>
        </p:txBody>
      </p:sp>
      <p:sp>
        <p:nvSpPr>
          <p:cNvPr id="269" name="Google Shape;269;p17"/>
          <p:cNvSpPr/>
          <p:nvPr/>
        </p:nvSpPr>
        <p:spPr>
          <a:xfrm>
            <a:off x="5685896" y="5495042"/>
            <a:ext cx="21081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4 · Three variations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74" name="Shape 274"/>
        <p:cNvGrpSpPr/>
        <p:nvPr/>
      </p:nvGrpSpPr>
      <p:grpSpPr>
        <a:xfrm>
          <a:off x="0" y="0"/>
          <a:ext cx="0" cy="0"/>
          <a:chOff x="0" y="0"/>
          <a:chExt cx="0" cy="0"/>
        </a:xfrm>
      </p:grpSpPr>
      <p:sp>
        <p:nvSpPr>
          <p:cNvPr id="275" name="Google Shape;275;p18"/>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THE BRIEF</a:t>
            </a:r>
            <a:endParaRPr b="0" i="0" sz="1200" u="none" cap="none" strike="noStrike">
              <a:solidFill>
                <a:schemeClr val="dk1"/>
              </a:solidFill>
              <a:latin typeface="Calibri"/>
              <a:ea typeface="Calibri"/>
              <a:cs typeface="Calibri"/>
              <a:sym typeface="Calibri"/>
            </a:endParaRPr>
          </a:p>
        </p:txBody>
      </p:sp>
      <p:sp>
        <p:nvSpPr>
          <p:cNvPr id="276" name="Google Shape;276;p18"/>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Meet Ibu Sari</a:t>
            </a:r>
            <a:endParaRPr b="0" i="0" sz="3600" u="none" cap="none" strike="noStrike">
              <a:solidFill>
                <a:schemeClr val="dk1"/>
              </a:solidFill>
              <a:latin typeface="Calibri"/>
              <a:ea typeface="Calibri"/>
              <a:cs typeface="Calibri"/>
              <a:sym typeface="Calibri"/>
            </a:endParaRPr>
          </a:p>
        </p:txBody>
      </p:sp>
      <p:cxnSp>
        <p:nvCxnSpPr>
          <p:cNvPr id="277" name="Google Shape;277;p18"/>
          <p:cNvCxnSpPr/>
          <p:nvPr/>
        </p:nvCxnSpPr>
        <p:spPr>
          <a:xfrm>
            <a:off x="812800" y="2043429"/>
            <a:ext cx="6350000" cy="0"/>
          </a:xfrm>
          <a:prstGeom prst="straightConnector1">
            <a:avLst/>
          </a:prstGeom>
          <a:noFill/>
          <a:ln cap="flat" cmpd="sng" w="12700">
            <a:solidFill>
              <a:srgbClr val="D9CDB6"/>
            </a:solidFill>
            <a:prstDash val="solid"/>
            <a:round/>
            <a:headEnd len="sm" w="sm" type="none"/>
            <a:tailEnd len="sm" w="sm" type="none"/>
          </a:ln>
        </p:spPr>
      </p:cxnSp>
      <p:sp>
        <p:nvSpPr>
          <p:cNvPr id="278" name="Google Shape;278;p18"/>
          <p:cNvSpPr/>
          <p:nvPr/>
        </p:nvSpPr>
        <p:spPr>
          <a:xfrm>
            <a:off x="812800" y="21386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WHO</a:t>
            </a:r>
            <a:endParaRPr b="0" i="0" sz="1200" u="none" cap="none" strike="noStrike">
              <a:solidFill>
                <a:schemeClr val="dk1"/>
              </a:solidFill>
              <a:latin typeface="Calibri"/>
              <a:ea typeface="Calibri"/>
              <a:cs typeface="Calibri"/>
              <a:sym typeface="Calibri"/>
            </a:endParaRPr>
          </a:p>
        </p:txBody>
      </p:sp>
      <p:sp>
        <p:nvSpPr>
          <p:cNvPr id="279" name="Google Shape;279;p18"/>
          <p:cNvSpPr/>
          <p:nvPr/>
        </p:nvSpPr>
        <p:spPr>
          <a:xfrm>
            <a:off x="2413000" y="21386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Ibu Sari, waste picker at Hub 2, Cimahi</a:t>
            </a:r>
            <a:endParaRPr b="0" i="0" sz="1500" u="none" cap="none" strike="noStrike">
              <a:solidFill>
                <a:schemeClr val="dk1"/>
              </a:solidFill>
              <a:latin typeface="Calibri"/>
              <a:ea typeface="Calibri"/>
              <a:cs typeface="Calibri"/>
              <a:sym typeface="Calibri"/>
            </a:endParaRPr>
          </a:p>
        </p:txBody>
      </p:sp>
      <p:cxnSp>
        <p:nvCxnSpPr>
          <p:cNvPr id="280" name="Google Shape;280;p18"/>
          <p:cNvCxnSpPr/>
          <p:nvPr/>
        </p:nvCxnSpPr>
        <p:spPr>
          <a:xfrm>
            <a:off x="812800" y="2500629"/>
            <a:ext cx="6350000" cy="0"/>
          </a:xfrm>
          <a:prstGeom prst="straightConnector1">
            <a:avLst/>
          </a:prstGeom>
          <a:noFill/>
          <a:ln cap="flat" cmpd="sng" w="12700">
            <a:solidFill>
              <a:srgbClr val="D9CDB6"/>
            </a:solidFill>
            <a:prstDash val="solid"/>
            <a:round/>
            <a:headEnd len="sm" w="sm" type="none"/>
            <a:tailEnd len="sm" w="sm" type="none"/>
          </a:ln>
        </p:spPr>
      </p:cxnSp>
      <p:sp>
        <p:nvSpPr>
          <p:cNvPr id="281" name="Google Shape;281;p18"/>
          <p:cNvSpPr/>
          <p:nvPr/>
        </p:nvSpPr>
        <p:spPr>
          <a:xfrm>
            <a:off x="812800" y="25958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HER WORK</a:t>
            </a:r>
            <a:endParaRPr b="0" i="0" sz="1200" u="none" cap="none" strike="noStrike">
              <a:solidFill>
                <a:schemeClr val="dk1"/>
              </a:solidFill>
              <a:latin typeface="Calibri"/>
              <a:ea typeface="Calibri"/>
              <a:cs typeface="Calibri"/>
              <a:sym typeface="Calibri"/>
            </a:endParaRPr>
          </a:p>
        </p:txBody>
      </p:sp>
      <p:sp>
        <p:nvSpPr>
          <p:cNvPr id="282" name="Google Shape;282;p18"/>
          <p:cNvSpPr/>
          <p:nvPr/>
        </p:nvSpPr>
        <p:spPr>
          <a:xfrm>
            <a:off x="2413000" y="25958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Picking since 2018 · sorts 200 kg of plastic a day</a:t>
            </a:r>
            <a:endParaRPr b="0" i="0" sz="1500" u="none" cap="none" strike="noStrike">
              <a:solidFill>
                <a:schemeClr val="dk1"/>
              </a:solidFill>
              <a:latin typeface="Calibri"/>
              <a:ea typeface="Calibri"/>
              <a:cs typeface="Calibri"/>
              <a:sym typeface="Calibri"/>
            </a:endParaRPr>
          </a:p>
        </p:txBody>
      </p:sp>
      <p:cxnSp>
        <p:nvCxnSpPr>
          <p:cNvPr id="283" name="Google Shape;283;p18"/>
          <p:cNvCxnSpPr/>
          <p:nvPr/>
        </p:nvCxnSpPr>
        <p:spPr>
          <a:xfrm>
            <a:off x="812800" y="2957829"/>
            <a:ext cx="6350000" cy="0"/>
          </a:xfrm>
          <a:prstGeom prst="straightConnector1">
            <a:avLst/>
          </a:prstGeom>
          <a:noFill/>
          <a:ln cap="flat" cmpd="sng" w="12700">
            <a:solidFill>
              <a:srgbClr val="D9CDB6"/>
            </a:solidFill>
            <a:prstDash val="solid"/>
            <a:round/>
            <a:headEnd len="sm" w="sm" type="none"/>
            <a:tailEnd len="sm" w="sm" type="none"/>
          </a:ln>
        </p:spPr>
      </p:cxnSp>
      <p:sp>
        <p:nvSpPr>
          <p:cNvPr id="284" name="Google Shape;284;p18"/>
          <p:cNvSpPr/>
          <p:nvPr/>
        </p:nvSpPr>
        <p:spPr>
          <a:xfrm>
            <a:off x="812800" y="30530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BEFORE</a:t>
            </a:r>
            <a:endParaRPr b="0" i="0" sz="1200" u="none" cap="none" strike="noStrike">
              <a:solidFill>
                <a:schemeClr val="dk1"/>
              </a:solidFill>
              <a:latin typeface="Calibri"/>
              <a:ea typeface="Calibri"/>
              <a:cs typeface="Calibri"/>
              <a:sym typeface="Calibri"/>
            </a:endParaRPr>
          </a:p>
        </p:txBody>
      </p:sp>
      <p:sp>
        <p:nvSpPr>
          <p:cNvPr id="285" name="Google Shape;285;p18"/>
          <p:cNvSpPr/>
          <p:nvPr/>
        </p:nvSpPr>
        <p:spPr>
          <a:xfrm>
            <a:off x="2413000" y="30530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“I sold to whoever paid a little more that day.”</a:t>
            </a:r>
            <a:endParaRPr b="0" i="0" sz="1500" u="none" cap="none" strike="noStrike">
              <a:solidFill>
                <a:schemeClr val="dk1"/>
              </a:solidFill>
              <a:latin typeface="Calibri"/>
              <a:ea typeface="Calibri"/>
              <a:cs typeface="Calibri"/>
              <a:sym typeface="Calibri"/>
            </a:endParaRPr>
          </a:p>
        </p:txBody>
      </p:sp>
      <p:cxnSp>
        <p:nvCxnSpPr>
          <p:cNvPr id="286" name="Google Shape;286;p18"/>
          <p:cNvCxnSpPr/>
          <p:nvPr/>
        </p:nvCxnSpPr>
        <p:spPr>
          <a:xfrm>
            <a:off x="812800" y="3415029"/>
            <a:ext cx="6350000" cy="0"/>
          </a:xfrm>
          <a:prstGeom prst="straightConnector1">
            <a:avLst/>
          </a:prstGeom>
          <a:noFill/>
          <a:ln cap="flat" cmpd="sng" w="12700">
            <a:solidFill>
              <a:srgbClr val="D9CDB6"/>
            </a:solidFill>
            <a:prstDash val="solid"/>
            <a:round/>
            <a:headEnd len="sm" w="sm" type="none"/>
            <a:tailEnd len="sm" w="sm" type="none"/>
          </a:ln>
        </p:spPr>
      </p:cxnSp>
      <p:sp>
        <p:nvSpPr>
          <p:cNvPr id="287" name="Google Shape;287;p18"/>
          <p:cNvSpPr/>
          <p:nvPr/>
        </p:nvSpPr>
        <p:spPr>
          <a:xfrm>
            <a:off x="812800" y="35102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NOW</a:t>
            </a:r>
            <a:endParaRPr b="0" i="0" sz="1200" u="none" cap="none" strike="noStrike">
              <a:solidFill>
                <a:schemeClr val="dk1"/>
              </a:solidFill>
              <a:latin typeface="Calibri"/>
              <a:ea typeface="Calibri"/>
              <a:cs typeface="Calibri"/>
              <a:sym typeface="Calibri"/>
            </a:endParaRPr>
          </a:p>
        </p:txBody>
      </p:sp>
      <p:sp>
        <p:nvSpPr>
          <p:cNvPr id="288" name="Google Shape;288;p18"/>
          <p:cNvSpPr/>
          <p:nvPr/>
        </p:nvSpPr>
        <p:spPr>
          <a:xfrm>
            <a:off x="2413000" y="3510279"/>
            <a:ext cx="483997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Registered, weighed on a public scale, paid fair-trade rates the same day</a:t>
            </a:r>
            <a:endParaRPr b="0" i="0" sz="1500" u="none" cap="none" strike="noStrike">
              <a:solidFill>
                <a:schemeClr val="dk1"/>
              </a:solidFill>
              <a:latin typeface="Calibri"/>
              <a:ea typeface="Calibri"/>
              <a:cs typeface="Calibri"/>
              <a:sym typeface="Calibri"/>
            </a:endParaRPr>
          </a:p>
        </p:txBody>
      </p:sp>
      <p:cxnSp>
        <p:nvCxnSpPr>
          <p:cNvPr id="289" name="Google Shape;289;p18"/>
          <p:cNvCxnSpPr/>
          <p:nvPr/>
        </p:nvCxnSpPr>
        <p:spPr>
          <a:xfrm>
            <a:off x="812800" y="4138929"/>
            <a:ext cx="6350000" cy="0"/>
          </a:xfrm>
          <a:prstGeom prst="straightConnector1">
            <a:avLst/>
          </a:prstGeom>
          <a:noFill/>
          <a:ln cap="flat" cmpd="sng" w="12700">
            <a:solidFill>
              <a:srgbClr val="D9CDB6"/>
            </a:solidFill>
            <a:prstDash val="solid"/>
            <a:round/>
            <a:headEnd len="sm" w="sm" type="none"/>
            <a:tailEnd len="sm" w="sm" type="none"/>
          </a:ln>
        </p:spPr>
      </p:cxnSp>
      <p:sp>
        <p:nvSpPr>
          <p:cNvPr id="290" name="Google Shape;290;p18"/>
          <p:cNvSpPr/>
          <p:nvPr/>
        </p:nvSpPr>
        <p:spPr>
          <a:xfrm>
            <a:off x="812800" y="42341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IN HER WORDS</a:t>
            </a:r>
            <a:endParaRPr b="0" i="0" sz="1200" u="none" cap="none" strike="noStrike">
              <a:solidFill>
                <a:schemeClr val="dk1"/>
              </a:solidFill>
              <a:latin typeface="Calibri"/>
              <a:ea typeface="Calibri"/>
              <a:cs typeface="Calibri"/>
              <a:sym typeface="Calibri"/>
            </a:endParaRPr>
          </a:p>
        </p:txBody>
      </p:sp>
      <p:sp>
        <p:nvSpPr>
          <p:cNvPr id="291" name="Google Shape;291;p18"/>
          <p:cNvSpPr/>
          <p:nvPr/>
        </p:nvSpPr>
        <p:spPr>
          <a:xfrm>
            <a:off x="2413000" y="42341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“My children can plan now. That's the difference.”</a:t>
            </a:r>
            <a:endParaRPr b="0" i="0" sz="1500" u="none" cap="none" strike="noStrike">
              <a:solidFill>
                <a:schemeClr val="dk1"/>
              </a:solidFill>
              <a:latin typeface="Calibri"/>
              <a:ea typeface="Calibri"/>
              <a:cs typeface="Calibri"/>
              <a:sym typeface="Calibri"/>
            </a:endParaRPr>
          </a:p>
        </p:txBody>
      </p:sp>
      <p:cxnSp>
        <p:nvCxnSpPr>
          <p:cNvPr id="292" name="Google Shape;292;p18"/>
          <p:cNvCxnSpPr/>
          <p:nvPr/>
        </p:nvCxnSpPr>
        <p:spPr>
          <a:xfrm>
            <a:off x="812800" y="4596129"/>
            <a:ext cx="6350000" cy="0"/>
          </a:xfrm>
          <a:prstGeom prst="straightConnector1">
            <a:avLst/>
          </a:prstGeom>
          <a:noFill/>
          <a:ln cap="flat" cmpd="sng" w="12700">
            <a:solidFill>
              <a:srgbClr val="D9CDB6"/>
            </a:solidFill>
            <a:prstDash val="solid"/>
            <a:round/>
            <a:headEnd len="sm" w="sm" type="none"/>
            <a:tailEnd len="sm" w="sm" type="none"/>
          </a:ln>
        </p:spPr>
      </p:cxnSp>
      <p:cxnSp>
        <p:nvCxnSpPr>
          <p:cNvPr id="293" name="Google Shape;293;p18"/>
          <p:cNvCxnSpPr/>
          <p:nvPr/>
        </p:nvCxnSpPr>
        <p:spPr>
          <a:xfrm>
            <a:off x="812800" y="5320029"/>
            <a:ext cx="6350000" cy="0"/>
          </a:xfrm>
          <a:prstGeom prst="straightConnector1">
            <a:avLst/>
          </a:prstGeom>
          <a:noFill/>
          <a:ln cap="flat" cmpd="sng" w="12700">
            <a:solidFill>
              <a:srgbClr val="D9CDB6"/>
            </a:solidFill>
            <a:prstDash val="solid"/>
            <a:round/>
            <a:headEnd len="sm" w="sm" type="none"/>
            <a:tailEnd len="sm" w="sm" type="none"/>
          </a:ln>
        </p:spPr>
      </p:cxnSp>
      <p:sp>
        <p:nvSpPr>
          <p:cNvPr id="294" name="Google Shape;294;p18"/>
          <p:cNvSpPr/>
          <p:nvPr/>
        </p:nvSpPr>
        <p:spPr>
          <a:xfrm>
            <a:off x="812800" y="46913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NETWORK</a:t>
            </a:r>
            <a:endParaRPr b="0" i="0" sz="1200" u="none" cap="none" strike="noStrike">
              <a:solidFill>
                <a:schemeClr val="dk1"/>
              </a:solidFill>
              <a:latin typeface="Calibri"/>
              <a:ea typeface="Calibri"/>
              <a:cs typeface="Calibri"/>
              <a:sym typeface="Calibri"/>
            </a:endParaRPr>
          </a:p>
        </p:txBody>
      </p:sp>
      <p:sp>
        <p:nvSpPr>
          <p:cNvPr id="295" name="Google Shape;295;p18"/>
          <p:cNvSpPr/>
          <p:nvPr/>
        </p:nvSpPr>
        <p:spPr>
          <a:xfrm>
            <a:off x="2413000" y="4691379"/>
            <a:ext cx="483997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One of 3,500 pickers registered with LoopCycle Nusantara</a:t>
            </a:r>
            <a:endParaRPr b="0" i="0" sz="1500" u="none" cap="none" strike="noStrike">
              <a:solidFill>
                <a:schemeClr val="dk1"/>
              </a:solidFill>
              <a:latin typeface="Calibri"/>
              <a:ea typeface="Calibri"/>
              <a:cs typeface="Calibri"/>
              <a:sym typeface="Calibri"/>
            </a:endParaRPr>
          </a:p>
        </p:txBody>
      </p:sp>
      <p:sp>
        <p:nvSpPr>
          <p:cNvPr id="296" name="Google Shape;296;p18"/>
          <p:cNvSpPr/>
          <p:nvPr/>
        </p:nvSpPr>
        <p:spPr>
          <a:xfrm>
            <a:off x="7467600" y="2037079"/>
            <a:ext cx="3911600" cy="3289300"/>
          </a:xfrm>
          <a:prstGeom prst="roundRect">
            <a:avLst>
              <a:gd fmla="val 4633"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8"/>
          <p:cNvSpPr/>
          <p:nvPr/>
        </p:nvSpPr>
        <p:spPr>
          <a:xfrm>
            <a:off x="7721600" y="2291079"/>
            <a:ext cx="350570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REEL IDEA</a:t>
            </a:r>
            <a:endParaRPr b="0" i="0" sz="1200" u="none" cap="none" strike="noStrike">
              <a:solidFill>
                <a:schemeClr val="dk1"/>
              </a:solidFill>
              <a:latin typeface="Calibri"/>
              <a:ea typeface="Calibri"/>
              <a:cs typeface="Calibri"/>
              <a:sym typeface="Calibri"/>
            </a:endParaRPr>
          </a:p>
        </p:txBody>
      </p:sp>
      <p:sp>
        <p:nvSpPr>
          <p:cNvPr id="298" name="Google Shape;298;p18"/>
          <p:cNvSpPr/>
          <p:nvPr/>
        </p:nvSpPr>
        <p:spPr>
          <a:xfrm>
            <a:off x="7721600" y="2631442"/>
            <a:ext cx="3505708"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A portrait interview.</a:t>
            </a:r>
            <a:endParaRPr b="0" i="0" sz="2200" u="none" cap="none" strike="noStrike">
              <a:solidFill>
                <a:schemeClr val="dk1"/>
              </a:solidFill>
              <a:latin typeface="Calibri"/>
              <a:ea typeface="Calibri"/>
              <a:cs typeface="Calibri"/>
              <a:sym typeface="Calibri"/>
            </a:endParaRPr>
          </a:p>
        </p:txBody>
      </p:sp>
      <p:sp>
        <p:nvSpPr>
          <p:cNvPr id="299" name="Google Shape;299;p18"/>
          <p:cNvSpPr/>
          <p:nvPr/>
        </p:nvSpPr>
        <p:spPr>
          <a:xfrm>
            <a:off x="7721600" y="3093721"/>
            <a:ext cx="3505708"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FD8CF"/>
              </a:buClr>
              <a:buSzPts val="1500"/>
              <a:buFont typeface="DM Sans"/>
              <a:buNone/>
            </a:pPr>
            <a:r>
              <a:rPr b="0" i="0" lang="en-US" sz="1500" u="none" cap="none" strike="noStrike">
                <a:solidFill>
                  <a:srgbClr val="CFD8CF"/>
                </a:solidFill>
                <a:latin typeface="DM Sans"/>
                <a:ea typeface="DM Sans"/>
                <a:cs typeface="DM Sans"/>
                <a:sym typeface="DM Sans"/>
              </a:rPr>
              <a:t>Ibu Sari at her sorting table. Natural light, handheld, warm and unhurried. Subtitles on.</a:t>
            </a:r>
            <a:endParaRPr b="0" i="0" sz="1500" u="none" cap="none" strike="noStrike">
              <a:solidFill>
                <a:schemeClr val="dk1"/>
              </a:solidFill>
              <a:latin typeface="Calibri"/>
              <a:ea typeface="Calibri"/>
              <a:cs typeface="Calibri"/>
              <a:sym typeface="Calibri"/>
            </a:endParaRPr>
          </a:p>
        </p:txBody>
      </p:sp>
      <p:sp>
        <p:nvSpPr>
          <p:cNvPr id="300" name="Google Shape;300;p18"/>
          <p:cNvSpPr/>
          <p:nvPr/>
        </p:nvSpPr>
        <p:spPr>
          <a:xfrm>
            <a:off x="7721600" y="4615179"/>
            <a:ext cx="3505708" cy="4826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10</a:t>
            </a:r>
            <a:r>
              <a:rPr b="0" i="0" lang="en-US" sz="1200" u="none" cap="none" strike="noStrike">
                <a:solidFill>
                  <a:srgbClr val="E3A83E"/>
                </a:solidFill>
                <a:latin typeface="DM Sans"/>
                <a:ea typeface="DM Sans"/>
                <a:cs typeface="DM Sans"/>
                <a:sym typeface="DM Sans"/>
              </a:rPr>
              <a:t> seconds</a:t>
            </a:r>
            <a:endParaRPr b="0" i="0" sz="12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Real footage of a real person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05" name="Shape 305"/>
        <p:cNvGrpSpPr/>
        <p:nvPr/>
      </p:nvGrpSpPr>
      <p:grpSpPr>
        <a:xfrm>
          <a:off x="0" y="0"/>
          <a:ext cx="0" cy="0"/>
          <a:chOff x="0" y="0"/>
          <a:chExt cx="0" cy="0"/>
        </a:xfrm>
      </p:grpSpPr>
      <p:sp>
        <p:nvSpPr>
          <p:cNvPr id="306" name="Google Shape;306;p19"/>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1 OF 4</a:t>
            </a:r>
            <a:endParaRPr b="0" i="0" sz="1200" u="none" cap="none" strike="noStrike">
              <a:solidFill>
                <a:schemeClr val="dk1"/>
              </a:solidFill>
              <a:latin typeface="Calibri"/>
              <a:ea typeface="Calibri"/>
              <a:cs typeface="Calibri"/>
              <a:sym typeface="Calibri"/>
            </a:endParaRPr>
          </a:p>
        </p:txBody>
      </p:sp>
      <p:sp>
        <p:nvSpPr>
          <p:cNvPr id="307" name="Google Shape;307;p19"/>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Write the caption and on-screen text</a:t>
            </a:r>
            <a:endParaRPr b="0" i="0" sz="3600" u="none" cap="none" strike="noStrike">
              <a:solidFill>
                <a:schemeClr val="dk1"/>
              </a:solidFill>
              <a:latin typeface="Calibri"/>
              <a:ea typeface="Calibri"/>
              <a:cs typeface="Calibri"/>
              <a:sym typeface="Calibri"/>
            </a:endParaRPr>
          </a:p>
        </p:txBody>
      </p:sp>
      <p:sp>
        <p:nvSpPr>
          <p:cNvPr id="308" name="Google Shape;308;p19"/>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09" name="Google Shape;309;p19"/>
          <p:cNvSpPr/>
          <p:nvPr/>
        </p:nvSpPr>
        <p:spPr>
          <a:xfrm>
            <a:off x="1244600" y="20370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New chat. Paste the prompt, then the Ibu Sari brief.</a:t>
            </a:r>
            <a:endParaRPr b="0" i="0" sz="1500" u="none" cap="none" strike="noStrike">
              <a:solidFill>
                <a:schemeClr val="dk1"/>
              </a:solidFill>
              <a:latin typeface="Calibri"/>
              <a:ea typeface="Calibri"/>
              <a:cs typeface="Calibri"/>
              <a:sym typeface="Calibri"/>
            </a:endParaRPr>
          </a:p>
        </p:txBody>
      </p:sp>
      <p:sp>
        <p:nvSpPr>
          <p:cNvPr id="310" name="Google Shape;310;p19"/>
          <p:cNvSpPr/>
          <p:nvPr/>
        </p:nvSpPr>
        <p:spPr>
          <a:xfrm>
            <a:off x="812800" y="2748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11" name="Google Shape;311;p19"/>
          <p:cNvSpPr/>
          <p:nvPr/>
        </p:nvSpPr>
        <p:spPr>
          <a:xfrm>
            <a:off x="1244600" y="2748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Read the first draft aloud. Does it sound like us?</a:t>
            </a:r>
            <a:endParaRPr b="0" i="0" sz="1500" u="none" cap="none" strike="noStrike">
              <a:solidFill>
                <a:schemeClr val="dk1"/>
              </a:solidFill>
              <a:latin typeface="Calibri"/>
              <a:ea typeface="Calibri"/>
              <a:cs typeface="Calibri"/>
              <a:sym typeface="Calibri"/>
            </a:endParaRPr>
          </a:p>
        </p:txBody>
      </p:sp>
      <p:sp>
        <p:nvSpPr>
          <p:cNvPr id="312" name="Google Shape;312;p19"/>
          <p:cNvSpPr/>
          <p:nvPr/>
        </p:nvSpPr>
        <p:spPr>
          <a:xfrm>
            <a:off x="812800" y="3459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13" name="Google Shape;313;p19"/>
          <p:cNvSpPr/>
          <p:nvPr/>
        </p:nvSpPr>
        <p:spPr>
          <a:xfrm>
            <a:off x="1244600" y="34594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“Less about us, more about her.”</a:t>
            </a:r>
            <a:endParaRPr b="0" i="0" sz="1500" u="none" cap="none" strike="noStrike">
              <a:solidFill>
                <a:schemeClr val="dk1"/>
              </a:solidFill>
              <a:latin typeface="Calibri"/>
              <a:ea typeface="Calibri"/>
              <a:cs typeface="Calibri"/>
              <a:sym typeface="Calibri"/>
            </a:endParaRPr>
          </a:p>
        </p:txBody>
      </p:sp>
      <p:sp>
        <p:nvSpPr>
          <p:cNvPr id="314" name="Google Shape;314;p19"/>
          <p:cNvSpPr/>
          <p:nvPr/>
        </p:nvSpPr>
        <p:spPr>
          <a:xfrm>
            <a:off x="812800" y="3916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15" name="Google Shape;315;p19"/>
          <p:cNvSpPr/>
          <p:nvPr/>
        </p:nvSpPr>
        <p:spPr>
          <a:xfrm>
            <a:off x="1244600" y="3916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every number and quote matches the brief, word for word.</a:t>
            </a:r>
            <a:endParaRPr b="0" i="0" sz="1500" u="none" cap="none" strike="noStrike">
              <a:solidFill>
                <a:schemeClr val="dk1"/>
              </a:solidFill>
              <a:latin typeface="Calibri"/>
              <a:ea typeface="Calibri"/>
              <a:cs typeface="Calibri"/>
              <a:sym typeface="Calibri"/>
            </a:endParaRPr>
          </a:p>
        </p:txBody>
      </p:sp>
      <p:sp>
        <p:nvSpPr>
          <p:cNvPr id="316" name="Google Shape;316;p19"/>
          <p:cNvSpPr/>
          <p:nvPr/>
        </p:nvSpPr>
        <p:spPr>
          <a:xfrm>
            <a:off x="5054600" y="2037075"/>
            <a:ext cx="6324600" cy="4010700"/>
          </a:xfrm>
          <a:prstGeom prst="roundRect">
            <a:avLst>
              <a:gd fmla="val 435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9"/>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18" name="Google Shape;318;p19"/>
          <p:cNvSpPr/>
          <p:nvPr/>
        </p:nvSpPr>
        <p:spPr>
          <a:xfrm>
            <a:off x="5308600" y="2631452"/>
            <a:ext cx="5991000" cy="32211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You are the social media writer for LoopCycle Nusantara, an Indonesian social enterprise that works with registered waste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the text for an Instagram reel about one of our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1. A caption: a hook, two short paragraphs, then a question that invites comments. Under 100 words.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2. Three lines of on-screen text: an opening hook, a middle line and an end card.</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Tone: warm and respectful. She is the hero, not us. Use only the facts and quotes below, and never change her words.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[Paste the Ibu Sari brief]</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23" name="Shape 323"/>
        <p:cNvGrpSpPr/>
        <p:nvPr/>
      </p:nvGrpSpPr>
      <p:grpSpPr>
        <a:xfrm>
          <a:off x="0" y="0"/>
          <a:ext cx="0" cy="0"/>
          <a:chOff x="0" y="0"/>
          <a:chExt cx="0" cy="0"/>
        </a:xfrm>
      </p:grpSpPr>
      <p:sp>
        <p:nvSpPr>
          <p:cNvPr id="324" name="Google Shape;324;p20"/>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2 OF 4</a:t>
            </a:r>
            <a:endParaRPr b="0" i="0" sz="1200" u="none" cap="none" strike="noStrike">
              <a:solidFill>
                <a:schemeClr val="dk1"/>
              </a:solidFill>
              <a:latin typeface="Calibri"/>
              <a:ea typeface="Calibri"/>
              <a:cs typeface="Calibri"/>
              <a:sym typeface="Calibri"/>
            </a:endParaRPr>
          </a:p>
        </p:txBody>
      </p:sp>
      <p:sp>
        <p:nvSpPr>
          <p:cNvPr id="325" name="Google Shape;325;p20"/>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Plan the video around real footage</a:t>
            </a:r>
            <a:endParaRPr b="0" i="0" sz="3600" u="none" cap="none" strike="noStrike">
              <a:solidFill>
                <a:schemeClr val="dk1"/>
              </a:solidFill>
              <a:latin typeface="Calibri"/>
              <a:ea typeface="Calibri"/>
              <a:cs typeface="Calibri"/>
              <a:sym typeface="Calibri"/>
            </a:endParaRPr>
          </a:p>
        </p:txBody>
      </p:sp>
      <p:sp>
        <p:nvSpPr>
          <p:cNvPr id="326" name="Google Shape;326;p20"/>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27" name="Google Shape;327;p20"/>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328" name="Google Shape;328;p20"/>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29" name="Google Shape;329;p20"/>
          <p:cNvSpPr/>
          <p:nvPr/>
        </p:nvSpPr>
        <p:spPr>
          <a:xfrm>
            <a:off x="1244600" y="2494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 Note the key line: “</a:t>
            </a:r>
            <a:r>
              <a:rPr lang="en-US" sz="1200">
                <a:solidFill>
                  <a:schemeClr val="dk1"/>
                </a:solidFill>
                <a:latin typeface="DM Sans"/>
                <a:ea typeface="DM Sans"/>
                <a:cs typeface="DM Sans"/>
                <a:sym typeface="DM Sans"/>
              </a:rPr>
              <a:t>do not use real people to generate the reel.</a:t>
            </a:r>
            <a:r>
              <a:rPr b="0" i="0" lang="en-US" sz="1500" u="none" cap="none" strike="noStrike">
                <a:solidFill>
                  <a:schemeClr val="dk1"/>
                </a:solidFill>
                <a:latin typeface="DM Sans"/>
                <a:ea typeface="DM Sans"/>
                <a:cs typeface="DM Sans"/>
                <a:sym typeface="DM Sans"/>
              </a:rPr>
              <a:t>”</a:t>
            </a:r>
            <a:endParaRPr b="0" i="0" sz="1500" u="none" cap="none" strike="noStrike">
              <a:solidFill>
                <a:schemeClr val="dk1"/>
              </a:solidFill>
              <a:latin typeface="Calibri"/>
              <a:ea typeface="Calibri"/>
              <a:cs typeface="Calibri"/>
              <a:sym typeface="Calibri"/>
            </a:endParaRPr>
          </a:p>
        </p:txBody>
      </p:sp>
      <p:sp>
        <p:nvSpPr>
          <p:cNvPr id="330" name="Google Shape;330;p20"/>
          <p:cNvSpPr/>
          <p:nvPr/>
        </p:nvSpPr>
        <p:spPr>
          <a:xfrm>
            <a:off x="812800" y="3205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31" name="Google Shape;331;p20"/>
          <p:cNvSpPr/>
          <p:nvPr/>
        </p:nvSpPr>
        <p:spPr>
          <a:xfrm>
            <a:off x="1244600" y="3205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Hand the plan to whoever edits, or use AI only for text and the end card.</a:t>
            </a:r>
            <a:endParaRPr b="0" i="0" sz="1500" u="none" cap="none" strike="noStrike">
              <a:solidFill>
                <a:schemeClr val="dk1"/>
              </a:solidFill>
              <a:latin typeface="Calibri"/>
              <a:ea typeface="Calibri"/>
              <a:cs typeface="Calibri"/>
              <a:sym typeface="Calibri"/>
            </a:endParaRPr>
          </a:p>
        </p:txBody>
      </p:sp>
      <p:sp>
        <p:nvSpPr>
          <p:cNvPr id="332" name="Google Shape;332;p20"/>
          <p:cNvSpPr/>
          <p:nvPr/>
        </p:nvSpPr>
        <p:spPr>
          <a:xfrm>
            <a:off x="812800" y="3916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33" name="Google Shape;333;p20"/>
          <p:cNvSpPr/>
          <p:nvPr/>
        </p:nvSpPr>
        <p:spPr>
          <a:xfrm>
            <a:off x="1244600" y="3916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real person, real footage, and her consent to share her story.</a:t>
            </a:r>
            <a:endParaRPr b="0" i="0" sz="1500" u="none" cap="none" strike="noStrike">
              <a:solidFill>
                <a:schemeClr val="dk1"/>
              </a:solidFill>
              <a:latin typeface="Calibri"/>
              <a:ea typeface="Calibri"/>
              <a:cs typeface="Calibri"/>
              <a:sym typeface="Calibri"/>
            </a:endParaRPr>
          </a:p>
        </p:txBody>
      </p:sp>
      <p:sp>
        <p:nvSpPr>
          <p:cNvPr id="334" name="Google Shape;334;p20"/>
          <p:cNvSpPr/>
          <p:nvPr/>
        </p:nvSpPr>
        <p:spPr>
          <a:xfrm>
            <a:off x="5054600" y="2037085"/>
            <a:ext cx="6324600" cy="3279140"/>
          </a:xfrm>
          <a:prstGeom prst="roundRect">
            <a:avLst>
              <a:gd fmla="val 4648"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20"/>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36" name="Google Shape;336;p20"/>
          <p:cNvSpPr/>
          <p:nvPr/>
        </p:nvSpPr>
        <p:spPr>
          <a:xfrm>
            <a:off x="5308600" y="2631451"/>
            <a:ext cx="5991000" cy="26847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Now act as a documentary video editor. This reel uses real interview footage of Ibu Sari, so do not </a:t>
            </a:r>
            <a:r>
              <a:rPr lang="en-US" sz="1200">
                <a:solidFill>
                  <a:srgbClr val="F5F0E6"/>
                </a:solidFill>
                <a:latin typeface="DM Sans"/>
                <a:ea typeface="DM Sans"/>
                <a:cs typeface="DM Sans"/>
                <a:sym typeface="DM Sans"/>
              </a:rPr>
              <a:t>use</a:t>
            </a:r>
            <a:r>
              <a:rPr b="0" i="0" lang="en-US" sz="1200" u="none" cap="none" strike="noStrike">
                <a:solidFill>
                  <a:srgbClr val="F5F0E6"/>
                </a:solidFill>
                <a:latin typeface="DM Sans"/>
                <a:ea typeface="DM Sans"/>
                <a:cs typeface="DM Sans"/>
                <a:sym typeface="DM Sans"/>
              </a:rPr>
              <a:t> real people to generate the </a:t>
            </a:r>
            <a:r>
              <a:rPr lang="en-US" sz="1200">
                <a:solidFill>
                  <a:srgbClr val="F5F0E6"/>
                </a:solidFill>
                <a:latin typeface="DM Sans"/>
                <a:ea typeface="DM Sans"/>
                <a:cs typeface="DM Sans"/>
                <a:sym typeface="DM Sans"/>
              </a:rPr>
              <a:t>reel</a:t>
            </a:r>
            <a:r>
              <a:rPr b="0" i="0" lang="en-US" sz="1200" u="none" cap="none" strike="noStrike">
                <a:solidFill>
                  <a:srgbClr val="F5F0E6"/>
                </a:solidFill>
                <a:latin typeface="DM Sans"/>
                <a:ea typeface="DM Sans"/>
                <a:cs typeface="DM Sans"/>
                <a:sym typeface="DM Sans"/>
              </a:rPr>
              <a:t>.</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a </a:t>
            </a:r>
            <a:r>
              <a:rPr lang="en-US" sz="1200">
                <a:solidFill>
                  <a:srgbClr val="F5F0E6"/>
                </a:solidFill>
                <a:latin typeface="DM Sans"/>
                <a:ea typeface="DM Sans"/>
                <a:cs typeface="DM Sans"/>
                <a:sym typeface="DM Sans"/>
              </a:rPr>
              <a:t>10</a:t>
            </a:r>
            <a:r>
              <a:rPr b="0" i="0" lang="en-US" sz="1200" u="none" cap="none" strike="noStrike">
                <a:solidFill>
                  <a:srgbClr val="F5F0E6"/>
                </a:solidFill>
                <a:latin typeface="DM Sans"/>
                <a:ea typeface="DM Sans"/>
                <a:cs typeface="DM Sans"/>
                <a:sym typeface="DM Sans"/>
              </a:rPr>
              <a:t>-second edit plan for a vertical (9:16) reel, shot by shot with timings: which clip, on-screen text, subtitles, music mood and transitions.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Clips we have: her interview at the sorting table, weighing at the hub scale, the receipt slip handed over. End card: LoopCycle Nusantara · 3,500 registered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Also list any extra shots we should film at the hub.</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41" name="Shape 341"/>
        <p:cNvGrpSpPr/>
        <p:nvPr/>
      </p:nvGrpSpPr>
      <p:grpSpPr>
        <a:xfrm>
          <a:off x="0" y="0"/>
          <a:ext cx="0" cy="0"/>
          <a:chOff x="0" y="0"/>
          <a:chExt cx="0" cy="0"/>
        </a:xfrm>
      </p:grpSpPr>
      <p:sp>
        <p:nvSpPr>
          <p:cNvPr id="342" name="Google Shape;342;p21"/>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3 OF 4</a:t>
            </a:r>
            <a:endParaRPr b="0" i="0" sz="1200" u="none" cap="none" strike="noStrike">
              <a:solidFill>
                <a:schemeClr val="dk1"/>
              </a:solidFill>
              <a:latin typeface="Calibri"/>
              <a:ea typeface="Calibri"/>
              <a:cs typeface="Calibri"/>
              <a:sym typeface="Calibri"/>
            </a:endParaRPr>
          </a:p>
        </p:txBody>
      </p:sp>
      <p:sp>
        <p:nvSpPr>
          <p:cNvPr id="343" name="Google Shape;343;p21"/>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Find the right hashtags</a:t>
            </a:r>
            <a:endParaRPr b="0" i="0" sz="3600" u="none" cap="none" strike="noStrike">
              <a:solidFill>
                <a:schemeClr val="dk1"/>
              </a:solidFill>
              <a:latin typeface="Calibri"/>
              <a:ea typeface="Calibri"/>
              <a:cs typeface="Calibri"/>
              <a:sym typeface="Calibri"/>
            </a:endParaRPr>
          </a:p>
        </p:txBody>
      </p:sp>
      <p:sp>
        <p:nvSpPr>
          <p:cNvPr id="344" name="Google Shape;344;p21"/>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45" name="Google Shape;345;p21"/>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346" name="Google Shape;346;p21"/>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47" name="Google Shape;347;p21"/>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348" name="Google Shape;348;p21"/>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49" name="Google Shape;349;p21"/>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“Which of these would our pickers be proud to see?”</a:t>
            </a:r>
            <a:endParaRPr b="0" i="0" sz="1500" u="none" cap="none" strike="noStrike">
              <a:solidFill>
                <a:schemeClr val="dk1"/>
              </a:solidFill>
              <a:latin typeface="Calibri"/>
              <a:ea typeface="Calibri"/>
              <a:cs typeface="Calibri"/>
              <a:sym typeface="Calibri"/>
            </a:endParaRPr>
          </a:p>
        </p:txBody>
      </p:sp>
      <p:sp>
        <p:nvSpPr>
          <p:cNvPr id="350" name="Google Shape;350;p21"/>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51" name="Google Shape;351;p21"/>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search each tag on Instagram. Active, on-topic, not spammy?</a:t>
            </a:r>
            <a:endParaRPr b="0" i="0" sz="1500" u="none" cap="none" strike="noStrike">
              <a:solidFill>
                <a:schemeClr val="dk1"/>
              </a:solidFill>
              <a:latin typeface="Calibri"/>
              <a:ea typeface="Calibri"/>
              <a:cs typeface="Calibri"/>
              <a:sym typeface="Calibri"/>
            </a:endParaRPr>
          </a:p>
        </p:txBody>
      </p:sp>
      <p:sp>
        <p:nvSpPr>
          <p:cNvPr id="352" name="Google Shape;352;p21"/>
          <p:cNvSpPr/>
          <p:nvPr/>
        </p:nvSpPr>
        <p:spPr>
          <a:xfrm>
            <a:off x="5054600" y="2037075"/>
            <a:ext cx="6339300" cy="3706800"/>
          </a:xfrm>
          <a:prstGeom prst="roundRect">
            <a:avLst>
              <a:gd fmla="val 5372"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1"/>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54" name="Google Shape;354;p21"/>
          <p:cNvSpPr/>
          <p:nvPr/>
        </p:nvSpPr>
        <p:spPr>
          <a:xfrm>
            <a:off x="5308600" y="2631452"/>
            <a:ext cx="5991000" cy="25194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lang="en-US" sz="1200">
                <a:solidFill>
                  <a:srgbClr val="F5F0E6"/>
                </a:solidFill>
                <a:latin typeface="DM Sans"/>
                <a:ea typeface="DM Sans"/>
                <a:cs typeface="DM Sans"/>
                <a:sym typeface="DM Sans"/>
              </a:rPr>
              <a:t>You are back to social media writer for LoopCycle Nusantara</a:t>
            </a:r>
            <a:br>
              <a:rPr lang="en-US" sz="1200">
                <a:solidFill>
                  <a:srgbClr val="F5F0E6"/>
                </a:solidFill>
                <a:latin typeface="DM Sans"/>
                <a:ea typeface="DM Sans"/>
                <a:cs typeface="DM Sans"/>
                <a:sym typeface="DM Sans"/>
              </a:rPr>
            </a:br>
            <a:r>
              <a:rPr b="0" i="0" lang="en-US" sz="1200" u="none" cap="none" strike="noStrike">
                <a:solidFill>
                  <a:srgbClr val="F5F0E6"/>
                </a:solidFill>
                <a:latin typeface="DM Sans"/>
                <a:ea typeface="DM Sans"/>
                <a:cs typeface="DM Sans"/>
                <a:sym typeface="DM Sans"/>
              </a:rPr>
              <a:t>Suggest 12 Instagram hashtags for this reel:</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3 for LoopCycle and a picker stories series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5 on the topic: waste pickers, fair trade, circular economy</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4 local: Bandung, Cimahi, West Java, Indonesia</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Mix popular and niche tags. Give one line on why each fits, then mark the 5 you would use.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Flag any tag that could feel pity-driven or exploitative.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59" name="Shape 359"/>
        <p:cNvGrpSpPr/>
        <p:nvPr/>
      </p:nvGrpSpPr>
      <p:grpSpPr>
        <a:xfrm>
          <a:off x="0" y="0"/>
          <a:ext cx="0" cy="0"/>
          <a:chOff x="0" y="0"/>
          <a:chExt cx="0" cy="0"/>
        </a:xfrm>
      </p:grpSpPr>
      <p:sp>
        <p:nvSpPr>
          <p:cNvPr id="360" name="Google Shape;360;p22"/>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4 OF 4</a:t>
            </a:r>
            <a:endParaRPr b="0" i="0" sz="1200" u="none" cap="none" strike="noStrike">
              <a:solidFill>
                <a:schemeClr val="dk1"/>
              </a:solidFill>
              <a:latin typeface="Calibri"/>
              <a:ea typeface="Calibri"/>
              <a:cs typeface="Calibri"/>
              <a:sym typeface="Calibri"/>
            </a:endParaRPr>
          </a:p>
        </p:txBody>
      </p:sp>
      <p:sp>
        <p:nvSpPr>
          <p:cNvPr id="361" name="Google Shape;361;p22"/>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Create three variations</a:t>
            </a:r>
            <a:endParaRPr b="0" i="0" sz="3600" u="none" cap="none" strike="noStrike">
              <a:solidFill>
                <a:schemeClr val="dk1"/>
              </a:solidFill>
              <a:latin typeface="Calibri"/>
              <a:ea typeface="Calibri"/>
              <a:cs typeface="Calibri"/>
              <a:sym typeface="Calibri"/>
            </a:endParaRPr>
          </a:p>
        </p:txBody>
      </p:sp>
      <p:sp>
        <p:nvSpPr>
          <p:cNvPr id="362" name="Google Shape;362;p22"/>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63" name="Google Shape;363;p22"/>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364" name="Google Shape;364;p22"/>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65" name="Google Shape;365;p22"/>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366" name="Google Shape;366;p22"/>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67" name="Google Shape;367;p22"/>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Ask: “Which would you post first, and why?”</a:t>
            </a:r>
            <a:endParaRPr b="0" i="0" sz="1500" u="none" cap="none" strike="noStrike">
              <a:solidFill>
                <a:schemeClr val="dk1"/>
              </a:solidFill>
              <a:latin typeface="Calibri"/>
              <a:ea typeface="Calibri"/>
              <a:cs typeface="Calibri"/>
              <a:sym typeface="Calibri"/>
            </a:endParaRPr>
          </a:p>
        </p:txBody>
      </p:sp>
      <p:sp>
        <p:nvSpPr>
          <p:cNvPr id="368" name="Google Shape;368;p22"/>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69" name="Google Shape;369;p22"/>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are her quotes and the facts identical in all three?</a:t>
            </a:r>
            <a:endParaRPr b="0" i="0" sz="1500" u="none" cap="none" strike="noStrike">
              <a:solidFill>
                <a:schemeClr val="dk1"/>
              </a:solidFill>
              <a:latin typeface="Calibri"/>
              <a:ea typeface="Calibri"/>
              <a:cs typeface="Calibri"/>
              <a:sym typeface="Calibri"/>
            </a:endParaRPr>
          </a:p>
        </p:txBody>
      </p:sp>
      <p:sp>
        <p:nvSpPr>
          <p:cNvPr id="370" name="Google Shape;370;p22"/>
          <p:cNvSpPr/>
          <p:nvPr/>
        </p:nvSpPr>
        <p:spPr>
          <a:xfrm>
            <a:off x="5054600" y="2037073"/>
            <a:ext cx="6414900" cy="3039000"/>
          </a:xfrm>
          <a:prstGeom prst="roundRect">
            <a:avLst>
              <a:gd fmla="val 582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22"/>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72" name="Google Shape;372;p22"/>
          <p:cNvSpPr/>
          <p:nvPr/>
        </p:nvSpPr>
        <p:spPr>
          <a:xfrm>
            <a:off x="5308600" y="2631453"/>
            <a:ext cx="5991000" cy="23817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3 variations of the caption, each with 5 hashtags: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 Her voice: open with her own quote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B. The change: life before and after registering</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C. The bigger picture: one of 3,500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Keep every fact and quote identical. Under 100 words each. Label them A, B and C.</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Then add a short table comparing the hook, tone and best audience for each.</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5F0E6"/>
        </a:solidFill>
      </p:bgPr>
    </p:bg>
    <p:spTree>
      <p:nvGrpSpPr>
        <p:cNvPr id="377" name="Shape 377"/>
        <p:cNvGrpSpPr/>
        <p:nvPr/>
      </p:nvGrpSpPr>
      <p:grpSpPr>
        <a:xfrm>
          <a:off x="0" y="0"/>
          <a:ext cx="0" cy="0"/>
          <a:chOff x="0" y="0"/>
          <a:chExt cx="0" cy="0"/>
        </a:xfrm>
      </p:grpSpPr>
      <p:sp>
        <p:nvSpPr>
          <p:cNvPr id="378" name="Google Shape;378;p23"/>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COMPARE</a:t>
            </a:r>
            <a:endParaRPr b="0" i="0" sz="1200" u="none" cap="none" strike="noStrike">
              <a:solidFill>
                <a:schemeClr val="dk1"/>
              </a:solidFill>
              <a:latin typeface="Calibri"/>
              <a:ea typeface="Calibri"/>
              <a:cs typeface="Calibri"/>
              <a:sym typeface="Calibri"/>
            </a:endParaRPr>
          </a:p>
        </p:txBody>
      </p:sp>
      <p:sp>
        <p:nvSpPr>
          <p:cNvPr id="379" name="Google Shape;379;p23"/>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What the team actually posted</a:t>
            </a:r>
            <a:endParaRPr b="0" i="0" sz="3600" u="none" cap="none" strike="noStrike">
              <a:solidFill>
                <a:schemeClr val="dk1"/>
              </a:solidFill>
              <a:latin typeface="Calibri"/>
              <a:ea typeface="Calibri"/>
              <a:cs typeface="Calibri"/>
              <a:sym typeface="Calibri"/>
            </a:endParaRPr>
          </a:p>
        </p:txBody>
      </p:sp>
      <p:sp>
        <p:nvSpPr>
          <p:cNvPr id="380" name="Google Shape;380;p23"/>
          <p:cNvSpPr/>
          <p:nvPr/>
        </p:nvSpPr>
        <p:spPr>
          <a:xfrm>
            <a:off x="812800" y="2037085"/>
            <a:ext cx="6350000" cy="3162300"/>
          </a:xfrm>
          <a:prstGeom prst="roundRect">
            <a:avLst>
              <a:gd fmla="val 4819"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23"/>
          <p:cNvSpPr/>
          <p:nvPr/>
        </p:nvSpPr>
        <p:spPr>
          <a:xfrm>
            <a:off x="1066800" y="2291085"/>
            <a:ext cx="601726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PUBLISHED CAPTION</a:t>
            </a:r>
            <a:endParaRPr b="0" i="0" sz="1200" u="none" cap="none" strike="noStrike">
              <a:solidFill>
                <a:schemeClr val="dk1"/>
              </a:solidFill>
              <a:latin typeface="Calibri"/>
              <a:ea typeface="Calibri"/>
              <a:cs typeface="Calibri"/>
              <a:sym typeface="Calibri"/>
            </a:endParaRPr>
          </a:p>
        </p:txBody>
      </p:sp>
      <p:sp>
        <p:nvSpPr>
          <p:cNvPr id="382" name="Google Shape;382;p23"/>
          <p:cNvSpPr/>
          <p:nvPr/>
        </p:nvSpPr>
        <p:spPr>
          <a:xfrm>
            <a:off x="1066800" y="2606042"/>
            <a:ext cx="601726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Meet Ibu Sari.</a:t>
            </a:r>
            <a:endParaRPr b="0" i="0" sz="1500" u="none" cap="none" strike="noStrike">
              <a:solidFill>
                <a:schemeClr val="dk1"/>
              </a:solidFill>
              <a:latin typeface="Calibri"/>
              <a:ea typeface="Calibri"/>
              <a:cs typeface="Calibri"/>
              <a:sym typeface="Calibri"/>
            </a:endParaRPr>
          </a:p>
        </p:txBody>
      </p:sp>
      <p:sp>
        <p:nvSpPr>
          <p:cNvPr id="383" name="Google Shape;383;p23"/>
          <p:cNvSpPr/>
          <p:nvPr/>
        </p:nvSpPr>
        <p:spPr>
          <a:xfrm>
            <a:off x="1066800" y="2974342"/>
            <a:ext cx="6017260" cy="13512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0" i="0" lang="en-US" sz="1200" u="none" cap="none" strike="noStrike">
                <a:solidFill>
                  <a:srgbClr val="CFD8CF"/>
                </a:solidFill>
                <a:latin typeface="DM Sans"/>
                <a:ea typeface="DM Sans"/>
                <a:cs typeface="DM Sans"/>
                <a:sym typeface="DM Sans"/>
              </a:rPr>
              <a:t>She's been a waste picker in Cimahi for years, and a LoopCycle partner since 2018. Before registering, she never knew what her plastic would earn from one day to the next. Today her bales are weighed on a public scale, priced at fair-trade rates and paid for the same day. She's one of 3,500 registered pickers who make our recycling supply chain possible. Their work is the first link, and it deserves to be seen.</a:t>
            </a:r>
            <a:endParaRPr b="0" i="0" sz="1200" u="none" cap="none" strike="noStrike">
              <a:solidFill>
                <a:schemeClr val="dk1"/>
              </a:solidFill>
              <a:latin typeface="Calibri"/>
              <a:ea typeface="Calibri"/>
              <a:cs typeface="Calibri"/>
              <a:sym typeface="Calibri"/>
            </a:endParaRPr>
          </a:p>
        </p:txBody>
      </p:sp>
      <p:sp>
        <p:nvSpPr>
          <p:cNvPr id="384" name="Google Shape;384;p23"/>
          <p:cNvSpPr/>
          <p:nvPr/>
        </p:nvSpPr>
        <p:spPr>
          <a:xfrm>
            <a:off x="1066800" y="4401815"/>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0" i="0" lang="en-US" sz="1200" u="none" cap="none" strike="noStrike">
                <a:solidFill>
                  <a:srgbClr val="CFD8CF"/>
                </a:solidFill>
                <a:latin typeface="DM Sans"/>
                <a:ea typeface="DM Sans"/>
                <a:cs typeface="DM Sans"/>
                <a:sym typeface="DM Sans"/>
              </a:rPr>
              <a:t>👉 Watch to the end, and tell us: what would you like to ask a picker?</a:t>
            </a:r>
            <a:endParaRPr b="0" i="0" sz="1200" u="none" cap="none" strike="noStrike">
              <a:solidFill>
                <a:schemeClr val="dk1"/>
              </a:solidFill>
              <a:latin typeface="Calibri"/>
              <a:ea typeface="Calibri"/>
              <a:cs typeface="Calibri"/>
              <a:sym typeface="Calibri"/>
            </a:endParaRPr>
          </a:p>
        </p:txBody>
      </p:sp>
      <p:sp>
        <p:nvSpPr>
          <p:cNvPr id="385" name="Google Shape;385;p23"/>
          <p:cNvSpPr/>
          <p:nvPr/>
        </p:nvSpPr>
        <p:spPr>
          <a:xfrm>
            <a:off x="1066800" y="4724400"/>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#wastepickers #socialenterprise #circulareconomy #Bandung #fairtrade</a:t>
            </a:r>
            <a:endParaRPr b="0" i="0" sz="1200" u="none" cap="none" strike="noStrike">
              <a:solidFill>
                <a:schemeClr val="dk1"/>
              </a:solidFill>
              <a:latin typeface="Calibri"/>
              <a:ea typeface="Calibri"/>
              <a:cs typeface="Calibri"/>
              <a:sym typeface="Calibri"/>
            </a:endParaRPr>
          </a:p>
        </p:txBody>
      </p:sp>
      <p:sp>
        <p:nvSpPr>
          <p:cNvPr id="386" name="Google Shape;386;p23"/>
          <p:cNvSpPr/>
          <p:nvPr/>
        </p:nvSpPr>
        <p:spPr>
          <a:xfrm>
            <a:off x="7538720" y="2037085"/>
            <a:ext cx="3950208" cy="844550"/>
          </a:xfrm>
          <a:prstGeom prst="rect">
            <a:avLst/>
          </a:prstGeom>
          <a:noFill/>
          <a:ln>
            <a:noFill/>
          </a:ln>
        </p:spPr>
        <p:txBody>
          <a:bodyPr anchorCtr="0" anchor="t" bIns="0" lIns="0" spcFirstLastPara="1" rIns="0" wrap="square" tIns="0">
            <a:noAutofit/>
          </a:bodyPr>
          <a:lstStyle/>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She is the subject, not the brand</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A question sets up a follow-up reel</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Alt text keeps it accessible</a:t>
            </a:r>
            <a:endParaRPr b="0" i="0" sz="1500" u="none" cap="none" strike="noStrike">
              <a:solidFill>
                <a:schemeClr val="dk1"/>
              </a:solidFill>
              <a:latin typeface="Calibri"/>
              <a:ea typeface="Calibri"/>
              <a:cs typeface="Calibri"/>
              <a:sym typeface="Calibri"/>
            </a:endParaRPr>
          </a:p>
        </p:txBody>
      </p:sp>
      <p:sp>
        <p:nvSpPr>
          <p:cNvPr id="387" name="Google Shape;387;p23"/>
          <p:cNvSpPr/>
          <p:nvPr/>
        </p:nvSpPr>
        <p:spPr>
          <a:xfrm>
            <a:off x="7473950" y="3287669"/>
            <a:ext cx="3898800" cy="1592700"/>
          </a:xfrm>
          <a:prstGeom prst="roundRect">
            <a:avLst>
              <a:gd fmla="val 7576" name="adj"/>
            </a:avLst>
          </a:prstGeom>
          <a:solidFill>
            <a:srgbClr val="FFFDF8"/>
          </a:solidFill>
          <a:ln cap="flat" cmpd="sng" w="12700">
            <a:solidFill>
              <a:srgbClr val="B553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23"/>
          <p:cNvSpPr/>
          <p:nvPr/>
        </p:nvSpPr>
        <p:spPr>
          <a:xfrm>
            <a:off x="7683500" y="3497219"/>
            <a:ext cx="3584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SPOT THE SLIP</a:t>
            </a:r>
            <a:endParaRPr b="0" i="0" sz="1200" u="none" cap="none" strike="noStrike">
              <a:solidFill>
                <a:schemeClr val="dk1"/>
              </a:solidFill>
              <a:latin typeface="Calibri"/>
              <a:ea typeface="Calibri"/>
              <a:cs typeface="Calibri"/>
              <a:sym typeface="Calibri"/>
            </a:endParaRPr>
          </a:p>
        </p:txBody>
      </p:sp>
      <p:sp>
        <p:nvSpPr>
          <p:cNvPr id="389" name="Google Shape;389;p23"/>
          <p:cNvSpPr/>
          <p:nvPr/>
        </p:nvSpPr>
        <p:spPr>
          <a:xfrm>
            <a:off x="7683500" y="3786776"/>
            <a:ext cx="3584100" cy="9093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F2A24"/>
              </a:buClr>
              <a:buSzPts val="1200"/>
              <a:buFont typeface="DM Sans"/>
              <a:buNone/>
            </a:pPr>
            <a:r>
              <a:rPr b="0" i="0" lang="en-US" sz="1200" u="none" cap="none" strike="noStrike">
                <a:solidFill>
                  <a:srgbClr val="1F2A24"/>
                </a:solidFill>
                <a:latin typeface="DM Sans"/>
                <a:ea typeface="DM Sans"/>
                <a:cs typeface="DM Sans"/>
                <a:sym typeface="DM Sans"/>
              </a:rPr>
              <a:t>Her interview: started picking in 2018. The caption: a picker for years, a partner since 2018. Ask the AI: “Compare the script and caption. List any facts that don't match.”</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5532B"/>
        </a:solidFill>
      </p:bgPr>
    </p:bg>
    <p:spTree>
      <p:nvGrpSpPr>
        <p:cNvPr id="394" name="Shape 394"/>
        <p:cNvGrpSpPr/>
        <p:nvPr/>
      </p:nvGrpSpPr>
      <p:grpSpPr>
        <a:xfrm>
          <a:off x="0" y="0"/>
          <a:ext cx="0" cy="0"/>
          <a:chOff x="0" y="0"/>
          <a:chExt cx="0" cy="0"/>
        </a:xfrm>
      </p:grpSpPr>
      <p:sp>
        <p:nvSpPr>
          <p:cNvPr id="395" name="Google Shape;395;p24"/>
          <p:cNvSpPr/>
          <p:nvPr/>
        </p:nvSpPr>
        <p:spPr>
          <a:xfrm>
            <a:off x="812800" y="19431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BF3E8"/>
              </a:buClr>
              <a:buSzPts val="1200"/>
              <a:buFont typeface="DM Sans"/>
              <a:buNone/>
            </a:pPr>
            <a:r>
              <a:rPr b="1" i="0" lang="en-US" sz="1200" u="none" cap="none" strike="noStrike">
                <a:solidFill>
                  <a:srgbClr val="FBF3E8"/>
                </a:solidFill>
                <a:latin typeface="DM Sans"/>
                <a:ea typeface="DM Sans"/>
                <a:cs typeface="DM Sans"/>
                <a:sym typeface="DM Sans"/>
              </a:rPr>
              <a:t>PART THREE · HANDS-ON</a:t>
            </a:r>
            <a:endParaRPr b="0" i="0" sz="1200" u="none" cap="none" strike="noStrike">
              <a:solidFill>
                <a:schemeClr val="dk1"/>
              </a:solidFill>
              <a:latin typeface="Calibri"/>
              <a:ea typeface="Calibri"/>
              <a:cs typeface="Calibri"/>
              <a:sym typeface="Calibri"/>
            </a:endParaRPr>
          </a:p>
        </p:txBody>
      </p:sp>
      <p:sp>
        <p:nvSpPr>
          <p:cNvPr id="396" name="Google Shape;396;p24"/>
          <p:cNvSpPr/>
          <p:nvPr/>
        </p:nvSpPr>
        <p:spPr>
          <a:xfrm>
            <a:off x="812800" y="2410458"/>
            <a:ext cx="10883392" cy="82550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BF3E8"/>
              </a:buClr>
              <a:buSzPts val="6000"/>
              <a:buFont typeface="Fraunces"/>
              <a:buNone/>
            </a:pPr>
            <a:r>
              <a:rPr b="0" i="0" lang="en-US" sz="6000" u="none" cap="none" strike="noStrike">
                <a:solidFill>
                  <a:srgbClr val="FBF3E8"/>
                </a:solidFill>
                <a:latin typeface="Fraunces"/>
                <a:ea typeface="Fraunces"/>
                <a:cs typeface="Fraunces"/>
                <a:sym typeface="Fraunces"/>
              </a:rPr>
              <a:t>Launch the Loop Tote.</a:t>
            </a:r>
            <a:endParaRPr b="0" i="0" sz="6000" u="none" cap="none" strike="noStrike">
              <a:solidFill>
                <a:schemeClr val="dk1"/>
              </a:solidFill>
              <a:latin typeface="Calibri"/>
              <a:ea typeface="Calibri"/>
              <a:cs typeface="Calibri"/>
              <a:sym typeface="Calibri"/>
            </a:endParaRPr>
          </a:p>
        </p:txBody>
      </p:sp>
      <p:sp>
        <p:nvSpPr>
          <p:cNvPr id="397" name="Google Shape;397;p24"/>
          <p:cNvSpPr/>
          <p:nvPr/>
        </p:nvSpPr>
        <p:spPr>
          <a:xfrm>
            <a:off x="812800" y="3464558"/>
            <a:ext cx="9156700" cy="75184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BF3E8"/>
              </a:buClr>
              <a:buSzPts val="2200"/>
              <a:buFont typeface="DM Sans"/>
              <a:buNone/>
            </a:pPr>
            <a:r>
              <a:rPr b="0" i="0" lang="en-US" sz="2200" u="none" cap="none" strike="noStrike">
                <a:solidFill>
                  <a:srgbClr val="FBF3E8"/>
                </a:solidFill>
                <a:latin typeface="DM Sans"/>
                <a:ea typeface="DM Sans"/>
                <a:cs typeface="DM Sans"/>
                <a:sym typeface="DM Sans"/>
              </a:rPr>
              <a:t>Four prompts, one launch reel. Work at your own pace in ChatGPT, Claude or Gemini.</a:t>
            </a:r>
            <a:endParaRPr b="0" i="0" sz="2200" u="none" cap="none" strike="noStrike">
              <a:solidFill>
                <a:schemeClr val="dk1"/>
              </a:solidFill>
              <a:latin typeface="Calibri"/>
              <a:ea typeface="Calibri"/>
              <a:cs typeface="Calibri"/>
              <a:sym typeface="Calibri"/>
            </a:endParaRPr>
          </a:p>
        </p:txBody>
      </p:sp>
      <p:sp>
        <p:nvSpPr>
          <p:cNvPr id="398" name="Google Shape;398;p24"/>
          <p:cNvSpPr/>
          <p:nvPr/>
        </p:nvSpPr>
        <p:spPr>
          <a:xfrm>
            <a:off x="812800" y="4445000"/>
            <a:ext cx="1319213"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1 · Caption</a:t>
            </a:r>
            <a:endParaRPr b="0" i="0" sz="1500" u="none" cap="none" strike="noStrike">
              <a:solidFill>
                <a:schemeClr val="dk1"/>
              </a:solidFill>
              <a:latin typeface="Calibri"/>
              <a:ea typeface="Calibri"/>
              <a:cs typeface="Calibri"/>
              <a:sym typeface="Calibri"/>
            </a:endParaRPr>
          </a:p>
        </p:txBody>
      </p:sp>
      <p:sp>
        <p:nvSpPr>
          <p:cNvPr id="399" name="Google Shape;399;p24"/>
          <p:cNvSpPr/>
          <p:nvPr/>
        </p:nvSpPr>
        <p:spPr>
          <a:xfrm>
            <a:off x="2284413" y="4445000"/>
            <a:ext cx="1889337"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2 · Video prompt</a:t>
            </a:r>
            <a:endParaRPr b="0" i="0" sz="1500" u="none" cap="none" strike="noStrike">
              <a:solidFill>
                <a:schemeClr val="dk1"/>
              </a:solidFill>
              <a:latin typeface="Calibri"/>
              <a:ea typeface="Calibri"/>
              <a:cs typeface="Calibri"/>
              <a:sym typeface="Calibri"/>
            </a:endParaRPr>
          </a:p>
        </p:txBody>
      </p:sp>
      <p:sp>
        <p:nvSpPr>
          <p:cNvPr id="400" name="Google Shape;400;p24"/>
          <p:cNvSpPr/>
          <p:nvPr/>
        </p:nvSpPr>
        <p:spPr>
          <a:xfrm>
            <a:off x="4326149" y="4445000"/>
            <a:ext cx="1493097"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3 · Hashtags</a:t>
            </a:r>
            <a:endParaRPr b="0" i="0" sz="1500" u="none" cap="none" strike="noStrike">
              <a:solidFill>
                <a:schemeClr val="dk1"/>
              </a:solidFill>
              <a:latin typeface="Calibri"/>
              <a:ea typeface="Calibri"/>
              <a:cs typeface="Calibri"/>
              <a:sym typeface="Calibri"/>
            </a:endParaRPr>
          </a:p>
        </p:txBody>
      </p:sp>
      <p:sp>
        <p:nvSpPr>
          <p:cNvPr id="401" name="Google Shape;401;p24"/>
          <p:cNvSpPr/>
          <p:nvPr/>
        </p:nvSpPr>
        <p:spPr>
          <a:xfrm>
            <a:off x="5971646" y="4445000"/>
            <a:ext cx="2108200"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4 · Three variations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06" name="Shape 406"/>
        <p:cNvGrpSpPr/>
        <p:nvPr/>
      </p:nvGrpSpPr>
      <p:grpSpPr>
        <a:xfrm>
          <a:off x="0" y="0"/>
          <a:ext cx="0" cy="0"/>
          <a:chOff x="0" y="0"/>
          <a:chExt cx="0" cy="0"/>
        </a:xfrm>
      </p:grpSpPr>
      <p:sp>
        <p:nvSpPr>
          <p:cNvPr id="407" name="Google Shape;407;p25"/>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THE BRIEF</a:t>
            </a:r>
            <a:endParaRPr b="0" i="0" sz="1200" u="none" cap="none" strike="noStrike">
              <a:solidFill>
                <a:schemeClr val="dk1"/>
              </a:solidFill>
              <a:latin typeface="Calibri"/>
              <a:ea typeface="Calibri"/>
              <a:cs typeface="Calibri"/>
              <a:sym typeface="Calibri"/>
            </a:endParaRPr>
          </a:p>
        </p:txBody>
      </p:sp>
      <p:sp>
        <p:nvSpPr>
          <p:cNvPr id="408" name="Google Shape;408;p25"/>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Meet the Loop Tote</a:t>
            </a:r>
            <a:endParaRPr b="0" i="0" sz="3600" u="none" cap="none" strike="noStrike">
              <a:solidFill>
                <a:schemeClr val="dk1"/>
              </a:solidFill>
              <a:latin typeface="Calibri"/>
              <a:ea typeface="Calibri"/>
              <a:cs typeface="Calibri"/>
              <a:sym typeface="Calibri"/>
            </a:endParaRPr>
          </a:p>
        </p:txBody>
      </p:sp>
      <p:cxnSp>
        <p:nvCxnSpPr>
          <p:cNvPr id="409" name="Google Shape;409;p25"/>
          <p:cNvCxnSpPr/>
          <p:nvPr/>
        </p:nvCxnSpPr>
        <p:spPr>
          <a:xfrm>
            <a:off x="812800" y="2043435"/>
            <a:ext cx="6350000" cy="0"/>
          </a:xfrm>
          <a:prstGeom prst="straightConnector1">
            <a:avLst/>
          </a:prstGeom>
          <a:noFill/>
          <a:ln cap="flat" cmpd="sng" w="12700">
            <a:solidFill>
              <a:srgbClr val="D9CDB6"/>
            </a:solidFill>
            <a:prstDash val="solid"/>
            <a:round/>
            <a:headEnd len="sm" w="sm" type="none"/>
            <a:tailEnd len="sm" w="sm" type="none"/>
          </a:ln>
        </p:spPr>
      </p:cxnSp>
      <p:sp>
        <p:nvSpPr>
          <p:cNvPr id="410" name="Google Shape;410;p25"/>
          <p:cNvSpPr/>
          <p:nvPr/>
        </p:nvSpPr>
        <p:spPr>
          <a:xfrm>
            <a:off x="812800" y="21513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PRODUCT</a:t>
            </a:r>
            <a:endParaRPr b="0" i="0" sz="1200" u="none" cap="none" strike="noStrike">
              <a:solidFill>
                <a:schemeClr val="dk1"/>
              </a:solidFill>
              <a:latin typeface="Calibri"/>
              <a:ea typeface="Calibri"/>
              <a:cs typeface="Calibri"/>
              <a:sym typeface="Calibri"/>
            </a:endParaRPr>
          </a:p>
        </p:txBody>
      </p:sp>
      <p:sp>
        <p:nvSpPr>
          <p:cNvPr id="411" name="Google Shape;411;p25"/>
          <p:cNvSpPr/>
          <p:nvPr/>
        </p:nvSpPr>
        <p:spPr>
          <a:xfrm>
            <a:off x="2286000" y="21513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 sturdy everyday tote bag</a:t>
            </a:r>
            <a:endParaRPr b="0" i="0" sz="1500" u="none" cap="none" strike="noStrike">
              <a:solidFill>
                <a:schemeClr val="dk1"/>
              </a:solidFill>
              <a:latin typeface="Calibri"/>
              <a:ea typeface="Calibri"/>
              <a:cs typeface="Calibri"/>
              <a:sym typeface="Calibri"/>
            </a:endParaRPr>
          </a:p>
        </p:txBody>
      </p:sp>
      <p:cxnSp>
        <p:nvCxnSpPr>
          <p:cNvPr id="412" name="Google Shape;412;p25"/>
          <p:cNvCxnSpPr/>
          <p:nvPr/>
        </p:nvCxnSpPr>
        <p:spPr>
          <a:xfrm>
            <a:off x="812800" y="2526035"/>
            <a:ext cx="6350000" cy="0"/>
          </a:xfrm>
          <a:prstGeom prst="straightConnector1">
            <a:avLst/>
          </a:prstGeom>
          <a:noFill/>
          <a:ln cap="flat" cmpd="sng" w="12700">
            <a:solidFill>
              <a:srgbClr val="D9CDB6"/>
            </a:solidFill>
            <a:prstDash val="solid"/>
            <a:round/>
            <a:headEnd len="sm" w="sm" type="none"/>
            <a:tailEnd len="sm" w="sm" type="none"/>
          </a:ln>
        </p:spPr>
      </p:cxnSp>
      <p:sp>
        <p:nvSpPr>
          <p:cNvPr id="413" name="Google Shape;413;p25"/>
          <p:cNvSpPr/>
          <p:nvPr/>
        </p:nvSpPr>
        <p:spPr>
          <a:xfrm>
            <a:off x="812800" y="26339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MADE FROM</a:t>
            </a:r>
            <a:endParaRPr b="0" i="0" sz="1200" u="none" cap="none" strike="noStrike">
              <a:solidFill>
                <a:schemeClr val="dk1"/>
              </a:solidFill>
              <a:latin typeface="Calibri"/>
              <a:ea typeface="Calibri"/>
              <a:cs typeface="Calibri"/>
              <a:sym typeface="Calibri"/>
            </a:endParaRPr>
          </a:p>
        </p:txBody>
      </p:sp>
      <p:sp>
        <p:nvSpPr>
          <p:cNvPr id="414" name="Google Shape;414;p25"/>
          <p:cNvSpPr/>
          <p:nvPr/>
        </p:nvSpPr>
        <p:spPr>
          <a:xfrm>
            <a:off x="2286000" y="26339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14 plastic bottles per tote</a:t>
            </a:r>
            <a:endParaRPr b="0" i="0" sz="1500" u="none" cap="none" strike="noStrike">
              <a:solidFill>
                <a:schemeClr val="dk1"/>
              </a:solidFill>
              <a:latin typeface="Calibri"/>
              <a:ea typeface="Calibri"/>
              <a:cs typeface="Calibri"/>
              <a:sym typeface="Calibri"/>
            </a:endParaRPr>
          </a:p>
        </p:txBody>
      </p:sp>
      <p:cxnSp>
        <p:nvCxnSpPr>
          <p:cNvPr id="415" name="Google Shape;415;p25"/>
          <p:cNvCxnSpPr/>
          <p:nvPr/>
        </p:nvCxnSpPr>
        <p:spPr>
          <a:xfrm>
            <a:off x="812800" y="3008635"/>
            <a:ext cx="6350000" cy="0"/>
          </a:xfrm>
          <a:prstGeom prst="straightConnector1">
            <a:avLst/>
          </a:prstGeom>
          <a:noFill/>
          <a:ln cap="flat" cmpd="sng" w="12700">
            <a:solidFill>
              <a:srgbClr val="D9CDB6"/>
            </a:solidFill>
            <a:prstDash val="solid"/>
            <a:round/>
            <a:headEnd len="sm" w="sm" type="none"/>
            <a:tailEnd len="sm" w="sm" type="none"/>
          </a:ln>
        </p:spPr>
      </p:cxnSp>
      <p:sp>
        <p:nvSpPr>
          <p:cNvPr id="416" name="Google Shape;416;p25"/>
          <p:cNvSpPr/>
          <p:nvPr/>
        </p:nvSpPr>
        <p:spPr>
          <a:xfrm>
            <a:off x="812800" y="31165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SOURCED</a:t>
            </a:r>
            <a:endParaRPr b="0" i="0" sz="1200" u="none" cap="none" strike="noStrike">
              <a:solidFill>
                <a:schemeClr val="dk1"/>
              </a:solidFill>
              <a:latin typeface="Calibri"/>
              <a:ea typeface="Calibri"/>
              <a:cs typeface="Calibri"/>
              <a:sym typeface="Calibri"/>
            </a:endParaRPr>
          </a:p>
        </p:txBody>
      </p:sp>
      <p:sp>
        <p:nvSpPr>
          <p:cNvPr id="417" name="Google Shape;417;p25"/>
          <p:cNvSpPr/>
          <p:nvPr/>
        </p:nvSpPr>
        <p:spPr>
          <a:xfrm>
            <a:off x="2286000" y="31165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Collected by registered pickers across West Java</a:t>
            </a:r>
            <a:endParaRPr b="0" i="0" sz="1500" u="none" cap="none" strike="noStrike">
              <a:solidFill>
                <a:schemeClr val="dk1"/>
              </a:solidFill>
              <a:latin typeface="Calibri"/>
              <a:ea typeface="Calibri"/>
              <a:cs typeface="Calibri"/>
              <a:sym typeface="Calibri"/>
            </a:endParaRPr>
          </a:p>
        </p:txBody>
      </p:sp>
      <p:cxnSp>
        <p:nvCxnSpPr>
          <p:cNvPr id="418" name="Google Shape;418;p25"/>
          <p:cNvCxnSpPr/>
          <p:nvPr/>
        </p:nvCxnSpPr>
        <p:spPr>
          <a:xfrm>
            <a:off x="812800" y="3491235"/>
            <a:ext cx="6350000" cy="0"/>
          </a:xfrm>
          <a:prstGeom prst="straightConnector1">
            <a:avLst/>
          </a:prstGeom>
          <a:noFill/>
          <a:ln cap="flat" cmpd="sng" w="12700">
            <a:solidFill>
              <a:srgbClr val="D9CDB6"/>
            </a:solidFill>
            <a:prstDash val="solid"/>
            <a:round/>
            <a:headEnd len="sm" w="sm" type="none"/>
            <a:tailEnd len="sm" w="sm" type="none"/>
          </a:ln>
        </p:spPr>
      </p:cxnSp>
      <p:sp>
        <p:nvSpPr>
          <p:cNvPr id="419" name="Google Shape;419;p25"/>
          <p:cNvSpPr/>
          <p:nvPr/>
        </p:nvSpPr>
        <p:spPr>
          <a:xfrm>
            <a:off x="812800" y="35991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MADE</a:t>
            </a:r>
            <a:endParaRPr b="0" i="0" sz="1200" u="none" cap="none" strike="noStrike">
              <a:solidFill>
                <a:schemeClr val="dk1"/>
              </a:solidFill>
              <a:latin typeface="Calibri"/>
              <a:ea typeface="Calibri"/>
              <a:cs typeface="Calibri"/>
              <a:sym typeface="Calibri"/>
            </a:endParaRPr>
          </a:p>
        </p:txBody>
      </p:sp>
      <p:sp>
        <p:nvSpPr>
          <p:cNvPr id="420" name="Google Shape;420;p25"/>
          <p:cNvSpPr/>
          <p:nvPr/>
        </p:nvSpPr>
        <p:spPr>
          <a:xfrm>
            <a:off x="2286000" y="35991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Washed at our Bandung plant, then woven</a:t>
            </a:r>
            <a:endParaRPr b="0" i="0" sz="1500" u="none" cap="none" strike="noStrike">
              <a:solidFill>
                <a:schemeClr val="dk1"/>
              </a:solidFill>
              <a:latin typeface="Calibri"/>
              <a:ea typeface="Calibri"/>
              <a:cs typeface="Calibri"/>
              <a:sym typeface="Calibri"/>
            </a:endParaRPr>
          </a:p>
        </p:txBody>
      </p:sp>
      <p:cxnSp>
        <p:nvCxnSpPr>
          <p:cNvPr id="421" name="Google Shape;421;p25"/>
          <p:cNvCxnSpPr/>
          <p:nvPr/>
        </p:nvCxnSpPr>
        <p:spPr>
          <a:xfrm>
            <a:off x="812800" y="3973835"/>
            <a:ext cx="6350000" cy="0"/>
          </a:xfrm>
          <a:prstGeom prst="straightConnector1">
            <a:avLst/>
          </a:prstGeom>
          <a:noFill/>
          <a:ln cap="flat" cmpd="sng" w="12700">
            <a:solidFill>
              <a:srgbClr val="D9CDB6"/>
            </a:solidFill>
            <a:prstDash val="solid"/>
            <a:round/>
            <a:headEnd len="sm" w="sm" type="none"/>
            <a:tailEnd len="sm" w="sm" type="none"/>
          </a:ln>
        </p:spPr>
      </p:cxnSp>
      <p:sp>
        <p:nvSpPr>
          <p:cNvPr id="422" name="Google Shape;422;p25"/>
          <p:cNvSpPr/>
          <p:nvPr/>
        </p:nvSpPr>
        <p:spPr>
          <a:xfrm>
            <a:off x="812800" y="40817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COLOURS</a:t>
            </a:r>
            <a:endParaRPr b="0" i="0" sz="1200" u="none" cap="none" strike="noStrike">
              <a:solidFill>
                <a:schemeClr val="dk1"/>
              </a:solidFill>
              <a:latin typeface="Calibri"/>
              <a:ea typeface="Calibri"/>
              <a:cs typeface="Calibri"/>
              <a:sym typeface="Calibri"/>
            </a:endParaRPr>
          </a:p>
        </p:txBody>
      </p:sp>
      <p:sp>
        <p:nvSpPr>
          <p:cNvPr id="423" name="Google Shape;423;p25"/>
          <p:cNvSpPr/>
          <p:nvPr/>
        </p:nvSpPr>
        <p:spPr>
          <a:xfrm>
            <a:off x="2286000" y="40817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Sea-green, indigo, sand</a:t>
            </a:r>
            <a:endParaRPr b="0" i="0" sz="1500" u="none" cap="none" strike="noStrike">
              <a:solidFill>
                <a:schemeClr val="dk1"/>
              </a:solidFill>
              <a:latin typeface="Calibri"/>
              <a:ea typeface="Calibri"/>
              <a:cs typeface="Calibri"/>
              <a:sym typeface="Calibri"/>
            </a:endParaRPr>
          </a:p>
        </p:txBody>
      </p:sp>
      <p:cxnSp>
        <p:nvCxnSpPr>
          <p:cNvPr id="424" name="Google Shape;424;p25"/>
          <p:cNvCxnSpPr/>
          <p:nvPr/>
        </p:nvCxnSpPr>
        <p:spPr>
          <a:xfrm>
            <a:off x="812800" y="4456435"/>
            <a:ext cx="6350000" cy="0"/>
          </a:xfrm>
          <a:prstGeom prst="straightConnector1">
            <a:avLst/>
          </a:prstGeom>
          <a:noFill/>
          <a:ln cap="flat" cmpd="sng" w="12700">
            <a:solidFill>
              <a:srgbClr val="D9CDB6"/>
            </a:solidFill>
            <a:prstDash val="solid"/>
            <a:round/>
            <a:headEnd len="sm" w="sm" type="none"/>
            <a:tailEnd len="sm" w="sm" type="none"/>
          </a:ln>
        </p:spPr>
      </p:cxnSp>
      <p:sp>
        <p:nvSpPr>
          <p:cNvPr id="425" name="Google Shape;425;p25"/>
          <p:cNvSpPr/>
          <p:nvPr/>
        </p:nvSpPr>
        <p:spPr>
          <a:xfrm>
            <a:off x="812800" y="45643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IMPACT</a:t>
            </a:r>
            <a:endParaRPr b="0" i="0" sz="1200" u="none" cap="none" strike="noStrike">
              <a:solidFill>
                <a:schemeClr val="dk1"/>
              </a:solidFill>
              <a:latin typeface="Calibri"/>
              <a:ea typeface="Calibri"/>
              <a:cs typeface="Calibri"/>
              <a:sym typeface="Calibri"/>
            </a:endParaRPr>
          </a:p>
        </p:txBody>
      </p:sp>
      <p:sp>
        <p:nvSpPr>
          <p:cNvPr id="426" name="Google Shape;426;p25"/>
          <p:cNvSpPr/>
          <p:nvPr/>
        </p:nvSpPr>
        <p:spPr>
          <a:xfrm>
            <a:off x="2286000" y="45643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Every purchase pays pickers fair-trade rates</a:t>
            </a:r>
            <a:endParaRPr b="0" i="0" sz="1500" u="none" cap="none" strike="noStrike">
              <a:solidFill>
                <a:schemeClr val="dk1"/>
              </a:solidFill>
              <a:latin typeface="Calibri"/>
              <a:ea typeface="Calibri"/>
              <a:cs typeface="Calibri"/>
              <a:sym typeface="Calibri"/>
            </a:endParaRPr>
          </a:p>
        </p:txBody>
      </p:sp>
      <p:cxnSp>
        <p:nvCxnSpPr>
          <p:cNvPr id="427" name="Google Shape;427;p25"/>
          <p:cNvCxnSpPr/>
          <p:nvPr/>
        </p:nvCxnSpPr>
        <p:spPr>
          <a:xfrm>
            <a:off x="812800" y="4939035"/>
            <a:ext cx="6350000" cy="0"/>
          </a:xfrm>
          <a:prstGeom prst="straightConnector1">
            <a:avLst/>
          </a:prstGeom>
          <a:noFill/>
          <a:ln cap="flat" cmpd="sng" w="12700">
            <a:solidFill>
              <a:srgbClr val="D9CDB6"/>
            </a:solidFill>
            <a:prstDash val="solid"/>
            <a:round/>
            <a:headEnd len="sm" w="sm" type="none"/>
            <a:tailEnd len="sm" w="sm" type="none"/>
          </a:ln>
        </p:spPr>
      </p:cxnSp>
      <p:cxnSp>
        <p:nvCxnSpPr>
          <p:cNvPr id="428" name="Google Shape;428;p25"/>
          <p:cNvCxnSpPr/>
          <p:nvPr/>
        </p:nvCxnSpPr>
        <p:spPr>
          <a:xfrm>
            <a:off x="812800" y="5421635"/>
            <a:ext cx="6350000" cy="0"/>
          </a:xfrm>
          <a:prstGeom prst="straightConnector1">
            <a:avLst/>
          </a:prstGeom>
          <a:noFill/>
          <a:ln cap="flat" cmpd="sng" w="12700">
            <a:solidFill>
              <a:srgbClr val="D9CDB6"/>
            </a:solidFill>
            <a:prstDash val="solid"/>
            <a:round/>
            <a:headEnd len="sm" w="sm" type="none"/>
            <a:tailEnd len="sm" w="sm" type="none"/>
          </a:ln>
        </p:spPr>
      </p:cxnSp>
      <p:sp>
        <p:nvSpPr>
          <p:cNvPr id="429" name="Google Shape;429;p25"/>
          <p:cNvSpPr/>
          <p:nvPr/>
        </p:nvSpPr>
        <p:spPr>
          <a:xfrm>
            <a:off x="812800" y="50469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LAUNCH</a:t>
            </a:r>
            <a:endParaRPr b="0" i="0" sz="1200" u="none" cap="none" strike="noStrike">
              <a:solidFill>
                <a:schemeClr val="dk1"/>
              </a:solidFill>
              <a:latin typeface="Calibri"/>
              <a:ea typeface="Calibri"/>
              <a:cs typeface="Calibri"/>
              <a:sym typeface="Calibri"/>
            </a:endParaRPr>
          </a:p>
        </p:txBody>
      </p:sp>
      <p:sp>
        <p:nvSpPr>
          <p:cNvPr id="430" name="Google Shape;430;p25"/>
          <p:cNvSpPr/>
          <p:nvPr/>
        </p:nvSpPr>
        <p:spPr>
          <a:xfrm>
            <a:off x="2286000" y="50469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lang="en-US" sz="1500">
                <a:solidFill>
                  <a:srgbClr val="1F2A24"/>
                </a:solidFill>
                <a:latin typeface="DM Sans"/>
                <a:ea typeface="DM Sans"/>
                <a:cs typeface="DM Sans"/>
                <a:sym typeface="DM Sans"/>
              </a:rPr>
              <a:t>https://looptote.netlify.app/</a:t>
            </a:r>
            <a:endParaRPr b="0" i="0" sz="1500" u="none" cap="none" strike="noStrike">
              <a:solidFill>
                <a:schemeClr val="dk1"/>
              </a:solidFill>
              <a:latin typeface="Calibri"/>
              <a:ea typeface="Calibri"/>
              <a:cs typeface="Calibri"/>
              <a:sym typeface="Calibri"/>
            </a:endParaRPr>
          </a:p>
        </p:txBody>
      </p:sp>
      <p:sp>
        <p:nvSpPr>
          <p:cNvPr id="431" name="Google Shape;431;p25"/>
          <p:cNvSpPr/>
          <p:nvPr/>
        </p:nvSpPr>
        <p:spPr>
          <a:xfrm>
            <a:off x="7467600" y="2037085"/>
            <a:ext cx="3911600" cy="3390900"/>
          </a:xfrm>
          <a:prstGeom prst="roundRect">
            <a:avLst>
              <a:gd fmla="val 449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25"/>
          <p:cNvSpPr/>
          <p:nvPr/>
        </p:nvSpPr>
        <p:spPr>
          <a:xfrm>
            <a:off x="7721600" y="2291085"/>
            <a:ext cx="350570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REEL IDEA</a:t>
            </a:r>
            <a:endParaRPr b="0" i="0" sz="1200" u="none" cap="none" strike="noStrike">
              <a:solidFill>
                <a:schemeClr val="dk1"/>
              </a:solidFill>
              <a:latin typeface="Calibri"/>
              <a:ea typeface="Calibri"/>
              <a:cs typeface="Calibri"/>
              <a:sym typeface="Calibri"/>
            </a:endParaRPr>
          </a:p>
        </p:txBody>
      </p:sp>
      <p:sp>
        <p:nvSpPr>
          <p:cNvPr id="433" name="Google Shape;433;p25"/>
          <p:cNvSpPr/>
          <p:nvPr/>
        </p:nvSpPr>
        <p:spPr>
          <a:xfrm>
            <a:off x="7721600" y="2631442"/>
            <a:ext cx="3505708"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Fast, tactile product reveal.</a:t>
            </a:r>
            <a:endParaRPr b="0" i="0" sz="2200" u="none" cap="none" strike="noStrike">
              <a:solidFill>
                <a:schemeClr val="dk1"/>
              </a:solidFill>
              <a:latin typeface="Calibri"/>
              <a:ea typeface="Calibri"/>
              <a:cs typeface="Calibri"/>
              <a:sym typeface="Calibri"/>
            </a:endParaRPr>
          </a:p>
        </p:txBody>
      </p:sp>
      <p:sp>
        <p:nvSpPr>
          <p:cNvPr id="434" name="Google Shape;434;p25"/>
          <p:cNvSpPr/>
          <p:nvPr/>
        </p:nvSpPr>
        <p:spPr>
          <a:xfrm>
            <a:off x="7721600" y="3568915"/>
            <a:ext cx="3505800" cy="8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FD8CF"/>
              </a:buClr>
              <a:buSzPts val="1500"/>
              <a:buFont typeface="DM Sans"/>
              <a:buNone/>
            </a:pPr>
            <a:r>
              <a:rPr b="0" i="0" lang="en-US" sz="1500" u="none" cap="none" strike="noStrike">
                <a:solidFill>
                  <a:srgbClr val="CFD8CF"/>
                </a:solidFill>
                <a:latin typeface="DM Sans"/>
                <a:ea typeface="DM Sans"/>
                <a:cs typeface="DM Sans"/>
                <a:sym typeface="DM Sans"/>
              </a:rPr>
              <a:t>A pile of 14 clean bottles on a table, then cut to the finished tote in three colours against a Bandung street.</a:t>
            </a:r>
            <a:endParaRPr b="0" i="0" sz="1500" u="none" cap="none" strike="noStrike">
              <a:solidFill>
                <a:schemeClr val="dk1"/>
              </a:solidFill>
              <a:latin typeface="Calibri"/>
              <a:ea typeface="Calibri"/>
              <a:cs typeface="Calibri"/>
              <a:sym typeface="Calibri"/>
            </a:endParaRPr>
          </a:p>
        </p:txBody>
      </p:sp>
      <p:sp>
        <p:nvSpPr>
          <p:cNvPr id="435" name="Google Shape;435;p25"/>
          <p:cNvSpPr/>
          <p:nvPr/>
        </p:nvSpPr>
        <p:spPr>
          <a:xfrm>
            <a:off x="7721600" y="4716785"/>
            <a:ext cx="3505708" cy="4826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a:t>
            </a:r>
            <a:r>
              <a:rPr b="0" i="0" lang="en-US" sz="1200" u="none" cap="none" strike="noStrike">
                <a:solidFill>
                  <a:srgbClr val="E3A83E"/>
                </a:solidFill>
                <a:latin typeface="DM Sans"/>
                <a:ea typeface="DM Sans"/>
                <a:cs typeface="DM Sans"/>
                <a:sym typeface="DM Sans"/>
              </a:rPr>
              <a:t>0 seconds</a:t>
            </a:r>
            <a:endParaRPr b="0" i="0" sz="12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Launch: Sat 10 </a:t>
            </a:r>
            <a:r>
              <a:rPr lang="en-US" sz="1200">
                <a:solidFill>
                  <a:srgbClr val="E3A83E"/>
                </a:solidFill>
                <a:latin typeface="DM Sans"/>
                <a:ea typeface="DM Sans"/>
                <a:cs typeface="DM Sans"/>
                <a:sym typeface="DM Sans"/>
              </a:rPr>
              <a:t>Oct</a:t>
            </a:r>
            <a:r>
              <a:rPr b="0" i="0" lang="en-US" sz="1200" u="none" cap="none" strike="noStrike">
                <a:solidFill>
                  <a:srgbClr val="E3A83E"/>
                </a:solidFill>
                <a:latin typeface="DM Sans"/>
                <a:ea typeface="DM Sans"/>
                <a:cs typeface="DM Sans"/>
                <a:sym typeface="DM Sans"/>
              </a:rPr>
              <a:t> 2026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40" name="Shape 440"/>
        <p:cNvGrpSpPr/>
        <p:nvPr/>
      </p:nvGrpSpPr>
      <p:grpSpPr>
        <a:xfrm>
          <a:off x="0" y="0"/>
          <a:ext cx="0" cy="0"/>
          <a:chOff x="0" y="0"/>
          <a:chExt cx="0" cy="0"/>
        </a:xfrm>
      </p:grpSpPr>
      <p:sp>
        <p:nvSpPr>
          <p:cNvPr id="441" name="Google Shape;441;p26"/>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1 OF 4</a:t>
            </a:r>
            <a:endParaRPr b="0" i="0" sz="1200" u="none" cap="none" strike="noStrike">
              <a:solidFill>
                <a:schemeClr val="dk1"/>
              </a:solidFill>
              <a:latin typeface="Calibri"/>
              <a:ea typeface="Calibri"/>
              <a:cs typeface="Calibri"/>
              <a:sym typeface="Calibri"/>
            </a:endParaRPr>
          </a:p>
        </p:txBody>
      </p:sp>
      <p:sp>
        <p:nvSpPr>
          <p:cNvPr id="442" name="Google Shape;442;p26"/>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Write the caption and on-screen text</a:t>
            </a:r>
            <a:endParaRPr b="0" i="0" sz="3600" u="none" cap="none" strike="noStrike">
              <a:solidFill>
                <a:schemeClr val="dk1"/>
              </a:solidFill>
              <a:latin typeface="Calibri"/>
              <a:ea typeface="Calibri"/>
              <a:cs typeface="Calibri"/>
              <a:sym typeface="Calibri"/>
            </a:endParaRPr>
          </a:p>
        </p:txBody>
      </p:sp>
      <p:sp>
        <p:nvSpPr>
          <p:cNvPr id="443" name="Google Shape;443;p26"/>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44" name="Google Shape;444;p26"/>
          <p:cNvSpPr/>
          <p:nvPr/>
        </p:nvSpPr>
        <p:spPr>
          <a:xfrm>
            <a:off x="1244600" y="20370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Open a new chat in ChatGPT, Claude or Gemini.</a:t>
            </a:r>
            <a:endParaRPr b="0" i="0" sz="1500" u="none" cap="none" strike="noStrike">
              <a:solidFill>
                <a:schemeClr val="dk1"/>
              </a:solidFill>
              <a:latin typeface="Calibri"/>
              <a:ea typeface="Calibri"/>
              <a:cs typeface="Calibri"/>
              <a:sym typeface="Calibri"/>
            </a:endParaRPr>
          </a:p>
        </p:txBody>
      </p:sp>
      <p:sp>
        <p:nvSpPr>
          <p:cNvPr id="445" name="Google Shape;445;p26"/>
          <p:cNvSpPr/>
          <p:nvPr/>
        </p:nvSpPr>
        <p:spPr>
          <a:xfrm>
            <a:off x="812800" y="2748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446" name="Google Shape;446;p26"/>
          <p:cNvSpPr/>
          <p:nvPr/>
        </p:nvSpPr>
        <p:spPr>
          <a:xfrm>
            <a:off x="1244600" y="2748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Copy the prompt, fill in the [brackets] and paste the Loop Tote brief at the end.</a:t>
            </a:r>
            <a:endParaRPr b="0" i="0" sz="1500" u="none" cap="none" strike="noStrike">
              <a:solidFill>
                <a:schemeClr val="dk1"/>
              </a:solidFill>
              <a:latin typeface="Calibri"/>
              <a:ea typeface="Calibri"/>
              <a:cs typeface="Calibri"/>
              <a:sym typeface="Calibri"/>
            </a:endParaRPr>
          </a:p>
        </p:txBody>
      </p:sp>
      <p:sp>
        <p:nvSpPr>
          <p:cNvPr id="447" name="Google Shape;447;p26"/>
          <p:cNvSpPr/>
          <p:nvPr/>
        </p:nvSpPr>
        <p:spPr>
          <a:xfrm>
            <a:off x="812800" y="3459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448" name="Google Shape;448;p26"/>
          <p:cNvSpPr/>
          <p:nvPr/>
        </p:nvSpPr>
        <p:spPr>
          <a:xfrm>
            <a:off x="1244600" y="3459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once: “Make the hook more surprising” or “Ask me 3 questions first.”</a:t>
            </a:r>
            <a:endParaRPr b="0" i="0" sz="1500" u="none" cap="none" strike="noStrike">
              <a:solidFill>
                <a:schemeClr val="dk1"/>
              </a:solidFill>
              <a:latin typeface="Calibri"/>
              <a:ea typeface="Calibri"/>
              <a:cs typeface="Calibri"/>
              <a:sym typeface="Calibri"/>
            </a:endParaRPr>
          </a:p>
        </p:txBody>
      </p:sp>
      <p:sp>
        <p:nvSpPr>
          <p:cNvPr id="449" name="Google Shape;449;p26"/>
          <p:cNvSpPr/>
          <p:nvPr/>
        </p:nvSpPr>
        <p:spPr>
          <a:xfrm>
            <a:off x="812800" y="4170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450" name="Google Shape;450;p26"/>
          <p:cNvSpPr/>
          <p:nvPr/>
        </p:nvSpPr>
        <p:spPr>
          <a:xfrm>
            <a:off x="1244600" y="4170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14 bottles, West Java, Bandung, three colours. Nothing invented?</a:t>
            </a:r>
            <a:endParaRPr b="0" i="0" sz="1500" u="none" cap="none" strike="noStrike">
              <a:solidFill>
                <a:schemeClr val="dk1"/>
              </a:solidFill>
              <a:latin typeface="Calibri"/>
              <a:ea typeface="Calibri"/>
              <a:cs typeface="Calibri"/>
              <a:sym typeface="Calibri"/>
            </a:endParaRPr>
          </a:p>
        </p:txBody>
      </p:sp>
      <p:sp>
        <p:nvSpPr>
          <p:cNvPr id="451" name="Google Shape;451;p26"/>
          <p:cNvSpPr/>
          <p:nvPr/>
        </p:nvSpPr>
        <p:spPr>
          <a:xfrm>
            <a:off x="5054600" y="2037085"/>
            <a:ext cx="6324600" cy="3500120"/>
          </a:xfrm>
          <a:prstGeom prst="roundRect">
            <a:avLst>
              <a:gd fmla="val 435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26"/>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453" name="Google Shape;453;p26"/>
          <p:cNvSpPr/>
          <p:nvPr/>
        </p:nvSpPr>
        <p:spPr>
          <a:xfrm>
            <a:off x="5308600" y="2631442"/>
            <a:ext cx="5991098" cy="267716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You are the social media writer for Loop Tote, an Indonesian impact brand that makes bags from recycled plastic bottles.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the text for our Instagram launch reel:</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1. A caption: a hook under 8 words, two short paragraphs, then a call to action. Under 90 words.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2. Three lines of on-screen text: a hook, a middle line and a closing line.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Audience: [who you want to reach]. Tone: warm and proud, not preachy. Use only the facts below and add no new numbers.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[Paste the Loop Tote brief]</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58" name="Shape 458"/>
        <p:cNvGrpSpPr/>
        <p:nvPr/>
      </p:nvGrpSpPr>
      <p:grpSpPr>
        <a:xfrm>
          <a:off x="0" y="0"/>
          <a:ext cx="0" cy="0"/>
          <a:chOff x="0" y="0"/>
          <a:chExt cx="0" cy="0"/>
        </a:xfrm>
      </p:grpSpPr>
      <p:sp>
        <p:nvSpPr>
          <p:cNvPr id="459" name="Google Shape;459;p27"/>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2 OF 4</a:t>
            </a:r>
            <a:endParaRPr b="0" i="0" sz="1200" u="none" cap="none" strike="noStrike">
              <a:solidFill>
                <a:schemeClr val="dk1"/>
              </a:solidFill>
              <a:latin typeface="Calibri"/>
              <a:ea typeface="Calibri"/>
              <a:cs typeface="Calibri"/>
              <a:sym typeface="Calibri"/>
            </a:endParaRPr>
          </a:p>
        </p:txBody>
      </p:sp>
      <p:sp>
        <p:nvSpPr>
          <p:cNvPr id="460" name="Google Shape;460;p27"/>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Turn it into a video prompt</a:t>
            </a:r>
            <a:endParaRPr b="0" i="0" sz="3600" u="none" cap="none" strike="noStrike">
              <a:solidFill>
                <a:schemeClr val="dk1"/>
              </a:solidFill>
              <a:latin typeface="Calibri"/>
              <a:ea typeface="Calibri"/>
              <a:cs typeface="Calibri"/>
              <a:sym typeface="Calibri"/>
            </a:endParaRPr>
          </a:p>
        </p:txBody>
      </p:sp>
      <p:sp>
        <p:nvSpPr>
          <p:cNvPr id="461" name="Google Shape;461;p27"/>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62" name="Google Shape;462;p27"/>
          <p:cNvSpPr/>
          <p:nvPr/>
        </p:nvSpPr>
        <p:spPr>
          <a:xfrm>
            <a:off x="1244600" y="20370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 so it remembers your caption.</a:t>
            </a:r>
            <a:endParaRPr b="0" i="0" sz="1500" u="none" cap="none" strike="noStrike">
              <a:solidFill>
                <a:schemeClr val="dk1"/>
              </a:solidFill>
              <a:latin typeface="Calibri"/>
              <a:ea typeface="Calibri"/>
              <a:cs typeface="Calibri"/>
              <a:sym typeface="Calibri"/>
            </a:endParaRPr>
          </a:p>
        </p:txBody>
      </p:sp>
      <p:sp>
        <p:nvSpPr>
          <p:cNvPr id="463" name="Google Shape;463;p27"/>
          <p:cNvSpPr/>
          <p:nvPr/>
        </p:nvSpPr>
        <p:spPr>
          <a:xfrm>
            <a:off x="812800" y="2748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464" name="Google Shape;464;p27"/>
          <p:cNvSpPr/>
          <p:nvPr/>
        </p:nvSpPr>
        <p:spPr>
          <a:xfrm>
            <a:off x="1244600" y="2748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 Adjust the scenes if you have a better idea.</a:t>
            </a:r>
            <a:endParaRPr b="0" i="0" sz="1500" u="none" cap="none" strike="noStrike">
              <a:solidFill>
                <a:schemeClr val="dk1"/>
              </a:solidFill>
              <a:latin typeface="Calibri"/>
              <a:ea typeface="Calibri"/>
              <a:cs typeface="Calibri"/>
              <a:sym typeface="Calibri"/>
            </a:endParaRPr>
          </a:p>
        </p:txBody>
      </p:sp>
      <p:sp>
        <p:nvSpPr>
          <p:cNvPr id="465" name="Google Shape;465;p27"/>
          <p:cNvSpPr/>
          <p:nvPr/>
        </p:nvSpPr>
        <p:spPr>
          <a:xfrm>
            <a:off x="812800" y="3459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466" name="Google Shape;466;p27"/>
          <p:cNvSpPr/>
          <p:nvPr/>
        </p:nvSpPr>
        <p:spPr>
          <a:xfrm>
            <a:off x="1244600" y="3459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Copy the result into your team's AI video tool and generate.</a:t>
            </a:r>
            <a:endParaRPr b="0" i="0" sz="1500" u="none" cap="none" strike="noStrike">
              <a:solidFill>
                <a:schemeClr val="dk1"/>
              </a:solidFill>
              <a:latin typeface="Calibri"/>
              <a:ea typeface="Calibri"/>
              <a:cs typeface="Calibri"/>
              <a:sym typeface="Calibri"/>
            </a:endParaRPr>
          </a:p>
        </p:txBody>
      </p:sp>
      <p:sp>
        <p:nvSpPr>
          <p:cNvPr id="467" name="Google Shape;467;p27"/>
          <p:cNvSpPr/>
          <p:nvPr/>
        </p:nvSpPr>
        <p:spPr>
          <a:xfrm>
            <a:off x="812800" y="4170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468" name="Google Shape;468;p27"/>
          <p:cNvSpPr/>
          <p:nvPr/>
        </p:nvSpPr>
        <p:spPr>
          <a:xfrm>
            <a:off x="1244600" y="4170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never show AI-made “pickers” as real people. Real faces need real footage.</a:t>
            </a:r>
            <a:endParaRPr b="0" i="0" sz="1500" u="none" cap="none" strike="noStrike">
              <a:solidFill>
                <a:schemeClr val="dk1"/>
              </a:solidFill>
              <a:latin typeface="Calibri"/>
              <a:ea typeface="Calibri"/>
              <a:cs typeface="Calibri"/>
              <a:sym typeface="Calibri"/>
            </a:endParaRPr>
          </a:p>
        </p:txBody>
      </p:sp>
      <p:sp>
        <p:nvSpPr>
          <p:cNvPr id="469" name="Google Shape;469;p27"/>
          <p:cNvSpPr/>
          <p:nvPr/>
        </p:nvSpPr>
        <p:spPr>
          <a:xfrm>
            <a:off x="5054600" y="2037074"/>
            <a:ext cx="6339300" cy="3859800"/>
          </a:xfrm>
          <a:prstGeom prst="roundRect">
            <a:avLst>
              <a:gd fmla="val 435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27"/>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471" name="Google Shape;471;p27"/>
          <p:cNvSpPr/>
          <p:nvPr/>
        </p:nvSpPr>
        <p:spPr>
          <a:xfrm>
            <a:off x="5308600" y="2631442"/>
            <a:ext cx="5991098" cy="267716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Now act as a video director. Write a prompt for an AI video tool to create a </a:t>
            </a:r>
            <a:r>
              <a:rPr lang="en-US" sz="1200">
                <a:solidFill>
                  <a:srgbClr val="F5F0E6"/>
                </a:solidFill>
                <a:latin typeface="DM Sans"/>
                <a:ea typeface="DM Sans"/>
                <a:cs typeface="DM Sans"/>
                <a:sym typeface="DM Sans"/>
              </a:rPr>
              <a:t>1</a:t>
            </a:r>
            <a:r>
              <a:rPr b="0" i="0" lang="en-US" sz="1200" u="none" cap="none" strike="noStrike">
                <a:solidFill>
                  <a:srgbClr val="F5F0E6"/>
                </a:solidFill>
                <a:latin typeface="DM Sans"/>
                <a:ea typeface="DM Sans"/>
                <a:cs typeface="DM Sans"/>
                <a:sym typeface="DM Sans"/>
              </a:rPr>
              <a:t>0-second vertical (9:16) Instagram reel for this launch.</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Describe it shot by shot with timings: what we see, camera movement, lighting, on-screen text and mood.</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Story: a pile of 14 clean plastic bottles on a table → washing, shredding, yarn, weaving → the finished tote in sea-green, indigo and sand, carried on a Bandung street.</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Fast, tactile, bright daylight. Use the on-screen text you wrote. Under 150 words, plain language, no other brands or logos.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76" name="Shape 476"/>
        <p:cNvGrpSpPr/>
        <p:nvPr/>
      </p:nvGrpSpPr>
      <p:grpSpPr>
        <a:xfrm>
          <a:off x="0" y="0"/>
          <a:ext cx="0" cy="0"/>
          <a:chOff x="0" y="0"/>
          <a:chExt cx="0" cy="0"/>
        </a:xfrm>
      </p:grpSpPr>
      <p:sp>
        <p:nvSpPr>
          <p:cNvPr id="477" name="Google Shape;477;p28"/>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3 OF 4</a:t>
            </a:r>
            <a:endParaRPr b="0" i="0" sz="1200" u="none" cap="none" strike="noStrike">
              <a:solidFill>
                <a:schemeClr val="dk1"/>
              </a:solidFill>
              <a:latin typeface="Calibri"/>
              <a:ea typeface="Calibri"/>
              <a:cs typeface="Calibri"/>
              <a:sym typeface="Calibri"/>
            </a:endParaRPr>
          </a:p>
        </p:txBody>
      </p:sp>
      <p:sp>
        <p:nvSpPr>
          <p:cNvPr id="478" name="Google Shape;478;p28"/>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Find the right hashtags</a:t>
            </a:r>
            <a:endParaRPr b="0" i="0" sz="3600" u="none" cap="none" strike="noStrike">
              <a:solidFill>
                <a:schemeClr val="dk1"/>
              </a:solidFill>
              <a:latin typeface="Calibri"/>
              <a:ea typeface="Calibri"/>
              <a:cs typeface="Calibri"/>
              <a:sym typeface="Calibri"/>
            </a:endParaRPr>
          </a:p>
        </p:txBody>
      </p:sp>
      <p:sp>
        <p:nvSpPr>
          <p:cNvPr id="479" name="Google Shape;479;p28"/>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80" name="Google Shape;480;p28"/>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481" name="Google Shape;481;p28"/>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482" name="Google Shape;482;p28"/>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483" name="Google Shape;483;p28"/>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484" name="Google Shape;484;p28"/>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“Which of these are overused or too broad?”</a:t>
            </a:r>
            <a:endParaRPr b="0" i="0" sz="1500" u="none" cap="none" strike="noStrike">
              <a:solidFill>
                <a:schemeClr val="dk1"/>
              </a:solidFill>
              <a:latin typeface="Calibri"/>
              <a:ea typeface="Calibri"/>
              <a:cs typeface="Calibri"/>
              <a:sym typeface="Calibri"/>
            </a:endParaRPr>
          </a:p>
        </p:txBody>
      </p:sp>
      <p:sp>
        <p:nvSpPr>
          <p:cNvPr id="485" name="Google Shape;485;p28"/>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486" name="Google Shape;486;p28"/>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search each hashtag on Instagram. Is it active and on-topic?</a:t>
            </a:r>
            <a:endParaRPr b="0" i="0" sz="1500" u="none" cap="none" strike="noStrike">
              <a:solidFill>
                <a:schemeClr val="dk1"/>
              </a:solidFill>
              <a:latin typeface="Calibri"/>
              <a:ea typeface="Calibri"/>
              <a:cs typeface="Calibri"/>
              <a:sym typeface="Calibri"/>
            </a:endParaRPr>
          </a:p>
        </p:txBody>
      </p:sp>
      <p:sp>
        <p:nvSpPr>
          <p:cNvPr id="487" name="Google Shape;487;p28"/>
          <p:cNvSpPr/>
          <p:nvPr/>
        </p:nvSpPr>
        <p:spPr>
          <a:xfrm>
            <a:off x="5054600" y="2037073"/>
            <a:ext cx="6382500" cy="2769000"/>
          </a:xfrm>
          <a:prstGeom prst="roundRect">
            <a:avLst>
              <a:gd fmla="val 6363"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8"/>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489" name="Google Shape;489;p28"/>
          <p:cNvSpPr/>
          <p:nvPr/>
        </p:nvSpPr>
        <p:spPr>
          <a:xfrm>
            <a:off x="5308600" y="2631442"/>
            <a:ext cx="5991098" cy="157226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Suggest 12 Instagram hashtags for this post:</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3 for the brand and campaign (always include #LoopTote)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5 on the topic: recycled fashion, plastic, sustainability</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4 local ones for Indonesia and Bandung</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Mix popular and niche tags. Give one line on why each fits, then mark the 5 you would use.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94" name="Shape 494"/>
        <p:cNvGrpSpPr/>
        <p:nvPr/>
      </p:nvGrpSpPr>
      <p:grpSpPr>
        <a:xfrm>
          <a:off x="0" y="0"/>
          <a:ext cx="0" cy="0"/>
          <a:chOff x="0" y="0"/>
          <a:chExt cx="0" cy="0"/>
        </a:xfrm>
      </p:grpSpPr>
      <p:sp>
        <p:nvSpPr>
          <p:cNvPr id="495" name="Google Shape;495;p29"/>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4 OF 4</a:t>
            </a:r>
            <a:endParaRPr b="0" i="0" sz="1200" u="none" cap="none" strike="noStrike">
              <a:solidFill>
                <a:schemeClr val="dk1"/>
              </a:solidFill>
              <a:latin typeface="Calibri"/>
              <a:ea typeface="Calibri"/>
              <a:cs typeface="Calibri"/>
              <a:sym typeface="Calibri"/>
            </a:endParaRPr>
          </a:p>
        </p:txBody>
      </p:sp>
      <p:sp>
        <p:nvSpPr>
          <p:cNvPr id="496" name="Google Shape;496;p29"/>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Create three variations</a:t>
            </a:r>
            <a:endParaRPr b="0" i="0" sz="3600" u="none" cap="none" strike="noStrike">
              <a:solidFill>
                <a:schemeClr val="dk1"/>
              </a:solidFill>
              <a:latin typeface="Calibri"/>
              <a:ea typeface="Calibri"/>
              <a:cs typeface="Calibri"/>
              <a:sym typeface="Calibri"/>
            </a:endParaRPr>
          </a:p>
        </p:txBody>
      </p:sp>
      <p:sp>
        <p:nvSpPr>
          <p:cNvPr id="497" name="Google Shape;497;p29"/>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98" name="Google Shape;498;p29"/>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499" name="Google Shape;499;p29"/>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500" name="Google Shape;500;p29"/>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501" name="Google Shape;501;p29"/>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502" name="Google Shape;502;p29"/>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Ask: “Which would you post first, and why?”</a:t>
            </a:r>
            <a:endParaRPr b="0" i="0" sz="1500" u="none" cap="none" strike="noStrike">
              <a:solidFill>
                <a:schemeClr val="dk1"/>
              </a:solidFill>
              <a:latin typeface="Calibri"/>
              <a:ea typeface="Calibri"/>
              <a:cs typeface="Calibri"/>
              <a:sym typeface="Calibri"/>
            </a:endParaRPr>
          </a:p>
        </p:txBody>
      </p:sp>
      <p:sp>
        <p:nvSpPr>
          <p:cNvPr id="503" name="Google Shape;503;p29"/>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504" name="Google Shape;504;p29"/>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are the facts identical in all three? Pick the one you would publish.</a:t>
            </a:r>
            <a:endParaRPr b="0" i="0" sz="1500" u="none" cap="none" strike="noStrike">
              <a:solidFill>
                <a:schemeClr val="dk1"/>
              </a:solidFill>
              <a:latin typeface="Calibri"/>
              <a:ea typeface="Calibri"/>
              <a:cs typeface="Calibri"/>
              <a:sym typeface="Calibri"/>
            </a:endParaRPr>
          </a:p>
        </p:txBody>
      </p:sp>
      <p:sp>
        <p:nvSpPr>
          <p:cNvPr id="505" name="Google Shape;505;p29"/>
          <p:cNvSpPr/>
          <p:nvPr/>
        </p:nvSpPr>
        <p:spPr>
          <a:xfrm>
            <a:off x="5054600" y="2037073"/>
            <a:ext cx="6350100" cy="3125400"/>
          </a:xfrm>
          <a:prstGeom prst="roundRect">
            <a:avLst>
              <a:gd fmla="val 582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29"/>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507" name="Google Shape;507;p29"/>
          <p:cNvSpPr/>
          <p:nvPr/>
        </p:nvSpPr>
        <p:spPr>
          <a:xfrm>
            <a:off x="5308600" y="2631442"/>
            <a:ext cx="5991098" cy="179324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3 variations of the caption, each with 5 hashtags, from three angles: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 The people: the pickers of West Java and fair-trade pay</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B. The style: three colours for everyday life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C. The number: 14 bottles, 1 bag</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Keep every fact the same. Under 90 words each. Label them A, B and C.</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Then add a short table comparing the hook, tone and best audience for each.</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512" name="Shape 512"/>
        <p:cNvGrpSpPr/>
        <p:nvPr/>
      </p:nvGrpSpPr>
      <p:grpSpPr>
        <a:xfrm>
          <a:off x="0" y="0"/>
          <a:ext cx="0" cy="0"/>
          <a:chOff x="0" y="0"/>
          <a:chExt cx="0" cy="0"/>
        </a:xfrm>
      </p:grpSpPr>
      <p:sp>
        <p:nvSpPr>
          <p:cNvPr id="513" name="Google Shape;513;p30"/>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COMPARE</a:t>
            </a:r>
            <a:endParaRPr b="0" i="0" sz="1200" u="none" cap="none" strike="noStrike">
              <a:solidFill>
                <a:schemeClr val="dk1"/>
              </a:solidFill>
              <a:latin typeface="Calibri"/>
              <a:ea typeface="Calibri"/>
              <a:cs typeface="Calibri"/>
              <a:sym typeface="Calibri"/>
            </a:endParaRPr>
          </a:p>
        </p:txBody>
      </p:sp>
      <p:sp>
        <p:nvSpPr>
          <p:cNvPr id="514" name="Google Shape;514;p30"/>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How does yours compare?</a:t>
            </a:r>
            <a:endParaRPr b="0" i="0" sz="3600" u="none" cap="none" strike="noStrike">
              <a:solidFill>
                <a:schemeClr val="dk1"/>
              </a:solidFill>
              <a:latin typeface="Calibri"/>
              <a:ea typeface="Calibri"/>
              <a:cs typeface="Calibri"/>
              <a:sym typeface="Calibri"/>
            </a:endParaRPr>
          </a:p>
        </p:txBody>
      </p:sp>
      <p:sp>
        <p:nvSpPr>
          <p:cNvPr id="515" name="Google Shape;515;p30"/>
          <p:cNvSpPr/>
          <p:nvPr/>
        </p:nvSpPr>
        <p:spPr>
          <a:xfrm>
            <a:off x="812800" y="2037085"/>
            <a:ext cx="6350000" cy="2720340"/>
          </a:xfrm>
          <a:prstGeom prst="roundRect">
            <a:avLst>
              <a:gd fmla="val 5602"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30"/>
          <p:cNvSpPr/>
          <p:nvPr/>
        </p:nvSpPr>
        <p:spPr>
          <a:xfrm>
            <a:off x="1066800" y="2291085"/>
            <a:ext cx="601726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BRAND'S LAUNCH CAPTION</a:t>
            </a:r>
            <a:endParaRPr b="0" i="0" sz="1200" u="none" cap="none" strike="noStrike">
              <a:solidFill>
                <a:schemeClr val="dk1"/>
              </a:solidFill>
              <a:latin typeface="Calibri"/>
              <a:ea typeface="Calibri"/>
              <a:cs typeface="Calibri"/>
              <a:sym typeface="Calibri"/>
            </a:endParaRPr>
          </a:p>
        </p:txBody>
      </p:sp>
      <p:sp>
        <p:nvSpPr>
          <p:cNvPr id="517" name="Google Shape;517;p30"/>
          <p:cNvSpPr/>
          <p:nvPr/>
        </p:nvSpPr>
        <p:spPr>
          <a:xfrm>
            <a:off x="1066800" y="2606042"/>
            <a:ext cx="601726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14 bottles. 1 bag. Meet the Loop Tote ♻️</a:t>
            </a:r>
            <a:endParaRPr b="0" i="0" sz="1500" u="none" cap="none" strike="noStrike">
              <a:solidFill>
                <a:schemeClr val="dk1"/>
              </a:solidFill>
              <a:latin typeface="Calibri"/>
              <a:ea typeface="Calibri"/>
              <a:cs typeface="Calibri"/>
              <a:sym typeface="Calibri"/>
            </a:endParaRPr>
          </a:p>
        </p:txBody>
      </p:sp>
      <p:sp>
        <p:nvSpPr>
          <p:cNvPr id="518" name="Google Shape;518;p30"/>
          <p:cNvSpPr/>
          <p:nvPr/>
        </p:nvSpPr>
        <p:spPr>
          <a:xfrm>
            <a:off x="1066800" y="2974342"/>
            <a:ext cx="6017260" cy="90932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0" i="0" lang="en-US" sz="1200" u="none" cap="none" strike="noStrike">
                <a:solidFill>
                  <a:srgbClr val="CFD8CF"/>
                </a:solidFill>
                <a:latin typeface="DM Sans"/>
                <a:ea typeface="DM Sans"/>
                <a:cs typeface="DM Sans"/>
                <a:sym typeface="DM Sans"/>
              </a:rPr>
              <a:t>Every tote is made from 14 plastic bottles collected by registered pickers across West Java, washed at our Bandung plant and woven into a sturdy everyday bag. Now available in three colours. Every purchase pays pickers fair-trade rates, for real. Tap the link in bio to get yours.</a:t>
            </a:r>
            <a:endParaRPr b="0" i="0" sz="1200" u="none" cap="none" strike="noStrike">
              <a:solidFill>
                <a:schemeClr val="dk1"/>
              </a:solidFill>
              <a:latin typeface="Calibri"/>
              <a:ea typeface="Calibri"/>
              <a:cs typeface="Calibri"/>
              <a:sym typeface="Calibri"/>
            </a:endParaRPr>
          </a:p>
        </p:txBody>
      </p:sp>
      <p:sp>
        <p:nvSpPr>
          <p:cNvPr id="519" name="Google Shape;519;p30"/>
          <p:cNvSpPr/>
          <p:nvPr/>
        </p:nvSpPr>
        <p:spPr>
          <a:xfrm>
            <a:off x="1066800" y="3959858"/>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#LoopTote #recycledfashion #sustainablestyle #plasticfree #madeinindonesia</a:t>
            </a:r>
            <a:endParaRPr b="0" i="0" sz="1200" u="none" cap="none" strike="noStrike">
              <a:solidFill>
                <a:schemeClr val="dk1"/>
              </a:solidFill>
              <a:latin typeface="Calibri"/>
              <a:ea typeface="Calibri"/>
              <a:cs typeface="Calibri"/>
              <a:sym typeface="Calibri"/>
            </a:endParaRPr>
          </a:p>
        </p:txBody>
      </p:sp>
      <p:sp>
        <p:nvSpPr>
          <p:cNvPr id="520" name="Google Shape;520;p30"/>
          <p:cNvSpPr/>
          <p:nvPr/>
        </p:nvSpPr>
        <p:spPr>
          <a:xfrm>
            <a:off x="1066800" y="4282442"/>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1" i="0" lang="en-US" sz="1200" u="none" cap="none" strike="noStrike">
                <a:solidFill>
                  <a:srgbClr val="CFD8CF"/>
                </a:solidFill>
                <a:latin typeface="DM Sans"/>
                <a:ea typeface="DM Sans"/>
                <a:cs typeface="DM Sans"/>
                <a:sym typeface="DM Sans"/>
              </a:rPr>
              <a:t>Engagement question:</a:t>
            </a:r>
            <a:r>
              <a:rPr b="0" i="0" lang="en-US" sz="1200" u="none" cap="none" strike="noStrike">
                <a:solidFill>
                  <a:srgbClr val="CFD8CF"/>
                </a:solidFill>
                <a:latin typeface="DM Sans"/>
                <a:ea typeface="DM Sans"/>
                <a:cs typeface="DM Sans"/>
                <a:sym typeface="DM Sans"/>
              </a:rPr>
              <a:t> “Which colour are you? Sea-green, indigo or sand?”</a:t>
            </a:r>
            <a:endParaRPr b="0" i="0" sz="1200" u="none" cap="none" strike="noStrike">
              <a:solidFill>
                <a:schemeClr val="dk1"/>
              </a:solidFill>
              <a:latin typeface="Calibri"/>
              <a:ea typeface="Calibri"/>
              <a:cs typeface="Calibri"/>
              <a:sym typeface="Calibri"/>
            </a:endParaRPr>
          </a:p>
        </p:txBody>
      </p:sp>
      <p:sp>
        <p:nvSpPr>
          <p:cNvPr id="521" name="Google Shape;521;p30"/>
          <p:cNvSpPr/>
          <p:nvPr/>
        </p:nvSpPr>
        <p:spPr>
          <a:xfrm>
            <a:off x="7538720" y="2037085"/>
            <a:ext cx="3950208" cy="1377950"/>
          </a:xfrm>
          <a:prstGeom prst="rect">
            <a:avLst/>
          </a:prstGeom>
          <a:noFill/>
          <a:ln>
            <a:noFill/>
          </a:ln>
        </p:spPr>
        <p:txBody>
          <a:bodyPr anchorCtr="0" anchor="t" bIns="0" lIns="0" spcFirstLastPara="1" rIns="0" wrap="square" tIns="0">
            <a:noAutofit/>
          </a:bodyPr>
          <a:lstStyle/>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What did your version do better?</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What did the brand include that yours missed?</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Which of your variations would you publish?</a:t>
            </a:r>
            <a:endParaRPr b="0" i="0" sz="1500" u="none" cap="none" strike="noStrike">
              <a:solidFill>
                <a:schemeClr val="dk1"/>
              </a:solidFill>
              <a:latin typeface="Calibri"/>
              <a:ea typeface="Calibri"/>
              <a:cs typeface="Calibri"/>
              <a:sym typeface="Calibri"/>
            </a:endParaRPr>
          </a:p>
        </p:txBody>
      </p:sp>
      <p:sp>
        <p:nvSpPr>
          <p:cNvPr id="522" name="Google Shape;522;p30"/>
          <p:cNvSpPr/>
          <p:nvPr/>
        </p:nvSpPr>
        <p:spPr>
          <a:xfrm>
            <a:off x="7470775" y="3784923"/>
            <a:ext cx="3905400" cy="1144200"/>
          </a:xfrm>
          <a:prstGeom prst="roundRect">
            <a:avLst>
              <a:gd fmla="val 10821"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30"/>
          <p:cNvSpPr/>
          <p:nvPr/>
        </p:nvSpPr>
        <p:spPr>
          <a:xfrm>
            <a:off x="7677150" y="3991298"/>
            <a:ext cx="3597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BONUS PROMPT</a:t>
            </a:r>
            <a:endParaRPr b="0" i="0" sz="1200" u="none" cap="none" strike="noStrike">
              <a:solidFill>
                <a:schemeClr val="dk1"/>
              </a:solidFill>
              <a:latin typeface="Calibri"/>
              <a:ea typeface="Calibri"/>
              <a:cs typeface="Calibri"/>
              <a:sym typeface="Calibri"/>
            </a:endParaRPr>
          </a:p>
        </p:txBody>
      </p:sp>
      <p:sp>
        <p:nvSpPr>
          <p:cNvPr id="524" name="Google Shape;524;p30"/>
          <p:cNvSpPr/>
          <p:nvPr/>
        </p:nvSpPr>
        <p:spPr>
          <a:xfrm>
            <a:off x="7677150" y="4280855"/>
            <a:ext cx="3597300" cy="4674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F2A24"/>
              </a:buClr>
              <a:buSzPts val="1200"/>
              <a:buFont typeface="DM Sans"/>
              <a:buNone/>
            </a:pPr>
            <a:r>
              <a:rPr b="0" i="0" lang="en-US" sz="1200" u="none" cap="none" strike="noStrike">
                <a:solidFill>
                  <a:srgbClr val="1F2A24"/>
                </a:solidFill>
                <a:latin typeface="DM Sans"/>
                <a:ea typeface="DM Sans"/>
                <a:cs typeface="DM Sans"/>
                <a:sym typeface="DM Sans"/>
              </a:rPr>
              <a:t>“Write alt text for this reel for people using screen readers, and one question to spark comments.”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5532B"/>
        </a:solidFill>
      </p:bgPr>
    </p:bg>
    <p:spTree>
      <p:nvGrpSpPr>
        <p:cNvPr id="1" name="Shape 1"/>
        <p:cNvGrpSpPr/>
        <p:nvPr/>
      </p:nvGrpSpPr>
      <p:grpSpPr>
        <a:xfrm>
          <a:off x="0" y="0"/>
          <a:ext cx="0" cy="0"/>
          <a:chOff x="0" y="0"/>
          <a:chExt cx="0" cy="0"/>
        </a:xfrm>
      </p:grpSpPr>
      <p:sp>
        <p:nvSpPr>
          <p:cNvPr id="10" name="label"/>
          <p:cNvSpPr/>
          <p:nvPr/>
        </p:nvSpPr>
        <p:spPr>
          <a:xfrm>
            <a:off x="812800" y="19431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FBF3E8"/>
                </a:solidFill>
                <a:latin typeface="DM Sans"/>
                <a:ea typeface="DM Sans"/>
                <a:cs typeface="DM Sans"/>
                <a:sym typeface="DM Sans"/>
              </a:rPr>
              <a:t>PART FOUR · ANALYSE</a:t>
            </a:r>
          </a:p>
        </p:txBody>
      </p:sp>
      <p:sp>
        <p:nvSpPr>
          <p:cNvPr id="11" name="title"/>
          <p:cNvSpPr/>
          <p:nvPr/>
        </p:nvSpPr>
        <p:spPr>
          <a:xfrm>
            <a:off x="812800" y="2410458"/>
            <a:ext cx="10566400" cy="825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None/>
            </a:pPr>
            <a:r>
              <a:rPr b="0" i="0" lang="en-US" sz="6000" u="none" cap="none" strike="noStrike">
                <a:solidFill>
                  <a:srgbClr val="FBF3E8"/>
                </a:solidFill>
                <a:latin typeface="Fraunces"/>
                <a:ea typeface="Fraunces"/>
                <a:cs typeface="Fraunces"/>
                <a:sym typeface="Fraunces"/>
              </a:rPr>
              <a:t>Analyse your Instagram data.</a:t>
            </a:r>
          </a:p>
        </p:txBody>
      </p:sp>
      <p:sp>
        <p:nvSpPr>
          <p:cNvPr id="12" name="subtitle"/>
          <p:cNvSpPr/>
          <p:nvPr/>
        </p:nvSpPr>
        <p:spPr>
          <a:xfrm>
            <a:off x="812800" y="3464558"/>
            <a:ext cx="10066400" cy="75184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None/>
            </a:pPr>
            <a:r>
              <a:rPr b="0" i="0" lang="en-US" sz="2200" u="none" cap="none" strike="noStrike">
                <a:solidFill>
                  <a:srgbClr val="FBF3E8"/>
                </a:solidFill>
                <a:latin typeface="DM Sans"/>
                <a:ea typeface="DM Sans"/>
                <a:cs typeface="DM Sans"/>
                <a:sym typeface="DM Sans"/>
              </a:rPr>
              <a:t>Five questions, five prompts. Work at your own pace in ChatGPT, Claude or Gemini.</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3A2F"/>
        </a:solidFill>
      </p:bgPr>
    </p:bg>
    <p:spTree>
      <p:nvGrpSpPr>
        <p:cNvPr id="537" name="Shape 537"/>
        <p:cNvGrpSpPr/>
        <p:nvPr/>
      </p:nvGrpSpPr>
      <p:grpSpPr>
        <a:xfrm>
          <a:off x="0" y="0"/>
          <a:ext cx="0" cy="0"/>
          <a:chOff x="0" y="0"/>
          <a:chExt cx="0" cy="0"/>
        </a:xfrm>
      </p:grpSpPr>
      <p:pic>
        <p:nvPicPr>
          <p:cNvPr descr="ellipse" id="538" name="Google Shape;538;p32"/>
          <p:cNvPicPr preferRelativeResize="0"/>
          <p:nvPr/>
        </p:nvPicPr>
        <p:blipFill rotWithShape="1">
          <a:blip r:embed="rId3">
            <a:alphaModFix/>
          </a:blip>
          <a:srcRect b="0" l="0" r="0" t="0"/>
          <a:stretch/>
        </p:blipFill>
        <p:spPr>
          <a:xfrm>
            <a:off x="8763000" y="812800"/>
            <a:ext cx="2540000" cy="2540000"/>
          </a:xfrm>
          <a:prstGeom prst="rect">
            <a:avLst/>
          </a:prstGeom>
          <a:noFill/>
          <a:ln>
            <a:noFill/>
          </a:ln>
        </p:spPr>
      </p:pic>
      <p:pic>
        <p:nvPicPr>
          <p:cNvPr descr="ellipse" id="539" name="Google Shape;539;p32"/>
          <p:cNvPicPr preferRelativeResize="0"/>
          <p:nvPr/>
        </p:nvPicPr>
        <p:blipFill rotWithShape="1">
          <a:blip r:embed="rId4">
            <a:alphaModFix/>
          </a:blip>
          <a:srcRect b="0" l="0" r="0" t="0"/>
          <a:stretch/>
        </p:blipFill>
        <p:spPr>
          <a:xfrm>
            <a:off x="8255000" y="2794000"/>
            <a:ext cx="889000" cy="889000"/>
          </a:xfrm>
          <a:prstGeom prst="rect">
            <a:avLst/>
          </a:prstGeom>
          <a:noFill/>
          <a:ln>
            <a:noFill/>
          </a:ln>
        </p:spPr>
      </p:pic>
      <p:sp>
        <p:nvSpPr>
          <p:cNvPr id="540" name="Google Shape;540;p32"/>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MASTERCLASS · AI FOR CONTENT CREATION</a:t>
            </a:r>
            <a:endParaRPr b="0" i="0" sz="1200" u="none" cap="none" strike="noStrike">
              <a:solidFill>
                <a:schemeClr val="dk1"/>
              </a:solidFill>
              <a:latin typeface="Calibri"/>
              <a:ea typeface="Calibri"/>
              <a:cs typeface="Calibri"/>
              <a:sym typeface="Calibri"/>
            </a:endParaRPr>
          </a:p>
        </p:txBody>
      </p:sp>
      <p:sp>
        <p:nvSpPr>
          <p:cNvPr id="541" name="Google Shape;541;p32"/>
          <p:cNvSpPr/>
          <p:nvPr/>
        </p:nvSpPr>
        <p:spPr>
          <a:xfrm>
            <a:off x="812800" y="2793990"/>
            <a:ext cx="7521600" cy="162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5F0E6"/>
              </a:buClr>
              <a:buSzPts val="6000"/>
              <a:buFont typeface="Fraunces"/>
              <a:buNone/>
            </a:pPr>
            <a:r>
              <a:rPr lang="en-US" sz="6000">
                <a:solidFill>
                  <a:srgbClr val="F5F0E6"/>
                </a:solidFill>
                <a:latin typeface="Fraunces"/>
                <a:ea typeface="Fraunces"/>
                <a:cs typeface="Fraunces"/>
                <a:sym typeface="Fraunces"/>
              </a:rPr>
              <a:t>Thank You</a:t>
            </a:r>
            <a:endParaRPr b="0" i="0" sz="6000" u="none" cap="none" strike="noStrike">
              <a:solidFill>
                <a:schemeClr val="dk1"/>
              </a:solidFill>
              <a:latin typeface="Calibri"/>
              <a:ea typeface="Calibri"/>
              <a:cs typeface="Calibri"/>
              <a:sym typeface="Calibri"/>
            </a:endParaRPr>
          </a:p>
        </p:txBody>
      </p:sp>
      <p:sp>
        <p:nvSpPr>
          <p:cNvPr id="542" name="Google Shape;542;p32"/>
          <p:cNvSpPr/>
          <p:nvPr/>
        </p:nvSpPr>
        <p:spPr>
          <a:xfrm>
            <a:off x="812800" y="583184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SETUP</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600" u="none" cap="none" strike="noStrike">
                <a:solidFill>
                  <a:srgbClr val="1E3A2F"/>
                </a:solidFill>
                <a:latin typeface="Fraunces"/>
                <a:ea typeface="Fraunces"/>
                <a:cs typeface="Fraunces"/>
                <a:sym typeface="Fraunces"/>
              </a:rPr>
              <a:t>What participants need</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left"/>
          <p:cNvSpPr/>
          <p:nvPr/>
        </p:nvSpPr>
        <p:spPr>
          <a:xfrm>
            <a:off x="812800" y="2151385"/>
            <a:ext cx="5183200" cy="450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400" u="none" cap="none" strike="noStrike">
                <a:solidFill>
                  <a:srgbClr val="B5532B"/>
                </a:solidFill>
                <a:latin typeface="DM Sans"/>
                <a:ea typeface="DM Sans"/>
                <a:cs typeface="DM Sans"/>
                <a:sym typeface="DM Sans"/>
              </a:rPr>
              <a:t>Files you need</a:t>
            </a:r>
          </a:p>
          <a:p/>
          <a:p>
            <a:pPr indent="0" lvl="0" marL="0" marR="0" rtl="0" algn="l">
              <a:lnSpc>
                <a:spcPct val="130000"/>
              </a:lnSpc>
              <a:spcBef>
                <a:spcPts val="0"/>
              </a:spcBef>
              <a:spcAft>
                <a:spcPts val="0"/>
              </a:spcAft>
              <a:buNone/>
            </a:pPr>
            <a:r>
              <a:rPr b="1" i="0" lang="en-US" sz="1300" u="none" cap="none" strike="noStrike">
                <a:solidFill>
                  <a:srgbClr val="1E3A2F"/>
                </a:solidFill>
                <a:latin typeface="DM Sans"/>
                <a:ea typeface="DM Sans"/>
                <a:cs typeface="DM Sans"/>
                <a:sym typeface="DM Sans"/>
              </a:rPr>
              <a:t>loopcycle_post_kpis.csv</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Main file. One row per post: format, pillar, time, reach, engagement and rates.</a:t>
            </a:r>
          </a:p>
          <a:p/>
          <a:p>
            <a:pPr indent="0" lvl="0" marL="0" marR="0" rtl="0" algn="l">
              <a:lnSpc>
                <a:spcPct val="130000"/>
              </a:lnSpc>
              <a:spcBef>
                <a:spcPts val="0"/>
              </a:spcBef>
              <a:spcAft>
                <a:spcPts val="0"/>
              </a:spcAft>
              <a:buNone/>
            </a:pPr>
            <a:r>
              <a:rPr b="1" i="0" lang="en-US" sz="1300" u="none" cap="none" strike="noStrike">
                <a:solidFill>
                  <a:srgbClr val="1E3A2F"/>
                </a:solidFill>
                <a:latin typeface="DM Sans"/>
                <a:ea typeface="DM Sans"/>
                <a:cs typeface="DM Sans"/>
                <a:sym typeface="DM Sans"/>
              </a:rPr>
              <a:t>loopcycle_instagram_posts_flat.csv</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Caption text. Join id here to post_id in the KPI file.</a:t>
            </a:r>
          </a:p>
          <a:p/>
          <a:p>
            <a:pPr indent="0" lvl="0" marL="0" marR="0" rtl="0" algn="l">
              <a:lnSpc>
                <a:spcPct val="130000"/>
              </a:lnSpc>
              <a:spcBef>
                <a:spcPts val="0"/>
              </a:spcBef>
              <a:spcAft>
                <a:spcPts val="0"/>
              </a:spcAft>
              <a:buNone/>
            </a:pPr>
            <a:r>
              <a:rPr b="1" i="0" lang="en-US" sz="1300" u="none" cap="none" strike="noStrike">
                <a:solidFill>
                  <a:srgbClr val="1E3A2F"/>
                </a:solidFill>
                <a:latin typeface="DM Sans"/>
                <a:ea typeface="DM Sans"/>
                <a:cs typeface="DM Sans"/>
                <a:sym typeface="DM Sans"/>
              </a:rPr>
              <a:t>Audience files (optional, Question 4)</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loopcycle_post_audience_age_gender.csv</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loopcycle_post_audience_location.csv</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loopcycle_post_views_time.csv</a:t>
            </a:r>
          </a:p>
        </p:txBody>
      </p:sp>
      <p:sp>
        <p:nvSpPr>
          <p:cNvPr id="14" name="right"/>
          <p:cNvSpPr/>
          <p:nvPr/>
        </p:nvSpPr>
        <p:spPr>
          <a:xfrm>
            <a:off x="6196000" y="2151385"/>
            <a:ext cx="5183200" cy="450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400" u="none" cap="none" strike="noStrike">
                <a:solidFill>
                  <a:srgbClr val="B5532B"/>
                </a:solidFill>
                <a:latin typeface="DM Sans"/>
                <a:ea typeface="DM Sans"/>
                <a:cs typeface="DM Sans"/>
                <a:sym typeface="DM Sans"/>
              </a:rPr>
              <a:t>Three things to tell participants</a:t>
            </a:r>
          </a:p>
          <a:p/>
          <a:p>
            <a:pPr indent="0" lvl="0" marL="0" marR="0" rtl="0" algn="l">
              <a:lnSpc>
                <a:spcPct val="130000"/>
              </a:lnSpc>
              <a:spcBef>
                <a:spcPts val="0"/>
              </a:spcBef>
              <a:spcAft>
                <a:spcPts val="0"/>
              </a:spcAft>
              <a:buNone/>
            </a:pPr>
            <a:r>
              <a:rPr b="1" i="0" lang="en-US" sz="1300" u="none" cap="none" strike="noStrike">
                <a:solidFill>
                  <a:srgbClr val="1E3A2F"/>
                </a:solidFill>
                <a:latin typeface="DM Sans"/>
                <a:ea typeface="DM Sans"/>
                <a:cs typeface="DM Sans"/>
                <a:sym typeface="DM Sans"/>
              </a:rPr>
              <a:t>1  The data is synthetic.</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Do not treat any number as real.</a:t>
            </a:r>
          </a:p>
          <a:p/>
          <a:p>
            <a:pPr indent="0" lvl="0" marL="0" marR="0" rtl="0" algn="l">
              <a:lnSpc>
                <a:spcPct val="130000"/>
              </a:lnSpc>
              <a:spcBef>
                <a:spcPts val="0"/>
              </a:spcBef>
              <a:spcAft>
                <a:spcPts val="0"/>
              </a:spcAft>
              <a:buNone/>
            </a:pPr>
            <a:r>
              <a:rPr b="1" i="0" lang="en-US" sz="1300" u="none" cap="none" strike="noStrike">
                <a:solidFill>
                  <a:srgbClr val="1E3A2F"/>
                </a:solidFill>
                <a:latin typeface="DM Sans"/>
                <a:ea typeface="DM Sans"/>
                <a:cs typeface="DM Sans"/>
                <a:sym typeface="DM Sans"/>
              </a:rPr>
              <a:t>2  Columns starting modeled_ are estimates.</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Instagram does not report audience, location or viewing time per post.</a:t>
            </a:r>
          </a:p>
          <a:p/>
          <a:p>
            <a:pPr indent="0" lvl="0" marL="0" marR="0" rtl="0" algn="l">
              <a:lnSpc>
                <a:spcPct val="130000"/>
              </a:lnSpc>
              <a:spcBef>
                <a:spcPts val="0"/>
              </a:spcBef>
              <a:spcAft>
                <a:spcPts val="0"/>
              </a:spcAft>
              <a:buNone/>
            </a:pPr>
            <a:r>
              <a:rPr b="1" i="0" lang="en-US" sz="1300" u="none" cap="none" strike="noStrike">
                <a:solidFill>
                  <a:srgbClr val="1E3A2F"/>
                </a:solidFill>
                <a:latin typeface="DM Sans"/>
                <a:ea typeface="DM Sans"/>
                <a:cs typeface="DM Sans"/>
                <a:sym typeface="DM Sans"/>
              </a:rPr>
              <a:t>3  Reels have blank follow columns.</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follows, profile_visits and their rate columns are blank for VIDEO (Reel) posts.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SHARED CONTEXT</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Paste this first — before any question</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p:txBody>
      </p:sp>
      <p:sp>
        <p:nvSpPr>
          <p:cNvPr id="21" name="prompt"/>
          <p:cNvSpPr/>
          <p:nvPr/>
        </p:nvSpPr>
        <p:spPr>
          <a:xfrm>
            <a:off x="922800" y="2280000"/>
            <a:ext cx="5802847" cy="42880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You are a marketing analyst helping a small social enterprise.</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Context: LoopCycle Nusantara is a waste-to-value social enterprise in Bandung,</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Indonesia. We buy sorted plastic from 3,500 registered waste pickers, recycle it,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and sell the Loop Tote, a tote bag made from 14 recycled bottles.</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Instagram (@loopcycle.nusantara, about 21,000 followers) is how we build trust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and drive sales.</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Data: the attached CSV has one row per Instagram post (30 posts, 30 Jul to 27 Sep</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2026). media_type is VIDEO (Reel), CAROUSEL_ALBUM or IMAGE. content_pillar is our</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content theme. Columns starting with modeled_ are estimates, not Instagram data.</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follows and profile_visits are blank for Reels.</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Rules: use only the data I give you. Show how many posts are behind every figure.</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Say clearly when a sample is too small to conclude anything.</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Never invent data. Keep what the data shows separate from your interpretation.</a:t>
            </a:r>
          </a:p>
        </p:txBody>
      </p:sp>
      <p:sp>
        <p:nvSpPr>
          <p:cNvPr id="22" name="steps"/>
          <p:cNvSpPr/>
          <p:nvPr/>
        </p:nvSpPr>
        <p:spPr>
          <a:xfrm>
            <a:off x="7035647" y="2170000"/>
            <a:ext cx="4343553" cy="4508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1</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Open a new chat in ChatGPT, Claude or Gemini.</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2</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Paste this context block first.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3</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Attach loopcycle_post_kpis.csv.</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4</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Then paste your question prompt.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5</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Keep the same chat open for all 5 questions.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QUESTION 1 OF 5</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What worked?  Which formats and themes deserve more of our time?</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p:txBody>
      </p:sp>
      <p:sp>
        <p:nvSpPr>
          <p:cNvPr id="21" name="prompt"/>
          <p:cNvSpPr/>
          <p:nvPr/>
        </p:nvSpPr>
        <p:spPr>
          <a:xfrm>
            <a:off x="922800" y="2280000"/>
            <a:ext cx="5802847" cy="42880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Using the attached post data: which formats (media_type) and content pillars</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should we invest more in, and which should we do less of?</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Compare reach, engagement_rate_by_reach_pct, save_rate_pct and share_rate_pct.</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1. Build one table by format and one by pillar showing the number of posts and</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the average and median of each metric.</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2. Tell me which metric matters most for each goal: awareness, engagement,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and purchase intent (saves).</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3. Check whether any average is being distorted by one unusual post.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If so, show the result without that post.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4. Give me a 5-line recommendation for a founder who has 10 minutes.</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Flag any comparison based on fewer than 5 posts.</a:t>
            </a:r>
          </a:p>
        </p:txBody>
      </p:sp>
      <p:sp>
        <p:nvSpPr>
          <p:cNvPr id="22" name="steps"/>
          <p:cNvSpPr/>
          <p:nvPr/>
        </p:nvSpPr>
        <p:spPr>
          <a:xfrm>
            <a:off x="7035647" y="2170000"/>
            <a:ext cx="4343553" cy="4508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1</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Attach loopcycle_post_kpis.csv.</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2</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Paste the prompt. Read the tables.</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3</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"Explain in 3 sentences for a non-technical board member. Then suggest the one chart that shows it best."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4</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"Redo the pillar comparison for Reels only."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Q1 ANSWER KEY</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What worked? Facilitator findings</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Reels: avg reach ~16.5K (median 10.7K). Carousels 4.9K. Images 2.0K.</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Engagement rate: Reels 8.9%, carousels 8.8%, images 5.8% — formats are close.</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Carousels win on save rate (3.5% vs 1.3% for Reels). Reels win on share rate (2.4% vs 0.7%).</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By pillar: Loop Tote best engagement (8.7%) and save rate (2.9%). Picker stories best share rate (1.8%).</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Behind the scenes weakest overall (6.8% engagement).</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TRAP: education looks top for reach (28.2K avg) but has only 3 posts. One Reel hit 76K. Without it avg ≈ 4.2K.</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B2B has only 2 posts — no conclusions possible.</a:t>
            </a:r>
          </a:p>
        </p:txBody>
      </p:sp>
      <p:sp>
        <p:nvSpPr>
          <p:cNvPr id="20" name="tpbg"/>
          <p:cNvSpPr/>
          <p:nvPr/>
        </p:nvSpPr>
        <p:spPr>
          <a:xfrm>
            <a:off x="7563968" y="2151385"/>
            <a:ext cx="3815232" cy="4506615"/>
          </a:xfrm>
          <a:prstGeom prst="rect">
            <a:avLst/>
          </a:prstGeom>
          <a:solidFill>
            <a:srgbClr val="1E3A2F"/>
          </a:solidFill>
          <a:ln>
            <a:noFill/>
          </a:ln>
        </p:spPr>
        <p:txBody>
          <a:bodyPr/>
          <a:lstStyle/>
          <a:p/>
        </p:txBody>
      </p:sp>
      <p:sp>
        <p:nvSpPr>
          <p:cNvPr id="21" name="tp"/>
          <p:cNvSpPr/>
          <p:nvPr/>
        </p:nvSpPr>
        <p:spPr>
          <a:xfrm>
            <a:off x="7673968" y="2261385"/>
            <a:ext cx="3595232" cy="428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100" u="none" cap="none" strike="noStrike">
                <a:solidFill>
                  <a:srgbClr val="FBF3E8"/>
                </a:solidFill>
                <a:latin typeface="DM Sans"/>
                <a:ea typeface="DM Sans"/>
                <a:cs typeface="DM Sans"/>
                <a:sym typeface="DM Sans"/>
              </a:rPr>
              <a:t>Teaching point</a:t>
            </a:r>
          </a:p>
          <a:p/>
          <a:p>
            <a:pPr indent="0" lvl="0" marL="0" marR="0" rtl="0" algn="l">
              <a:lnSpc>
                <a:spcPct val="138000"/>
              </a:lnSpc>
              <a:spcBef>
                <a:spcPts val="0"/>
              </a:spcBef>
              <a:spcAft>
                <a:spcPts val="0"/>
              </a:spcAft>
              <a:buNone/>
            </a:pPr>
            <a:r>
              <a:rPr b="0" i="0" lang="en-US" sz="1250" u="none" cap="none" strike="noStrike">
                <a:solidFill>
                  <a:srgbClr val="FBF3E8"/>
                </a:solidFill>
                <a:latin typeface="DM Sans"/>
                <a:ea typeface="DM Sans"/>
                <a:cs typeface="DM Sans"/>
                <a:sym typeface="DM Sans"/>
              </a:rPr>
              <a:t>Averages mislead on small samples. Always ask the AI to check for outliers before drawing conclusions.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QUESTION 2 OF 5</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Why did our best posts break out?</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p:txBody>
      </p:sp>
      <p:sp>
        <p:nvSpPr>
          <p:cNvPr id="21" name="prompt"/>
          <p:cNvSpPr/>
          <p:nvPr/>
        </p:nvSpPr>
        <p:spPr>
          <a:xfrm>
            <a:off x="922800" y="2280000"/>
            <a:ext cx="5802847" cy="42880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I attached two files: the post KPI file and a flat post file with captions.</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Join post_id in the KPI file to id in the flat file to get the caption.</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Look at posts where performance_flag is "breakout" and compare them with</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"underperformer" posts and typical posts.</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1. List the breakout and underperformer posts with: caption start, format, pillar,</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weekday, hour, caption length, hashtag count and reach.</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2. What do the breakouts have in common and how do they differ from underperformers?</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Consider format, caption topic, posting time and caption length.</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3. For each factor, say whether the data can support a conclusion.</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Consider how few breakouts there are and whether the factor varies at all.</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4. Suggest 3 hypotheses we could test next month. For each: the change we make</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and the metric that would show it worked.</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Do not claim that any factor caused the result.</a:t>
            </a:r>
          </a:p>
        </p:txBody>
      </p:sp>
      <p:sp>
        <p:nvSpPr>
          <p:cNvPr id="22" name="steps"/>
          <p:cNvSpPr/>
          <p:nvPr/>
        </p:nvSpPr>
        <p:spPr>
          <a:xfrm>
            <a:off x="7035647" y="2170000"/>
            <a:ext cx="4343553" cy="4508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1</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Attach both CSV files.</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2</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Paste the prompt.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3</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"Rank the factors from most to least trustworthy and explain why."</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4</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"Write 5 caption ideas that apply the hypotheses."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Q2 ANSWER KEY</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Why did our best posts break out? Facilitator findings</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performance_flag is relative to format median reach (~2x = breakout, ~0.6x = underperformer).</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Breakouts (3): "bottle journey" Reel Tue 08:00 76K; "1 tonne recycled PET" carousel Fri 20:00 10.6K; river clean-up image Wed 20:00 4.1K.</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Underperformers (2): Pak Asep story Reel Sat 09:00 4.4K; "fair-trade payment" carousel Wed 20:00 2.4K.</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Possible pattern: explainers + concrete numbers + community action outperformed personal stories. Only 5 posts — hypothesis only.</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Hashtag count: 2 for 28 of 30 posts — cannot be tested.</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Caption length: ~0 correlation with engagement, ~0.23 with reach — barely useful.</a:t>
            </a:r>
          </a:p>
        </p:txBody>
      </p:sp>
      <p:sp>
        <p:nvSpPr>
          <p:cNvPr id="20" name="tpbg"/>
          <p:cNvSpPr/>
          <p:nvPr/>
        </p:nvSpPr>
        <p:spPr>
          <a:xfrm>
            <a:off x="7563968" y="2151385"/>
            <a:ext cx="3815232" cy="4506615"/>
          </a:xfrm>
          <a:prstGeom prst="rect">
            <a:avLst/>
          </a:prstGeom>
          <a:solidFill>
            <a:srgbClr val="1E3A2F"/>
          </a:solidFill>
          <a:ln>
            <a:noFill/>
          </a:ln>
        </p:spPr>
        <p:txBody>
          <a:bodyPr/>
          <a:lstStyle/>
          <a:p/>
        </p:txBody>
      </p:sp>
      <p:sp>
        <p:nvSpPr>
          <p:cNvPr id="21" name="tp"/>
          <p:cNvSpPr/>
          <p:nvPr/>
        </p:nvSpPr>
        <p:spPr>
          <a:xfrm>
            <a:off x="7673968" y="2261385"/>
            <a:ext cx="3595232" cy="428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100" u="none" cap="none" strike="noStrike">
                <a:solidFill>
                  <a:srgbClr val="FBF3E8"/>
                </a:solidFill>
                <a:latin typeface="DM Sans"/>
                <a:ea typeface="DM Sans"/>
                <a:cs typeface="DM Sans"/>
                <a:sym typeface="DM Sans"/>
              </a:rPr>
              <a:t>Teaching point</a:t>
            </a:r>
          </a:p>
          <a:p/>
          <a:p>
            <a:pPr indent="0" lvl="0" marL="0" marR="0" rtl="0" algn="l">
              <a:lnSpc>
                <a:spcPct val="138000"/>
              </a:lnSpc>
              <a:spcBef>
                <a:spcPts val="0"/>
              </a:spcBef>
              <a:spcAft>
                <a:spcPts val="0"/>
              </a:spcAft>
              <a:buNone/>
            </a:pPr>
            <a:r>
              <a:rPr b="0" i="0" lang="en-US" sz="1250" u="none" cap="none" strike="noStrike">
                <a:solidFill>
                  <a:srgbClr val="FBF3E8"/>
                </a:solidFill>
                <a:latin typeface="DM Sans"/>
                <a:ea typeface="DM Sans"/>
                <a:cs typeface="DM Sans"/>
                <a:sym typeface="DM Sans"/>
              </a:rPr>
              <a:t>Good analysis tells you what it cannot conclude. "Hashtags don't vary — can't test" is more honest than "hashtags don't matter".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QUESTION 3 OF 5</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When should we post?</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p:txBody>
      </p:sp>
      <p:sp>
        <p:nvSpPr>
          <p:cNvPr id="21" name="prompt"/>
          <p:cNvSpPr/>
          <p:nvPr/>
        </p:nvSpPr>
        <p:spPr>
          <a:xfrm>
            <a:off x="922800" y="2280000"/>
            <a:ext cx="5802847" cy="42880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Using the attached post data, analyse whether posting time affects results.</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Use post_weekday_wib, post_hour_wib, reach and engagement_rate_by_reach_pct.</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1. Show the average and median reach and engagement rate by hour and by weekday,</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with the number of posts in each group.</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2. Check whether posting time is tangled up with format — for example which</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formats we tend to post at which hours. Repeat the comparison within a single format.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3. Compare mean and median and identify any single post that creates an apparent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"best time".</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4. Tell me what we can and cannot conclude. Then design a simple 4-week posting</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experiment: what to vary, what to keep fixed, how many posts, and how we will</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decide the result.</a:t>
            </a:r>
          </a:p>
        </p:txBody>
      </p:sp>
      <p:sp>
        <p:nvSpPr>
          <p:cNvPr id="22" name="steps"/>
          <p:cNvSpPr/>
          <p:nvPr/>
        </p:nvSpPr>
        <p:spPr>
          <a:xfrm>
            <a:off x="7035647" y="2170000"/>
            <a:ext cx="4343553" cy="4508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1</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Attach loopcycle_post_kpis.csv.</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2</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Paste the prompt.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3</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"Draw a chart of median reach by weekday and format, and mark groups with fewer than 3 posts."</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4</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Ask: what would a fair experiment look like?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Q3 ANSWER KEY</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When should we post? Facilitator findings</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08:00 WIB looks best (avg reach ~20.8K vs 3-5K for lunchtime/evening). Tuesday looks best (23.6K avg).</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THE CATCH: nearly all Reels were at 08:00-09:00; most carousels/images at 12:00-20:00. Time is confounded with format.</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One viral Reel inflates the 08:00 and Tuesday averages.</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Among Reels only: median reach 10.4K at 08:00 vs 10.8K at 09:00 — no real difference.</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Engagement rate barely changes by weekday (~7.7% to 8.8%).</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modeled_peak_view_hour_wib mostly mirrors posting hour — says little about when audience is active.</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A good experiment posts the SAME FORMAT at two different times over several weeks.</a:t>
            </a:r>
          </a:p>
        </p:txBody>
      </p:sp>
      <p:sp>
        <p:nvSpPr>
          <p:cNvPr id="20" name="tpbg"/>
          <p:cNvSpPr/>
          <p:nvPr/>
        </p:nvSpPr>
        <p:spPr>
          <a:xfrm>
            <a:off x="7563968" y="2151385"/>
            <a:ext cx="3815232" cy="4506615"/>
          </a:xfrm>
          <a:prstGeom prst="rect">
            <a:avLst/>
          </a:prstGeom>
          <a:solidFill>
            <a:srgbClr val="1E3A2F"/>
          </a:solidFill>
          <a:ln>
            <a:noFill/>
          </a:ln>
        </p:spPr>
        <p:txBody>
          <a:bodyPr/>
          <a:lstStyle/>
          <a:p/>
        </p:txBody>
      </p:sp>
      <p:sp>
        <p:nvSpPr>
          <p:cNvPr id="21" name="tp"/>
          <p:cNvSpPr/>
          <p:nvPr/>
        </p:nvSpPr>
        <p:spPr>
          <a:xfrm>
            <a:off x="7673968" y="2261385"/>
            <a:ext cx="3595232" cy="428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100" u="none" cap="none" strike="noStrike">
                <a:solidFill>
                  <a:srgbClr val="FBF3E8"/>
                </a:solidFill>
                <a:latin typeface="DM Sans"/>
                <a:ea typeface="DM Sans"/>
                <a:cs typeface="DM Sans"/>
                <a:sym typeface="DM Sans"/>
              </a:rPr>
              <a:t>Teaching point</a:t>
            </a:r>
          </a:p>
          <a:p/>
          <a:p>
            <a:pPr indent="0" lvl="0" marL="0" marR="0" rtl="0" algn="l">
              <a:lnSpc>
                <a:spcPct val="138000"/>
              </a:lnSpc>
              <a:spcBef>
                <a:spcPts val="0"/>
              </a:spcBef>
              <a:spcAft>
                <a:spcPts val="0"/>
              </a:spcAft>
              <a:buNone/>
            </a:pPr>
            <a:r>
              <a:rPr b="0" i="0" lang="en-US" sz="1250" u="none" cap="none" strike="noStrike">
                <a:solidFill>
                  <a:srgbClr val="FBF3E8"/>
                </a:solidFill>
                <a:latin typeface="DM Sans"/>
                <a:ea typeface="DM Sans"/>
                <a:cs typeface="DM Sans"/>
                <a:sym typeface="DM Sans"/>
              </a:rPr>
              <a:t>Confounding variables. Always ask the AI to check whether time mixes with format before claiming a "best time".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QUESTION 4 OF 5</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Who are we reaching, and are they the right people?</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p:txBody>
      </p:sp>
      <p:sp>
        <p:nvSpPr>
          <p:cNvPr id="21" name="prompt"/>
          <p:cNvSpPr/>
          <p:nvPr/>
        </p:nvSpPr>
        <p:spPr>
          <a:xfrm>
            <a:off x="922800" y="2280000"/>
            <a:ext cx="5802847" cy="42880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Using the attached post data. Note: columns starting modeled_ are estimates —</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Instagram does not give audience data per post.</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Our goals: grow beyond Bandung, reach working adults aged 25-44, attract packaging buyers.</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1. Show how much of each format's and pillar's reach is estimated to come from</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followers vs non-followers (modeled_follower_reach_pct).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2. Show estimated audience by content pillar: top age group, female share, top region.</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Which pillars reach a different audience from our usual one?</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3. For feed posts only (carousels and images), compare follows_per_1k_reach and</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profile_visit_rate_pct by format and pillar. Reels do not report these —</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say what that limits.</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4. Explain what the modeled columns can responsibly be used for,</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and what we would need to measure for real.</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5. Give me two audience recommendations and one risk.</a:t>
            </a:r>
          </a:p>
        </p:txBody>
      </p:sp>
      <p:sp>
        <p:nvSpPr>
          <p:cNvPr id="22" name="steps"/>
          <p:cNvSpPr/>
          <p:nvPr/>
        </p:nvSpPr>
        <p:spPr>
          <a:xfrm>
            <a:off x="7035647" y="2170000"/>
            <a:ext cx="4343553" cy="4508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1</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Attach loopcycle_post_kpis.csv (plus audience CSVs if time allows).</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2</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Paste the prompt.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3</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"Turn this into a one-page audience summary my team can use when planning content."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4</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Ask: what is the difference between estimated and measured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Q4 ANSWER KEY</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Who are we reaching? Facilitator findings</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Estimated follower share: images ~70%, carousels ~50%, Reels ~28% — Reels mostly reach new audiences.</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Follows per 1K reach (feed only): carousels 3.4, images 1.8. Reels cannot be compared — real measurement gap.</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Estimated top age group: 25-34 for 26 of 30 posts. Education posts skew 18-24.</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Female share: highest Loop Tote posts (~62%), lowest B2B posts (~42%).</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Greater Jakarta top estimated region for most posts. Behind-the-scenes posts skew to Bandung.</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TRAP: modeled audience is largely the follower base blended with general reach — not independent evidence.</a:t>
            </a:r>
          </a:p>
        </p:txBody>
      </p:sp>
      <p:sp>
        <p:nvSpPr>
          <p:cNvPr id="20" name="tpbg"/>
          <p:cNvSpPr/>
          <p:nvPr/>
        </p:nvSpPr>
        <p:spPr>
          <a:xfrm>
            <a:off x="7563968" y="2151385"/>
            <a:ext cx="3815232" cy="4506615"/>
          </a:xfrm>
          <a:prstGeom prst="rect">
            <a:avLst/>
          </a:prstGeom>
          <a:solidFill>
            <a:srgbClr val="1E3A2F"/>
          </a:solidFill>
          <a:ln>
            <a:noFill/>
          </a:ln>
        </p:spPr>
        <p:txBody>
          <a:bodyPr/>
          <a:lstStyle/>
          <a:p/>
        </p:txBody>
      </p:sp>
      <p:sp>
        <p:nvSpPr>
          <p:cNvPr id="21" name="tp"/>
          <p:cNvSpPr/>
          <p:nvPr/>
        </p:nvSpPr>
        <p:spPr>
          <a:xfrm>
            <a:off x="7673968" y="2261385"/>
            <a:ext cx="3595232" cy="428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100" u="none" cap="none" strike="noStrike">
                <a:solidFill>
                  <a:srgbClr val="FBF3E8"/>
                </a:solidFill>
                <a:latin typeface="DM Sans"/>
                <a:ea typeface="DM Sans"/>
                <a:cs typeface="DM Sans"/>
                <a:sym typeface="DM Sans"/>
              </a:rPr>
              <a:t>Teaching point</a:t>
            </a:r>
          </a:p>
          <a:p/>
          <a:p>
            <a:pPr indent="0" lvl="0" marL="0" marR="0" rtl="0" algn="l">
              <a:lnSpc>
                <a:spcPct val="138000"/>
              </a:lnSpc>
              <a:spcBef>
                <a:spcPts val="0"/>
              </a:spcBef>
              <a:spcAft>
                <a:spcPts val="0"/>
              </a:spcAft>
              <a:buNone/>
            </a:pPr>
            <a:r>
              <a:rPr b="0" i="0" lang="en-US" sz="1250" u="none" cap="none" strike="noStrike">
                <a:solidFill>
                  <a:srgbClr val="FBF3E8"/>
                </a:solidFill>
                <a:latin typeface="DM Sans"/>
                <a:ea typeface="DM Sans"/>
                <a:cs typeface="DM Sans"/>
                <a:sym typeface="DM Sans"/>
              </a:rPr>
              <a:t>Ask the AI to separate real from estimated data, and to say what it would take to measure the gap for real.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QUESTION 5 OF 5</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What should we post next month?</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20" name="promptbg"/>
          <p:cNvSpPr/>
          <p:nvPr/>
        </p:nvSpPr>
        <p:spPr>
          <a:xfrm>
            <a:off x="812800" y="2170000"/>
            <a:ext cx="6022847" cy="4508000"/>
          </a:xfrm>
          <a:prstGeom prst="rect">
            <a:avLst/>
          </a:prstGeom>
          <a:solidFill>
            <a:srgbClr val="1E3A2F"/>
          </a:solidFill>
          <a:ln>
            <a:noFill/>
          </a:ln>
        </p:spPr>
        <p:txBody>
          <a:bodyPr/>
          <a:lstStyle/>
          <a:p/>
        </p:txBody>
      </p:sp>
      <p:sp>
        <p:nvSpPr>
          <p:cNvPr id="21" name="prompt"/>
          <p:cNvSpPr/>
          <p:nvPr/>
        </p:nvSpPr>
        <p:spPr>
          <a:xfrm>
            <a:off x="922800" y="2280000"/>
            <a:ext cx="5802847" cy="4288000"/>
          </a:xfrm>
          <a:prstGeom prst="rect">
            <a:avLst/>
          </a:prstGeom>
          <a:noFill/>
          <a:ln>
            <a:noFill/>
          </a:ln>
        </p:spPr>
        <p:txBody>
          <a:bodyPr anchorCtr="0" anchor="t" bIns="0" lIns="0" spcFirstLastPara="1" rIns="0" wrap="square" tIns="0">
            <a:noAutofit/>
          </a:bodyPr>
          <a:lstStyle/>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Based on everything we found in this conversation, create a 4-week Instagram plan</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for @loopcycle.nusantara with 12 posts.</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Constraints: we post ~3 times a week and have one person making content.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Goals in order: (1) sell more Loop Totes, (2) build trust through waste-picker</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stories, (3) attract packaging buyers.</a:t>
            </a:r>
          </a:p>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Output: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1. A table: week, day, time (WIB), format, pillar, topic idea, goal, metric.</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2. For each row, one line starting "Because the data showed..." that points to</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   a specific finding. If there is no evidence, say "test".</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3. Two experiments, each with a decision rule (what result keeps or drops the idea).</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4. The three biggest limits of this data.</a:t>
            </a:r>
          </a:p>
          <a:p>
            <a:pPr indent="0" lvl="0" marL="0" marR="0" rtl="0" algn="l">
              <a:lnSpc>
                <a:spcPct val="128000"/>
              </a:lnSpc>
              <a:spcBef>
                <a:spcPts val="0"/>
              </a:spcBef>
              <a:spcAft>
                <a:spcPts val="0"/>
              </a:spcAft>
              <a:buNone/>
            </a:pPr>
            <a:r>
              <a:rPr b="0" i="0" lang="en-US" sz="1050" u="none" cap="none" strike="noStrike">
                <a:solidFill>
                  <a:srgbClr val="FBF3E8"/>
                </a:solidFill>
                <a:latin typeface="DM Sans"/>
                <a:ea typeface="DM Sans"/>
                <a:cs typeface="DM Sans"/>
                <a:sym typeface="DM Sans"/>
              </a:rPr>
              <a:t>5. Finally, argue against your own plan: what could make it wrong?</a:t>
            </a:r>
          </a:p>
        </p:txBody>
      </p:sp>
      <p:sp>
        <p:nvSpPr>
          <p:cNvPr id="22" name="steps"/>
          <p:cNvSpPr/>
          <p:nvPr/>
        </p:nvSpPr>
        <p:spPr>
          <a:xfrm>
            <a:off x="7035647" y="2170000"/>
            <a:ext cx="4343553" cy="4508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1</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Stay in the same chat (all 5 questions in context).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2</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Paste the prompt.</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3</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"Turn the plan into a CSV I can import into a content calendar."</a:t>
            </a:r>
          </a:p>
          <a:p>
            <a:pPr indent="0" lvl="0" marL="0" marR="0" rtl="0" algn="l">
              <a:lnSpc>
                <a:spcPct val="100000"/>
              </a:lnSpc>
              <a:spcBef>
                <a:spcPts val="200"/>
              </a:spcBef>
              <a:spcAft>
                <a:spcPts val="0"/>
              </a:spcAft>
              <a:buNone/>
            </a:pPr>
            <a:r>
              <a:rPr b="0" i="0" lang="en-US" sz="2000" u="none" cap="none" strike="noStrike">
                <a:solidFill>
                  <a:srgbClr val="B5532B"/>
                </a:solidFill>
                <a:latin typeface="Fraunces"/>
                <a:ea typeface="Fraunces"/>
                <a:cs typeface="Fraunces"/>
                <a:sym typeface="Fraunces"/>
              </a:rPr>
              <a:t>4</a:t>
            </a:r>
          </a:p>
          <a:p>
            <a:pPr indent="0" lvl="0" marL="0" marR="0" rtl="0" algn="l">
              <a:lnSpc>
                <a:spcPct val="128000"/>
              </a:lnSpc>
              <a:spcBef>
                <a:spcPts val="0"/>
              </a:spcBef>
              <a:spcAft>
                <a:spcPts val="0"/>
              </a:spcAft>
              <a:buNone/>
            </a:pPr>
            <a:r>
              <a:rPr b="0" i="0" lang="en-US" sz="1300" u="none" cap="none" strike="noStrike">
                <a:solidFill>
                  <a:srgbClr val="1E3A2F"/>
                </a:solidFill>
                <a:latin typeface="DM Sans"/>
                <a:ea typeface="DM Sans"/>
                <a:cs typeface="DM Sans"/>
                <a:sym typeface="DM Sans"/>
              </a:rPr>
              <a:t>Follow-up: "Write caption drafts for week 1 in our brand voice: warm, direct, no jargon."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Q5 ANSWER KEY</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000" u="none" cap="none" strike="noStrike">
                <a:solidFill>
                  <a:srgbClr val="1E3A2F"/>
                </a:solidFill>
                <a:latin typeface="Fraunces"/>
                <a:ea typeface="Fraunces"/>
                <a:cs typeface="Fraunces"/>
                <a:sym typeface="Fraunces"/>
              </a:rPr>
              <a:t>What should we post next month? What good looks like</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findings"/>
          <p:cNvSpPr/>
          <p:nvPr/>
        </p:nvSpPr>
        <p:spPr>
          <a:xfrm>
            <a:off x="812800" y="2151385"/>
            <a:ext cx="6551168" cy="4506615"/>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Mixes Reels (reach, new audiences) with carousels (saves, purchase intent).</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Uses Loop Tote content for purchase goal; picker stories for trust-building.</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Links every choice to a real Q1-Q4 finding; marks the rest as "test".</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Includes a fair experiment: same format, different time, defined success metric.</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Does NOT invent numbers such as sales targets or follower projections.</a:t>
            </a:r>
          </a:p>
          <a:p>
            <a:pPr indent="0" lvl="0" marL="0" marR="0" rtl="0" algn="l">
              <a:lnSpc>
                <a:spcPct val="135000"/>
              </a:lnSpc>
              <a:spcBef>
                <a:spcPts val="100"/>
              </a:spcBef>
              <a:spcAft>
                <a:spcPts val="0"/>
              </a:spcAft>
              <a:buNone/>
            </a:pPr>
            <a:r>
              <a:rPr b="0" i="0" lang="en-US" sz="1250" u="none" cap="none" strike="noStrike">
                <a:solidFill>
                  <a:srgbClr val="1E3A2F"/>
                </a:solidFill>
                <a:latin typeface="DM Sans"/>
                <a:ea typeface="DM Sans"/>
                <a:cs typeface="DM Sans"/>
                <a:sym typeface="DM Sans"/>
              </a:rPr>
              <a:t>•  Argues against its own plan: e.g. "sample patterns from 30 posts may not hold".</a:t>
            </a:r>
          </a:p>
        </p:txBody>
      </p:sp>
      <p:sp>
        <p:nvSpPr>
          <p:cNvPr id="20" name="tpbg"/>
          <p:cNvSpPr/>
          <p:nvPr/>
        </p:nvSpPr>
        <p:spPr>
          <a:xfrm>
            <a:off x="7563968" y="2151385"/>
            <a:ext cx="3815232" cy="4506615"/>
          </a:xfrm>
          <a:prstGeom prst="rect">
            <a:avLst/>
          </a:prstGeom>
          <a:solidFill>
            <a:srgbClr val="1E3A2F"/>
          </a:solidFill>
          <a:ln>
            <a:noFill/>
          </a:ln>
        </p:spPr>
        <p:txBody>
          <a:bodyPr/>
          <a:lstStyle/>
          <a:p/>
        </p:txBody>
      </p:sp>
      <p:sp>
        <p:nvSpPr>
          <p:cNvPr id="21" name="tp"/>
          <p:cNvSpPr/>
          <p:nvPr/>
        </p:nvSpPr>
        <p:spPr>
          <a:xfrm>
            <a:off x="7673968" y="2261385"/>
            <a:ext cx="3595232" cy="428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100" u="none" cap="none" strike="noStrike">
                <a:solidFill>
                  <a:srgbClr val="FBF3E8"/>
                </a:solidFill>
                <a:latin typeface="DM Sans"/>
                <a:ea typeface="DM Sans"/>
                <a:cs typeface="DM Sans"/>
                <a:sym typeface="DM Sans"/>
              </a:rPr>
              <a:t>Teaching point</a:t>
            </a:r>
          </a:p>
          <a:p/>
          <a:p>
            <a:pPr indent="0" lvl="0" marL="0" marR="0" rtl="0" algn="l">
              <a:lnSpc>
                <a:spcPct val="138000"/>
              </a:lnSpc>
              <a:spcBef>
                <a:spcPts val="0"/>
              </a:spcBef>
              <a:spcAft>
                <a:spcPts val="0"/>
              </a:spcAft>
              <a:buNone/>
            </a:pPr>
            <a:r>
              <a:rPr b="0" i="0" lang="en-US" sz="1250" u="none" cap="none" strike="noStrike">
                <a:solidFill>
                  <a:srgbClr val="FBF3E8"/>
                </a:solidFill>
                <a:latin typeface="DM Sans"/>
                <a:ea typeface="DM Sans"/>
                <a:cs typeface="DM Sans"/>
                <a:sym typeface="DM Sans"/>
              </a:rPr>
              <a:t>Ask the AI to critique itself. The data tells you what happened. You decide what it means for next month.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WRAP-UP</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600" u="none" cap="none" strike="noStrike">
                <a:solidFill>
                  <a:srgbClr val="1E3A2F"/>
                </a:solidFill>
                <a:latin typeface="Fraunces"/>
                <a:ea typeface="Fraunces"/>
                <a:cs typeface="Fraunces"/>
                <a:sym typeface="Fraunces"/>
              </a:rPr>
              <a:t>What makes these prompts work</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body"/>
          <p:cNvSpPr/>
          <p:nvPr/>
        </p:nvSpPr>
        <p:spPr>
          <a:xfrm>
            <a:off x="812800" y="2151385"/>
            <a:ext cx="10566400" cy="4506615"/>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600" u="none" cap="none" strike="noStrike">
                <a:solidFill>
                  <a:srgbClr val="1E3A2F"/>
                </a:solidFill>
                <a:latin typeface="DM Sans"/>
                <a:ea typeface="DM Sans"/>
                <a:cs typeface="DM Sans"/>
                <a:sym typeface="DM Sans"/>
              </a:rPr>
              <a:t>Six ingredients of a useful data prompt</a:t>
            </a:r>
          </a:p>
          <a:p/>
          <a:p>
            <a:pPr indent="0" lvl="0" marL="0" marR="0" rtl="0" algn="l">
              <a:lnSpc>
                <a:spcPct val="120000"/>
              </a:lnSpc>
              <a:spcBef>
                <a:spcPts val="150"/>
              </a:spcBef>
              <a:spcAft>
                <a:spcPts val="0"/>
              </a:spcAft>
              <a:buNone/>
            </a:pPr>
            <a:r>
              <a:rPr b="1" i="0" lang="en-US" sz="1300" u="none" cap="none" strike="noStrike">
                <a:solidFill>
                  <a:srgbClr val="B5532B"/>
                </a:solidFill>
                <a:latin typeface="DM Sans"/>
                <a:ea typeface="DM Sans"/>
                <a:cs typeface="DM Sans"/>
                <a:sym typeface="DM Sans"/>
              </a:rPr>
              <a:t>Business question first</a:t>
            </a:r>
          </a:p>
          <a:p>
            <a:pPr indent="0" lvl="0" marL="0" marR="0" rtl="0" algn="l">
              <a:lnSpc>
                <a:spcPct val="120000"/>
              </a:lnSpc>
              <a:spcBef>
                <a:spcPts val="0"/>
              </a:spcBef>
              <a:spcAft>
                <a:spcPts val="0"/>
              </a:spcAft>
              <a:buNone/>
            </a:pPr>
            <a:r>
              <a:rPr b="0" i="0" lang="en-US" sz="1200" u="none" cap="none" strike="noStrike">
                <a:solidFill>
                  <a:srgbClr val="1E3A2F"/>
                </a:solidFill>
                <a:latin typeface="DM Sans"/>
                <a:ea typeface="DM Sans"/>
                <a:cs typeface="DM Sans"/>
                <a:sym typeface="DM Sans"/>
              </a:rPr>
              <a:t>   "Which formats should we invest more in?"</a:t>
            </a:r>
          </a:p>
          <a:p>
            <a:pPr indent="0" lvl="0" marL="0" marR="0" rtl="0" algn="l">
              <a:lnSpc>
                <a:spcPct val="120000"/>
              </a:lnSpc>
              <a:spcBef>
                <a:spcPts val="150"/>
              </a:spcBef>
              <a:spcAft>
                <a:spcPts val="0"/>
              </a:spcAft>
              <a:buNone/>
            </a:pPr>
            <a:r>
              <a:rPr b="1" i="0" lang="en-US" sz="1300" u="none" cap="none" strike="noStrike">
                <a:solidFill>
                  <a:srgbClr val="B5532B"/>
                </a:solidFill>
                <a:latin typeface="DM Sans"/>
                <a:ea typeface="DM Sans"/>
                <a:cs typeface="DM Sans"/>
                <a:sym typeface="DM Sans"/>
              </a:rPr>
              <a:t>Context</a:t>
            </a:r>
          </a:p>
          <a:p>
            <a:pPr indent="0" lvl="0" marL="0" marR="0" rtl="0" algn="l">
              <a:lnSpc>
                <a:spcPct val="120000"/>
              </a:lnSpc>
              <a:spcBef>
                <a:spcPts val="0"/>
              </a:spcBef>
              <a:spcAft>
                <a:spcPts val="0"/>
              </a:spcAft>
              <a:buNone/>
            </a:pPr>
            <a:r>
              <a:rPr b="0" i="0" lang="en-US" sz="1200" u="none" cap="none" strike="noStrike">
                <a:solidFill>
                  <a:srgbClr val="1E3A2F"/>
                </a:solidFill>
                <a:latin typeface="DM Sans"/>
                <a:ea typeface="DM Sans"/>
                <a:cs typeface="DM Sans"/>
                <a:sym typeface="DM Sans"/>
              </a:rPr>
              <a:t>   Who you are, what you sell, what Instagram does for you</a:t>
            </a:r>
          </a:p>
          <a:p>
            <a:pPr indent="0" lvl="0" marL="0" marR="0" rtl="0" algn="l">
              <a:lnSpc>
                <a:spcPct val="120000"/>
              </a:lnSpc>
              <a:spcBef>
                <a:spcPts val="150"/>
              </a:spcBef>
              <a:spcAft>
                <a:spcPts val="0"/>
              </a:spcAft>
              <a:buNone/>
            </a:pPr>
            <a:r>
              <a:rPr b="1" i="0" lang="en-US" sz="1300" u="none" cap="none" strike="noStrike">
                <a:solidFill>
                  <a:srgbClr val="B5532B"/>
                </a:solidFill>
                <a:latin typeface="DM Sans"/>
                <a:ea typeface="DM Sans"/>
                <a:cs typeface="DM Sans"/>
                <a:sym typeface="DM Sans"/>
              </a:rPr>
              <a:t>Data described</a:t>
            </a:r>
          </a:p>
          <a:p>
            <a:pPr indent="0" lvl="0" marL="0" marR="0" rtl="0" algn="l">
              <a:lnSpc>
                <a:spcPct val="120000"/>
              </a:lnSpc>
              <a:spcBef>
                <a:spcPts val="0"/>
              </a:spcBef>
              <a:spcAft>
                <a:spcPts val="0"/>
              </a:spcAft>
              <a:buNone/>
            </a:pPr>
            <a:r>
              <a:rPr b="0" i="0" lang="en-US" sz="1200" u="none" cap="none" strike="noStrike">
                <a:solidFill>
                  <a:srgbClr val="1E3A2F"/>
                </a:solidFill>
                <a:latin typeface="DM Sans"/>
                <a:ea typeface="DM Sans"/>
                <a:cs typeface="DM Sans"/>
                <a:sym typeface="DM Sans"/>
              </a:rPr>
              <a:t>   What each column means, what is blank and why</a:t>
            </a:r>
          </a:p>
          <a:p>
            <a:pPr indent="0" lvl="0" marL="0" marR="0" rtl="0" algn="l">
              <a:lnSpc>
                <a:spcPct val="120000"/>
              </a:lnSpc>
              <a:spcBef>
                <a:spcPts val="150"/>
              </a:spcBef>
              <a:spcAft>
                <a:spcPts val="0"/>
              </a:spcAft>
              <a:buNone/>
            </a:pPr>
            <a:r>
              <a:rPr b="1" i="0" lang="en-US" sz="1300" u="none" cap="none" strike="noStrike">
                <a:solidFill>
                  <a:srgbClr val="B5532B"/>
                </a:solidFill>
                <a:latin typeface="DM Sans"/>
                <a:ea typeface="DM Sans"/>
                <a:cs typeface="DM Sans"/>
                <a:sym typeface="DM Sans"/>
              </a:rPr>
              <a:t>Specific steps</a:t>
            </a:r>
          </a:p>
          <a:p>
            <a:pPr indent="0" lvl="0" marL="0" marR="0" rtl="0" algn="l">
              <a:lnSpc>
                <a:spcPct val="120000"/>
              </a:lnSpc>
              <a:spcBef>
                <a:spcPts val="0"/>
              </a:spcBef>
              <a:spcAft>
                <a:spcPts val="0"/>
              </a:spcAft>
              <a:buNone/>
            </a:pPr>
            <a:r>
              <a:rPr b="0" i="0" lang="en-US" sz="1200" u="none" cap="none" strike="noStrike">
                <a:solidFill>
                  <a:srgbClr val="1E3A2F"/>
                </a:solidFill>
                <a:latin typeface="DM Sans"/>
                <a:ea typeface="DM Sans"/>
                <a:cs typeface="DM Sans"/>
                <a:sym typeface="DM Sans"/>
              </a:rPr>
              <a:t>   Numbered tasks with named columns</a:t>
            </a:r>
          </a:p>
          <a:p>
            <a:pPr indent="0" lvl="0" marL="0" marR="0" rtl="0" algn="l">
              <a:lnSpc>
                <a:spcPct val="120000"/>
              </a:lnSpc>
              <a:spcBef>
                <a:spcPts val="150"/>
              </a:spcBef>
              <a:spcAft>
                <a:spcPts val="0"/>
              </a:spcAft>
              <a:buNone/>
            </a:pPr>
            <a:r>
              <a:rPr b="1" i="0" lang="en-US" sz="1300" u="none" cap="none" strike="noStrike">
                <a:solidFill>
                  <a:srgbClr val="B5532B"/>
                </a:solidFill>
                <a:latin typeface="DM Sans"/>
                <a:ea typeface="DM Sans"/>
                <a:cs typeface="DM Sans"/>
                <a:sym typeface="DM Sans"/>
              </a:rPr>
              <a:t>Checks built in</a:t>
            </a:r>
          </a:p>
          <a:p>
            <a:pPr indent="0" lvl="0" marL="0" marR="0" rtl="0" algn="l">
              <a:lnSpc>
                <a:spcPct val="120000"/>
              </a:lnSpc>
              <a:spcBef>
                <a:spcPts val="0"/>
              </a:spcBef>
              <a:spcAft>
                <a:spcPts val="0"/>
              </a:spcAft>
              <a:buNone/>
            </a:pPr>
            <a:r>
              <a:rPr b="0" i="0" lang="en-US" sz="1200" u="none" cap="none" strike="noStrike">
                <a:solidFill>
                  <a:srgbClr val="1E3A2F"/>
                </a:solidFill>
                <a:latin typeface="DM Sans"/>
                <a:ea typeface="DM Sans"/>
                <a:cs typeface="DM Sans"/>
                <a:sym typeface="DM Sans"/>
              </a:rPr>
              <a:t>   Sample sizes, outliers, confounds, what cannot be concluded</a:t>
            </a:r>
          </a:p>
          <a:p>
            <a:pPr indent="0" lvl="0" marL="0" marR="0" rtl="0" algn="l">
              <a:lnSpc>
                <a:spcPct val="120000"/>
              </a:lnSpc>
              <a:spcBef>
                <a:spcPts val="150"/>
              </a:spcBef>
              <a:spcAft>
                <a:spcPts val="0"/>
              </a:spcAft>
              <a:buNone/>
            </a:pPr>
            <a:r>
              <a:rPr b="1" i="0" lang="en-US" sz="1300" u="none" cap="none" strike="noStrike">
                <a:solidFill>
                  <a:srgbClr val="B5532B"/>
                </a:solidFill>
                <a:latin typeface="DM Sans"/>
                <a:ea typeface="DM Sans"/>
                <a:cs typeface="DM Sans"/>
                <a:sym typeface="DM Sans"/>
              </a:rPr>
              <a:t>A decision at the end</a:t>
            </a:r>
          </a:p>
          <a:p>
            <a:pPr indent="0" lvl="0" marL="0" marR="0" rtl="0" algn="l">
              <a:lnSpc>
                <a:spcPct val="120000"/>
              </a:lnSpc>
              <a:spcBef>
                <a:spcPts val="0"/>
              </a:spcBef>
              <a:spcAft>
                <a:spcPts val="0"/>
              </a:spcAft>
              <a:buNone/>
            </a:pPr>
            <a:r>
              <a:rPr b="0" i="0" lang="en-US" sz="1200" u="none" cap="none" strike="noStrike">
                <a:solidFill>
                  <a:srgbClr val="1E3A2F"/>
                </a:solidFill>
                <a:latin typeface="DM Sans"/>
                <a:ea typeface="DM Sans"/>
                <a:cs typeface="DM Sans"/>
                <a:sym typeface="DM Sans"/>
              </a:rPr>
              <a:t>   Recommendation, content plan, or experiment design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nvGrpSpPr>
        <p:cNvPr id="1" name="Shape 1"/>
        <p:cNvGrpSpPr/>
        <p:nvPr/>
      </p:nvGrpSpPr>
      <p:grpSpPr>
        <a:xfrm>
          <a:off x="0" y="0"/>
          <a:ext cx="0" cy="0"/>
          <a:chOff x="0" y="0"/>
          <a:chExt cx="0" cy="0"/>
        </a:xfrm>
      </p:grpSpPr>
      <p:sp>
        <p:nvSpPr>
          <p:cNvPr id="10" name="label"/>
          <p:cNvSpPr/>
          <p:nvPr/>
        </p:nvSpPr>
        <p:spPr>
          <a:xfrm>
            <a:off x="812800" y="812800"/>
            <a:ext cx="1056640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b="1" i="0" lang="en-US" sz="1200" u="none" cap="none" strike="noStrike">
                <a:solidFill>
                  <a:srgbClr val="B5532B"/>
                </a:solidFill>
                <a:latin typeface="DM Sans"/>
                <a:ea typeface="DM Sans"/>
                <a:cs typeface="DM Sans"/>
                <a:sym typeface="DM Sans"/>
              </a:rPr>
              <a:t>ANALYSE · WRAP-UP</a:t>
            </a:r>
          </a:p>
        </p:txBody>
      </p:sp>
      <p:sp>
        <p:nvSpPr>
          <p:cNvPr id="11" name="title"/>
          <p:cNvSpPr/>
          <p:nvPr/>
        </p:nvSpPr>
        <p:spPr>
          <a:xfrm>
            <a:off x="812800" y="1280158"/>
            <a:ext cx="10566400"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0" lang="en-US" sz="3600" u="none" cap="none" strike="noStrike">
                <a:solidFill>
                  <a:srgbClr val="1E3A2F"/>
                </a:solidFill>
                <a:latin typeface="Fraunces"/>
                <a:ea typeface="Fraunces"/>
                <a:cs typeface="Fraunces"/>
                <a:sym typeface="Fraunces"/>
              </a:rPr>
              <a:t>Keeping yourself honest</a:t>
            </a:r>
          </a:p>
        </p:txBody>
      </p:sp>
      <p:cxnSp>
        <p:nvCxnSpPr>
          <p:cNvPr id="99" name="line"/>
          <p:cNvCxnSpPr/>
          <p:nvPr/>
        </p:nvCxnSpPr>
        <p:spPr>
          <a:xfrm>
            <a:off x="812800" y="2043435"/>
            <a:ext cx="10566400" cy="0"/>
          </a:xfrm>
          <a:prstGeom prst="straightConnector1">
            <a:avLst/>
          </a:prstGeom>
          <a:noFill/>
          <a:ln cap="flat" cmpd="sng" w="12700">
            <a:solidFill>
              <a:srgbClr val="D9CDB6"/>
            </a:solidFill>
            <a:prstDash val="solid"/>
          </a:ln>
        </p:spPr>
      </p:cxnSp>
      <p:sp>
        <p:nvSpPr>
          <p:cNvPr id="13" name="body"/>
          <p:cNvSpPr/>
          <p:nvPr/>
        </p:nvSpPr>
        <p:spPr>
          <a:xfrm>
            <a:off x="812800" y="2151385"/>
            <a:ext cx="10566400" cy="4506615"/>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None/>
            </a:pPr>
            <a:r>
              <a:rPr b="1" i="0" lang="en-US" sz="1300" u="none" cap="none" strike="noStrike">
                <a:solidFill>
                  <a:srgbClr val="B5532B"/>
                </a:solidFill>
                <a:latin typeface="DM Sans"/>
                <a:ea typeface="DM Sans"/>
                <a:cs typeface="DM Sans"/>
                <a:sym typeface="DM Sans"/>
              </a:rPr>
              <a:t>1  Spot-check a number</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   Pick one figure and recompute it in Excel or Sheets.</a:t>
            </a:r>
          </a:p>
          <a:p/>
          <a:p>
            <a:pPr indent="0" lvl="0" marL="0" marR="0" rtl="0" algn="l">
              <a:lnSpc>
                <a:spcPct val="130000"/>
              </a:lnSpc>
              <a:spcBef>
                <a:spcPts val="0"/>
              </a:spcBef>
              <a:spcAft>
                <a:spcPts val="0"/>
              </a:spcAft>
              <a:buNone/>
            </a:pPr>
            <a:r>
              <a:rPr b="1" i="0" lang="en-US" sz="1300" u="none" cap="none" strike="noStrike">
                <a:solidFill>
                  <a:srgbClr val="B5532B"/>
                </a:solidFill>
                <a:latin typeface="DM Sans"/>
                <a:ea typeface="DM Sans"/>
                <a:cs typeface="DM Sans"/>
                <a:sym typeface="DM Sans"/>
              </a:rPr>
              <a:t>2  Ask for the working</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   "Show the calculation and the posts you used."</a:t>
            </a:r>
          </a:p>
          <a:p/>
          <a:p>
            <a:pPr indent="0" lvl="0" marL="0" marR="0" rtl="0" algn="l">
              <a:lnSpc>
                <a:spcPct val="130000"/>
              </a:lnSpc>
              <a:spcBef>
                <a:spcPts val="0"/>
              </a:spcBef>
              <a:spcAft>
                <a:spcPts val="0"/>
              </a:spcAft>
              <a:buNone/>
            </a:pPr>
            <a:r>
              <a:rPr b="1" i="0" lang="en-US" sz="1300" u="none" cap="none" strike="noStrike">
                <a:solidFill>
                  <a:srgbClr val="B5532B"/>
                </a:solidFill>
                <a:latin typeface="DM Sans"/>
                <a:ea typeface="DM Sans"/>
                <a:cs typeface="DM Sans"/>
                <a:sym typeface="DM Sans"/>
              </a:rPr>
              <a:t>3  Ask for the opposite view</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   "What would someone who disagrees with this recommendation say?"</a:t>
            </a:r>
          </a:p>
          <a:p/>
          <a:p>
            <a:pPr indent="0" lvl="0" marL="0" marR="0" rtl="0" algn="l">
              <a:lnSpc>
                <a:spcPct val="130000"/>
              </a:lnSpc>
              <a:spcBef>
                <a:spcPts val="0"/>
              </a:spcBef>
              <a:spcAft>
                <a:spcPts val="0"/>
              </a:spcAft>
              <a:buNone/>
            </a:pPr>
            <a:r>
              <a:rPr b="1" i="0" lang="en-US" sz="1300" u="none" cap="none" strike="noStrike">
                <a:solidFill>
                  <a:srgbClr val="B5532B"/>
                </a:solidFill>
                <a:latin typeface="DM Sans"/>
                <a:ea typeface="DM Sans"/>
                <a:cs typeface="DM Sans"/>
                <a:sym typeface="DM Sans"/>
              </a:rPr>
              <a:t>4  Watch for confident language on small samples</a:t>
            </a:r>
          </a:p>
          <a:p>
            <a:pPr indent="0" lvl="0" marL="0" marR="0" rtl="0" algn="l">
              <a:lnSpc>
                <a:spcPct val="130000"/>
              </a:lnSpc>
              <a:spcBef>
                <a:spcPts val="0"/>
              </a:spcBef>
              <a:spcAft>
                <a:spcPts val="0"/>
              </a:spcAft>
              <a:buNone/>
            </a:pPr>
            <a:r>
              <a:rPr b="0" i="0" lang="en-US" sz="1200" u="none" cap="none" strike="noStrike">
                <a:solidFill>
                  <a:srgbClr val="1E3A2F"/>
                </a:solidFill>
                <a:latin typeface="DM Sans"/>
                <a:ea typeface="DM Sans"/>
                <a:cs typeface="DM Sans"/>
                <a:sym typeface="DM Sans"/>
              </a:rPr>
              <a:t>   Words like "proves" or "clearly shows" on fewer than 5 posts are red flags.</a:t>
            </a:r>
          </a:p>
          <a:p/>
          <a:p>
            <a:pPr indent="0" lvl="0" marL="0" marR="0" rtl="0" algn="l">
              <a:lnSpc>
                <a:spcPct val="140000"/>
              </a:lnSpc>
              <a:spcBef>
                <a:spcPts val="0"/>
              </a:spcBef>
              <a:spcAft>
                <a:spcPts val="0"/>
              </a:spcAft>
              <a:buNone/>
            </a:pPr>
            <a:r>
              <a:rPr b="1" i="0" lang="en-US" sz="1400" u="none" cap="none" strike="noStrike">
                <a:solidFill>
                  <a:srgbClr val="1E3A2F"/>
                </a:solidFill>
                <a:latin typeface="DM Sans"/>
                <a:ea typeface="DM Sans"/>
                <a:cs typeface="DM Sans"/>
                <a:sym typeface="DM Sans"/>
              </a:rPr>
              <a:t>Wrap-up question for the room</a:t>
            </a:r>
          </a:p>
          <a:p>
            <a:pPr indent="0" lvl="0" marL="0" marR="0" rtl="0" algn="l">
              <a:lnSpc>
                <a:spcPct val="130000"/>
              </a:lnSpc>
              <a:spcBef>
                <a:spcPts val="0"/>
              </a:spcBef>
              <a:spcAft>
                <a:spcPts val="0"/>
              </a:spcAft>
              <a:buNone/>
            </a:pPr>
            <a:r>
              <a:rPr b="0" i="1" lang="en-US" sz="1300" u="none" cap="none" strike="noStrike">
                <a:solidFill>
                  <a:srgbClr val="1E3A2F"/>
                </a:solidFill>
                <a:latin typeface="DM Sans"/>
                <a:ea typeface="DM Sans"/>
                <a:cs typeface="DM Sans"/>
                <a:sym typeface="DM Sans"/>
              </a:rPr>
              <a:t>"Which of the five answers would you act on tomorrow, which would you test first,</a:t>
            </a:r>
          </a:p>
          <a:p>
            <a:pPr indent="0" lvl="0" marL="0" marR="0" rtl="0" algn="l">
              <a:lnSpc>
                <a:spcPct val="130000"/>
              </a:lnSpc>
              <a:spcBef>
                <a:spcPts val="0"/>
              </a:spcBef>
              <a:spcAft>
                <a:spcPts val="0"/>
              </a:spcAft>
              <a:buNone/>
            </a:pPr>
            <a:r>
              <a:rPr b="0" i="1" lang="en-US" sz="1300" u="none" cap="none" strike="noStrike">
                <a:solidFill>
                  <a:srgbClr val="1E3A2F"/>
                </a:solidFill>
                <a:latin typeface="DM Sans"/>
                <a:ea typeface="DM Sans"/>
                <a:cs typeface="DM Sans"/>
                <a:sym typeface="DM Sans"/>
              </a:rPr>
              <a:t> and which would you ignore because the data cannot support it?"</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