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300" r:id="rId29"/>
    <p:sldId id="301" r:id="rId30"/>
    <p:sldId id="316" r:id="rId31"/>
    <p:sldId id="315" r:id="rId32"/>
    <p:sldId id="302" r:id="rId33"/>
    <p:sldId id="303" r:id="rId34"/>
    <p:sldId id="305" r:id="rId35"/>
    <p:sldId id="307" r:id="rId36"/>
    <p:sldId id="309" r:id="rId37"/>
    <p:sldId id="311" r:id="rId38"/>
    <p:sldId id="317" r:id="rId39"/>
    <p:sldId id="285" r:id="rId40"/>
  </p:sldIdLst>
  <p:sldSz cx="12192000" cy="6858000"/>
  <p:notesSz cx="6858000" cy="12192000"/>
  <p:embeddedFontLst>
    <p:embeddedFont>
      <p:font typeface="DM Sans" pitchFamily="2" charset="77"/>
      <p:regular r:id="rId42"/>
      <p:bold r:id="rId43"/>
      <p:italic r:id="rId44"/>
      <p:boldItalic r:id="rId45"/>
    </p:embeddedFont>
    <p:embeddedFont>
      <p:font typeface="Fraunces" pitchFamily="2" charset="77"/>
      <p:regular r:id="rId46"/>
      <p:bold r:id="rId47"/>
      <p:italic r:id="rId48"/>
      <p:boldItalic r:id="rId49"/>
    </p:embeddedFont>
    <p:embeddedFont>
      <p:font typeface="Georgia" panose="02040502050405020303" pitchFamily="18"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A8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5"/>
    <p:restoredTop sz="94768"/>
  </p:normalViewPr>
  <p:slideViewPr>
    <p:cSldViewPr snapToGrid="0">
      <p:cViewPr varScale="1">
        <p:scale>
          <a:sx n="197" d="100"/>
          <a:sy n="197" d="100"/>
        </p:scale>
        <p:origin x="23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Welcome. Set expectations: 20 minutes of basics, no maths, no jargon, then straight into hands-on. Ask for a quick show of hands: who has used ChatGPT, Gemini or Claude for work this month?</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h282c34934c4eb66e_3_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 name="Google Shape;24;h282c34934c4eb66e_3_32:notes"/>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p>
            <a:pPr marL="457200" lvl="0" indent="0" algn="l" rtl="0">
              <a:lnSpc>
                <a:spcPct val="100000"/>
              </a:lnSpc>
              <a:spcBef>
                <a:spcPts val="0"/>
              </a:spcBef>
              <a:spcAft>
                <a:spcPts val="0"/>
              </a:spcAft>
              <a:buSzPts val="1100"/>
              <a:buNone/>
            </a:pPr>
            <a:endParaRPr/>
          </a:p>
        </p:txBody>
      </p:sp>
      <p:sp>
        <p:nvSpPr>
          <p:cNvPr id="25" name="Google Shape;25;h282c34934c4eb66e_3_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Anchor in their reality before any technology. Most marketing teams in social enterprises are one to three people doing the work of a whole agency, across channels, audiences and languages. Ask: which of these three stretches your team most? Frame AI as capacity, not replacement.</a:t>
            </a:r>
            <a:endParaRPr/>
          </a:p>
        </p:txBody>
      </p:sp>
      <p:sp>
        <p:nvSpPr>
          <p:cNvPr id="32" name="Google Shape;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The one idea: it predicts the next likely word, over and over. Walk through the compost example: "rich soil" is most likely, "gold" is possible but unlikely. Then land the key point for marketers: because it always produces something likely-sounding, it will sound confident even when it is wrong. Fluent is not the same as true.</a:t>
            </a:r>
            <a:endParaRPr/>
          </a:p>
        </p:txBody>
      </p:sp>
      <p:sp>
        <p:nvSpPr>
          <p:cNvPr id="52" name="Google Shape;5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Keep it light: read, coached, refined. No need for technical terms. The takeaway is the dark box: because it learned from the whole internet, its default voice is the average voice. That is why unedited AI content feels generic. Everything in the prompting section is about pulling it away from average and toward your brand.</a:t>
            </a:r>
            <a:endParaRPr/>
          </a:p>
        </p:txBody>
      </p:sp>
      <p:sp>
        <p:nvSpPr>
          <p:cNvPr id="70" name="Google Shape;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min. This is the mental model to keep all day. Ask the room: how would you brief a new intern on day one? You would not just say "write something about us". You would explain who you are, who the audience is, and show examples. Same with AI. And you would never publish an intern's first draft without reading it.</a:t>
            </a:r>
            <a:endParaRPr/>
          </a:p>
        </p:txBody>
      </p:sp>
      <p:sp>
        <p:nvSpPr>
          <p:cNvPr id="93" name="Google Shape;9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Left column is where to lean in. Localising is a big one for teams across Southeast Asia: one story adapted for English-speaking funders and local-language customers. Right column is where to stay alert. The first item matters most for impact brands: it will happily invent a number like "reduced waste by 40%" if you do not give it your real data.</a:t>
            </a:r>
            <a:endParaRPr/>
          </a:p>
        </p:txBody>
      </p:sp>
      <p:sp>
        <p:nvSpPr>
          <p:cNvPr id="115" name="Google Shape;11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Keep this quick; do not turn it into a product comparison. Point out that many of them already have AI inside tools they use daily, like Canva. The key message is the last line: skills transfer across tools, because they all respond to the same thing, a good brief. That is our bridge to prompting.</a:t>
            </a:r>
            <a:endParaRPr/>
          </a:p>
        </p:txBody>
      </p:sp>
      <p:sp>
        <p:nvSpPr>
          <p:cNvPr id="130" name="Google Shape;13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Pause here. This is the reframe that makes marketers confident: prompting is not a technical skill, it is briefing, which they already do every week. Let it land, then move on.</a:t>
            </a:r>
            <a:endParaRPr/>
          </a:p>
        </p:txBody>
      </p:sp>
      <p:sp>
        <p:nvSpPr>
          <p:cNvPr id="152" name="Google Shape;15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~2.5 min. Map each part to something they already put in an agency brief: role is who is writing, task is the deliverable, context is the background and audience, format is the specs, examples are the mood board. Context and examples are where most of the quality comes from, and they are the parts people most often skip.</a:t>
            </a:r>
            <a:endParaRPr/>
          </a:p>
        </p:txBody>
      </p:sp>
      <p:sp>
        <p:nvSpPr>
          <p:cNvPr id="160" name="Google Shape;16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Read both aloud. Point to "Use only these facts" in the specific brief: that single line is the best protection against invented impact numbers. If time allows, invite someone to suggest one more line they would add to the specific brief.</a:t>
            </a:r>
            <a:endParaRPr/>
          </a:p>
        </p:txBody>
      </p:sp>
      <p:sp>
        <p:nvSpPr>
          <p:cNvPr id="183" name="Google Shape;18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These are the moves they will practise in the hands-on. Number 3 is the one most people have never tried and it surprises them: the AI asks you the questions a good copywriter would. Number 5 turns the AI into a reviewer, useful before anything goes to funders.</a:t>
            </a:r>
            <a:endParaRPr/>
          </a:p>
        </p:txBody>
      </p:sp>
      <p:sp>
        <p:nvSpPr>
          <p:cNvPr id="199" name="Google Shape;19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 min. This is the slide that is specific to social enterprises. Their brand rests on trust with customers, funders and communities. An AI-invented impact figure or a fake photo of "our farmers" can undo years of credibility. Protecting beneficiary data is both an ethical and, in several countries, a legal matter.</a:t>
            </a:r>
            <a:endParaRPr/>
          </a:p>
        </p:txBody>
      </p:sp>
      <p:sp>
        <p:nvSpPr>
          <p:cNvPr id="227" name="Google Shape;22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Close the loop: speed is now cheap, so the value marketers bring shifts to judgment, knowing their audience, their facts and their voice. Then transition straight into the hands-on.</a:t>
            </a:r>
            <a:endParaRPr/>
          </a:p>
        </p:txBody>
      </p:sp>
      <p:sp>
        <p:nvSpPr>
          <p:cNvPr id="249" name="Google Shape;24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 framing, about 30 seconds. Tell people they do not need to type along; the hands-on repeats exactly these four steps with the Loop Tote. Ask them to watch two things: how the prompt is built, and what you check before accepting the output.</a:t>
            </a:r>
            <a:endParaRPr/>
          </a:p>
        </p:txBody>
      </p:sp>
      <p:sp>
        <p:nvSpPr>
          <p:cNvPr id="261" name="Google Shape;26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Point out the difference from the Loop Tote: this story is about a real person. Her quotes are sacred; the AI may shape the text around them but must never rewrite them. Paste this brief as text into the chat for the demo.</a:t>
            </a:r>
            <a:endParaRPr/>
          </a:p>
        </p:txBody>
      </p:sp>
      <p:sp>
        <p:nvSpPr>
          <p:cNvPr id="273" name="Google Shape;27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Show the first draft, then the refinement. Drafts often drift into brand self-praise; the follow-up pulls the focus back to her. Read her quotes in the output against the brief out loud so the room sees the check happen.</a:t>
            </a:r>
            <a:endParaRPr/>
          </a:p>
        </p:txBody>
      </p:sp>
      <p:sp>
        <p:nvSpPr>
          <p:cNvPr id="304" name="Google Shape;30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deliberate contrast with the hands-on. For a product like the Loop Tote, AI video is fine. For a real person's story, AI plans the shoot and the edit; it does not fabricate her. Mention consent: she should know how and where her story will be used.</a:t>
            </a:r>
            <a:endParaRPr/>
          </a:p>
        </p:txBody>
      </p:sp>
      <p:sp>
        <p:nvSpPr>
          <p:cNvPr id="322" name="Google Shape;32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last line of the prompt is the teaching point: dignity. Stories about low-income workers can slide into poverty imagery. Ask the AI to flag it, then apply your own judgment.</a:t>
            </a:r>
            <a:endParaRPr/>
          </a:p>
        </p:txBody>
      </p:sp>
      <p:sp>
        <p:nvSpPr>
          <p:cNvPr id="340" name="Google Shape;34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Show the table and pick one live, explaining why. Variation A usually wins for picker stories because her voice carries it. Then move to the comparison slide.</a:t>
            </a:r>
            <a:endParaRPr/>
          </a:p>
        </p:txBody>
      </p:sp>
      <p:sp>
        <p:nvSpPr>
          <p:cNvPr id="358" name="Google Shape;35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Set up the hands-on. Everyone works on the same fictional-style launch so results can be compared. Suggest roughly 8 to 10 minutes per step. Steps 2 to 4 happen in the same chat as step 1, so the AI remembers the caption. Share the Loop Tote brief as copyable text (chat, WhatsApp or a shared doc) so people can paste it.</a:t>
            </a:r>
            <a:endParaRPr/>
          </a:p>
        </p:txBody>
      </p:sp>
      <p:sp>
        <p:nvSpPr>
          <p:cNvPr id="393" name="Google Shape;39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4" name="Google Shape;40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only source of facts for the whole exercise. Remind people: if a number or claim is not on this slide, it should not appear in their content. Share this as text so they can paste it into their chat.</a:t>
            </a:r>
            <a:endParaRPr/>
          </a:p>
        </p:txBody>
      </p:sp>
      <p:sp>
        <p:nvSpPr>
          <p:cNvPr id="405" name="Google Shape;40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The most common slip is the AI inventing a figure, like tonnes of plastic saved. Ask people to check their caption line by line against the brief. If they finish early, try the “ask me 3 questions first” follow-up and compare.</a:t>
            </a:r>
            <a:endParaRPr/>
          </a:p>
        </p:txBody>
      </p:sp>
      <p:sp>
        <p:nvSpPr>
          <p:cNvPr id="439" name="Google Shape;43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Not everyone will have a video tool; the prompt itself is the deliverable. Point out the guardrail: AI video of workers or pickers must not be passed off as the real community. Product and process shots are fine.</a:t>
            </a:r>
            <a:endParaRPr/>
          </a:p>
        </p:txBody>
      </p:sp>
      <p:sp>
        <p:nvSpPr>
          <p:cNvPr id="457" name="Google Shape;45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5 to 8 minutes. The AI cannot see live Instagram data, so it may suggest tags that are dead, spammy or dominated by unrelated content. The manual check in step 4 matters.</a:t>
            </a:r>
            <a:endParaRPr/>
          </a:p>
        </p:txBody>
      </p:sp>
      <p:sp>
        <p:nvSpPr>
          <p:cNvPr id="475" name="Google Shape;47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About 8 to 10 minutes. Variations are where AI saves the most time: one story, several angles, ready for A/B testing or different channels. Ask two or three people which angle they picked and why.</a:t>
            </a:r>
            <a:endParaRPr/>
          </a:p>
        </p:txBody>
      </p:sp>
      <p:sp>
        <p:nvSpPr>
          <p:cNvPr id="493" name="Google Shape;49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Share-back, about 5 minutes. The brand's own post is a reference, not the "right answer". Notice two things it has that most AI drafts miss: alt text for accessibility and a simple engagement question. Close by asking what surprised people most.</a:t>
            </a:r>
            <a:endParaRPr/>
          </a:p>
        </p:txBody>
      </p:sp>
      <p:sp>
        <p:nvSpPr>
          <p:cNvPr id="511" name="Google Shape;51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F783D186-0071-B6F3-9F37-50CF5810EDFB}"/>
            </a:ext>
          </a:extLst>
        </p:cNvPr>
        <p:cNvGrpSpPr/>
        <p:nvPr/>
      </p:nvGrpSpPr>
      <p:grpSpPr>
        <a:xfrm>
          <a:off x="0" y="0"/>
          <a:ext cx="0" cy="0"/>
          <a:chOff x="0" y="0"/>
          <a:chExt cx="0" cy="0"/>
        </a:xfrm>
      </p:grpSpPr>
      <p:sp>
        <p:nvSpPr>
          <p:cNvPr id="259" name="Google Shape;259;p14:notes">
            <a:extLst>
              <a:ext uri="{FF2B5EF4-FFF2-40B4-BE49-F238E27FC236}">
                <a16:creationId xmlns:a16="http://schemas.microsoft.com/office/drawing/2014/main" id="{73084CDD-8FBB-6F0F-5DDF-646042A0A1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4:notes">
            <a:extLst>
              <a:ext uri="{FF2B5EF4-FFF2-40B4-BE49-F238E27FC236}">
                <a16:creationId xmlns:a16="http://schemas.microsoft.com/office/drawing/2014/main" id="{9C715437-EAFC-670B-A94D-48F86F32C7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Demo framing, about 30 seconds. Tell people they do not need to type along; the hands-on repeats exactly these four steps with the Loop Tote. Ask them to watch two things: how the prompt is built, and what you check before accepting the output.</a:t>
            </a:r>
            <a:endParaRPr dirty="0"/>
          </a:p>
        </p:txBody>
      </p:sp>
      <p:sp>
        <p:nvSpPr>
          <p:cNvPr id="261" name="Google Shape;261;p14:notes">
            <a:extLst>
              <a:ext uri="{FF2B5EF4-FFF2-40B4-BE49-F238E27FC236}">
                <a16:creationId xmlns:a16="http://schemas.microsoft.com/office/drawing/2014/main" id="{6A1E3804-B27D-D8F5-32E6-38858397E9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86800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h282c34934c4eb66e_3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5" name="Google Shape;535;h282c34934c4eb66e_3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sec. Welcome. Set expectations: 20 minutes of basics, no maths, no jargon, then straight into hands-on. Ask for a quick show of hands: who has used ChatGPT, Gemini or Claude for work this month?</a:t>
            </a:r>
            <a:endParaRPr/>
          </a:p>
        </p:txBody>
      </p:sp>
      <p:sp>
        <p:nvSpPr>
          <p:cNvPr id="536" name="Google Shape;536;h282c34934c4eb66e_3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2F"/>
        </a:solidFill>
        <a:effectLst/>
      </p:bgPr>
    </p:bg>
    <p:spTree>
      <p:nvGrpSpPr>
        <p:cNvPr id="1" name="Shape 15"/>
        <p:cNvGrpSpPr/>
        <p:nvPr/>
      </p:nvGrpSpPr>
      <p:grpSpPr>
        <a:xfrm>
          <a:off x="0" y="0"/>
          <a:ext cx="0" cy="0"/>
          <a:chOff x="0" y="0"/>
          <a:chExt cx="0" cy="0"/>
        </a:xfrm>
      </p:grpSpPr>
      <p:pic>
        <p:nvPicPr>
          <p:cNvPr id="16" name="Google Shape;16;p3" descr="ellipse"/>
          <p:cNvPicPr preferRelativeResize="0"/>
          <p:nvPr/>
        </p:nvPicPr>
        <p:blipFill rotWithShape="1">
          <a:blip r:embed="rId3">
            <a:alphaModFix/>
          </a:blip>
          <a:srcRect/>
          <a:stretch/>
        </p:blipFill>
        <p:spPr>
          <a:xfrm>
            <a:off x="8763000" y="812800"/>
            <a:ext cx="2540000" cy="2540000"/>
          </a:xfrm>
          <a:prstGeom prst="rect">
            <a:avLst/>
          </a:prstGeom>
          <a:noFill/>
          <a:ln>
            <a:noFill/>
          </a:ln>
        </p:spPr>
      </p:pic>
      <p:pic>
        <p:nvPicPr>
          <p:cNvPr id="17" name="Google Shape;17;p3" descr="ellipse"/>
          <p:cNvPicPr preferRelativeResize="0"/>
          <p:nvPr/>
        </p:nvPicPr>
        <p:blipFill rotWithShape="1">
          <a:blip r:embed="rId4">
            <a:alphaModFix/>
          </a:blip>
          <a:srcRect/>
          <a:stretch/>
        </p:blipFill>
        <p:spPr>
          <a:xfrm>
            <a:off x="8255000" y="2794000"/>
            <a:ext cx="889000" cy="889000"/>
          </a:xfrm>
          <a:prstGeom prst="rect">
            <a:avLst/>
          </a:prstGeom>
          <a:noFill/>
          <a:ln>
            <a:noFill/>
          </a:ln>
        </p:spPr>
      </p:pic>
      <p:sp>
        <p:nvSpPr>
          <p:cNvPr id="18" name="Google Shape;18;p3"/>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MASTERCLASS · AI FOR CONTENT CREATION</a:t>
            </a:r>
            <a:endParaRPr sz="1200" b="0" i="0" u="none" strike="noStrike" cap="none">
              <a:solidFill>
                <a:schemeClr val="dk1"/>
              </a:solidFill>
              <a:latin typeface="Calibri"/>
              <a:ea typeface="Calibri"/>
              <a:cs typeface="Calibri"/>
              <a:sym typeface="Calibri"/>
            </a:endParaRPr>
          </a:p>
        </p:txBody>
      </p:sp>
      <p:sp>
        <p:nvSpPr>
          <p:cNvPr id="19" name="Google Shape;19;p3"/>
          <p:cNvSpPr/>
          <p:nvPr/>
        </p:nvSpPr>
        <p:spPr>
          <a:xfrm>
            <a:off x="812800" y="2345690"/>
            <a:ext cx="7521575" cy="16256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5F0E6"/>
              </a:buClr>
              <a:buSzPts val="6000"/>
              <a:buFont typeface="Fraunces"/>
              <a:buNone/>
            </a:pPr>
            <a:r>
              <a:rPr lang="en-US" sz="6000" b="0" i="0" u="none" strike="noStrike" cap="none">
                <a:solidFill>
                  <a:srgbClr val="F5F0E6"/>
                </a:solidFill>
                <a:latin typeface="Fraunces"/>
                <a:ea typeface="Fraunces"/>
                <a:cs typeface="Fraunces"/>
                <a:sym typeface="Fraunces"/>
              </a:rPr>
              <a:t>Your stories,</a:t>
            </a:r>
            <a:endParaRPr sz="6000" b="0" i="0" u="none" strike="noStrike" cap="none">
              <a:solidFill>
                <a:schemeClr val="dk1"/>
              </a:solidFill>
              <a:latin typeface="Calibri"/>
              <a:ea typeface="Calibri"/>
              <a:cs typeface="Calibri"/>
              <a:sym typeface="Calibri"/>
            </a:endParaRPr>
          </a:p>
          <a:p>
            <a:pPr marL="0" marR="0" lvl="0" indent="0" algn="l" rtl="0">
              <a:lnSpc>
                <a:spcPct val="104999"/>
              </a:lnSpc>
              <a:spcBef>
                <a:spcPts val="0"/>
              </a:spcBef>
              <a:spcAft>
                <a:spcPts val="0"/>
              </a:spcAft>
              <a:buClr>
                <a:srgbClr val="F5F0E6"/>
              </a:buClr>
              <a:buSzPts val="6000"/>
              <a:buFont typeface="Fraunces"/>
              <a:buNone/>
            </a:pPr>
            <a:r>
              <a:rPr lang="en-US" sz="6000" b="0" i="0" u="none" strike="noStrike" cap="none">
                <a:solidFill>
                  <a:srgbClr val="F5F0E6"/>
                </a:solidFill>
                <a:latin typeface="Fraunces"/>
                <a:ea typeface="Fraunces"/>
                <a:cs typeface="Fraunces"/>
                <a:sym typeface="Fraunces"/>
              </a:rPr>
              <a:t>told faster.</a:t>
            </a:r>
            <a:endParaRPr sz="6000" b="0" i="0" u="none" strike="noStrike" cap="none">
              <a:solidFill>
                <a:schemeClr val="dk1"/>
              </a:solidFill>
              <a:latin typeface="Calibri"/>
              <a:ea typeface="Calibri"/>
              <a:cs typeface="Calibri"/>
              <a:sym typeface="Calibri"/>
            </a:endParaRPr>
          </a:p>
        </p:txBody>
      </p:sp>
      <p:sp>
        <p:nvSpPr>
          <p:cNvPr id="20" name="Google Shape;20;p3"/>
          <p:cNvSpPr/>
          <p:nvPr/>
        </p:nvSpPr>
        <p:spPr>
          <a:xfrm>
            <a:off x="812800" y="4510831"/>
            <a:ext cx="7521600" cy="38850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CFD8CF"/>
              </a:buClr>
              <a:buSzPts val="2200"/>
              <a:buFont typeface="DM Sans"/>
              <a:buNone/>
            </a:pPr>
            <a:r>
              <a:rPr lang="en-US" sz="2200" b="0" i="0" u="none" strike="noStrike" cap="none">
                <a:solidFill>
                  <a:srgbClr val="CFD8CF"/>
                </a:solidFill>
                <a:latin typeface="DM Sans"/>
                <a:ea typeface="DM Sans"/>
                <a:cs typeface="DM Sans"/>
                <a:sym typeface="DM Sans"/>
              </a:rPr>
              <a:t>The basics of AI and prompting, before we build.</a:t>
            </a:r>
            <a:endParaRPr sz="2200" b="0" i="0" u="none" strike="noStrike" cap="none">
              <a:solidFill>
                <a:schemeClr val="dk1"/>
              </a:solidFill>
              <a:latin typeface="Calibri"/>
              <a:ea typeface="Calibri"/>
              <a:cs typeface="Calibri"/>
              <a:sym typeface="Calibri"/>
            </a:endParaRPr>
          </a:p>
        </p:txBody>
      </p:sp>
      <p:sp>
        <p:nvSpPr>
          <p:cNvPr id="21" name="Google Shape;21;p3"/>
          <p:cNvSpPr/>
          <p:nvPr/>
        </p:nvSpPr>
        <p:spPr>
          <a:xfrm>
            <a:off x="812800" y="583184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a:solidFill>
                  <a:srgbClr val="A9B8AD"/>
                </a:solidFill>
                <a:latin typeface="DM Sans"/>
                <a:ea typeface="DM Sans"/>
                <a:cs typeface="DM Sans"/>
                <a:sym typeface="DM Sans"/>
              </a:rPr>
              <a:t>ASEAN Oct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6"/>
        <p:cNvGrpSpPr/>
        <p:nvPr/>
      </p:nvGrpSpPr>
      <p:grpSpPr>
        <a:xfrm>
          <a:off x="0" y="0"/>
          <a:ext cx="0" cy="0"/>
          <a:chOff x="0" y="0"/>
          <a:chExt cx="0" cy="0"/>
        </a:xfrm>
      </p:grpSpPr>
      <p:sp>
        <p:nvSpPr>
          <p:cNvPr id="27" name="Google Shape;27;p4"/>
          <p:cNvSpPr/>
          <p:nvPr/>
        </p:nvSpPr>
        <p:spPr>
          <a:xfrm>
            <a:off x="548640" y="457200"/>
            <a:ext cx="6400800" cy="292500"/>
          </a:xfrm>
          <a:prstGeom prst="rect">
            <a:avLst/>
          </a:prstGeom>
          <a:noFill/>
          <a:ln>
            <a:noFill/>
          </a:ln>
        </p:spPr>
        <p:txBody>
          <a:bodyPr spcFirstLastPara="1" wrap="square" lIns="0" tIns="0" rIns="0" bIns="0" anchor="ctr" anchorCtr="0">
            <a:noAutofit/>
          </a:bodyPr>
          <a:lstStyle/>
          <a:p>
            <a:pPr marL="0" lvl="0" indent="0" algn="l" rtl="0">
              <a:lnSpc>
                <a:spcPct val="110000"/>
              </a:lnSpc>
              <a:spcBef>
                <a:spcPts val="0"/>
              </a:spcBef>
              <a:spcAft>
                <a:spcPts val="0"/>
              </a:spcAft>
              <a:buClr>
                <a:srgbClr val="1E3A2F"/>
              </a:buClr>
              <a:buSzPts val="3600"/>
              <a:buFont typeface="Fraunces"/>
              <a:buNone/>
            </a:pPr>
            <a:r>
              <a:rPr lang="en-US" sz="3600">
                <a:solidFill>
                  <a:srgbClr val="1E3A2F"/>
                </a:solidFill>
                <a:latin typeface="Fraunces"/>
                <a:ea typeface="Fraunces"/>
                <a:cs typeface="Fraunces"/>
                <a:sym typeface="Fraunces"/>
              </a:rPr>
              <a:t>About Us</a:t>
            </a:r>
            <a:endParaRPr sz="36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endParaRPr sz="1000" i="1">
              <a:solidFill>
                <a:srgbClr val="D97757"/>
              </a:solidFill>
              <a:latin typeface="Georgia"/>
              <a:ea typeface="Georgia"/>
              <a:cs typeface="Georgia"/>
              <a:sym typeface="Georgia"/>
            </a:endParaRPr>
          </a:p>
        </p:txBody>
      </p:sp>
      <p:pic>
        <p:nvPicPr>
          <p:cNvPr id="28" name="Google Shape;28;p4"/>
          <p:cNvPicPr preferRelativeResize="0"/>
          <p:nvPr/>
        </p:nvPicPr>
        <p:blipFill>
          <a:blip r:embed="rId3">
            <a:alphaModFix/>
          </a:blip>
          <a:stretch>
            <a:fillRect/>
          </a:stretch>
        </p:blipFill>
        <p:spPr>
          <a:xfrm>
            <a:off x="1219200" y="888475"/>
            <a:ext cx="9753600" cy="5448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33"/>
        <p:cNvGrpSpPr/>
        <p:nvPr/>
      </p:nvGrpSpPr>
      <p:grpSpPr>
        <a:xfrm>
          <a:off x="0" y="0"/>
          <a:ext cx="0" cy="0"/>
          <a:chOff x="0" y="0"/>
          <a:chExt cx="0" cy="0"/>
        </a:xfrm>
      </p:grpSpPr>
      <p:sp>
        <p:nvSpPr>
          <p:cNvPr id="34" name="Google Shape;34;p5"/>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Small teams. Big stories.</a:t>
            </a:r>
            <a:endParaRPr sz="3600" b="0" i="0" u="none" strike="noStrike" cap="none">
              <a:solidFill>
                <a:schemeClr val="dk1"/>
              </a:solidFill>
              <a:latin typeface="Calibri"/>
              <a:ea typeface="Calibri"/>
              <a:cs typeface="Calibri"/>
              <a:sym typeface="Calibri"/>
            </a:endParaRPr>
          </a:p>
        </p:txBody>
      </p:sp>
      <p:sp>
        <p:nvSpPr>
          <p:cNvPr id="35" name="Google Shape;35;p5"/>
          <p:cNvSpPr/>
          <p:nvPr/>
        </p:nvSpPr>
        <p:spPr>
          <a:xfrm>
            <a:off x="812800" y="1943946"/>
            <a:ext cx="8502650" cy="38862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F2A24"/>
              </a:buClr>
              <a:buSzPts val="2200"/>
              <a:buFont typeface="Fraunces"/>
              <a:buNone/>
            </a:pPr>
            <a:r>
              <a:rPr lang="en-US" sz="2200" b="0" i="0" u="none" strike="noStrike" cap="none">
                <a:solidFill>
                  <a:srgbClr val="1F2A24"/>
                </a:solidFill>
                <a:latin typeface="Fraunces"/>
                <a:ea typeface="Fraunces"/>
                <a:cs typeface="Fraunces"/>
                <a:sym typeface="Fraunces"/>
              </a:rPr>
              <a:t>You have more impact to share than hands to share it.</a:t>
            </a:r>
            <a:endParaRPr sz="2200" b="0" i="0" u="none" strike="noStrike" cap="none">
              <a:solidFill>
                <a:schemeClr val="dk1"/>
              </a:solidFill>
              <a:latin typeface="Calibri"/>
              <a:ea typeface="Calibri"/>
              <a:cs typeface="Calibri"/>
              <a:sym typeface="Calibri"/>
            </a:endParaRPr>
          </a:p>
        </p:txBody>
      </p:sp>
      <p:sp>
        <p:nvSpPr>
          <p:cNvPr id="36" name="Google Shape;36;p5"/>
          <p:cNvSpPr/>
          <p:nvPr/>
        </p:nvSpPr>
        <p:spPr>
          <a:xfrm>
            <a:off x="815975"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5" descr="Chat"/>
          <p:cNvPicPr preferRelativeResize="0"/>
          <p:nvPr/>
        </p:nvPicPr>
        <p:blipFill rotWithShape="1">
          <a:blip r:embed="rId3">
            <a:alphaModFix/>
          </a:blip>
          <a:srcRect/>
          <a:stretch/>
        </p:blipFill>
        <p:spPr>
          <a:xfrm>
            <a:off x="1073150" y="3195743"/>
            <a:ext cx="355600" cy="355600"/>
          </a:xfrm>
          <a:prstGeom prst="rect">
            <a:avLst/>
          </a:prstGeom>
          <a:noFill/>
          <a:ln>
            <a:noFill/>
          </a:ln>
        </p:spPr>
      </p:pic>
      <p:sp>
        <p:nvSpPr>
          <p:cNvPr id="38" name="Google Shape;38;p5"/>
          <p:cNvSpPr/>
          <p:nvPr/>
        </p:nvSpPr>
        <p:spPr>
          <a:xfrm>
            <a:off x="1073150"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Every channel</a:t>
            </a:r>
            <a:endParaRPr sz="2200" b="0" i="0" u="none" strike="noStrike" cap="none">
              <a:solidFill>
                <a:schemeClr val="dk1"/>
              </a:solidFill>
              <a:latin typeface="Calibri"/>
              <a:ea typeface="Calibri"/>
              <a:cs typeface="Calibri"/>
              <a:sym typeface="Calibri"/>
            </a:endParaRPr>
          </a:p>
        </p:txBody>
      </p:sp>
      <p:sp>
        <p:nvSpPr>
          <p:cNvPr id="39" name="Google Shape;39;p5"/>
          <p:cNvSpPr/>
          <p:nvPr/>
        </p:nvSpPr>
        <p:spPr>
          <a:xfrm>
            <a:off x="1073150" y="4089823"/>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Instagram, LinkedIn, newsletters, WhatsApp, every single week.</a:t>
            </a:r>
            <a:endParaRPr sz="1500" b="0" i="0" u="none" strike="noStrike" cap="none">
              <a:solidFill>
                <a:schemeClr val="dk1"/>
              </a:solidFill>
              <a:latin typeface="Calibri"/>
              <a:ea typeface="Calibri"/>
              <a:cs typeface="Calibri"/>
              <a:sym typeface="Calibri"/>
            </a:endParaRPr>
          </a:p>
        </p:txBody>
      </p:sp>
      <p:sp>
        <p:nvSpPr>
          <p:cNvPr id="40" name="Google Shape;40;p5"/>
          <p:cNvSpPr/>
          <p:nvPr/>
        </p:nvSpPr>
        <p:spPr>
          <a:xfrm>
            <a:off x="4405842"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5" descr="Users"/>
          <p:cNvPicPr preferRelativeResize="0"/>
          <p:nvPr/>
        </p:nvPicPr>
        <p:blipFill rotWithShape="1">
          <a:blip r:embed="rId4">
            <a:alphaModFix/>
          </a:blip>
          <a:srcRect/>
          <a:stretch/>
        </p:blipFill>
        <p:spPr>
          <a:xfrm>
            <a:off x="4663017" y="3195743"/>
            <a:ext cx="355600" cy="355600"/>
          </a:xfrm>
          <a:prstGeom prst="rect">
            <a:avLst/>
          </a:prstGeom>
          <a:noFill/>
          <a:ln>
            <a:noFill/>
          </a:ln>
        </p:spPr>
      </p:pic>
      <p:sp>
        <p:nvSpPr>
          <p:cNvPr id="42" name="Google Shape;42;p5"/>
          <p:cNvSpPr/>
          <p:nvPr/>
        </p:nvSpPr>
        <p:spPr>
          <a:xfrm>
            <a:off x="4663017"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Many audiences</a:t>
            </a:r>
            <a:endParaRPr sz="2200" b="0" i="0" u="none" strike="noStrike" cap="none">
              <a:solidFill>
                <a:schemeClr val="dk1"/>
              </a:solidFill>
              <a:latin typeface="Calibri"/>
              <a:ea typeface="Calibri"/>
              <a:cs typeface="Calibri"/>
              <a:sym typeface="Calibri"/>
            </a:endParaRPr>
          </a:p>
        </p:txBody>
      </p:sp>
      <p:sp>
        <p:nvSpPr>
          <p:cNvPr id="43" name="Google Shape;43;p5"/>
          <p:cNvSpPr/>
          <p:nvPr/>
        </p:nvSpPr>
        <p:spPr>
          <a:xfrm>
            <a:off x="4663017" y="4089823"/>
            <a:ext cx="2951946"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Customers, buyers, funders, partners and the communities you serve.</a:t>
            </a:r>
            <a:endParaRPr sz="1500" b="0" i="0" u="none" strike="noStrike" cap="none">
              <a:solidFill>
                <a:schemeClr val="dk1"/>
              </a:solidFill>
              <a:latin typeface="Calibri"/>
              <a:ea typeface="Calibri"/>
              <a:cs typeface="Calibri"/>
              <a:sym typeface="Calibri"/>
            </a:endParaRPr>
          </a:p>
        </p:txBody>
      </p:sp>
      <p:sp>
        <p:nvSpPr>
          <p:cNvPr id="44" name="Google Shape;44;p5"/>
          <p:cNvSpPr/>
          <p:nvPr/>
        </p:nvSpPr>
        <p:spPr>
          <a:xfrm>
            <a:off x="7995708" y="2938568"/>
            <a:ext cx="3380317" cy="2208530"/>
          </a:xfrm>
          <a:prstGeom prst="roundRect">
            <a:avLst>
              <a:gd name="adj" fmla="val 5607"/>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5" descr="Globe"/>
          <p:cNvPicPr preferRelativeResize="0"/>
          <p:nvPr/>
        </p:nvPicPr>
        <p:blipFill rotWithShape="1">
          <a:blip r:embed="rId5">
            <a:alphaModFix/>
          </a:blip>
          <a:srcRect/>
          <a:stretch/>
        </p:blipFill>
        <p:spPr>
          <a:xfrm>
            <a:off x="8252883" y="3195743"/>
            <a:ext cx="355600" cy="355600"/>
          </a:xfrm>
          <a:prstGeom prst="rect">
            <a:avLst/>
          </a:prstGeom>
          <a:noFill/>
          <a:ln>
            <a:noFill/>
          </a:ln>
        </p:spPr>
      </p:pic>
      <p:sp>
        <p:nvSpPr>
          <p:cNvPr id="46" name="Google Shape;46;p5"/>
          <p:cNvSpPr/>
          <p:nvPr/>
        </p:nvSpPr>
        <p:spPr>
          <a:xfrm>
            <a:off x="8252883" y="3652943"/>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Many languages</a:t>
            </a:r>
            <a:endParaRPr sz="2200" b="0" i="0" u="none" strike="noStrike" cap="none">
              <a:solidFill>
                <a:schemeClr val="dk1"/>
              </a:solidFill>
              <a:latin typeface="Calibri"/>
              <a:ea typeface="Calibri"/>
              <a:cs typeface="Calibri"/>
              <a:sym typeface="Calibri"/>
            </a:endParaRPr>
          </a:p>
        </p:txBody>
      </p:sp>
      <p:sp>
        <p:nvSpPr>
          <p:cNvPr id="47" name="Google Shape;47;p5"/>
          <p:cNvSpPr/>
          <p:nvPr/>
        </p:nvSpPr>
        <p:spPr>
          <a:xfrm>
            <a:off x="8252883" y="4089823"/>
            <a:ext cx="2951946"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English for funders, local languages for customers and communities.</a:t>
            </a:r>
            <a:endParaRPr sz="1500" b="0" i="0" u="none" strike="noStrike" cap="none">
              <a:solidFill>
                <a:schemeClr val="dk1"/>
              </a:solidFill>
              <a:latin typeface="Calibri"/>
              <a:ea typeface="Calibri"/>
              <a:cs typeface="Calibri"/>
              <a:sym typeface="Calibri"/>
            </a:endParaRPr>
          </a:p>
        </p:txBody>
      </p:sp>
      <p:sp>
        <p:nvSpPr>
          <p:cNvPr id="48" name="Google Shape;48;p5"/>
          <p:cNvSpPr/>
          <p:nvPr/>
        </p:nvSpPr>
        <p:spPr>
          <a:xfrm>
            <a:off x="812800" y="5778500"/>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AI won't replace your storytelling. </a:t>
            </a:r>
            <a:r>
              <a:rPr lang="en-US" sz="1500" b="1" i="0" u="none" strike="noStrike" cap="none">
                <a:solidFill>
                  <a:srgbClr val="1F2A24"/>
                </a:solidFill>
                <a:latin typeface="DM Sans"/>
                <a:ea typeface="DM Sans"/>
                <a:cs typeface="DM Sans"/>
                <a:sym typeface="DM Sans"/>
              </a:rPr>
              <a:t>It can give you back the hours.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53"/>
        <p:cNvGrpSpPr/>
        <p:nvPr/>
      </p:nvGrpSpPr>
      <p:grpSpPr>
        <a:xfrm>
          <a:off x="0" y="0"/>
          <a:ext cx="0" cy="0"/>
          <a:chOff x="0" y="0"/>
          <a:chExt cx="0" cy="0"/>
        </a:xfrm>
      </p:grpSpPr>
      <p:sp>
        <p:nvSpPr>
          <p:cNvPr id="54" name="Google Shape;54;p6"/>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What is a large language model?</a:t>
            </a:r>
            <a:endParaRPr sz="3600" b="0" i="0" u="none" strike="noStrike" cap="none">
              <a:solidFill>
                <a:schemeClr val="dk1"/>
              </a:solidFill>
              <a:latin typeface="Calibri"/>
              <a:ea typeface="Calibri"/>
              <a:cs typeface="Calibri"/>
              <a:sym typeface="Calibri"/>
            </a:endParaRPr>
          </a:p>
        </p:txBody>
      </p:sp>
      <p:sp>
        <p:nvSpPr>
          <p:cNvPr id="55" name="Google Shape;55;p6"/>
          <p:cNvSpPr/>
          <p:nvPr/>
        </p:nvSpPr>
        <p:spPr>
          <a:xfrm>
            <a:off x="812800" y="2518093"/>
            <a:ext cx="5232400" cy="723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A prediction engine that has read more text than any person ever could.</a:t>
            </a:r>
            <a:endParaRPr sz="2200" b="0" i="0" u="none" strike="noStrike" cap="none">
              <a:solidFill>
                <a:schemeClr val="dk1"/>
              </a:solidFill>
              <a:latin typeface="Calibri"/>
              <a:ea typeface="Calibri"/>
              <a:cs typeface="Calibri"/>
              <a:sym typeface="Calibri"/>
            </a:endParaRPr>
          </a:p>
        </p:txBody>
      </p:sp>
      <p:sp>
        <p:nvSpPr>
          <p:cNvPr id="56" name="Google Shape;56;p6"/>
          <p:cNvSpPr/>
          <p:nvPr/>
        </p:nvSpPr>
        <p:spPr>
          <a:xfrm>
            <a:off x="812800" y="3419793"/>
            <a:ext cx="5232400" cy="854075"/>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It writes one word at a time, always choosing a likely next word. That's why it sounds fluent, and why </a:t>
            </a:r>
            <a:r>
              <a:rPr lang="en-US" sz="1500" b="1" i="0" u="none" strike="noStrike" cap="none">
                <a:solidFill>
                  <a:srgbClr val="5B6760"/>
                </a:solidFill>
                <a:latin typeface="DM Sans"/>
                <a:ea typeface="DM Sans"/>
                <a:cs typeface="DM Sans"/>
                <a:sym typeface="DM Sans"/>
              </a:rPr>
              <a:t>fluent isn't the same as true.</a:t>
            </a:r>
            <a:endParaRPr sz="1500" b="0" i="0" u="none" strike="noStrike" cap="none">
              <a:solidFill>
                <a:schemeClr val="dk1"/>
              </a:solidFill>
              <a:latin typeface="Calibri"/>
              <a:ea typeface="Calibri"/>
              <a:cs typeface="Calibri"/>
              <a:sym typeface="Calibri"/>
            </a:endParaRPr>
          </a:p>
        </p:txBody>
      </p:sp>
      <p:sp>
        <p:nvSpPr>
          <p:cNvPr id="57" name="Google Shape;57;p6"/>
          <p:cNvSpPr/>
          <p:nvPr/>
        </p:nvSpPr>
        <p:spPr>
          <a:xfrm>
            <a:off x="6299200" y="1671320"/>
            <a:ext cx="5080000" cy="3423920"/>
          </a:xfrm>
          <a:prstGeom prst="roundRect">
            <a:avLst>
              <a:gd name="adj" fmla="val 4451"/>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p:nvPr/>
        </p:nvSpPr>
        <p:spPr>
          <a:xfrm>
            <a:off x="6604000" y="1976120"/>
            <a:ext cx="460451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WHAT COMES NEXT?</a:t>
            </a:r>
            <a:endParaRPr sz="1200" b="0" i="0" u="none" strike="noStrike" cap="none">
              <a:solidFill>
                <a:schemeClr val="dk1"/>
              </a:solidFill>
              <a:latin typeface="Calibri"/>
              <a:ea typeface="Calibri"/>
              <a:cs typeface="Calibri"/>
              <a:sym typeface="Calibri"/>
            </a:endParaRPr>
          </a:p>
        </p:txBody>
      </p:sp>
      <p:sp>
        <p:nvSpPr>
          <p:cNvPr id="59" name="Google Shape;59;p6"/>
          <p:cNvSpPr/>
          <p:nvPr/>
        </p:nvSpPr>
        <p:spPr>
          <a:xfrm>
            <a:off x="6604000" y="2367280"/>
            <a:ext cx="4604512" cy="723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"Our compost turns kitchen waste into ___"</a:t>
            </a:r>
            <a:endParaRPr sz="2200" b="0" i="0" u="none" strike="noStrike" cap="none">
              <a:solidFill>
                <a:schemeClr val="dk1"/>
              </a:solidFill>
              <a:latin typeface="Calibri"/>
              <a:ea typeface="Calibri"/>
              <a:cs typeface="Calibri"/>
              <a:sym typeface="Calibri"/>
            </a:endParaRPr>
          </a:p>
        </p:txBody>
      </p:sp>
      <p:sp>
        <p:nvSpPr>
          <p:cNvPr id="60" name="Google Shape;60;p6"/>
          <p:cNvSpPr/>
          <p:nvPr/>
        </p:nvSpPr>
        <p:spPr>
          <a:xfrm>
            <a:off x="6604000" y="32435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rich soil</a:t>
            </a:r>
            <a:endParaRPr sz="1500" b="0" i="0" u="none" strike="noStrike" cap="none">
              <a:solidFill>
                <a:schemeClr val="dk1"/>
              </a:solidFill>
              <a:latin typeface="Calibri"/>
              <a:ea typeface="Calibri"/>
              <a:cs typeface="Calibri"/>
              <a:sym typeface="Calibri"/>
            </a:endParaRPr>
          </a:p>
        </p:txBody>
      </p:sp>
      <p:sp>
        <p:nvSpPr>
          <p:cNvPr id="61" name="Google Shape;61;p6"/>
          <p:cNvSpPr/>
          <p:nvPr/>
        </p:nvSpPr>
        <p:spPr>
          <a:xfrm>
            <a:off x="8026400" y="3288030"/>
            <a:ext cx="2667000" cy="177800"/>
          </a:xfrm>
          <a:prstGeom prst="roundRect">
            <a:avLst>
              <a:gd name="adj" fmla="val 50000"/>
            </a:avLst>
          </a:prstGeom>
          <a:solidFill>
            <a:srgbClr val="E3A8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6604000" y="36880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fertiliser</a:t>
            </a:r>
            <a:endParaRPr sz="1500" b="0" i="0" u="none" strike="noStrike" cap="none">
              <a:solidFill>
                <a:schemeClr val="dk1"/>
              </a:solidFill>
              <a:latin typeface="Calibri"/>
              <a:ea typeface="Calibri"/>
              <a:cs typeface="Calibri"/>
              <a:sym typeface="Calibri"/>
            </a:endParaRPr>
          </a:p>
        </p:txBody>
      </p:sp>
      <p:sp>
        <p:nvSpPr>
          <p:cNvPr id="63" name="Google Shape;63;p6"/>
          <p:cNvSpPr/>
          <p:nvPr/>
        </p:nvSpPr>
        <p:spPr>
          <a:xfrm>
            <a:off x="8026400" y="3732530"/>
            <a:ext cx="1206500" cy="177800"/>
          </a:xfrm>
          <a:prstGeom prst="roundRect">
            <a:avLst>
              <a:gd name="adj" fmla="val 50000"/>
            </a:avLst>
          </a:prstGeom>
          <a:solidFill>
            <a:srgbClr val="8FB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6604000" y="4132580"/>
            <a:ext cx="1320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gold</a:t>
            </a:r>
            <a:endParaRPr sz="1500" b="0" i="0" u="none" strike="noStrike" cap="none">
              <a:solidFill>
                <a:schemeClr val="dk1"/>
              </a:solidFill>
              <a:latin typeface="Calibri"/>
              <a:ea typeface="Calibri"/>
              <a:cs typeface="Calibri"/>
              <a:sym typeface="Calibri"/>
            </a:endParaRPr>
          </a:p>
        </p:txBody>
      </p:sp>
      <p:sp>
        <p:nvSpPr>
          <p:cNvPr id="65" name="Google Shape;65;p6"/>
          <p:cNvSpPr/>
          <p:nvPr/>
        </p:nvSpPr>
        <p:spPr>
          <a:xfrm>
            <a:off x="8026400" y="4177030"/>
            <a:ext cx="254000" cy="177800"/>
          </a:xfrm>
          <a:prstGeom prst="roundRect">
            <a:avLst>
              <a:gd name="adj" fmla="val 50000"/>
            </a:avLst>
          </a:prstGeom>
          <a:solidFill>
            <a:srgbClr val="5E7F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6604000" y="4577080"/>
            <a:ext cx="460451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b="0" i="0" u="none" strike="noStrike" cap="none">
                <a:solidFill>
                  <a:srgbClr val="A9B8AD"/>
                </a:solidFill>
                <a:latin typeface="DM Sans"/>
                <a:ea typeface="DM Sans"/>
                <a:cs typeface="DM Sans"/>
                <a:sym typeface="DM Sans"/>
              </a:rPr>
              <a:t>Illustrative, not real probabilities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71"/>
        <p:cNvGrpSpPr/>
        <p:nvPr/>
      </p:nvGrpSpPr>
      <p:grpSpPr>
        <a:xfrm>
          <a:off x="0" y="0"/>
          <a:ext cx="0" cy="0"/>
          <a:chOff x="0" y="0"/>
          <a:chExt cx="0" cy="0"/>
        </a:xfrm>
      </p:grpSpPr>
      <p:sp>
        <p:nvSpPr>
          <p:cNvPr id="72" name="Google Shape;72;p7"/>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How it learned, in three steps</a:t>
            </a:r>
            <a:endParaRPr sz="3600" b="0" i="0" u="none" strike="noStrike" cap="none">
              <a:solidFill>
                <a:schemeClr val="dk1"/>
              </a:solidFill>
              <a:latin typeface="Calibri"/>
              <a:ea typeface="Calibri"/>
              <a:cs typeface="Calibri"/>
              <a:sym typeface="Calibri"/>
            </a:endParaRPr>
          </a:p>
        </p:txBody>
      </p:sp>
      <p:sp>
        <p:nvSpPr>
          <p:cNvPr id="73" name="Google Shape;73;p7"/>
          <p:cNvSpPr/>
          <p:nvPr/>
        </p:nvSpPr>
        <p:spPr>
          <a:xfrm>
            <a:off x="8159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10731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01</a:t>
            </a:r>
            <a:endParaRPr sz="2200" b="0" i="0" u="none" strike="noStrike" cap="none">
              <a:solidFill>
                <a:schemeClr val="dk1"/>
              </a:solidFill>
              <a:latin typeface="Calibri"/>
              <a:ea typeface="Calibri"/>
              <a:cs typeface="Calibri"/>
              <a:sym typeface="Calibri"/>
            </a:endParaRPr>
          </a:p>
        </p:txBody>
      </p:sp>
      <p:sp>
        <p:nvSpPr>
          <p:cNvPr id="75" name="Google Shape;75;p7"/>
          <p:cNvSpPr/>
          <p:nvPr/>
        </p:nvSpPr>
        <p:spPr>
          <a:xfrm>
            <a:off x="10731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Read</a:t>
            </a:r>
            <a:endParaRPr sz="2200" b="0" i="0" u="none" strike="noStrike" cap="none">
              <a:solidFill>
                <a:schemeClr val="dk1"/>
              </a:solidFill>
              <a:latin typeface="Calibri"/>
              <a:ea typeface="Calibri"/>
              <a:cs typeface="Calibri"/>
              <a:sym typeface="Calibri"/>
            </a:endParaRPr>
          </a:p>
        </p:txBody>
      </p:sp>
      <p:sp>
        <p:nvSpPr>
          <p:cNvPr id="76" name="Google Shape;76;p7"/>
          <p:cNvSpPr/>
          <p:nvPr/>
        </p:nvSpPr>
        <p:spPr>
          <a:xfrm>
            <a:off x="1073150" y="3184525"/>
            <a:ext cx="2603119"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Trained on a vast library of books, websites and articles.</a:t>
            </a:r>
            <a:endParaRPr sz="1500" b="0" i="0" u="none" strike="noStrike" cap="none">
              <a:solidFill>
                <a:schemeClr val="dk1"/>
              </a:solidFill>
              <a:latin typeface="Calibri"/>
              <a:ea typeface="Calibri"/>
              <a:cs typeface="Calibri"/>
              <a:sym typeface="Calibri"/>
            </a:endParaRPr>
          </a:p>
        </p:txBody>
      </p:sp>
      <p:pic>
        <p:nvPicPr>
          <p:cNvPr id="77" name="Google Shape;77;p7" descr="arrow-right"/>
          <p:cNvPicPr preferRelativeResize="0"/>
          <p:nvPr/>
        </p:nvPicPr>
        <p:blipFill rotWithShape="1">
          <a:blip r:embed="rId3">
            <a:alphaModFix/>
          </a:blip>
          <a:srcRect/>
          <a:stretch/>
        </p:blipFill>
        <p:spPr>
          <a:xfrm>
            <a:off x="4013200" y="3018155"/>
            <a:ext cx="406400" cy="203200"/>
          </a:xfrm>
          <a:prstGeom prst="rect">
            <a:avLst/>
          </a:prstGeom>
          <a:noFill/>
          <a:ln>
            <a:noFill/>
          </a:ln>
        </p:spPr>
      </p:pic>
      <p:sp>
        <p:nvSpPr>
          <p:cNvPr id="78" name="Google Shape;78;p7"/>
          <p:cNvSpPr/>
          <p:nvPr/>
        </p:nvSpPr>
        <p:spPr>
          <a:xfrm>
            <a:off x="45751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7"/>
          <p:cNvSpPr/>
          <p:nvPr/>
        </p:nvSpPr>
        <p:spPr>
          <a:xfrm>
            <a:off x="48323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02</a:t>
            </a:r>
            <a:endParaRPr sz="2200" b="0" i="0" u="none" strike="noStrike" cap="none">
              <a:solidFill>
                <a:schemeClr val="dk1"/>
              </a:solidFill>
              <a:latin typeface="Calibri"/>
              <a:ea typeface="Calibri"/>
              <a:cs typeface="Calibri"/>
              <a:sym typeface="Calibri"/>
            </a:endParaRPr>
          </a:p>
        </p:txBody>
      </p:sp>
      <p:sp>
        <p:nvSpPr>
          <p:cNvPr id="80" name="Google Shape;80;p7"/>
          <p:cNvSpPr/>
          <p:nvPr/>
        </p:nvSpPr>
        <p:spPr>
          <a:xfrm>
            <a:off x="48323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Coached</a:t>
            </a:r>
            <a:endParaRPr sz="2200" b="0" i="0" u="none" strike="noStrike" cap="none">
              <a:solidFill>
                <a:schemeClr val="dk1"/>
              </a:solidFill>
              <a:latin typeface="Calibri"/>
              <a:ea typeface="Calibri"/>
              <a:cs typeface="Calibri"/>
              <a:sym typeface="Calibri"/>
            </a:endParaRPr>
          </a:p>
        </p:txBody>
      </p:sp>
      <p:sp>
        <p:nvSpPr>
          <p:cNvPr id="81" name="Google Shape;81;p7"/>
          <p:cNvSpPr/>
          <p:nvPr/>
        </p:nvSpPr>
        <p:spPr>
          <a:xfrm>
            <a:off x="4832350" y="3184525"/>
            <a:ext cx="2603119"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Shown many examples of good answers. Learned to follow instructions.</a:t>
            </a:r>
            <a:endParaRPr sz="1500" b="0" i="0" u="none" strike="noStrike" cap="none">
              <a:solidFill>
                <a:schemeClr val="dk1"/>
              </a:solidFill>
              <a:latin typeface="Calibri"/>
              <a:ea typeface="Calibri"/>
              <a:cs typeface="Calibri"/>
              <a:sym typeface="Calibri"/>
            </a:endParaRPr>
          </a:p>
        </p:txBody>
      </p:sp>
      <p:pic>
        <p:nvPicPr>
          <p:cNvPr id="82" name="Google Shape;82;p7" descr="arrow-right"/>
          <p:cNvPicPr preferRelativeResize="0"/>
          <p:nvPr/>
        </p:nvPicPr>
        <p:blipFill rotWithShape="1">
          <a:blip r:embed="rId3">
            <a:alphaModFix/>
          </a:blip>
          <a:srcRect/>
          <a:stretch/>
        </p:blipFill>
        <p:spPr>
          <a:xfrm>
            <a:off x="7772400" y="3018155"/>
            <a:ext cx="406400" cy="203200"/>
          </a:xfrm>
          <a:prstGeom prst="rect">
            <a:avLst/>
          </a:prstGeom>
          <a:noFill/>
          <a:ln>
            <a:noFill/>
          </a:ln>
        </p:spPr>
      </p:pic>
      <p:sp>
        <p:nvSpPr>
          <p:cNvPr id="83" name="Google Shape;83;p7"/>
          <p:cNvSpPr/>
          <p:nvPr/>
        </p:nvSpPr>
        <p:spPr>
          <a:xfrm>
            <a:off x="8334375" y="1997711"/>
            <a:ext cx="3041650" cy="2244090"/>
          </a:xfrm>
          <a:prstGeom prst="roundRect">
            <a:avLst>
              <a:gd name="adj" fmla="val 5518"/>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8591550" y="2254886"/>
            <a:ext cx="2603119"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03</a:t>
            </a:r>
            <a:endParaRPr sz="2200" b="0" i="0" u="none" strike="noStrike" cap="none">
              <a:solidFill>
                <a:schemeClr val="dk1"/>
              </a:solidFill>
              <a:latin typeface="Calibri"/>
              <a:ea typeface="Calibri"/>
              <a:cs typeface="Calibri"/>
              <a:sym typeface="Calibri"/>
            </a:endParaRPr>
          </a:p>
        </p:txBody>
      </p:sp>
      <p:sp>
        <p:nvSpPr>
          <p:cNvPr id="85" name="Google Shape;85;p7"/>
          <p:cNvSpPr/>
          <p:nvPr/>
        </p:nvSpPr>
        <p:spPr>
          <a:xfrm>
            <a:off x="8591550" y="2747645"/>
            <a:ext cx="260311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Refined</a:t>
            </a:r>
            <a:endParaRPr sz="2200" b="0" i="0" u="none" strike="noStrike" cap="none">
              <a:solidFill>
                <a:schemeClr val="dk1"/>
              </a:solidFill>
              <a:latin typeface="Calibri"/>
              <a:ea typeface="Calibri"/>
              <a:cs typeface="Calibri"/>
              <a:sym typeface="Calibri"/>
            </a:endParaRPr>
          </a:p>
        </p:txBody>
      </p:sp>
      <p:sp>
        <p:nvSpPr>
          <p:cNvPr id="86" name="Google Shape;86;p7"/>
          <p:cNvSpPr/>
          <p:nvPr/>
        </p:nvSpPr>
        <p:spPr>
          <a:xfrm>
            <a:off x="8591550" y="3184525"/>
            <a:ext cx="2603119"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People rated its answers. Learned what "helpful" looks like.</a:t>
            </a:r>
            <a:endParaRPr sz="1500" b="0" i="0" u="none" strike="noStrike" cap="none">
              <a:solidFill>
                <a:schemeClr val="dk1"/>
              </a:solidFill>
              <a:latin typeface="Calibri"/>
              <a:ea typeface="Calibri"/>
              <a:cs typeface="Calibri"/>
              <a:sym typeface="Calibri"/>
            </a:endParaRPr>
          </a:p>
        </p:txBody>
      </p:sp>
      <p:sp>
        <p:nvSpPr>
          <p:cNvPr id="87" name="Google Shape;87;p7"/>
          <p:cNvSpPr/>
          <p:nvPr/>
        </p:nvSpPr>
        <p:spPr>
          <a:xfrm>
            <a:off x="812800" y="4923789"/>
            <a:ext cx="10566400" cy="1121410"/>
          </a:xfrm>
          <a:prstGeom prst="roundRect">
            <a:avLst>
              <a:gd name="adj" fmla="val 113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a:off x="1117600" y="5177789"/>
            <a:ext cx="10255504"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WHAT THIS MEANS FOR YOU</a:t>
            </a:r>
            <a:endParaRPr sz="1200" b="0" i="0" u="none" strike="noStrike" cap="none">
              <a:solidFill>
                <a:schemeClr val="dk1"/>
              </a:solidFill>
              <a:latin typeface="Calibri"/>
              <a:ea typeface="Calibri"/>
              <a:cs typeface="Calibri"/>
              <a:sym typeface="Calibri"/>
            </a:endParaRPr>
          </a:p>
        </p:txBody>
      </p:sp>
      <p:sp>
        <p:nvSpPr>
          <p:cNvPr id="89" name="Google Shape;89;p7"/>
          <p:cNvSpPr/>
          <p:nvPr/>
        </p:nvSpPr>
        <p:spPr>
          <a:xfrm>
            <a:off x="1117600" y="5441950"/>
            <a:ext cx="10255504"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It learned from everyone, so it sounds like everyone. Make it sound like you.</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94"/>
        <p:cNvGrpSpPr/>
        <p:nvPr/>
      </p:nvGrpSpPr>
      <p:grpSpPr>
        <a:xfrm>
          <a:off x="0" y="0"/>
          <a:ext cx="0" cy="0"/>
          <a:chOff x="0" y="0"/>
          <a:chExt cx="0" cy="0"/>
        </a:xfrm>
      </p:grpSpPr>
      <p:sp>
        <p:nvSpPr>
          <p:cNvPr id="95" name="Google Shape;95;p8"/>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Think of it as a brilliant intern on their first day</a:t>
            </a:r>
            <a:endParaRPr sz="3600" b="0" i="0" u="none" strike="noStrike" cap="none">
              <a:solidFill>
                <a:schemeClr val="dk1"/>
              </a:solidFill>
              <a:latin typeface="Calibri"/>
              <a:ea typeface="Calibri"/>
              <a:cs typeface="Calibri"/>
              <a:sym typeface="Calibri"/>
            </a:endParaRPr>
          </a:p>
        </p:txBody>
      </p:sp>
      <p:sp>
        <p:nvSpPr>
          <p:cNvPr id="96" name="Google Shape;96;p8"/>
          <p:cNvSpPr/>
          <p:nvPr/>
        </p:nvSpPr>
        <p:spPr>
          <a:xfrm>
            <a:off x="815975" y="1623696"/>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8" descr="Book"/>
          <p:cNvPicPr preferRelativeResize="0"/>
          <p:nvPr/>
        </p:nvPicPr>
        <p:blipFill rotWithShape="1">
          <a:blip r:embed="rId3">
            <a:alphaModFix/>
          </a:blip>
          <a:srcRect/>
          <a:stretch/>
        </p:blipFill>
        <p:spPr>
          <a:xfrm>
            <a:off x="1073150" y="1896111"/>
            <a:ext cx="304800" cy="304800"/>
          </a:xfrm>
          <a:prstGeom prst="rect">
            <a:avLst/>
          </a:prstGeom>
          <a:noFill/>
          <a:ln>
            <a:noFill/>
          </a:ln>
        </p:spPr>
      </p:pic>
      <p:sp>
        <p:nvSpPr>
          <p:cNvPr id="98" name="Google Shape;98;p8"/>
          <p:cNvSpPr/>
          <p:nvPr/>
        </p:nvSpPr>
        <p:spPr>
          <a:xfrm>
            <a:off x="1504950" y="1880871"/>
            <a:ext cx="1594062"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Widely read</a:t>
            </a:r>
            <a:endParaRPr sz="2200" b="0" i="0" u="none" strike="noStrike" cap="none">
              <a:solidFill>
                <a:schemeClr val="dk1"/>
              </a:solidFill>
              <a:latin typeface="Calibri"/>
              <a:ea typeface="Calibri"/>
              <a:cs typeface="Calibri"/>
              <a:sym typeface="Calibri"/>
            </a:endParaRPr>
          </a:p>
        </p:txBody>
      </p:sp>
      <p:sp>
        <p:nvSpPr>
          <p:cNvPr id="99" name="Google Shape;99;p8"/>
          <p:cNvSpPr/>
          <p:nvPr/>
        </p:nvSpPr>
        <p:spPr>
          <a:xfrm>
            <a:off x="1073150" y="22923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Broad knowledge on almost any topic, available instantly.</a:t>
            </a:r>
            <a:endParaRPr sz="1500" b="0" i="0" u="none" strike="noStrike" cap="none">
              <a:solidFill>
                <a:schemeClr val="dk1"/>
              </a:solidFill>
              <a:latin typeface="Calibri"/>
              <a:ea typeface="Calibri"/>
              <a:cs typeface="Calibri"/>
              <a:sym typeface="Calibri"/>
            </a:endParaRPr>
          </a:p>
        </p:txBody>
      </p:sp>
      <p:sp>
        <p:nvSpPr>
          <p:cNvPr id="100" name="Google Shape;100;p8"/>
          <p:cNvSpPr/>
          <p:nvPr/>
        </p:nvSpPr>
        <p:spPr>
          <a:xfrm>
            <a:off x="6200775" y="1623696"/>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1" name="Google Shape;101;p8" descr="Search"/>
          <p:cNvPicPr preferRelativeResize="0"/>
          <p:nvPr/>
        </p:nvPicPr>
        <p:blipFill rotWithShape="1">
          <a:blip r:embed="rId4">
            <a:alphaModFix/>
          </a:blip>
          <a:srcRect/>
          <a:stretch/>
        </p:blipFill>
        <p:spPr>
          <a:xfrm>
            <a:off x="6457950" y="1896111"/>
            <a:ext cx="304800" cy="304800"/>
          </a:xfrm>
          <a:prstGeom prst="rect">
            <a:avLst/>
          </a:prstGeom>
          <a:noFill/>
          <a:ln>
            <a:noFill/>
          </a:ln>
        </p:spPr>
      </p:pic>
      <p:sp>
        <p:nvSpPr>
          <p:cNvPr id="102" name="Google Shape;102;p8"/>
          <p:cNvSpPr/>
          <p:nvPr/>
        </p:nvSpPr>
        <p:spPr>
          <a:xfrm>
            <a:off x="6889750" y="1880871"/>
            <a:ext cx="3392993"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Knows nothing about you</a:t>
            </a:r>
            <a:endParaRPr sz="2200" b="0" i="0" u="none" strike="noStrike" cap="none">
              <a:solidFill>
                <a:schemeClr val="dk1"/>
              </a:solidFill>
              <a:latin typeface="Calibri"/>
              <a:ea typeface="Calibri"/>
              <a:cs typeface="Calibri"/>
              <a:sym typeface="Calibri"/>
            </a:endParaRPr>
          </a:p>
        </p:txBody>
      </p:sp>
      <p:sp>
        <p:nvSpPr>
          <p:cNvPr id="103" name="Google Shape;103;p8"/>
          <p:cNvSpPr/>
          <p:nvPr/>
        </p:nvSpPr>
        <p:spPr>
          <a:xfrm>
            <a:off x="6457950" y="22923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Your mission, your </a:t>
            </a:r>
            <a:r>
              <a:rPr lang="en-US" sz="1500">
                <a:solidFill>
                  <a:srgbClr val="5B6760"/>
                </a:solidFill>
                <a:latin typeface="DM Sans"/>
                <a:ea typeface="DM Sans"/>
                <a:cs typeface="DM Sans"/>
                <a:sym typeface="DM Sans"/>
              </a:rPr>
              <a:t>protagonists</a:t>
            </a:r>
            <a:r>
              <a:rPr lang="en-US" sz="1500" b="0" i="0" u="none" strike="noStrike" cap="none">
                <a:solidFill>
                  <a:srgbClr val="5B6760"/>
                </a:solidFill>
                <a:latin typeface="DM Sans"/>
                <a:ea typeface="DM Sans"/>
                <a:cs typeface="DM Sans"/>
                <a:sym typeface="DM Sans"/>
              </a:rPr>
              <a:t>, your brand voice: you have to tell it.</a:t>
            </a:r>
            <a:endParaRPr sz="1500" b="0" i="0" u="none" strike="noStrike" cap="none">
              <a:solidFill>
                <a:schemeClr val="dk1"/>
              </a:solidFill>
              <a:latin typeface="Calibri"/>
              <a:ea typeface="Calibri"/>
              <a:cs typeface="Calibri"/>
              <a:sym typeface="Calibri"/>
            </a:endParaRPr>
          </a:p>
        </p:txBody>
      </p:sp>
      <p:sp>
        <p:nvSpPr>
          <p:cNvPr id="104" name="Google Shape;104;p8"/>
          <p:cNvSpPr/>
          <p:nvPr/>
        </p:nvSpPr>
        <p:spPr>
          <a:xfrm>
            <a:off x="815975" y="3292475"/>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8" descr="ThumbsUp"/>
          <p:cNvPicPr preferRelativeResize="0"/>
          <p:nvPr/>
        </p:nvPicPr>
        <p:blipFill rotWithShape="1">
          <a:blip r:embed="rId5">
            <a:alphaModFix/>
          </a:blip>
          <a:srcRect/>
          <a:stretch/>
        </p:blipFill>
        <p:spPr>
          <a:xfrm>
            <a:off x="1073150" y="3564889"/>
            <a:ext cx="304800" cy="304800"/>
          </a:xfrm>
          <a:prstGeom prst="rect">
            <a:avLst/>
          </a:prstGeom>
          <a:noFill/>
          <a:ln>
            <a:noFill/>
          </a:ln>
        </p:spPr>
      </p:pic>
      <p:sp>
        <p:nvSpPr>
          <p:cNvPr id="106" name="Google Shape;106;p8"/>
          <p:cNvSpPr/>
          <p:nvPr/>
        </p:nvSpPr>
        <p:spPr>
          <a:xfrm>
            <a:off x="1504950" y="3549650"/>
            <a:ext cx="2003355"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Eager to please</a:t>
            </a:r>
            <a:endParaRPr sz="2200" b="0" i="0" u="none" strike="noStrike" cap="none">
              <a:solidFill>
                <a:schemeClr val="dk1"/>
              </a:solidFill>
              <a:latin typeface="Calibri"/>
              <a:ea typeface="Calibri"/>
              <a:cs typeface="Calibri"/>
              <a:sym typeface="Calibri"/>
            </a:endParaRPr>
          </a:p>
        </p:txBody>
      </p:sp>
      <p:sp>
        <p:nvSpPr>
          <p:cNvPr id="107" name="Google Shape;107;p8"/>
          <p:cNvSpPr/>
          <p:nvPr/>
        </p:nvSpPr>
        <p:spPr>
          <a:xfrm>
            <a:off x="1073150" y="39611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Rarely says "I don't know". It fills gaps with confident guesses.</a:t>
            </a:r>
            <a:endParaRPr sz="1500" b="0" i="0" u="none" strike="noStrike" cap="none">
              <a:solidFill>
                <a:schemeClr val="dk1"/>
              </a:solidFill>
              <a:latin typeface="Calibri"/>
              <a:ea typeface="Calibri"/>
              <a:cs typeface="Calibri"/>
              <a:sym typeface="Calibri"/>
            </a:endParaRPr>
          </a:p>
        </p:txBody>
      </p:sp>
      <p:sp>
        <p:nvSpPr>
          <p:cNvPr id="108" name="Google Shape;108;p8"/>
          <p:cNvSpPr/>
          <p:nvPr/>
        </p:nvSpPr>
        <p:spPr>
          <a:xfrm>
            <a:off x="6200775" y="3292475"/>
            <a:ext cx="5175250" cy="1459230"/>
          </a:xfrm>
          <a:prstGeom prst="roundRect">
            <a:avLst>
              <a:gd name="adj" fmla="val 8486"/>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 name="Google Shape;109;p8" descr="CheckCircle"/>
          <p:cNvPicPr preferRelativeResize="0"/>
          <p:nvPr/>
        </p:nvPicPr>
        <p:blipFill rotWithShape="1">
          <a:blip r:embed="rId6">
            <a:alphaModFix/>
          </a:blip>
          <a:srcRect/>
          <a:stretch/>
        </p:blipFill>
        <p:spPr>
          <a:xfrm>
            <a:off x="6457950" y="3564889"/>
            <a:ext cx="304800" cy="304800"/>
          </a:xfrm>
          <a:prstGeom prst="rect">
            <a:avLst/>
          </a:prstGeom>
          <a:noFill/>
          <a:ln>
            <a:noFill/>
          </a:ln>
        </p:spPr>
      </p:pic>
      <p:sp>
        <p:nvSpPr>
          <p:cNvPr id="110" name="Google Shape;110;p8"/>
          <p:cNvSpPr/>
          <p:nvPr/>
        </p:nvSpPr>
        <p:spPr>
          <a:xfrm>
            <a:off x="6889750" y="3549650"/>
            <a:ext cx="276357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Needs your direction</a:t>
            </a:r>
            <a:endParaRPr sz="2200" b="0" i="0" u="none" strike="noStrike" cap="none">
              <a:solidFill>
                <a:schemeClr val="dk1"/>
              </a:solidFill>
              <a:latin typeface="Calibri"/>
              <a:ea typeface="Calibri"/>
              <a:cs typeface="Calibri"/>
              <a:sym typeface="Calibri"/>
            </a:endParaRPr>
          </a:p>
        </p:txBody>
      </p:sp>
      <p:sp>
        <p:nvSpPr>
          <p:cNvPr id="111" name="Google Shape;111;p8"/>
          <p:cNvSpPr/>
          <p:nvPr/>
        </p:nvSpPr>
        <p:spPr>
          <a:xfrm>
            <a:off x="6457950" y="39611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Great work comes from a clear brief and your final review.</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16"/>
        <p:cNvGrpSpPr/>
        <p:nvPr/>
      </p:nvGrpSpPr>
      <p:grpSpPr>
        <a:xfrm>
          <a:off x="0" y="0"/>
          <a:ext cx="0" cy="0"/>
          <a:chOff x="0" y="0"/>
          <a:chExt cx="0" cy="0"/>
        </a:xfrm>
      </p:grpSpPr>
      <p:sp>
        <p:nvSpPr>
          <p:cNvPr id="117" name="Google Shape;117;p9"/>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Where it shines, where it stumbles</a:t>
            </a:r>
            <a:endParaRPr sz="3600" b="0" i="0" u="none" strike="noStrike" cap="none">
              <a:solidFill>
                <a:schemeClr val="dk1"/>
              </a:solidFill>
              <a:latin typeface="Calibri"/>
              <a:ea typeface="Calibri"/>
              <a:cs typeface="Calibri"/>
              <a:sym typeface="Calibri"/>
            </a:endParaRPr>
          </a:p>
        </p:txBody>
      </p:sp>
      <p:sp>
        <p:nvSpPr>
          <p:cNvPr id="118" name="Google Shape;118;p9"/>
          <p:cNvSpPr/>
          <p:nvPr/>
        </p:nvSpPr>
        <p:spPr>
          <a:xfrm>
            <a:off x="815975" y="2265046"/>
            <a:ext cx="5175250" cy="2564130"/>
          </a:xfrm>
          <a:prstGeom prst="roundRect">
            <a:avLst>
              <a:gd name="adj" fmla="val 4829"/>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Google Shape;119;p9" descr="Star"/>
          <p:cNvPicPr preferRelativeResize="0"/>
          <p:nvPr/>
        </p:nvPicPr>
        <p:blipFill rotWithShape="1">
          <a:blip r:embed="rId3">
            <a:alphaModFix/>
          </a:blip>
          <a:srcRect/>
          <a:stretch/>
        </p:blipFill>
        <p:spPr>
          <a:xfrm>
            <a:off x="1123950" y="2588261"/>
            <a:ext cx="304800" cy="304800"/>
          </a:xfrm>
          <a:prstGeom prst="rect">
            <a:avLst/>
          </a:prstGeom>
          <a:noFill/>
          <a:ln>
            <a:noFill/>
          </a:ln>
        </p:spPr>
      </p:pic>
      <p:sp>
        <p:nvSpPr>
          <p:cNvPr id="120" name="Google Shape;120;p9"/>
          <p:cNvSpPr/>
          <p:nvPr/>
        </p:nvSpPr>
        <p:spPr>
          <a:xfrm>
            <a:off x="1555750" y="2573021"/>
            <a:ext cx="910484"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F6B4C"/>
              </a:buClr>
              <a:buSzPts val="2200"/>
              <a:buFont typeface="Fraunces"/>
              <a:buNone/>
            </a:pPr>
            <a:r>
              <a:rPr lang="en-US" sz="2200" b="0" i="0" u="none" strike="noStrike" cap="none">
                <a:solidFill>
                  <a:srgbClr val="2F6B4C"/>
                </a:solidFill>
                <a:latin typeface="Fraunces"/>
                <a:ea typeface="Fraunces"/>
                <a:cs typeface="Fraunces"/>
                <a:sym typeface="Fraunces"/>
              </a:rPr>
              <a:t>Shines</a:t>
            </a:r>
            <a:endParaRPr sz="2200" b="0" i="0" u="none" strike="noStrike" cap="none">
              <a:solidFill>
                <a:schemeClr val="dk1"/>
              </a:solidFill>
              <a:latin typeface="Calibri"/>
              <a:ea typeface="Calibri"/>
              <a:cs typeface="Calibri"/>
              <a:sym typeface="Calibri"/>
            </a:endParaRPr>
          </a:p>
        </p:txBody>
      </p:sp>
      <p:sp>
        <p:nvSpPr>
          <p:cNvPr id="121" name="Google Shape;121;p9"/>
          <p:cNvSpPr/>
          <p:nvPr/>
        </p:nvSpPr>
        <p:spPr>
          <a:xfrm>
            <a:off x="1195070" y="3060700"/>
            <a:ext cx="4617339" cy="1485900"/>
          </a:xfrm>
          <a:prstGeom prst="rect">
            <a:avLst/>
          </a:prstGeom>
          <a:noFill/>
          <a:ln>
            <a:noFill/>
          </a:ln>
        </p:spPr>
        <p:txBody>
          <a:bodyPr spcFirstLastPara="1" wrap="square" lIns="0" tIns="0" rIns="0" bIns="0" anchor="t" anchorCtr="0">
            <a:noAutofit/>
          </a:bodyPr>
          <a:lstStyle/>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First drafts in seconds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Ten headline options instead of one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Rewriting one story for many audiences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Translating and localising across languages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Turning long reports into short posts</a:t>
            </a:r>
            <a:endParaRPr sz="1500" b="0" i="0" u="none" strike="noStrike" cap="none">
              <a:solidFill>
                <a:schemeClr val="dk1"/>
              </a:solidFill>
              <a:latin typeface="Calibri"/>
              <a:ea typeface="Calibri"/>
              <a:cs typeface="Calibri"/>
              <a:sym typeface="Calibri"/>
            </a:endParaRPr>
          </a:p>
        </p:txBody>
      </p:sp>
      <p:sp>
        <p:nvSpPr>
          <p:cNvPr id="122" name="Google Shape;122;p9"/>
          <p:cNvSpPr/>
          <p:nvPr/>
        </p:nvSpPr>
        <p:spPr>
          <a:xfrm>
            <a:off x="6200775" y="2265046"/>
            <a:ext cx="5175250" cy="2564130"/>
          </a:xfrm>
          <a:prstGeom prst="roundRect">
            <a:avLst>
              <a:gd name="adj" fmla="val 4829"/>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3" name="Google Shape;123;p9" descr="Warning"/>
          <p:cNvPicPr preferRelativeResize="0"/>
          <p:nvPr/>
        </p:nvPicPr>
        <p:blipFill rotWithShape="1">
          <a:blip r:embed="rId4">
            <a:alphaModFix/>
          </a:blip>
          <a:srcRect/>
          <a:stretch/>
        </p:blipFill>
        <p:spPr>
          <a:xfrm>
            <a:off x="6508750" y="2588261"/>
            <a:ext cx="304800" cy="304800"/>
          </a:xfrm>
          <a:prstGeom prst="rect">
            <a:avLst/>
          </a:prstGeom>
          <a:noFill/>
          <a:ln>
            <a:noFill/>
          </a:ln>
        </p:spPr>
      </p:pic>
      <p:sp>
        <p:nvSpPr>
          <p:cNvPr id="124" name="Google Shape;124;p9"/>
          <p:cNvSpPr/>
          <p:nvPr/>
        </p:nvSpPr>
        <p:spPr>
          <a:xfrm>
            <a:off x="6940550" y="2573021"/>
            <a:ext cx="1259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Stumbles</a:t>
            </a:r>
            <a:endParaRPr sz="2200" b="0" i="0" u="none" strike="noStrike" cap="none">
              <a:solidFill>
                <a:schemeClr val="dk1"/>
              </a:solidFill>
              <a:latin typeface="Calibri"/>
              <a:ea typeface="Calibri"/>
              <a:cs typeface="Calibri"/>
              <a:sym typeface="Calibri"/>
            </a:endParaRPr>
          </a:p>
        </p:txBody>
      </p:sp>
      <p:sp>
        <p:nvSpPr>
          <p:cNvPr id="125" name="Google Shape;125;p9"/>
          <p:cNvSpPr/>
          <p:nvPr/>
        </p:nvSpPr>
        <p:spPr>
          <a:xfrm>
            <a:off x="6579870" y="3060700"/>
            <a:ext cx="4617339" cy="1485900"/>
          </a:xfrm>
          <a:prstGeom prst="rect">
            <a:avLst/>
          </a:prstGeom>
          <a:noFill/>
          <a:ln>
            <a:noFill/>
          </a:ln>
        </p:spPr>
        <p:txBody>
          <a:bodyPr spcFirstLastPara="1" wrap="square" lIns="0" tIns="0" rIns="0" bIns="0" anchor="t" anchorCtr="0">
            <a:noAutofit/>
          </a:bodyPr>
          <a:lstStyle/>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Inventing facts, figures and quotes</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A generic, over-polished "AI voice"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Not knowing your context or community</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Missing local and cultural nuance</a:t>
            </a:r>
            <a:endParaRPr sz="1500" b="0" i="0" u="none" strike="noStrike" cap="none">
              <a:solidFill>
                <a:schemeClr val="dk1"/>
              </a:solidFill>
              <a:latin typeface="Calibri"/>
              <a:ea typeface="Calibri"/>
              <a:cs typeface="Calibri"/>
              <a:sym typeface="Calibri"/>
            </a:endParaRPr>
          </a:p>
          <a:p>
            <a:pPr marL="182880" marR="0" lvl="0" indent="-182880" algn="l" rtl="0">
              <a:lnSpc>
                <a:spcPct val="15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Not knowing recent events</a:t>
            </a:r>
            <a:endParaRPr sz="1500" b="0" i="0" u="none" strike="noStrike" cap="none">
              <a:solidFill>
                <a:schemeClr val="dk1"/>
              </a:solidFill>
              <a:latin typeface="Calibri"/>
              <a:ea typeface="Calibri"/>
              <a:cs typeface="Calibri"/>
              <a:sym typeface="Calibri"/>
            </a:endParaRPr>
          </a:p>
        </p:txBody>
      </p:sp>
      <p:sp>
        <p:nvSpPr>
          <p:cNvPr id="126" name="Google Shape;126;p9"/>
          <p:cNvSpPr/>
          <p:nvPr/>
        </p:nvSpPr>
        <p:spPr>
          <a:xfrm>
            <a:off x="812800" y="5778500"/>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Use it for speed and range. </a:t>
            </a:r>
            <a:r>
              <a:rPr lang="en-US" sz="1500" b="1" i="0" u="none" strike="noStrike" cap="none">
                <a:solidFill>
                  <a:srgbClr val="1F2A24"/>
                </a:solidFill>
                <a:latin typeface="DM Sans"/>
                <a:ea typeface="DM Sans"/>
                <a:cs typeface="DM Sans"/>
                <a:sym typeface="DM Sans"/>
              </a:rPr>
              <a:t>Bring the facts, the context and the voice yourself.</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31"/>
        <p:cNvGrpSpPr/>
        <p:nvPr/>
      </p:nvGrpSpPr>
      <p:grpSpPr>
        <a:xfrm>
          <a:off x="0" y="0"/>
          <a:ext cx="0" cy="0"/>
          <a:chOff x="0" y="0"/>
          <a:chExt cx="0" cy="0"/>
        </a:xfrm>
      </p:grpSpPr>
      <p:sp>
        <p:nvSpPr>
          <p:cNvPr id="132" name="Google Shape;132;p10"/>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The tools you'll meet</a:t>
            </a:r>
            <a:endParaRPr sz="3600" b="0" i="0" u="none" strike="noStrike" cap="none">
              <a:solidFill>
                <a:schemeClr val="dk1"/>
              </a:solidFill>
              <a:latin typeface="Calibri"/>
              <a:ea typeface="Calibri"/>
              <a:cs typeface="Calibri"/>
              <a:sym typeface="Calibri"/>
            </a:endParaRPr>
          </a:p>
        </p:txBody>
      </p:sp>
      <p:sp>
        <p:nvSpPr>
          <p:cNvPr id="133" name="Google Shape;133;p10"/>
          <p:cNvSpPr/>
          <p:nvPr/>
        </p:nvSpPr>
        <p:spPr>
          <a:xfrm>
            <a:off x="815975"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4" name="Google Shape;134;p10" descr="Chat"/>
          <p:cNvPicPr preferRelativeResize="0"/>
          <p:nvPr/>
        </p:nvPicPr>
        <p:blipFill rotWithShape="1">
          <a:blip r:embed="rId3">
            <a:alphaModFix/>
          </a:blip>
          <a:srcRect/>
          <a:stretch/>
        </p:blipFill>
        <p:spPr>
          <a:xfrm>
            <a:off x="1073150" y="2474596"/>
            <a:ext cx="355600" cy="355600"/>
          </a:xfrm>
          <a:prstGeom prst="rect">
            <a:avLst/>
          </a:prstGeom>
          <a:noFill/>
          <a:ln>
            <a:noFill/>
          </a:ln>
        </p:spPr>
      </p:pic>
      <p:sp>
        <p:nvSpPr>
          <p:cNvPr id="135" name="Google Shape;135;p10"/>
          <p:cNvSpPr/>
          <p:nvPr/>
        </p:nvSpPr>
        <p:spPr>
          <a:xfrm>
            <a:off x="1073150"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Chat assistants</a:t>
            </a:r>
            <a:endParaRPr sz="2200" b="0" i="0" u="none" strike="noStrike" cap="none">
              <a:solidFill>
                <a:schemeClr val="dk1"/>
              </a:solidFill>
              <a:latin typeface="Calibri"/>
              <a:ea typeface="Calibri"/>
              <a:cs typeface="Calibri"/>
              <a:sym typeface="Calibri"/>
            </a:endParaRPr>
          </a:p>
        </p:txBody>
      </p:sp>
      <p:sp>
        <p:nvSpPr>
          <p:cNvPr id="136" name="Google Shape;136;p10"/>
          <p:cNvSpPr/>
          <p:nvPr/>
        </p:nvSpPr>
        <p:spPr>
          <a:xfrm>
            <a:off x="1073150" y="3368675"/>
            <a:ext cx="295194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ChatGPT · Claude · </a:t>
            </a:r>
            <a:r>
              <a:rPr lang="en-US" sz="1500" b="1" i="0" u="none" strike="noStrike" cap="none">
                <a:solidFill>
                  <a:srgbClr val="2F6B4C"/>
                </a:solidFill>
                <a:latin typeface="DM Sans"/>
                <a:ea typeface="DM Sans"/>
                <a:cs typeface="DM Sans"/>
                <a:sym typeface="DM Sans"/>
              </a:rPr>
              <a:t>Gemini</a:t>
            </a:r>
            <a:endParaRPr sz="1500" b="0" i="0" u="none" strike="noStrike" cap="none">
              <a:solidFill>
                <a:srgbClr val="2F6B4C"/>
              </a:solidFill>
              <a:latin typeface="Calibri"/>
              <a:ea typeface="Calibri"/>
              <a:cs typeface="Calibri"/>
              <a:sym typeface="Calibri"/>
            </a:endParaRPr>
          </a:p>
        </p:txBody>
      </p:sp>
      <p:sp>
        <p:nvSpPr>
          <p:cNvPr id="137" name="Google Shape;137;p10"/>
          <p:cNvSpPr/>
          <p:nvPr/>
        </p:nvSpPr>
        <p:spPr>
          <a:xfrm>
            <a:off x="1073150" y="37369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Writing, brainstorming, editing and research.</a:t>
            </a:r>
            <a:endParaRPr sz="1500" b="0" i="0" u="none" strike="noStrike" cap="none">
              <a:solidFill>
                <a:schemeClr val="dk1"/>
              </a:solidFill>
              <a:latin typeface="Calibri"/>
              <a:ea typeface="Calibri"/>
              <a:cs typeface="Calibri"/>
              <a:sym typeface="Calibri"/>
            </a:endParaRPr>
          </a:p>
        </p:txBody>
      </p:sp>
      <p:sp>
        <p:nvSpPr>
          <p:cNvPr id="138" name="Google Shape;138;p10"/>
          <p:cNvSpPr/>
          <p:nvPr/>
        </p:nvSpPr>
        <p:spPr>
          <a:xfrm>
            <a:off x="4405842"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 name="Google Shape;139;p10" descr="Tool"/>
          <p:cNvPicPr preferRelativeResize="0"/>
          <p:nvPr/>
        </p:nvPicPr>
        <p:blipFill rotWithShape="1">
          <a:blip r:embed="rId4">
            <a:alphaModFix/>
          </a:blip>
          <a:srcRect/>
          <a:stretch/>
        </p:blipFill>
        <p:spPr>
          <a:xfrm>
            <a:off x="4663017" y="2474596"/>
            <a:ext cx="355600" cy="355600"/>
          </a:xfrm>
          <a:prstGeom prst="rect">
            <a:avLst/>
          </a:prstGeom>
          <a:noFill/>
          <a:ln>
            <a:noFill/>
          </a:ln>
        </p:spPr>
      </p:pic>
      <p:sp>
        <p:nvSpPr>
          <p:cNvPr id="140" name="Google Shape;140;p10"/>
          <p:cNvSpPr/>
          <p:nvPr/>
        </p:nvSpPr>
        <p:spPr>
          <a:xfrm>
            <a:off x="4663017"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Inside your apps</a:t>
            </a:r>
            <a:endParaRPr sz="2200" b="0" i="0" u="none" strike="noStrike" cap="none">
              <a:solidFill>
                <a:schemeClr val="dk1"/>
              </a:solidFill>
              <a:latin typeface="Calibri"/>
              <a:ea typeface="Calibri"/>
              <a:cs typeface="Calibri"/>
              <a:sym typeface="Calibri"/>
            </a:endParaRPr>
          </a:p>
        </p:txBody>
      </p:sp>
      <p:sp>
        <p:nvSpPr>
          <p:cNvPr id="141" name="Google Shape;141;p10"/>
          <p:cNvSpPr/>
          <p:nvPr/>
        </p:nvSpPr>
        <p:spPr>
          <a:xfrm>
            <a:off x="4663017" y="3368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Canva · </a:t>
            </a:r>
            <a:r>
              <a:rPr lang="en-US" sz="1500" b="1" i="0" u="none" strike="noStrike" cap="none">
                <a:solidFill>
                  <a:srgbClr val="2F6B4C"/>
                </a:solidFill>
                <a:latin typeface="DM Sans"/>
                <a:ea typeface="DM Sans"/>
                <a:cs typeface="DM Sans"/>
                <a:sym typeface="DM Sans"/>
              </a:rPr>
              <a:t>Google Workspace</a:t>
            </a:r>
            <a:r>
              <a:rPr lang="en-US" sz="1500" b="1" i="0" u="none" strike="noStrike" cap="none">
                <a:solidFill>
                  <a:srgbClr val="1F2A24"/>
                </a:solidFill>
                <a:latin typeface="DM Sans"/>
                <a:ea typeface="DM Sans"/>
                <a:cs typeface="DM Sans"/>
                <a:sym typeface="DM Sans"/>
              </a:rPr>
              <a:t> · Microsoft 365 · Meta</a:t>
            </a:r>
            <a:endParaRPr sz="1500" b="0" i="0" u="none" strike="noStrike" cap="none">
              <a:solidFill>
                <a:schemeClr val="dk1"/>
              </a:solidFill>
              <a:latin typeface="Calibri"/>
              <a:ea typeface="Calibri"/>
              <a:cs typeface="Calibri"/>
              <a:sym typeface="Calibri"/>
            </a:endParaRPr>
          </a:p>
        </p:txBody>
      </p:sp>
      <p:sp>
        <p:nvSpPr>
          <p:cNvPr id="142" name="Google Shape;142;p10"/>
          <p:cNvSpPr/>
          <p:nvPr/>
        </p:nvSpPr>
        <p:spPr>
          <a:xfrm>
            <a:off x="4663017" y="4003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AI help right where you already work.</a:t>
            </a:r>
            <a:endParaRPr sz="1500" b="0" i="0" u="none" strike="noStrike" cap="none">
              <a:solidFill>
                <a:schemeClr val="dk1"/>
              </a:solidFill>
              <a:latin typeface="Calibri"/>
              <a:ea typeface="Calibri"/>
              <a:cs typeface="Calibri"/>
              <a:sym typeface="Calibri"/>
            </a:endParaRPr>
          </a:p>
        </p:txBody>
      </p:sp>
      <p:sp>
        <p:nvSpPr>
          <p:cNvPr id="143" name="Google Shape;143;p10"/>
          <p:cNvSpPr/>
          <p:nvPr/>
        </p:nvSpPr>
        <p:spPr>
          <a:xfrm>
            <a:off x="7995708" y="2217421"/>
            <a:ext cx="3380317" cy="2576830"/>
          </a:xfrm>
          <a:prstGeom prst="roundRect">
            <a:avLst>
              <a:gd name="adj" fmla="val 4805"/>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4" name="Google Shape;144;p10" descr="Lightbulb"/>
          <p:cNvPicPr preferRelativeResize="0"/>
          <p:nvPr/>
        </p:nvPicPr>
        <p:blipFill rotWithShape="1">
          <a:blip r:embed="rId5">
            <a:alphaModFix/>
          </a:blip>
          <a:srcRect/>
          <a:stretch/>
        </p:blipFill>
        <p:spPr>
          <a:xfrm>
            <a:off x="8252883" y="2474596"/>
            <a:ext cx="355600" cy="355600"/>
          </a:xfrm>
          <a:prstGeom prst="rect">
            <a:avLst/>
          </a:prstGeom>
          <a:noFill/>
          <a:ln>
            <a:noFill/>
          </a:ln>
        </p:spPr>
      </p:pic>
      <p:sp>
        <p:nvSpPr>
          <p:cNvPr id="145" name="Google Shape;145;p10"/>
          <p:cNvSpPr/>
          <p:nvPr/>
        </p:nvSpPr>
        <p:spPr>
          <a:xfrm>
            <a:off x="8252883" y="2931796"/>
            <a:ext cx="295194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Image and video</a:t>
            </a:r>
            <a:endParaRPr sz="2200" b="0" i="0" u="none" strike="noStrike" cap="none">
              <a:solidFill>
                <a:schemeClr val="dk1"/>
              </a:solidFill>
              <a:latin typeface="Calibri"/>
              <a:ea typeface="Calibri"/>
              <a:cs typeface="Calibri"/>
              <a:sym typeface="Calibri"/>
            </a:endParaRPr>
          </a:p>
        </p:txBody>
      </p:sp>
      <p:sp>
        <p:nvSpPr>
          <p:cNvPr id="146" name="Google Shape;146;p10"/>
          <p:cNvSpPr/>
          <p:nvPr/>
        </p:nvSpPr>
        <p:spPr>
          <a:xfrm>
            <a:off x="8252883" y="3368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1" i="0" u="none" strike="noStrike" cap="none">
                <a:solidFill>
                  <a:srgbClr val="1F2A24"/>
                </a:solidFill>
                <a:latin typeface="DM Sans"/>
                <a:ea typeface="DM Sans"/>
                <a:cs typeface="DM Sans"/>
                <a:sym typeface="DM Sans"/>
              </a:rPr>
              <a:t>Canva · Adobe Firefly · </a:t>
            </a:r>
            <a:r>
              <a:rPr lang="en-US" sz="1500" b="1">
                <a:solidFill>
                  <a:srgbClr val="2F6B4C"/>
                </a:solidFill>
                <a:latin typeface="DM Sans"/>
                <a:ea typeface="DM Sans"/>
                <a:cs typeface="DM Sans"/>
                <a:sym typeface="DM Sans"/>
              </a:rPr>
              <a:t>Google Vids </a:t>
            </a:r>
            <a:r>
              <a:rPr lang="en-US" sz="1500" b="1">
                <a:solidFill>
                  <a:srgbClr val="1F2A24"/>
                </a:solidFill>
                <a:latin typeface="DM Sans"/>
                <a:ea typeface="DM Sans"/>
                <a:cs typeface="DM Sans"/>
                <a:sym typeface="DM Sans"/>
              </a:rPr>
              <a:t>· </a:t>
            </a:r>
            <a:r>
              <a:rPr lang="en-US" sz="1500" b="1">
                <a:solidFill>
                  <a:srgbClr val="2F6B4C"/>
                </a:solidFill>
                <a:latin typeface="DM Sans"/>
                <a:ea typeface="DM Sans"/>
                <a:cs typeface="DM Sans"/>
                <a:sym typeface="DM Sans"/>
              </a:rPr>
              <a:t>Gemini Canvas</a:t>
            </a:r>
            <a:endParaRPr sz="1500" b="0" i="0" u="none" strike="noStrike" cap="none">
              <a:solidFill>
                <a:srgbClr val="2F6B4C"/>
              </a:solidFill>
              <a:latin typeface="Calibri"/>
              <a:ea typeface="Calibri"/>
              <a:cs typeface="Calibri"/>
              <a:sym typeface="Calibri"/>
            </a:endParaRPr>
          </a:p>
        </p:txBody>
      </p:sp>
      <p:sp>
        <p:nvSpPr>
          <p:cNvPr id="147" name="Google Shape;147;p10"/>
          <p:cNvSpPr/>
          <p:nvPr/>
        </p:nvSpPr>
        <p:spPr>
          <a:xfrm>
            <a:off x="8252883" y="4003675"/>
            <a:ext cx="295194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Visual drafts, variations and resizing.</a:t>
            </a:r>
            <a:endParaRPr sz="1500" b="0" i="0" u="none" strike="noStrike" cap="none">
              <a:solidFill>
                <a:schemeClr val="dk1"/>
              </a:solidFill>
              <a:latin typeface="Calibri"/>
              <a:ea typeface="Calibri"/>
              <a:cs typeface="Calibri"/>
              <a:sym typeface="Calibri"/>
            </a:endParaRPr>
          </a:p>
        </p:txBody>
      </p:sp>
      <p:sp>
        <p:nvSpPr>
          <p:cNvPr id="148" name="Google Shape;148;p10"/>
          <p:cNvSpPr/>
          <p:nvPr/>
        </p:nvSpPr>
        <p:spPr>
          <a:xfrm>
            <a:off x="812800" y="5695950"/>
            <a:ext cx="10883392"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The tool matters less than the brief you give it.</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5532B"/>
        </a:solidFill>
        <a:effectLst/>
      </p:bgPr>
    </p:bg>
    <p:spTree>
      <p:nvGrpSpPr>
        <p:cNvPr id="1" name="Shape 153"/>
        <p:cNvGrpSpPr/>
        <p:nvPr/>
      </p:nvGrpSpPr>
      <p:grpSpPr>
        <a:xfrm>
          <a:off x="0" y="0"/>
          <a:ext cx="0" cy="0"/>
          <a:chOff x="0" y="0"/>
          <a:chExt cx="0" cy="0"/>
        </a:xfrm>
      </p:grpSpPr>
      <p:sp>
        <p:nvSpPr>
          <p:cNvPr id="154" name="Google Shape;154;p11"/>
          <p:cNvSpPr/>
          <p:nvPr/>
        </p:nvSpPr>
        <p:spPr>
          <a:xfrm>
            <a:off x="812800" y="19050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BF3E8"/>
              </a:buClr>
              <a:buSzPts val="1200"/>
              <a:buFont typeface="DM Sans"/>
              <a:buNone/>
            </a:pPr>
            <a:r>
              <a:rPr lang="en-US" sz="1200" b="1" i="0" u="none" strike="noStrike" cap="none">
                <a:solidFill>
                  <a:srgbClr val="FBF3E8"/>
                </a:solidFill>
                <a:latin typeface="DM Sans"/>
                <a:ea typeface="DM Sans"/>
                <a:cs typeface="DM Sans"/>
                <a:sym typeface="DM Sans"/>
              </a:rPr>
              <a:t>PART TWO · PROMPTING</a:t>
            </a:r>
            <a:endParaRPr sz="1200" b="0" i="0" u="none" strike="noStrike" cap="none">
              <a:solidFill>
                <a:schemeClr val="dk1"/>
              </a:solidFill>
              <a:latin typeface="Calibri"/>
              <a:ea typeface="Calibri"/>
              <a:cs typeface="Calibri"/>
              <a:sym typeface="Calibri"/>
            </a:endParaRPr>
          </a:p>
        </p:txBody>
      </p:sp>
      <p:sp>
        <p:nvSpPr>
          <p:cNvPr id="155" name="Google Shape;155;p11"/>
          <p:cNvSpPr/>
          <p:nvPr/>
        </p:nvSpPr>
        <p:spPr>
          <a:xfrm>
            <a:off x="812800" y="2372361"/>
            <a:ext cx="10883392" cy="1625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BF3E8"/>
              </a:buClr>
              <a:buSzPts val="6000"/>
              <a:buFont typeface="Fraunces"/>
              <a:buNone/>
            </a:pPr>
            <a:r>
              <a:rPr lang="en-US" sz="6000" b="0" i="0" u="none" strike="noStrike" cap="none">
                <a:solidFill>
                  <a:srgbClr val="FBF3E8"/>
                </a:solidFill>
                <a:latin typeface="Fraunces"/>
                <a:ea typeface="Fraunces"/>
                <a:cs typeface="Fraunces"/>
                <a:sym typeface="Fraunces"/>
              </a:rPr>
              <a:t>A prompt is a</a:t>
            </a:r>
            <a:r>
              <a:rPr lang="en-US" sz="6000">
                <a:solidFill>
                  <a:schemeClr val="dk1"/>
                </a:solidFill>
                <a:latin typeface="Calibri"/>
                <a:ea typeface="Calibri"/>
                <a:cs typeface="Calibri"/>
                <a:sym typeface="Calibri"/>
              </a:rPr>
              <a:t> </a:t>
            </a:r>
            <a:endParaRPr sz="600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BF3E8"/>
              </a:buClr>
              <a:buSzPts val="6000"/>
              <a:buFont typeface="Fraunces"/>
              <a:buNone/>
            </a:pPr>
            <a:r>
              <a:rPr lang="en-US" sz="6000" b="0" i="0" u="none" strike="noStrike" cap="none">
                <a:solidFill>
                  <a:srgbClr val="FBF3E8"/>
                </a:solidFill>
                <a:latin typeface="Fraunces"/>
                <a:ea typeface="Fraunces"/>
                <a:cs typeface="Fraunces"/>
                <a:sym typeface="Fraunces"/>
              </a:rPr>
              <a:t>creative brief.</a:t>
            </a:r>
            <a:endParaRPr sz="6000" b="0" i="0" u="none" strike="noStrike" cap="none">
              <a:solidFill>
                <a:schemeClr val="dk1"/>
              </a:solidFill>
              <a:latin typeface="Calibri"/>
              <a:ea typeface="Calibri"/>
              <a:cs typeface="Calibri"/>
              <a:sym typeface="Calibri"/>
            </a:endParaRPr>
          </a:p>
        </p:txBody>
      </p:sp>
      <p:sp>
        <p:nvSpPr>
          <p:cNvPr id="156" name="Google Shape;156;p11"/>
          <p:cNvSpPr/>
          <p:nvPr/>
        </p:nvSpPr>
        <p:spPr>
          <a:xfrm>
            <a:off x="812800" y="4226558"/>
            <a:ext cx="8502650" cy="7518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FBF3E8"/>
              </a:buClr>
              <a:buSzPts val="2200"/>
              <a:buFont typeface="DM Sans"/>
              <a:buNone/>
            </a:pPr>
            <a:r>
              <a:rPr lang="en-US" sz="2200" b="0" i="0" u="none" strike="noStrike" cap="none">
                <a:solidFill>
                  <a:srgbClr val="FBF3E8"/>
                </a:solidFill>
                <a:latin typeface="DM Sans"/>
                <a:ea typeface="DM Sans"/>
                <a:cs typeface="DM Sans"/>
                <a:sym typeface="DM Sans"/>
              </a:rPr>
              <a:t>If you can brief a designer or an agency, you already know how to prompt.</a:t>
            </a: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61"/>
        <p:cNvGrpSpPr/>
        <p:nvPr/>
      </p:nvGrpSpPr>
      <p:grpSpPr>
        <a:xfrm>
          <a:off x="0" y="0"/>
          <a:ext cx="0" cy="0"/>
          <a:chOff x="0" y="0"/>
          <a:chExt cx="0" cy="0"/>
        </a:xfrm>
      </p:grpSpPr>
      <p:sp>
        <p:nvSpPr>
          <p:cNvPr id="162" name="Google Shape;162;p12"/>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Five parts of a good brief</a:t>
            </a:r>
            <a:endParaRPr sz="3600" b="0" i="0" u="none" strike="noStrike" cap="none">
              <a:solidFill>
                <a:schemeClr val="dk1"/>
              </a:solidFill>
              <a:latin typeface="Calibri"/>
              <a:ea typeface="Calibri"/>
              <a:cs typeface="Calibri"/>
              <a:sym typeface="Calibri"/>
            </a:endParaRPr>
          </a:p>
        </p:txBody>
      </p:sp>
      <p:sp>
        <p:nvSpPr>
          <p:cNvPr id="163" name="Google Shape;163;p12"/>
          <p:cNvSpPr/>
          <p:nvPr/>
        </p:nvSpPr>
        <p:spPr>
          <a:xfrm>
            <a:off x="812800" y="1518921"/>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Example: an Instagram caption for a rice brand working with smallholder farmers</a:t>
            </a:r>
            <a:endParaRPr sz="1500" b="0" i="0" u="none" strike="noStrike" cap="none">
              <a:solidFill>
                <a:schemeClr val="dk1"/>
              </a:solidFill>
              <a:latin typeface="Calibri"/>
              <a:ea typeface="Calibri"/>
              <a:cs typeface="Calibri"/>
              <a:sym typeface="Calibri"/>
            </a:endParaRPr>
          </a:p>
        </p:txBody>
      </p:sp>
      <p:cxnSp>
        <p:nvCxnSpPr>
          <p:cNvPr id="164" name="Google Shape;164;p12"/>
          <p:cNvCxnSpPr/>
          <p:nvPr/>
        </p:nvCxnSpPr>
        <p:spPr>
          <a:xfrm>
            <a:off x="812800" y="1995171"/>
            <a:ext cx="10566400" cy="0"/>
          </a:xfrm>
          <a:prstGeom prst="straightConnector1">
            <a:avLst/>
          </a:prstGeom>
          <a:noFill/>
          <a:ln w="12700" cap="flat" cmpd="sng">
            <a:solidFill>
              <a:srgbClr val="D9CDB6"/>
            </a:solidFill>
            <a:prstDash val="solid"/>
            <a:round/>
            <a:headEnd type="none" w="sm" len="sm"/>
            <a:tailEnd type="none" w="sm" len="sm"/>
          </a:ln>
        </p:spPr>
      </p:cxnSp>
      <p:sp>
        <p:nvSpPr>
          <p:cNvPr id="165" name="Google Shape;165;p12"/>
          <p:cNvSpPr/>
          <p:nvPr/>
        </p:nvSpPr>
        <p:spPr>
          <a:xfrm>
            <a:off x="812800" y="21285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ROLE</a:t>
            </a:r>
            <a:endParaRPr sz="1500" b="0" i="0" u="none" strike="noStrike" cap="none">
              <a:solidFill>
                <a:schemeClr val="dk1"/>
              </a:solidFill>
              <a:latin typeface="Calibri"/>
              <a:ea typeface="Calibri"/>
              <a:cs typeface="Calibri"/>
              <a:sym typeface="Calibri"/>
            </a:endParaRPr>
          </a:p>
        </p:txBody>
      </p:sp>
      <p:sp>
        <p:nvSpPr>
          <p:cNvPr id="166" name="Google Shape;166;p12"/>
          <p:cNvSpPr/>
          <p:nvPr/>
        </p:nvSpPr>
        <p:spPr>
          <a:xfrm>
            <a:off x="2641600" y="21285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"You are the social media writer for [Brand], an impact brand."</a:t>
            </a:r>
            <a:endParaRPr sz="1500" b="0" i="0" u="none" strike="noStrike" cap="none">
              <a:solidFill>
                <a:schemeClr val="dk1"/>
              </a:solidFill>
              <a:latin typeface="Calibri"/>
              <a:ea typeface="Calibri"/>
              <a:cs typeface="Calibri"/>
              <a:sym typeface="Calibri"/>
            </a:endParaRPr>
          </a:p>
        </p:txBody>
      </p:sp>
      <p:cxnSp>
        <p:nvCxnSpPr>
          <p:cNvPr id="167" name="Google Shape;167;p12"/>
          <p:cNvCxnSpPr/>
          <p:nvPr/>
        </p:nvCxnSpPr>
        <p:spPr>
          <a:xfrm>
            <a:off x="812800" y="2528571"/>
            <a:ext cx="10566400" cy="0"/>
          </a:xfrm>
          <a:prstGeom prst="straightConnector1">
            <a:avLst/>
          </a:prstGeom>
          <a:noFill/>
          <a:ln w="12700" cap="flat" cmpd="sng">
            <a:solidFill>
              <a:srgbClr val="D9CDB6"/>
            </a:solidFill>
            <a:prstDash val="solid"/>
            <a:round/>
            <a:headEnd type="none" w="sm" len="sm"/>
            <a:tailEnd type="none" w="sm" len="sm"/>
          </a:ln>
        </p:spPr>
      </p:cxnSp>
      <p:sp>
        <p:nvSpPr>
          <p:cNvPr id="168" name="Google Shape;168;p12"/>
          <p:cNvSpPr/>
          <p:nvPr/>
        </p:nvSpPr>
        <p:spPr>
          <a:xfrm>
            <a:off x="812800" y="26619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TASK</a:t>
            </a:r>
            <a:endParaRPr sz="1500" b="0" i="0" u="none" strike="noStrike" cap="none">
              <a:solidFill>
                <a:schemeClr val="dk1"/>
              </a:solidFill>
              <a:latin typeface="Calibri"/>
              <a:ea typeface="Calibri"/>
              <a:cs typeface="Calibri"/>
              <a:sym typeface="Calibri"/>
            </a:endParaRPr>
          </a:p>
        </p:txBody>
      </p:sp>
      <p:sp>
        <p:nvSpPr>
          <p:cNvPr id="169" name="Google Shape;169;p12"/>
          <p:cNvSpPr/>
          <p:nvPr/>
        </p:nvSpPr>
        <p:spPr>
          <a:xfrm>
            <a:off x="2641600" y="26619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"Write an Instagram caption announcing our new harvest."</a:t>
            </a:r>
            <a:endParaRPr sz="1500" b="0" i="0" u="none" strike="noStrike" cap="none">
              <a:solidFill>
                <a:schemeClr val="dk1"/>
              </a:solidFill>
              <a:latin typeface="Calibri"/>
              <a:ea typeface="Calibri"/>
              <a:cs typeface="Calibri"/>
              <a:sym typeface="Calibri"/>
            </a:endParaRPr>
          </a:p>
        </p:txBody>
      </p:sp>
      <p:cxnSp>
        <p:nvCxnSpPr>
          <p:cNvPr id="170" name="Google Shape;170;p12"/>
          <p:cNvCxnSpPr/>
          <p:nvPr/>
        </p:nvCxnSpPr>
        <p:spPr>
          <a:xfrm>
            <a:off x="812800" y="3061971"/>
            <a:ext cx="10566400" cy="0"/>
          </a:xfrm>
          <a:prstGeom prst="straightConnector1">
            <a:avLst/>
          </a:prstGeom>
          <a:noFill/>
          <a:ln w="12700" cap="flat" cmpd="sng">
            <a:solidFill>
              <a:srgbClr val="D9CDB6"/>
            </a:solidFill>
            <a:prstDash val="solid"/>
            <a:round/>
            <a:headEnd type="none" w="sm" len="sm"/>
            <a:tailEnd type="none" w="sm" len="sm"/>
          </a:ln>
        </p:spPr>
      </p:cxnSp>
      <p:sp>
        <p:nvSpPr>
          <p:cNvPr id="171" name="Google Shape;171;p12"/>
          <p:cNvSpPr/>
          <p:nvPr/>
        </p:nvSpPr>
        <p:spPr>
          <a:xfrm>
            <a:off x="812800" y="31953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CONTEXT</a:t>
            </a:r>
            <a:endParaRPr sz="1500" b="0" i="0" u="none" strike="noStrike" cap="none">
              <a:solidFill>
                <a:schemeClr val="dk1"/>
              </a:solidFill>
              <a:latin typeface="Calibri"/>
              <a:ea typeface="Calibri"/>
              <a:cs typeface="Calibri"/>
              <a:sym typeface="Calibri"/>
            </a:endParaRPr>
          </a:p>
        </p:txBody>
      </p:sp>
      <p:sp>
        <p:nvSpPr>
          <p:cNvPr id="172" name="Google Shape;172;p12"/>
          <p:cNvSpPr/>
          <p:nvPr/>
        </p:nvSpPr>
        <p:spPr>
          <a:xfrm>
            <a:off x="2641600" y="3195321"/>
            <a:ext cx="8999728"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"We buy organic rice directly from smallholder farmers in [region]. Our followers are young urban families who care where their food comes from."</a:t>
            </a:r>
            <a:endParaRPr sz="1500" b="0" i="0" u="none" strike="noStrike" cap="none">
              <a:solidFill>
                <a:schemeClr val="dk1"/>
              </a:solidFill>
              <a:latin typeface="Calibri"/>
              <a:ea typeface="Calibri"/>
              <a:cs typeface="Calibri"/>
              <a:sym typeface="Calibri"/>
            </a:endParaRPr>
          </a:p>
        </p:txBody>
      </p:sp>
      <p:cxnSp>
        <p:nvCxnSpPr>
          <p:cNvPr id="173" name="Google Shape;173;p12"/>
          <p:cNvCxnSpPr/>
          <p:nvPr/>
        </p:nvCxnSpPr>
        <p:spPr>
          <a:xfrm>
            <a:off x="812800" y="3862071"/>
            <a:ext cx="10566400" cy="0"/>
          </a:xfrm>
          <a:prstGeom prst="straightConnector1">
            <a:avLst/>
          </a:prstGeom>
          <a:noFill/>
          <a:ln w="12700" cap="flat" cmpd="sng">
            <a:solidFill>
              <a:srgbClr val="D9CDB6"/>
            </a:solidFill>
            <a:prstDash val="solid"/>
            <a:round/>
            <a:headEnd type="none" w="sm" len="sm"/>
            <a:tailEnd type="none" w="sm" len="sm"/>
          </a:ln>
        </p:spPr>
      </p:cxnSp>
      <p:sp>
        <p:nvSpPr>
          <p:cNvPr id="174" name="Google Shape;174;p12"/>
          <p:cNvSpPr/>
          <p:nvPr/>
        </p:nvSpPr>
        <p:spPr>
          <a:xfrm>
            <a:off x="812800" y="39954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FORMAT</a:t>
            </a:r>
            <a:endParaRPr sz="1500" b="0" i="0" u="none" strike="noStrike" cap="none">
              <a:solidFill>
                <a:schemeClr val="dk1"/>
              </a:solidFill>
              <a:latin typeface="Calibri"/>
              <a:ea typeface="Calibri"/>
              <a:cs typeface="Calibri"/>
              <a:sym typeface="Calibri"/>
            </a:endParaRPr>
          </a:p>
        </p:txBody>
      </p:sp>
      <p:sp>
        <p:nvSpPr>
          <p:cNvPr id="175" name="Google Shape;175;p12"/>
          <p:cNvSpPr/>
          <p:nvPr/>
        </p:nvSpPr>
        <p:spPr>
          <a:xfrm>
            <a:off x="2641600" y="39954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"Under 80 words. Warm, not preachy. End with a question. Three hashtags."</a:t>
            </a:r>
            <a:endParaRPr sz="1500" b="0" i="0" u="none" strike="noStrike" cap="none">
              <a:solidFill>
                <a:schemeClr val="dk1"/>
              </a:solidFill>
              <a:latin typeface="Calibri"/>
              <a:ea typeface="Calibri"/>
              <a:cs typeface="Calibri"/>
              <a:sym typeface="Calibri"/>
            </a:endParaRPr>
          </a:p>
        </p:txBody>
      </p:sp>
      <p:cxnSp>
        <p:nvCxnSpPr>
          <p:cNvPr id="176" name="Google Shape;176;p12"/>
          <p:cNvCxnSpPr/>
          <p:nvPr/>
        </p:nvCxnSpPr>
        <p:spPr>
          <a:xfrm>
            <a:off x="812800" y="4395471"/>
            <a:ext cx="10566400" cy="0"/>
          </a:xfrm>
          <a:prstGeom prst="straightConnector1">
            <a:avLst/>
          </a:prstGeom>
          <a:noFill/>
          <a:ln w="12700" cap="flat" cmpd="sng">
            <a:solidFill>
              <a:srgbClr val="D9CDB6"/>
            </a:solidFill>
            <a:prstDash val="solid"/>
            <a:round/>
            <a:headEnd type="none" w="sm" len="sm"/>
            <a:tailEnd type="none" w="sm" len="sm"/>
          </a:ln>
        </p:spPr>
      </p:cxnSp>
      <p:cxnSp>
        <p:nvCxnSpPr>
          <p:cNvPr id="177" name="Google Shape;177;p12"/>
          <p:cNvCxnSpPr/>
          <p:nvPr/>
        </p:nvCxnSpPr>
        <p:spPr>
          <a:xfrm>
            <a:off x="812800" y="4928871"/>
            <a:ext cx="10566400" cy="0"/>
          </a:xfrm>
          <a:prstGeom prst="straightConnector1">
            <a:avLst/>
          </a:prstGeom>
          <a:noFill/>
          <a:ln w="12700" cap="flat" cmpd="sng">
            <a:solidFill>
              <a:srgbClr val="D9CDB6"/>
            </a:solidFill>
            <a:prstDash val="solid"/>
            <a:round/>
            <a:headEnd type="none" w="sm" len="sm"/>
            <a:tailEnd type="none" w="sm" len="sm"/>
          </a:ln>
        </p:spPr>
      </p:cxnSp>
      <p:sp>
        <p:nvSpPr>
          <p:cNvPr id="178" name="Google Shape;178;p12"/>
          <p:cNvSpPr/>
          <p:nvPr/>
        </p:nvSpPr>
        <p:spPr>
          <a:xfrm>
            <a:off x="812800" y="4528821"/>
            <a:ext cx="157480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500"/>
              <a:buFont typeface="DM Sans"/>
              <a:buNone/>
            </a:pPr>
            <a:r>
              <a:rPr lang="en-US" sz="1500" b="1" i="0" u="none" strike="noStrike" cap="none">
                <a:solidFill>
                  <a:srgbClr val="B5532B"/>
                </a:solidFill>
                <a:latin typeface="DM Sans"/>
                <a:ea typeface="DM Sans"/>
                <a:cs typeface="DM Sans"/>
                <a:sym typeface="DM Sans"/>
              </a:rPr>
              <a:t>EXAMPLES</a:t>
            </a:r>
            <a:endParaRPr sz="1500" b="0" i="0" u="none" strike="noStrike" cap="none">
              <a:solidFill>
                <a:schemeClr val="dk1"/>
              </a:solidFill>
              <a:latin typeface="Calibri"/>
              <a:ea typeface="Calibri"/>
              <a:cs typeface="Calibri"/>
              <a:sym typeface="Calibri"/>
            </a:endParaRPr>
          </a:p>
        </p:txBody>
      </p:sp>
      <p:sp>
        <p:nvSpPr>
          <p:cNvPr id="179" name="Google Shape;179;p12"/>
          <p:cNvSpPr/>
          <p:nvPr/>
        </p:nvSpPr>
        <p:spPr>
          <a:xfrm>
            <a:off x="2641600" y="4528821"/>
            <a:ext cx="8999728"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"Here are two past posts that sound like us: [paste posts]"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184"/>
        <p:cNvGrpSpPr/>
        <p:nvPr/>
      </p:nvGrpSpPr>
      <p:grpSpPr>
        <a:xfrm>
          <a:off x="0" y="0"/>
          <a:ext cx="0" cy="0"/>
          <a:chOff x="0" y="0"/>
          <a:chExt cx="0" cy="0"/>
        </a:xfrm>
      </p:grpSpPr>
      <p:sp>
        <p:nvSpPr>
          <p:cNvPr id="185" name="Google Shape;185;p13"/>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Same request, two briefs</a:t>
            </a:r>
            <a:endParaRPr sz="3600" b="0" i="0" u="none" strike="noStrike" cap="none">
              <a:solidFill>
                <a:schemeClr val="dk1"/>
              </a:solidFill>
              <a:latin typeface="Calibri"/>
              <a:ea typeface="Calibri"/>
              <a:cs typeface="Calibri"/>
              <a:sym typeface="Calibri"/>
            </a:endParaRPr>
          </a:p>
        </p:txBody>
      </p:sp>
      <p:sp>
        <p:nvSpPr>
          <p:cNvPr id="186" name="Google Shape;186;p13"/>
          <p:cNvSpPr/>
          <p:nvPr/>
        </p:nvSpPr>
        <p:spPr>
          <a:xfrm>
            <a:off x="815975" y="1623696"/>
            <a:ext cx="5175250" cy="3566160"/>
          </a:xfrm>
          <a:prstGeom prst="roundRect">
            <a:avLst>
              <a:gd name="adj" fmla="val 3472"/>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a:off x="1123950" y="1931671"/>
            <a:ext cx="4696079"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VAGUE</a:t>
            </a:r>
            <a:endParaRPr sz="1200" b="0" i="0" u="none" strike="noStrike" cap="none">
              <a:solidFill>
                <a:schemeClr val="dk1"/>
              </a:solidFill>
              <a:latin typeface="Calibri"/>
              <a:ea typeface="Calibri"/>
              <a:cs typeface="Calibri"/>
              <a:sym typeface="Calibri"/>
            </a:endParaRPr>
          </a:p>
        </p:txBody>
      </p:sp>
      <p:sp>
        <p:nvSpPr>
          <p:cNvPr id="188" name="Google Shape;188;p13"/>
          <p:cNvSpPr/>
          <p:nvPr/>
        </p:nvSpPr>
        <p:spPr>
          <a:xfrm>
            <a:off x="1123950" y="2297429"/>
            <a:ext cx="4696079" cy="3746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"Write a post about our recycling."</a:t>
            </a:r>
            <a:endParaRPr sz="2200" b="0" i="0" u="none" strike="noStrike" cap="none">
              <a:solidFill>
                <a:schemeClr val="dk1"/>
              </a:solidFill>
              <a:latin typeface="Calibri"/>
              <a:ea typeface="Calibri"/>
              <a:cs typeface="Calibri"/>
              <a:sym typeface="Calibri"/>
            </a:endParaRPr>
          </a:p>
        </p:txBody>
      </p:sp>
      <p:cxnSp>
        <p:nvCxnSpPr>
          <p:cNvPr id="189" name="Google Shape;189;p13"/>
          <p:cNvCxnSpPr/>
          <p:nvPr/>
        </p:nvCxnSpPr>
        <p:spPr>
          <a:xfrm>
            <a:off x="1123950" y="4192904"/>
            <a:ext cx="4559300" cy="0"/>
          </a:xfrm>
          <a:prstGeom prst="straightConnector1">
            <a:avLst/>
          </a:prstGeom>
          <a:noFill/>
          <a:ln w="9525" cap="flat" cmpd="sng">
            <a:solidFill>
              <a:srgbClr val="E2D9C6"/>
            </a:solidFill>
            <a:prstDash val="solid"/>
            <a:round/>
            <a:headEnd type="none" w="sm" len="sm"/>
            <a:tailEnd type="none" w="sm" len="sm"/>
          </a:ln>
        </p:spPr>
      </p:cxnSp>
      <p:sp>
        <p:nvSpPr>
          <p:cNvPr id="190" name="Google Shape;190;p13"/>
          <p:cNvSpPr/>
          <p:nvPr/>
        </p:nvSpPr>
        <p:spPr>
          <a:xfrm>
            <a:off x="1123950" y="4348479"/>
            <a:ext cx="4696079"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1" i="0" u="none" strike="noStrike" cap="none">
                <a:solidFill>
                  <a:srgbClr val="5B6760"/>
                </a:solidFill>
                <a:latin typeface="DM Sans"/>
                <a:ea typeface="DM Sans"/>
                <a:cs typeface="DM Sans"/>
                <a:sym typeface="DM Sans"/>
              </a:rPr>
              <a:t>You get:</a:t>
            </a:r>
            <a:r>
              <a:rPr lang="en-US" sz="1500" b="0" i="0" u="none" strike="noStrike" cap="none">
                <a:solidFill>
                  <a:srgbClr val="5B6760"/>
                </a:solidFill>
                <a:latin typeface="DM Sans"/>
                <a:ea typeface="DM Sans"/>
                <a:cs typeface="DM Sans"/>
                <a:sym typeface="DM Sans"/>
              </a:rPr>
              <a:t> generic copy that could be any brand, possibly with an invented statistic.</a:t>
            </a:r>
            <a:endParaRPr sz="1500" b="0" i="0" u="none" strike="noStrike" cap="none">
              <a:solidFill>
                <a:schemeClr val="dk1"/>
              </a:solidFill>
              <a:latin typeface="Calibri"/>
              <a:ea typeface="Calibri"/>
              <a:cs typeface="Calibri"/>
              <a:sym typeface="Calibri"/>
            </a:endParaRPr>
          </a:p>
        </p:txBody>
      </p:sp>
      <p:sp>
        <p:nvSpPr>
          <p:cNvPr id="191" name="Google Shape;191;p13"/>
          <p:cNvSpPr/>
          <p:nvPr/>
        </p:nvSpPr>
        <p:spPr>
          <a:xfrm>
            <a:off x="6197600" y="1620521"/>
            <a:ext cx="5181600" cy="3572510"/>
          </a:xfrm>
          <a:prstGeom prst="roundRect">
            <a:avLst>
              <a:gd name="adj" fmla="val 355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6502400" y="1925321"/>
            <a:ext cx="470916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SPECIFIC</a:t>
            </a:r>
            <a:endParaRPr sz="1200" b="0" i="0" u="none" strike="noStrike" cap="none">
              <a:solidFill>
                <a:schemeClr val="dk1"/>
              </a:solidFill>
              <a:latin typeface="Calibri"/>
              <a:ea typeface="Calibri"/>
              <a:cs typeface="Calibri"/>
              <a:sym typeface="Calibri"/>
            </a:endParaRPr>
          </a:p>
        </p:txBody>
      </p:sp>
      <p:sp>
        <p:nvSpPr>
          <p:cNvPr id="193" name="Google Shape;193;p13"/>
          <p:cNvSpPr/>
          <p:nvPr/>
        </p:nvSpPr>
        <p:spPr>
          <a:xfrm>
            <a:off x="6502400" y="2291079"/>
            <a:ext cx="4709160" cy="16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"You are the comms lead at [Brand], which turns discarded fishing nets into [product] in [country]. Write a LinkedIn post for corporate buyers about our new collection. Confident, not preachy. About 120 words. Use only these facts: [facts]. End with a clear call to action."</a:t>
            </a:r>
            <a:endParaRPr sz="1500" b="0" i="0" u="none" strike="noStrike" cap="none">
              <a:solidFill>
                <a:schemeClr val="dk1"/>
              </a:solidFill>
              <a:latin typeface="Calibri"/>
              <a:ea typeface="Calibri"/>
              <a:cs typeface="Calibri"/>
              <a:sym typeface="Calibri"/>
            </a:endParaRPr>
          </a:p>
        </p:txBody>
      </p:sp>
      <p:cxnSp>
        <p:nvCxnSpPr>
          <p:cNvPr id="194" name="Google Shape;194;p13"/>
          <p:cNvCxnSpPr/>
          <p:nvPr/>
        </p:nvCxnSpPr>
        <p:spPr>
          <a:xfrm>
            <a:off x="6502400" y="4199254"/>
            <a:ext cx="4572000" cy="0"/>
          </a:xfrm>
          <a:prstGeom prst="straightConnector1">
            <a:avLst/>
          </a:prstGeom>
          <a:noFill/>
          <a:ln w="9525" cap="flat" cmpd="sng">
            <a:solidFill>
              <a:srgbClr val="3F5F50"/>
            </a:solidFill>
            <a:prstDash val="solid"/>
            <a:round/>
            <a:headEnd type="none" w="sm" len="sm"/>
            <a:tailEnd type="none" w="sm" len="sm"/>
          </a:ln>
        </p:spPr>
      </p:cxnSp>
      <p:sp>
        <p:nvSpPr>
          <p:cNvPr id="195" name="Google Shape;195;p13"/>
          <p:cNvSpPr/>
          <p:nvPr/>
        </p:nvSpPr>
        <p:spPr>
          <a:xfrm>
            <a:off x="6502400" y="4354829"/>
            <a:ext cx="470916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1" i="0" u="none" strike="noStrike" cap="none">
                <a:solidFill>
                  <a:srgbClr val="CFD8CF"/>
                </a:solidFill>
                <a:latin typeface="DM Sans"/>
                <a:ea typeface="DM Sans"/>
                <a:cs typeface="DM Sans"/>
                <a:sym typeface="DM Sans"/>
              </a:rPr>
              <a:t>You get:</a:t>
            </a:r>
            <a:r>
              <a:rPr lang="en-US" sz="1500" b="0" i="0" u="none" strike="noStrike" cap="none">
                <a:solidFill>
                  <a:srgbClr val="CFD8CF"/>
                </a:solidFill>
                <a:latin typeface="DM Sans"/>
                <a:ea typeface="DM Sans"/>
                <a:cs typeface="DM Sans"/>
                <a:sym typeface="DM Sans"/>
              </a:rPr>
              <a:t> on-brand, factual copy that's nearly ready to publish.</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00"/>
        <p:cNvGrpSpPr/>
        <p:nvPr/>
      </p:nvGrpSpPr>
      <p:grpSpPr>
        <a:xfrm>
          <a:off x="0" y="0"/>
          <a:ext cx="0" cy="0"/>
          <a:chOff x="0" y="0"/>
          <a:chExt cx="0" cy="0"/>
        </a:xfrm>
      </p:grpSpPr>
      <p:sp>
        <p:nvSpPr>
          <p:cNvPr id="201" name="Google Shape;201;p14"/>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Five moves that make the difference</a:t>
            </a:r>
            <a:endParaRPr sz="3600" b="0" i="0" u="none" strike="noStrike" cap="none">
              <a:solidFill>
                <a:schemeClr val="dk1"/>
              </a:solidFill>
              <a:latin typeface="Calibri"/>
              <a:ea typeface="Calibri"/>
              <a:cs typeface="Calibri"/>
              <a:sym typeface="Calibri"/>
            </a:endParaRPr>
          </a:p>
        </p:txBody>
      </p:sp>
      <p:cxnSp>
        <p:nvCxnSpPr>
          <p:cNvPr id="202" name="Google Shape;202;p14"/>
          <p:cNvCxnSpPr/>
          <p:nvPr/>
        </p:nvCxnSpPr>
        <p:spPr>
          <a:xfrm>
            <a:off x="812800" y="1576071"/>
            <a:ext cx="10566400" cy="0"/>
          </a:xfrm>
          <a:prstGeom prst="straightConnector1">
            <a:avLst/>
          </a:prstGeom>
          <a:noFill/>
          <a:ln w="12700" cap="flat" cmpd="sng">
            <a:solidFill>
              <a:srgbClr val="D9CDB6"/>
            </a:solidFill>
            <a:prstDash val="solid"/>
            <a:round/>
            <a:headEnd type="none" w="sm" len="sm"/>
            <a:tailEnd type="none" w="sm" len="sm"/>
          </a:ln>
        </p:spPr>
      </p:cxnSp>
      <p:sp>
        <p:nvSpPr>
          <p:cNvPr id="203" name="Google Shape;203;p14"/>
          <p:cNvSpPr/>
          <p:nvPr/>
        </p:nvSpPr>
        <p:spPr>
          <a:xfrm>
            <a:off x="812800" y="1734821"/>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204" name="Google Shape;204;p14"/>
          <p:cNvSpPr/>
          <p:nvPr/>
        </p:nvSpPr>
        <p:spPr>
          <a:xfrm>
            <a:off x="1524000" y="1797050"/>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Show your voice</a:t>
            </a:r>
            <a:endParaRPr sz="1500" b="0" i="0" u="none" strike="noStrike" cap="none">
              <a:solidFill>
                <a:schemeClr val="dk1"/>
              </a:solidFill>
              <a:latin typeface="Calibri"/>
              <a:ea typeface="Calibri"/>
              <a:cs typeface="Calibri"/>
              <a:sym typeface="Calibri"/>
            </a:endParaRPr>
          </a:p>
        </p:txBody>
      </p:sp>
      <p:sp>
        <p:nvSpPr>
          <p:cNvPr id="205" name="Google Shape;205;p14"/>
          <p:cNvSpPr/>
          <p:nvPr/>
        </p:nvSpPr>
        <p:spPr>
          <a:xfrm>
            <a:off x="4394200" y="1797050"/>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"Here are three of our past posts. Match this tone."</a:t>
            </a:r>
            <a:endParaRPr sz="1500" b="0" i="0" u="none" strike="noStrike" cap="none">
              <a:solidFill>
                <a:schemeClr val="dk1"/>
              </a:solidFill>
              <a:latin typeface="Calibri"/>
              <a:ea typeface="Calibri"/>
              <a:cs typeface="Calibri"/>
              <a:sym typeface="Calibri"/>
            </a:endParaRPr>
          </a:p>
        </p:txBody>
      </p:sp>
      <p:cxnSp>
        <p:nvCxnSpPr>
          <p:cNvPr id="206" name="Google Shape;206;p14"/>
          <p:cNvCxnSpPr/>
          <p:nvPr/>
        </p:nvCxnSpPr>
        <p:spPr>
          <a:xfrm>
            <a:off x="812800" y="2284729"/>
            <a:ext cx="10566400" cy="0"/>
          </a:xfrm>
          <a:prstGeom prst="straightConnector1">
            <a:avLst/>
          </a:prstGeom>
          <a:noFill/>
          <a:ln w="12700" cap="flat" cmpd="sng">
            <a:solidFill>
              <a:srgbClr val="D9CDB6"/>
            </a:solidFill>
            <a:prstDash val="solid"/>
            <a:round/>
            <a:headEnd type="none" w="sm" len="sm"/>
            <a:tailEnd type="none" w="sm" len="sm"/>
          </a:ln>
        </p:spPr>
      </p:cxnSp>
      <p:sp>
        <p:nvSpPr>
          <p:cNvPr id="207" name="Google Shape;207;p14"/>
          <p:cNvSpPr/>
          <p:nvPr/>
        </p:nvSpPr>
        <p:spPr>
          <a:xfrm>
            <a:off x="812800" y="2443479"/>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208" name="Google Shape;208;p14"/>
          <p:cNvSpPr/>
          <p:nvPr/>
        </p:nvSpPr>
        <p:spPr>
          <a:xfrm>
            <a:off x="1524000" y="2505708"/>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Ask for options</a:t>
            </a:r>
            <a:endParaRPr sz="1500" b="0" i="0" u="none" strike="noStrike" cap="none">
              <a:solidFill>
                <a:schemeClr val="dk1"/>
              </a:solidFill>
              <a:latin typeface="Calibri"/>
              <a:ea typeface="Calibri"/>
              <a:cs typeface="Calibri"/>
              <a:sym typeface="Calibri"/>
            </a:endParaRPr>
          </a:p>
        </p:txBody>
      </p:sp>
      <p:sp>
        <p:nvSpPr>
          <p:cNvPr id="209" name="Google Shape;209;p14"/>
          <p:cNvSpPr/>
          <p:nvPr/>
        </p:nvSpPr>
        <p:spPr>
          <a:xfrm>
            <a:off x="4394200" y="2505708"/>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"Give me ten headlines, from playful to serious."</a:t>
            </a:r>
            <a:endParaRPr sz="1500" b="0" i="0" u="none" strike="noStrike" cap="none">
              <a:solidFill>
                <a:schemeClr val="dk1"/>
              </a:solidFill>
              <a:latin typeface="Calibri"/>
              <a:ea typeface="Calibri"/>
              <a:cs typeface="Calibri"/>
              <a:sym typeface="Calibri"/>
            </a:endParaRPr>
          </a:p>
        </p:txBody>
      </p:sp>
      <p:cxnSp>
        <p:nvCxnSpPr>
          <p:cNvPr id="210" name="Google Shape;210;p14"/>
          <p:cNvCxnSpPr/>
          <p:nvPr/>
        </p:nvCxnSpPr>
        <p:spPr>
          <a:xfrm>
            <a:off x="812800" y="2993392"/>
            <a:ext cx="10566400" cy="0"/>
          </a:xfrm>
          <a:prstGeom prst="straightConnector1">
            <a:avLst/>
          </a:prstGeom>
          <a:noFill/>
          <a:ln w="12700" cap="flat" cmpd="sng">
            <a:solidFill>
              <a:srgbClr val="D9CDB6"/>
            </a:solidFill>
            <a:prstDash val="solid"/>
            <a:round/>
            <a:headEnd type="none" w="sm" len="sm"/>
            <a:tailEnd type="none" w="sm" len="sm"/>
          </a:ln>
        </p:spPr>
      </p:cxnSp>
      <p:sp>
        <p:nvSpPr>
          <p:cNvPr id="211" name="Google Shape;211;p14"/>
          <p:cNvSpPr/>
          <p:nvPr/>
        </p:nvSpPr>
        <p:spPr>
          <a:xfrm>
            <a:off x="812800" y="3152142"/>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212" name="Google Shape;212;p14"/>
          <p:cNvSpPr/>
          <p:nvPr/>
        </p:nvSpPr>
        <p:spPr>
          <a:xfrm>
            <a:off x="1524000" y="3214371"/>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Let it interview you</a:t>
            </a:r>
            <a:endParaRPr sz="1500" b="0" i="0" u="none" strike="noStrike" cap="none">
              <a:solidFill>
                <a:schemeClr val="dk1"/>
              </a:solidFill>
              <a:latin typeface="Calibri"/>
              <a:ea typeface="Calibri"/>
              <a:cs typeface="Calibri"/>
              <a:sym typeface="Calibri"/>
            </a:endParaRPr>
          </a:p>
        </p:txBody>
      </p:sp>
      <p:sp>
        <p:nvSpPr>
          <p:cNvPr id="213" name="Google Shape;213;p14"/>
          <p:cNvSpPr/>
          <p:nvPr/>
        </p:nvSpPr>
        <p:spPr>
          <a:xfrm>
            <a:off x="4394200" y="3214371"/>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"Before you write, ask me three questions."</a:t>
            </a:r>
            <a:endParaRPr sz="1500" b="0" i="0" u="none" strike="noStrike" cap="none">
              <a:solidFill>
                <a:schemeClr val="dk1"/>
              </a:solidFill>
              <a:latin typeface="Calibri"/>
              <a:ea typeface="Calibri"/>
              <a:cs typeface="Calibri"/>
              <a:sym typeface="Calibri"/>
            </a:endParaRPr>
          </a:p>
        </p:txBody>
      </p:sp>
      <p:cxnSp>
        <p:nvCxnSpPr>
          <p:cNvPr id="214" name="Google Shape;214;p14"/>
          <p:cNvCxnSpPr/>
          <p:nvPr/>
        </p:nvCxnSpPr>
        <p:spPr>
          <a:xfrm>
            <a:off x="812800" y="3702050"/>
            <a:ext cx="10566400" cy="0"/>
          </a:xfrm>
          <a:prstGeom prst="straightConnector1">
            <a:avLst/>
          </a:prstGeom>
          <a:noFill/>
          <a:ln w="12700" cap="flat" cmpd="sng">
            <a:solidFill>
              <a:srgbClr val="D9CDB6"/>
            </a:solidFill>
            <a:prstDash val="solid"/>
            <a:round/>
            <a:headEnd type="none" w="sm" len="sm"/>
            <a:tailEnd type="none" w="sm" len="sm"/>
          </a:ln>
        </p:spPr>
      </p:cxnSp>
      <p:sp>
        <p:nvSpPr>
          <p:cNvPr id="215" name="Google Shape;215;p14"/>
          <p:cNvSpPr/>
          <p:nvPr/>
        </p:nvSpPr>
        <p:spPr>
          <a:xfrm>
            <a:off x="812800" y="3860800"/>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216" name="Google Shape;216;p14"/>
          <p:cNvSpPr/>
          <p:nvPr/>
        </p:nvSpPr>
        <p:spPr>
          <a:xfrm>
            <a:off x="1524000" y="3923029"/>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Edit like an editor</a:t>
            </a:r>
            <a:endParaRPr sz="1500" b="0" i="0" u="none" strike="noStrike" cap="none">
              <a:solidFill>
                <a:schemeClr val="dk1"/>
              </a:solidFill>
              <a:latin typeface="Calibri"/>
              <a:ea typeface="Calibri"/>
              <a:cs typeface="Calibri"/>
              <a:sym typeface="Calibri"/>
            </a:endParaRPr>
          </a:p>
        </p:txBody>
      </p:sp>
      <p:sp>
        <p:nvSpPr>
          <p:cNvPr id="217" name="Google Shape;217;p14"/>
          <p:cNvSpPr/>
          <p:nvPr/>
        </p:nvSpPr>
        <p:spPr>
          <a:xfrm>
            <a:off x="4394200" y="3923029"/>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"Shorter. Warmer. Cut the jargon."</a:t>
            </a:r>
            <a:endParaRPr sz="1500" b="0" i="0" u="none" strike="noStrike" cap="none">
              <a:solidFill>
                <a:schemeClr val="dk1"/>
              </a:solidFill>
              <a:latin typeface="Calibri"/>
              <a:ea typeface="Calibri"/>
              <a:cs typeface="Calibri"/>
              <a:sym typeface="Calibri"/>
            </a:endParaRPr>
          </a:p>
        </p:txBody>
      </p:sp>
      <p:cxnSp>
        <p:nvCxnSpPr>
          <p:cNvPr id="218" name="Google Shape;218;p14"/>
          <p:cNvCxnSpPr/>
          <p:nvPr/>
        </p:nvCxnSpPr>
        <p:spPr>
          <a:xfrm>
            <a:off x="812800" y="4410708"/>
            <a:ext cx="10566400" cy="0"/>
          </a:xfrm>
          <a:prstGeom prst="straightConnector1">
            <a:avLst/>
          </a:prstGeom>
          <a:noFill/>
          <a:ln w="12700" cap="flat" cmpd="sng">
            <a:solidFill>
              <a:srgbClr val="D9CDB6"/>
            </a:solidFill>
            <a:prstDash val="solid"/>
            <a:round/>
            <a:headEnd type="none" w="sm" len="sm"/>
            <a:tailEnd type="none" w="sm" len="sm"/>
          </a:ln>
        </p:spPr>
      </p:cxnSp>
      <p:cxnSp>
        <p:nvCxnSpPr>
          <p:cNvPr id="219" name="Google Shape;219;p14"/>
          <p:cNvCxnSpPr/>
          <p:nvPr/>
        </p:nvCxnSpPr>
        <p:spPr>
          <a:xfrm>
            <a:off x="812800" y="5119367"/>
            <a:ext cx="10566400" cy="0"/>
          </a:xfrm>
          <a:prstGeom prst="straightConnector1">
            <a:avLst/>
          </a:prstGeom>
          <a:noFill/>
          <a:ln w="12700" cap="flat" cmpd="sng">
            <a:solidFill>
              <a:srgbClr val="D9CDB6"/>
            </a:solidFill>
            <a:prstDash val="solid"/>
            <a:round/>
            <a:headEnd type="none" w="sm" len="sm"/>
            <a:tailEnd type="none" w="sm" len="sm"/>
          </a:ln>
        </p:spPr>
      </p:cxnSp>
      <p:sp>
        <p:nvSpPr>
          <p:cNvPr id="220" name="Google Shape;220;p14"/>
          <p:cNvSpPr/>
          <p:nvPr/>
        </p:nvSpPr>
        <p:spPr>
          <a:xfrm>
            <a:off x="812800" y="4569458"/>
            <a:ext cx="558800"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5</a:t>
            </a:r>
            <a:endParaRPr sz="2200" b="0" i="0" u="none" strike="noStrike" cap="none">
              <a:solidFill>
                <a:schemeClr val="dk1"/>
              </a:solidFill>
              <a:latin typeface="Calibri"/>
              <a:ea typeface="Calibri"/>
              <a:cs typeface="Calibri"/>
              <a:sym typeface="Calibri"/>
            </a:endParaRPr>
          </a:p>
        </p:txBody>
      </p:sp>
      <p:sp>
        <p:nvSpPr>
          <p:cNvPr id="221" name="Google Shape;221;p14"/>
          <p:cNvSpPr/>
          <p:nvPr/>
        </p:nvSpPr>
        <p:spPr>
          <a:xfrm>
            <a:off x="1524000" y="4631692"/>
            <a:ext cx="274701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500"/>
              <a:buFont typeface="DM Sans"/>
              <a:buNone/>
            </a:pPr>
            <a:r>
              <a:rPr lang="en-US" sz="1500" b="1" i="0" u="none" strike="noStrike" cap="none">
                <a:solidFill>
                  <a:srgbClr val="1E3A2F"/>
                </a:solidFill>
                <a:latin typeface="DM Sans"/>
                <a:ea typeface="DM Sans"/>
                <a:cs typeface="DM Sans"/>
                <a:sym typeface="DM Sans"/>
              </a:rPr>
              <a:t>Ask for a critique</a:t>
            </a:r>
            <a:endParaRPr sz="1500" b="0" i="0" u="none" strike="noStrike" cap="none">
              <a:solidFill>
                <a:schemeClr val="dk1"/>
              </a:solidFill>
              <a:latin typeface="Calibri"/>
              <a:ea typeface="Calibri"/>
              <a:cs typeface="Calibri"/>
              <a:sym typeface="Calibri"/>
            </a:endParaRPr>
          </a:p>
        </p:txBody>
      </p:sp>
      <p:sp>
        <p:nvSpPr>
          <p:cNvPr id="222" name="Google Shape;222;p14"/>
          <p:cNvSpPr/>
          <p:nvPr/>
        </p:nvSpPr>
        <p:spPr>
          <a:xfrm>
            <a:off x="4394200" y="4631692"/>
            <a:ext cx="719455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1" u="none" strike="noStrike" cap="none">
                <a:solidFill>
                  <a:srgbClr val="5B6760"/>
                </a:solidFill>
                <a:latin typeface="DM Sans"/>
                <a:ea typeface="DM Sans"/>
                <a:cs typeface="DM Sans"/>
                <a:sym typeface="DM Sans"/>
              </a:rPr>
              <a:t>"What would a sceptical buyer question in this post?"</a:t>
            </a:r>
            <a:endParaRPr sz="1500" b="0" i="0" u="none" strike="noStrike" cap="none">
              <a:solidFill>
                <a:schemeClr val="dk1"/>
              </a:solidFill>
              <a:latin typeface="Calibri"/>
              <a:ea typeface="Calibri"/>
              <a:cs typeface="Calibri"/>
              <a:sym typeface="Calibri"/>
            </a:endParaRPr>
          </a:p>
        </p:txBody>
      </p:sp>
      <p:sp>
        <p:nvSpPr>
          <p:cNvPr id="223" name="Google Shape;223;p14"/>
          <p:cNvSpPr/>
          <p:nvPr/>
        </p:nvSpPr>
        <p:spPr>
          <a:xfrm>
            <a:off x="812800" y="5379721"/>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The first answer is a first draft. </a:t>
            </a:r>
            <a:r>
              <a:rPr lang="en-US" sz="1500" b="1" i="0" u="none" strike="noStrike" cap="none">
                <a:solidFill>
                  <a:srgbClr val="1F2A24"/>
                </a:solidFill>
                <a:latin typeface="DM Sans"/>
                <a:ea typeface="DM Sans"/>
                <a:cs typeface="DM Sans"/>
                <a:sym typeface="DM Sans"/>
              </a:rPr>
              <a:t>Keep the conversation going.</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6"/>
        </a:solidFill>
        <a:effectLst/>
      </p:bgPr>
    </p:bg>
    <p:spTree>
      <p:nvGrpSpPr>
        <p:cNvPr id="1" name="Shape 228"/>
        <p:cNvGrpSpPr/>
        <p:nvPr/>
      </p:nvGrpSpPr>
      <p:grpSpPr>
        <a:xfrm>
          <a:off x="0" y="0"/>
          <a:ext cx="0" cy="0"/>
          <a:chOff x="0" y="0"/>
          <a:chExt cx="0" cy="0"/>
        </a:xfrm>
      </p:grpSpPr>
      <p:sp>
        <p:nvSpPr>
          <p:cNvPr id="229" name="Google Shape;229;p15"/>
          <p:cNvSpPr/>
          <p:nvPr/>
        </p:nvSpPr>
        <p:spPr>
          <a:xfrm>
            <a:off x="812800" y="812800"/>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Four guardrails for impact brands</a:t>
            </a:r>
            <a:endParaRPr sz="3600" b="0" i="0" u="none" strike="noStrike" cap="none">
              <a:solidFill>
                <a:schemeClr val="dk1"/>
              </a:solidFill>
              <a:latin typeface="Calibri"/>
              <a:ea typeface="Calibri"/>
              <a:cs typeface="Calibri"/>
              <a:sym typeface="Calibri"/>
            </a:endParaRPr>
          </a:p>
        </p:txBody>
      </p:sp>
      <p:sp>
        <p:nvSpPr>
          <p:cNvPr id="230" name="Google Shape;230;p15"/>
          <p:cNvSpPr/>
          <p:nvPr/>
        </p:nvSpPr>
        <p:spPr>
          <a:xfrm>
            <a:off x="815975" y="1623696"/>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1" name="Google Shape;231;p15" descr="Verified"/>
          <p:cNvPicPr preferRelativeResize="0"/>
          <p:nvPr/>
        </p:nvPicPr>
        <p:blipFill rotWithShape="1">
          <a:blip r:embed="rId3">
            <a:alphaModFix/>
          </a:blip>
          <a:srcRect/>
          <a:stretch/>
        </p:blipFill>
        <p:spPr>
          <a:xfrm>
            <a:off x="1073150" y="1896108"/>
            <a:ext cx="304800" cy="304800"/>
          </a:xfrm>
          <a:prstGeom prst="rect">
            <a:avLst/>
          </a:prstGeom>
          <a:noFill/>
          <a:ln>
            <a:noFill/>
          </a:ln>
        </p:spPr>
      </p:pic>
      <p:sp>
        <p:nvSpPr>
          <p:cNvPr id="232" name="Google Shape;232;p15"/>
          <p:cNvSpPr/>
          <p:nvPr/>
        </p:nvSpPr>
        <p:spPr>
          <a:xfrm>
            <a:off x="1504950" y="1880871"/>
            <a:ext cx="2740687"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Check every number</a:t>
            </a:r>
            <a:endParaRPr sz="2200" b="0" i="0" u="none" strike="noStrike" cap="none">
              <a:solidFill>
                <a:schemeClr val="dk1"/>
              </a:solidFill>
              <a:latin typeface="Calibri"/>
              <a:ea typeface="Calibri"/>
              <a:cs typeface="Calibri"/>
              <a:sym typeface="Calibri"/>
            </a:endParaRPr>
          </a:p>
        </p:txBody>
      </p:sp>
      <p:sp>
        <p:nvSpPr>
          <p:cNvPr id="233" name="Google Shape;233;p15"/>
          <p:cNvSpPr/>
          <p:nvPr/>
        </p:nvSpPr>
        <p:spPr>
          <a:xfrm>
            <a:off x="1073150" y="23177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Your impact claims are your credibility. An invented statistic is greenwashing, even by accident.</a:t>
            </a:r>
            <a:endParaRPr sz="1500" b="0" i="0" u="none" strike="noStrike" cap="none">
              <a:solidFill>
                <a:schemeClr val="dk1"/>
              </a:solidFill>
              <a:latin typeface="Calibri"/>
              <a:ea typeface="Calibri"/>
              <a:cs typeface="Calibri"/>
              <a:sym typeface="Calibri"/>
            </a:endParaRPr>
          </a:p>
        </p:txBody>
      </p:sp>
      <p:sp>
        <p:nvSpPr>
          <p:cNvPr id="234" name="Google Shape;234;p15"/>
          <p:cNvSpPr/>
          <p:nvPr/>
        </p:nvSpPr>
        <p:spPr>
          <a:xfrm>
            <a:off x="6200775" y="1623696"/>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5" name="Google Shape;235;p15" descr="Lock"/>
          <p:cNvPicPr preferRelativeResize="0"/>
          <p:nvPr/>
        </p:nvPicPr>
        <p:blipFill rotWithShape="1">
          <a:blip r:embed="rId4">
            <a:alphaModFix/>
          </a:blip>
          <a:srcRect/>
          <a:stretch/>
        </p:blipFill>
        <p:spPr>
          <a:xfrm>
            <a:off x="6457950" y="1896108"/>
            <a:ext cx="304800" cy="304800"/>
          </a:xfrm>
          <a:prstGeom prst="rect">
            <a:avLst/>
          </a:prstGeom>
          <a:noFill/>
          <a:ln>
            <a:noFill/>
          </a:ln>
        </p:spPr>
      </p:pic>
      <p:sp>
        <p:nvSpPr>
          <p:cNvPr id="236" name="Google Shape;236;p15"/>
          <p:cNvSpPr/>
          <p:nvPr/>
        </p:nvSpPr>
        <p:spPr>
          <a:xfrm>
            <a:off x="6889750" y="1880871"/>
            <a:ext cx="1936206"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Protect people</a:t>
            </a:r>
            <a:endParaRPr sz="2200" b="0" i="0" u="none" strike="noStrike" cap="none">
              <a:solidFill>
                <a:schemeClr val="dk1"/>
              </a:solidFill>
              <a:latin typeface="Calibri"/>
              <a:ea typeface="Calibri"/>
              <a:cs typeface="Calibri"/>
              <a:sym typeface="Calibri"/>
            </a:endParaRPr>
          </a:p>
        </p:txBody>
      </p:sp>
      <p:sp>
        <p:nvSpPr>
          <p:cNvPr id="237" name="Google Shape;237;p15"/>
          <p:cNvSpPr/>
          <p:nvPr/>
        </p:nvSpPr>
        <p:spPr>
          <a:xfrm>
            <a:off x="6457950" y="2317750"/>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Keep beneficiary names, photos and donor data out of public AI tools.</a:t>
            </a:r>
            <a:endParaRPr sz="1500" b="0" i="0" u="none" strike="noStrike" cap="none">
              <a:solidFill>
                <a:schemeClr val="dk1"/>
              </a:solidFill>
              <a:latin typeface="Calibri"/>
              <a:ea typeface="Calibri"/>
              <a:cs typeface="Calibri"/>
              <a:sym typeface="Calibri"/>
            </a:endParaRPr>
          </a:p>
        </p:txBody>
      </p:sp>
      <p:sp>
        <p:nvSpPr>
          <p:cNvPr id="238" name="Google Shape;238;p15"/>
          <p:cNvSpPr/>
          <p:nvPr/>
        </p:nvSpPr>
        <p:spPr>
          <a:xfrm>
            <a:off x="815975" y="3317875"/>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15" descr="Chat"/>
          <p:cNvPicPr preferRelativeResize="0"/>
          <p:nvPr/>
        </p:nvPicPr>
        <p:blipFill rotWithShape="1">
          <a:blip r:embed="rId5">
            <a:alphaModFix/>
          </a:blip>
          <a:srcRect/>
          <a:stretch/>
        </p:blipFill>
        <p:spPr>
          <a:xfrm>
            <a:off x="1073150" y="3590292"/>
            <a:ext cx="304800" cy="304800"/>
          </a:xfrm>
          <a:prstGeom prst="rect">
            <a:avLst/>
          </a:prstGeom>
          <a:noFill/>
          <a:ln>
            <a:noFill/>
          </a:ln>
        </p:spPr>
      </p:pic>
      <p:sp>
        <p:nvSpPr>
          <p:cNvPr id="240" name="Google Shape;240;p15"/>
          <p:cNvSpPr/>
          <p:nvPr/>
        </p:nvSpPr>
        <p:spPr>
          <a:xfrm>
            <a:off x="1504950" y="3575050"/>
            <a:ext cx="211628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Keep your voice</a:t>
            </a:r>
            <a:endParaRPr sz="2200" b="0" i="0" u="none" strike="noStrike" cap="none">
              <a:solidFill>
                <a:schemeClr val="dk1"/>
              </a:solidFill>
              <a:latin typeface="Calibri"/>
              <a:ea typeface="Calibri"/>
              <a:cs typeface="Calibri"/>
              <a:sym typeface="Calibri"/>
            </a:endParaRPr>
          </a:p>
        </p:txBody>
      </p:sp>
      <p:sp>
        <p:nvSpPr>
          <p:cNvPr id="241" name="Google Shape;241;p15"/>
          <p:cNvSpPr/>
          <p:nvPr/>
        </p:nvSpPr>
        <p:spPr>
          <a:xfrm>
            <a:off x="1073150" y="40119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Edit until it sounds like you. Your community will notice if it doesn't.</a:t>
            </a:r>
            <a:endParaRPr sz="1500" b="0" i="0" u="none" strike="noStrike" cap="none">
              <a:solidFill>
                <a:schemeClr val="dk1"/>
              </a:solidFill>
              <a:latin typeface="Calibri"/>
              <a:ea typeface="Calibri"/>
              <a:cs typeface="Calibri"/>
              <a:sym typeface="Calibri"/>
            </a:endParaRPr>
          </a:p>
        </p:txBody>
      </p:sp>
      <p:sp>
        <p:nvSpPr>
          <p:cNvPr id="242" name="Google Shape;242;p15"/>
          <p:cNvSpPr/>
          <p:nvPr/>
        </p:nvSpPr>
        <p:spPr>
          <a:xfrm>
            <a:off x="6200775" y="3317875"/>
            <a:ext cx="5175250" cy="1484630"/>
          </a:xfrm>
          <a:prstGeom prst="roundRect">
            <a:avLst>
              <a:gd name="adj" fmla="val 8340"/>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3" name="Google Shape;243;p15" descr="Trust"/>
          <p:cNvPicPr preferRelativeResize="0"/>
          <p:nvPr/>
        </p:nvPicPr>
        <p:blipFill rotWithShape="1">
          <a:blip r:embed="rId6">
            <a:alphaModFix/>
          </a:blip>
          <a:srcRect/>
          <a:stretch/>
        </p:blipFill>
        <p:spPr>
          <a:xfrm>
            <a:off x="6457950" y="3590292"/>
            <a:ext cx="304800" cy="304800"/>
          </a:xfrm>
          <a:prstGeom prst="rect">
            <a:avLst/>
          </a:prstGeom>
          <a:noFill/>
          <a:ln>
            <a:noFill/>
          </a:ln>
        </p:spPr>
      </p:pic>
      <p:sp>
        <p:nvSpPr>
          <p:cNvPr id="244" name="Google Shape;244;p15"/>
          <p:cNvSpPr/>
          <p:nvPr/>
        </p:nvSpPr>
        <p:spPr>
          <a:xfrm>
            <a:off x="6889750" y="3575050"/>
            <a:ext cx="296142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E3A2F"/>
              </a:buClr>
              <a:buSzPts val="2200"/>
              <a:buFont typeface="Fraunces"/>
              <a:buNone/>
            </a:pPr>
            <a:r>
              <a:rPr lang="en-US" sz="2200" b="0" i="0" u="none" strike="noStrike" cap="none">
                <a:solidFill>
                  <a:srgbClr val="1E3A2F"/>
                </a:solidFill>
                <a:latin typeface="Fraunces"/>
                <a:ea typeface="Fraunces"/>
                <a:cs typeface="Fraunces"/>
                <a:sym typeface="Fraunces"/>
              </a:rPr>
              <a:t>Be honest with images</a:t>
            </a:r>
            <a:endParaRPr sz="2200" b="0" i="0" u="none" strike="noStrike" cap="none">
              <a:solidFill>
                <a:schemeClr val="dk1"/>
              </a:solidFill>
              <a:latin typeface="Calibri"/>
              <a:ea typeface="Calibri"/>
              <a:cs typeface="Calibri"/>
              <a:sym typeface="Calibri"/>
            </a:endParaRPr>
          </a:p>
        </p:txBody>
      </p:sp>
      <p:sp>
        <p:nvSpPr>
          <p:cNvPr id="245" name="Google Shape;245;p15"/>
          <p:cNvSpPr/>
          <p:nvPr/>
        </p:nvSpPr>
        <p:spPr>
          <a:xfrm>
            <a:off x="6457950" y="4011929"/>
            <a:ext cx="4800727"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760"/>
              </a:buClr>
              <a:buSzPts val="1500"/>
              <a:buFont typeface="DM Sans"/>
              <a:buNone/>
            </a:pPr>
            <a:r>
              <a:rPr lang="en-US" sz="1500" b="0" i="0" u="none" strike="noStrike" cap="none">
                <a:solidFill>
                  <a:srgbClr val="5B6760"/>
                </a:solidFill>
                <a:latin typeface="DM Sans"/>
                <a:ea typeface="DM Sans"/>
                <a:cs typeface="DM Sans"/>
                <a:sym typeface="DM Sans"/>
              </a:rPr>
              <a:t>Never present AI-made images of </a:t>
            </a:r>
            <a:r>
              <a:rPr lang="en-US" sz="1500">
                <a:solidFill>
                  <a:srgbClr val="5B6760"/>
                </a:solidFill>
                <a:latin typeface="DM Sans"/>
                <a:ea typeface="DM Sans"/>
                <a:cs typeface="DM Sans"/>
                <a:sym typeface="DM Sans"/>
              </a:rPr>
              <a:t>people</a:t>
            </a:r>
            <a:r>
              <a:rPr lang="en-US" sz="1500" b="0" i="0" u="none" strike="noStrike" cap="none">
                <a:solidFill>
                  <a:srgbClr val="5B6760"/>
                </a:solidFill>
                <a:latin typeface="DM Sans"/>
                <a:ea typeface="DM Sans"/>
                <a:cs typeface="DM Sans"/>
                <a:sym typeface="DM Sans"/>
              </a:rPr>
              <a:t>, communities or places as real.</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1E3A2F"/>
        </a:solidFill>
        <a:effectLst/>
      </p:bgPr>
    </p:bg>
    <p:spTree>
      <p:nvGrpSpPr>
        <p:cNvPr id="1" name="Shape 250"/>
        <p:cNvGrpSpPr/>
        <p:nvPr/>
      </p:nvGrpSpPr>
      <p:grpSpPr>
        <a:xfrm>
          <a:off x="0" y="0"/>
          <a:ext cx="0" cy="0"/>
          <a:chOff x="0" y="0"/>
          <a:chExt cx="0" cy="0"/>
        </a:xfrm>
      </p:grpSpPr>
      <p:pic>
        <p:nvPicPr>
          <p:cNvPr id="251" name="Google Shape;251;p16" descr="ellipse"/>
          <p:cNvPicPr preferRelativeResize="0"/>
          <p:nvPr/>
        </p:nvPicPr>
        <p:blipFill rotWithShape="1">
          <a:blip r:embed="rId3">
            <a:alphaModFix/>
          </a:blip>
          <a:srcRect/>
          <a:stretch/>
        </p:blipFill>
        <p:spPr>
          <a:xfrm>
            <a:off x="9398000" y="4064000"/>
            <a:ext cx="1905000" cy="1905000"/>
          </a:xfrm>
          <a:prstGeom prst="rect">
            <a:avLst/>
          </a:prstGeom>
          <a:noFill/>
          <a:ln>
            <a:noFill/>
          </a:ln>
        </p:spPr>
      </p:pic>
      <p:pic>
        <p:nvPicPr>
          <p:cNvPr id="252" name="Google Shape;252;p16" descr="ellipse"/>
          <p:cNvPicPr preferRelativeResize="0"/>
          <p:nvPr/>
        </p:nvPicPr>
        <p:blipFill rotWithShape="1">
          <a:blip r:embed="rId4">
            <a:alphaModFix/>
          </a:blip>
          <a:srcRect/>
          <a:stretch/>
        </p:blipFill>
        <p:spPr>
          <a:xfrm>
            <a:off x="9017000" y="3810000"/>
            <a:ext cx="698500" cy="698500"/>
          </a:xfrm>
          <a:prstGeom prst="rect">
            <a:avLst/>
          </a:prstGeom>
          <a:noFill/>
          <a:ln>
            <a:noFill/>
          </a:ln>
        </p:spPr>
      </p:pic>
      <p:sp>
        <p:nvSpPr>
          <p:cNvPr id="253" name="Google Shape;253;p16"/>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ONE IDEA TO TAKE WITH YOU</a:t>
            </a:r>
            <a:endParaRPr sz="1200" b="0" i="0" u="none" strike="noStrike" cap="none">
              <a:solidFill>
                <a:schemeClr val="dk1"/>
              </a:solidFill>
              <a:latin typeface="Calibri"/>
              <a:ea typeface="Calibri"/>
              <a:cs typeface="Calibri"/>
              <a:sym typeface="Calibri"/>
            </a:endParaRPr>
          </a:p>
        </p:txBody>
      </p:sp>
      <p:sp>
        <p:nvSpPr>
          <p:cNvPr id="254" name="Google Shape;254;p16"/>
          <p:cNvSpPr/>
          <p:nvPr/>
        </p:nvSpPr>
        <p:spPr>
          <a:xfrm>
            <a:off x="812800" y="1874517"/>
            <a:ext cx="9810900" cy="13665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5F0E6"/>
              </a:buClr>
              <a:buSzPts val="4800"/>
              <a:buFont typeface="Fraunces"/>
              <a:buNone/>
            </a:pPr>
            <a:r>
              <a:rPr lang="en-US" sz="4800" b="0" i="0" u="none" strike="noStrike" cap="none">
                <a:solidFill>
                  <a:srgbClr val="F5F0E6"/>
                </a:solidFill>
                <a:latin typeface="Fraunces"/>
                <a:ea typeface="Fraunces"/>
                <a:cs typeface="Fraunces"/>
                <a:sym typeface="Fraunces"/>
              </a:rPr>
              <a:t>When first drafts are free, judgment becomes the scarce skill.</a:t>
            </a:r>
            <a:endParaRPr sz="4800" b="0" i="0" u="none" strike="noStrike" cap="none">
              <a:solidFill>
                <a:schemeClr val="dk1"/>
              </a:solidFill>
              <a:latin typeface="Calibri"/>
              <a:ea typeface="Calibri"/>
              <a:cs typeface="Calibri"/>
              <a:sym typeface="Calibri"/>
            </a:endParaRPr>
          </a:p>
        </p:txBody>
      </p:sp>
      <p:sp>
        <p:nvSpPr>
          <p:cNvPr id="255" name="Google Shape;255;p16"/>
          <p:cNvSpPr/>
          <p:nvPr/>
        </p:nvSpPr>
        <p:spPr>
          <a:xfrm>
            <a:off x="737200" y="5013421"/>
            <a:ext cx="9810900" cy="4167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2200"/>
              <a:buFont typeface="Fraunces"/>
              <a:buNone/>
            </a:pPr>
            <a:r>
              <a:rPr lang="en-US" sz="2200" b="0" i="1" u="none" strike="noStrike" cap="none">
                <a:solidFill>
                  <a:srgbClr val="E3A83E"/>
                </a:solidFill>
                <a:latin typeface="Fraunces"/>
                <a:ea typeface="Fraunces"/>
                <a:cs typeface="Fraunces"/>
                <a:sym typeface="Fraunces"/>
              </a:rPr>
              <a:t>AI drafts. You decide.</a:t>
            </a:r>
            <a:endParaRPr sz="2200" b="0" i="0" u="none" strike="noStrike" cap="none">
              <a:solidFill>
                <a:schemeClr val="dk1"/>
              </a:solidFill>
              <a:latin typeface="Calibri"/>
              <a:ea typeface="Calibri"/>
              <a:cs typeface="Calibri"/>
              <a:sym typeface="Calibri"/>
            </a:endParaRPr>
          </a:p>
        </p:txBody>
      </p:sp>
      <p:pic>
        <p:nvPicPr>
          <p:cNvPr id="256" name="Google Shape;256;p16" descr="Play"/>
          <p:cNvPicPr preferRelativeResize="0"/>
          <p:nvPr/>
        </p:nvPicPr>
        <p:blipFill rotWithShape="1">
          <a:blip r:embed="rId5">
            <a:alphaModFix/>
          </a:blip>
          <a:srcRect/>
          <a:stretch/>
        </p:blipFill>
        <p:spPr>
          <a:xfrm>
            <a:off x="812800" y="5784850"/>
            <a:ext cx="254000" cy="254000"/>
          </a:xfrm>
          <a:prstGeom prst="rect">
            <a:avLst/>
          </a:prstGeom>
          <a:noFill/>
          <a:ln>
            <a:noFill/>
          </a:ln>
        </p:spPr>
      </p:pic>
      <p:sp>
        <p:nvSpPr>
          <p:cNvPr id="257" name="Google Shape;257;p16"/>
          <p:cNvSpPr/>
          <p:nvPr/>
        </p:nvSpPr>
        <p:spPr>
          <a:xfrm>
            <a:off x="1193800" y="5778500"/>
            <a:ext cx="3109354"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0" i="0" u="none" strike="noStrike" cap="none">
                <a:solidFill>
                  <a:srgbClr val="F5F0E6"/>
                </a:solidFill>
                <a:latin typeface="DM Sans"/>
                <a:ea typeface="DM Sans"/>
                <a:cs typeface="DM Sans"/>
                <a:sym typeface="DM Sans"/>
              </a:rPr>
              <a:t>Up next: a live demo, then your turn.</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E3A83E"/>
        </a:solidFill>
        <a:effectLst/>
      </p:bgPr>
    </p:bg>
    <p:spTree>
      <p:nvGrpSpPr>
        <p:cNvPr id="1" name="Shape 262"/>
        <p:cNvGrpSpPr/>
        <p:nvPr/>
      </p:nvGrpSpPr>
      <p:grpSpPr>
        <a:xfrm>
          <a:off x="0" y="0"/>
          <a:ext cx="0" cy="0"/>
          <a:chOff x="0" y="0"/>
          <a:chExt cx="0" cy="0"/>
        </a:xfrm>
      </p:grpSpPr>
      <p:sp>
        <p:nvSpPr>
          <p:cNvPr id="263" name="Google Shape;263;p17"/>
          <p:cNvSpPr/>
          <p:nvPr/>
        </p:nvSpPr>
        <p:spPr>
          <a:xfrm>
            <a:off x="812800" y="1724658"/>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E3A2F"/>
              </a:buClr>
              <a:buSzPts val="1200"/>
              <a:buFont typeface="DM Sans"/>
              <a:buNone/>
            </a:pPr>
            <a:r>
              <a:rPr lang="en-US" sz="1200" b="1" i="0" u="none" strike="noStrike" cap="none">
                <a:solidFill>
                  <a:srgbClr val="1E3A2F"/>
                </a:solidFill>
                <a:latin typeface="DM Sans"/>
                <a:ea typeface="DM Sans"/>
                <a:cs typeface="DM Sans"/>
                <a:sym typeface="DM Sans"/>
              </a:rPr>
              <a:t>LIVE DEMO · WATCH FIRST</a:t>
            </a:r>
            <a:endParaRPr sz="1200" b="0" i="0" u="none" strike="noStrike" cap="none">
              <a:solidFill>
                <a:schemeClr val="dk1"/>
              </a:solidFill>
              <a:latin typeface="Calibri"/>
              <a:ea typeface="Calibri"/>
              <a:cs typeface="Calibri"/>
              <a:sym typeface="Calibri"/>
            </a:endParaRPr>
          </a:p>
        </p:txBody>
      </p:sp>
      <p:sp>
        <p:nvSpPr>
          <p:cNvPr id="264" name="Google Shape;264;p17"/>
          <p:cNvSpPr/>
          <p:nvPr/>
        </p:nvSpPr>
        <p:spPr>
          <a:xfrm>
            <a:off x="812800" y="2192021"/>
            <a:ext cx="10883392" cy="16256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1E3A2F"/>
              </a:buClr>
              <a:buSzPts val="6000"/>
              <a:buFont typeface="Fraunces"/>
              <a:buNone/>
            </a:pPr>
            <a:r>
              <a:rPr lang="en-US" sz="6000" b="0" i="0" u="none" strike="noStrike" cap="none">
                <a:solidFill>
                  <a:srgbClr val="1E3A2F"/>
                </a:solidFill>
                <a:latin typeface="Fraunces"/>
                <a:ea typeface="Fraunces"/>
                <a:cs typeface="Fraunces"/>
                <a:sym typeface="Fraunces"/>
              </a:rPr>
              <a:t>Picker stories:</a:t>
            </a:r>
            <a:endParaRPr sz="6000" b="0" i="0" u="none" strike="noStrike" cap="none">
              <a:solidFill>
                <a:schemeClr val="dk1"/>
              </a:solidFill>
              <a:latin typeface="Calibri"/>
              <a:ea typeface="Calibri"/>
              <a:cs typeface="Calibri"/>
              <a:sym typeface="Calibri"/>
            </a:endParaRPr>
          </a:p>
          <a:p>
            <a:pPr marL="0" marR="0" lvl="0" indent="0" algn="l" rtl="0">
              <a:lnSpc>
                <a:spcPct val="104999"/>
              </a:lnSpc>
              <a:spcBef>
                <a:spcPts val="0"/>
              </a:spcBef>
              <a:spcAft>
                <a:spcPts val="0"/>
              </a:spcAft>
              <a:buClr>
                <a:srgbClr val="1E3A2F"/>
              </a:buClr>
              <a:buSzPts val="6000"/>
              <a:buFont typeface="Fraunces"/>
              <a:buNone/>
            </a:pPr>
            <a:r>
              <a:rPr lang="en-US" sz="6000" b="0" i="0" u="none" strike="noStrike" cap="none">
                <a:solidFill>
                  <a:srgbClr val="1E3A2F"/>
                </a:solidFill>
                <a:latin typeface="Fraunces"/>
                <a:ea typeface="Fraunces"/>
                <a:cs typeface="Fraunces"/>
                <a:sym typeface="Fraunces"/>
              </a:rPr>
              <a:t>Ibu Sari.</a:t>
            </a:r>
            <a:endParaRPr sz="6000" b="0" i="0" u="none" strike="noStrike" cap="none">
              <a:solidFill>
                <a:schemeClr val="dk1"/>
              </a:solidFill>
              <a:latin typeface="Calibri"/>
              <a:ea typeface="Calibri"/>
              <a:cs typeface="Calibri"/>
              <a:sym typeface="Calibri"/>
            </a:endParaRPr>
          </a:p>
        </p:txBody>
      </p:sp>
      <p:sp>
        <p:nvSpPr>
          <p:cNvPr id="265" name="Google Shape;265;p17"/>
          <p:cNvSpPr/>
          <p:nvPr/>
        </p:nvSpPr>
        <p:spPr>
          <a:xfrm>
            <a:off x="812800" y="4178106"/>
            <a:ext cx="9156600" cy="38850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1E3A2F"/>
              </a:buClr>
              <a:buSzPts val="2200"/>
              <a:buFont typeface="DM Sans"/>
              <a:buNone/>
            </a:pPr>
            <a:r>
              <a:rPr lang="en-US" sz="2200" b="0" i="0" u="none" strike="noStrike" cap="none">
                <a:solidFill>
                  <a:srgbClr val="1E3A2F"/>
                </a:solidFill>
                <a:latin typeface="DM Sans"/>
                <a:ea typeface="DM Sans"/>
                <a:cs typeface="DM Sans"/>
                <a:sym typeface="DM Sans"/>
              </a:rPr>
              <a:t>The same four prompts you'll use next. Watch what I type, and what I check.</a:t>
            </a:r>
            <a:endParaRPr sz="2200" b="0" i="0" u="none" strike="noStrike" cap="none">
              <a:solidFill>
                <a:schemeClr val="dk1"/>
              </a:solidFill>
              <a:latin typeface="Calibri"/>
              <a:ea typeface="Calibri"/>
              <a:cs typeface="Calibri"/>
              <a:sym typeface="Calibri"/>
            </a:endParaRPr>
          </a:p>
        </p:txBody>
      </p:sp>
      <p:sp>
        <p:nvSpPr>
          <p:cNvPr id="266" name="Google Shape;266;p17"/>
          <p:cNvSpPr/>
          <p:nvPr/>
        </p:nvSpPr>
        <p:spPr>
          <a:xfrm>
            <a:off x="812800" y="5495042"/>
            <a:ext cx="1319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1 · Caption</a:t>
            </a:r>
            <a:endParaRPr sz="1500" b="0" i="0" u="none" strike="noStrike" cap="none">
              <a:solidFill>
                <a:schemeClr val="dk1"/>
              </a:solidFill>
              <a:latin typeface="Calibri"/>
              <a:ea typeface="Calibri"/>
              <a:cs typeface="Calibri"/>
              <a:sym typeface="Calibri"/>
            </a:endParaRPr>
          </a:p>
        </p:txBody>
      </p:sp>
      <p:sp>
        <p:nvSpPr>
          <p:cNvPr id="267" name="Google Shape;267;p17"/>
          <p:cNvSpPr/>
          <p:nvPr/>
        </p:nvSpPr>
        <p:spPr>
          <a:xfrm>
            <a:off x="2284413" y="5495042"/>
            <a:ext cx="16035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2 · Video plan</a:t>
            </a:r>
            <a:endParaRPr sz="1500" b="0" i="0" u="none" strike="noStrike" cap="none">
              <a:solidFill>
                <a:schemeClr val="dk1"/>
              </a:solidFill>
              <a:latin typeface="Calibri"/>
              <a:ea typeface="Calibri"/>
              <a:cs typeface="Calibri"/>
              <a:sym typeface="Calibri"/>
            </a:endParaRPr>
          </a:p>
        </p:txBody>
      </p:sp>
      <p:sp>
        <p:nvSpPr>
          <p:cNvPr id="268" name="Google Shape;268;p17"/>
          <p:cNvSpPr/>
          <p:nvPr/>
        </p:nvSpPr>
        <p:spPr>
          <a:xfrm>
            <a:off x="4040399" y="5495042"/>
            <a:ext cx="1493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3 · Hashtags</a:t>
            </a:r>
            <a:endParaRPr sz="1500" b="0" i="0" u="none" strike="noStrike" cap="none">
              <a:solidFill>
                <a:schemeClr val="dk1"/>
              </a:solidFill>
              <a:latin typeface="Calibri"/>
              <a:ea typeface="Calibri"/>
              <a:cs typeface="Calibri"/>
              <a:sym typeface="Calibri"/>
            </a:endParaRPr>
          </a:p>
        </p:txBody>
      </p:sp>
      <p:sp>
        <p:nvSpPr>
          <p:cNvPr id="269" name="Google Shape;269;p17"/>
          <p:cNvSpPr/>
          <p:nvPr/>
        </p:nvSpPr>
        <p:spPr>
          <a:xfrm>
            <a:off x="5685896" y="5495042"/>
            <a:ext cx="2108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4 · Three variations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274"/>
        <p:cNvGrpSpPr/>
        <p:nvPr/>
      </p:nvGrpSpPr>
      <p:grpSpPr>
        <a:xfrm>
          <a:off x="0" y="0"/>
          <a:ext cx="0" cy="0"/>
          <a:chOff x="0" y="0"/>
          <a:chExt cx="0" cy="0"/>
        </a:xfrm>
      </p:grpSpPr>
      <p:sp>
        <p:nvSpPr>
          <p:cNvPr id="275" name="Google Shape;275;p18"/>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THE BRIEF</a:t>
            </a:r>
            <a:endParaRPr sz="1200" b="0" i="0" u="none" strike="noStrike" cap="none">
              <a:solidFill>
                <a:schemeClr val="dk1"/>
              </a:solidFill>
              <a:latin typeface="Calibri"/>
              <a:ea typeface="Calibri"/>
              <a:cs typeface="Calibri"/>
              <a:sym typeface="Calibri"/>
            </a:endParaRPr>
          </a:p>
        </p:txBody>
      </p:sp>
      <p:sp>
        <p:nvSpPr>
          <p:cNvPr id="276" name="Google Shape;276;p18"/>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Meet Ibu Sari</a:t>
            </a:r>
            <a:endParaRPr sz="3600" b="0" i="0" u="none" strike="noStrike" cap="none">
              <a:solidFill>
                <a:schemeClr val="dk1"/>
              </a:solidFill>
              <a:latin typeface="Calibri"/>
              <a:ea typeface="Calibri"/>
              <a:cs typeface="Calibri"/>
              <a:sym typeface="Calibri"/>
            </a:endParaRPr>
          </a:p>
        </p:txBody>
      </p:sp>
      <p:cxnSp>
        <p:nvCxnSpPr>
          <p:cNvPr id="277" name="Google Shape;277;p18"/>
          <p:cNvCxnSpPr/>
          <p:nvPr/>
        </p:nvCxnSpPr>
        <p:spPr>
          <a:xfrm>
            <a:off x="812800" y="2043429"/>
            <a:ext cx="6350000" cy="0"/>
          </a:xfrm>
          <a:prstGeom prst="straightConnector1">
            <a:avLst/>
          </a:prstGeom>
          <a:noFill/>
          <a:ln w="12700" cap="flat" cmpd="sng">
            <a:solidFill>
              <a:srgbClr val="D9CDB6"/>
            </a:solidFill>
            <a:prstDash val="solid"/>
            <a:round/>
            <a:headEnd type="none" w="sm" len="sm"/>
            <a:tailEnd type="none" w="sm" len="sm"/>
          </a:ln>
        </p:spPr>
      </p:cxnSp>
      <p:sp>
        <p:nvSpPr>
          <p:cNvPr id="278" name="Google Shape;278;p18"/>
          <p:cNvSpPr/>
          <p:nvPr/>
        </p:nvSpPr>
        <p:spPr>
          <a:xfrm>
            <a:off x="812800" y="21386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WHO</a:t>
            </a:r>
            <a:endParaRPr sz="1200" b="0" i="0" u="none" strike="noStrike" cap="none">
              <a:solidFill>
                <a:schemeClr val="dk1"/>
              </a:solidFill>
              <a:latin typeface="Calibri"/>
              <a:ea typeface="Calibri"/>
              <a:cs typeface="Calibri"/>
              <a:sym typeface="Calibri"/>
            </a:endParaRPr>
          </a:p>
        </p:txBody>
      </p:sp>
      <p:sp>
        <p:nvSpPr>
          <p:cNvPr id="279" name="Google Shape;279;p18"/>
          <p:cNvSpPr/>
          <p:nvPr/>
        </p:nvSpPr>
        <p:spPr>
          <a:xfrm>
            <a:off x="2413000" y="21386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Ibu Sari, waste picker at Hub 2, Cimahi</a:t>
            </a:r>
            <a:endParaRPr sz="1500" b="0" i="0" u="none" strike="noStrike" cap="none">
              <a:solidFill>
                <a:schemeClr val="dk1"/>
              </a:solidFill>
              <a:latin typeface="Calibri"/>
              <a:ea typeface="Calibri"/>
              <a:cs typeface="Calibri"/>
              <a:sym typeface="Calibri"/>
            </a:endParaRPr>
          </a:p>
        </p:txBody>
      </p:sp>
      <p:cxnSp>
        <p:nvCxnSpPr>
          <p:cNvPr id="280" name="Google Shape;280;p18"/>
          <p:cNvCxnSpPr/>
          <p:nvPr/>
        </p:nvCxnSpPr>
        <p:spPr>
          <a:xfrm>
            <a:off x="812800" y="2500629"/>
            <a:ext cx="6350000" cy="0"/>
          </a:xfrm>
          <a:prstGeom prst="straightConnector1">
            <a:avLst/>
          </a:prstGeom>
          <a:noFill/>
          <a:ln w="12700" cap="flat" cmpd="sng">
            <a:solidFill>
              <a:srgbClr val="D9CDB6"/>
            </a:solidFill>
            <a:prstDash val="solid"/>
            <a:round/>
            <a:headEnd type="none" w="sm" len="sm"/>
            <a:tailEnd type="none" w="sm" len="sm"/>
          </a:ln>
        </p:spPr>
      </p:cxnSp>
      <p:sp>
        <p:nvSpPr>
          <p:cNvPr id="281" name="Google Shape;281;p18"/>
          <p:cNvSpPr/>
          <p:nvPr/>
        </p:nvSpPr>
        <p:spPr>
          <a:xfrm>
            <a:off x="812800" y="25958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HER WORK</a:t>
            </a:r>
            <a:endParaRPr sz="1200" b="0" i="0" u="none" strike="noStrike" cap="none">
              <a:solidFill>
                <a:schemeClr val="dk1"/>
              </a:solidFill>
              <a:latin typeface="Calibri"/>
              <a:ea typeface="Calibri"/>
              <a:cs typeface="Calibri"/>
              <a:sym typeface="Calibri"/>
            </a:endParaRPr>
          </a:p>
        </p:txBody>
      </p:sp>
      <p:sp>
        <p:nvSpPr>
          <p:cNvPr id="282" name="Google Shape;282;p18"/>
          <p:cNvSpPr/>
          <p:nvPr/>
        </p:nvSpPr>
        <p:spPr>
          <a:xfrm>
            <a:off x="2413000" y="25958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Picking since 2018 · sorts 200 kg of plastic a day</a:t>
            </a:r>
            <a:endParaRPr sz="1500" b="0" i="0" u="none" strike="noStrike" cap="none">
              <a:solidFill>
                <a:schemeClr val="dk1"/>
              </a:solidFill>
              <a:latin typeface="Calibri"/>
              <a:ea typeface="Calibri"/>
              <a:cs typeface="Calibri"/>
              <a:sym typeface="Calibri"/>
            </a:endParaRPr>
          </a:p>
        </p:txBody>
      </p:sp>
      <p:cxnSp>
        <p:nvCxnSpPr>
          <p:cNvPr id="283" name="Google Shape;283;p18"/>
          <p:cNvCxnSpPr/>
          <p:nvPr/>
        </p:nvCxnSpPr>
        <p:spPr>
          <a:xfrm>
            <a:off x="812800" y="2957829"/>
            <a:ext cx="6350000" cy="0"/>
          </a:xfrm>
          <a:prstGeom prst="straightConnector1">
            <a:avLst/>
          </a:prstGeom>
          <a:noFill/>
          <a:ln w="12700" cap="flat" cmpd="sng">
            <a:solidFill>
              <a:srgbClr val="D9CDB6"/>
            </a:solidFill>
            <a:prstDash val="solid"/>
            <a:round/>
            <a:headEnd type="none" w="sm" len="sm"/>
            <a:tailEnd type="none" w="sm" len="sm"/>
          </a:ln>
        </p:spPr>
      </p:cxnSp>
      <p:sp>
        <p:nvSpPr>
          <p:cNvPr id="284" name="Google Shape;284;p18"/>
          <p:cNvSpPr/>
          <p:nvPr/>
        </p:nvSpPr>
        <p:spPr>
          <a:xfrm>
            <a:off x="812800" y="30530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BEFORE</a:t>
            </a:r>
            <a:endParaRPr sz="1200" b="0" i="0" u="none" strike="noStrike" cap="none">
              <a:solidFill>
                <a:schemeClr val="dk1"/>
              </a:solidFill>
              <a:latin typeface="Calibri"/>
              <a:ea typeface="Calibri"/>
              <a:cs typeface="Calibri"/>
              <a:sym typeface="Calibri"/>
            </a:endParaRPr>
          </a:p>
        </p:txBody>
      </p:sp>
      <p:sp>
        <p:nvSpPr>
          <p:cNvPr id="285" name="Google Shape;285;p18"/>
          <p:cNvSpPr/>
          <p:nvPr/>
        </p:nvSpPr>
        <p:spPr>
          <a:xfrm>
            <a:off x="2413000" y="30530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“I sold to whoever paid a little more that day.”</a:t>
            </a:r>
            <a:endParaRPr sz="1500" b="0" i="0" u="none" strike="noStrike" cap="none">
              <a:solidFill>
                <a:schemeClr val="dk1"/>
              </a:solidFill>
              <a:latin typeface="Calibri"/>
              <a:ea typeface="Calibri"/>
              <a:cs typeface="Calibri"/>
              <a:sym typeface="Calibri"/>
            </a:endParaRPr>
          </a:p>
        </p:txBody>
      </p:sp>
      <p:cxnSp>
        <p:nvCxnSpPr>
          <p:cNvPr id="286" name="Google Shape;286;p18"/>
          <p:cNvCxnSpPr/>
          <p:nvPr/>
        </p:nvCxnSpPr>
        <p:spPr>
          <a:xfrm>
            <a:off x="812800" y="3415029"/>
            <a:ext cx="6350000" cy="0"/>
          </a:xfrm>
          <a:prstGeom prst="straightConnector1">
            <a:avLst/>
          </a:prstGeom>
          <a:noFill/>
          <a:ln w="12700" cap="flat" cmpd="sng">
            <a:solidFill>
              <a:srgbClr val="D9CDB6"/>
            </a:solidFill>
            <a:prstDash val="solid"/>
            <a:round/>
            <a:headEnd type="none" w="sm" len="sm"/>
            <a:tailEnd type="none" w="sm" len="sm"/>
          </a:ln>
        </p:spPr>
      </p:cxnSp>
      <p:sp>
        <p:nvSpPr>
          <p:cNvPr id="287" name="Google Shape;287;p18"/>
          <p:cNvSpPr/>
          <p:nvPr/>
        </p:nvSpPr>
        <p:spPr>
          <a:xfrm>
            <a:off x="812800" y="35102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NOW</a:t>
            </a:r>
            <a:endParaRPr sz="1200" b="0" i="0" u="none" strike="noStrike" cap="none">
              <a:solidFill>
                <a:schemeClr val="dk1"/>
              </a:solidFill>
              <a:latin typeface="Calibri"/>
              <a:ea typeface="Calibri"/>
              <a:cs typeface="Calibri"/>
              <a:sym typeface="Calibri"/>
            </a:endParaRPr>
          </a:p>
        </p:txBody>
      </p:sp>
      <p:sp>
        <p:nvSpPr>
          <p:cNvPr id="288" name="Google Shape;288;p18"/>
          <p:cNvSpPr/>
          <p:nvPr/>
        </p:nvSpPr>
        <p:spPr>
          <a:xfrm>
            <a:off x="2413000" y="3510279"/>
            <a:ext cx="483997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Registered, weighed on a public scale, paid fair-trade rates the same day</a:t>
            </a:r>
            <a:endParaRPr sz="1500" b="0" i="0" u="none" strike="noStrike" cap="none">
              <a:solidFill>
                <a:schemeClr val="dk1"/>
              </a:solidFill>
              <a:latin typeface="Calibri"/>
              <a:ea typeface="Calibri"/>
              <a:cs typeface="Calibri"/>
              <a:sym typeface="Calibri"/>
            </a:endParaRPr>
          </a:p>
        </p:txBody>
      </p:sp>
      <p:cxnSp>
        <p:nvCxnSpPr>
          <p:cNvPr id="289" name="Google Shape;289;p18"/>
          <p:cNvCxnSpPr/>
          <p:nvPr/>
        </p:nvCxnSpPr>
        <p:spPr>
          <a:xfrm>
            <a:off x="812800" y="4138929"/>
            <a:ext cx="6350000" cy="0"/>
          </a:xfrm>
          <a:prstGeom prst="straightConnector1">
            <a:avLst/>
          </a:prstGeom>
          <a:noFill/>
          <a:ln w="12700" cap="flat" cmpd="sng">
            <a:solidFill>
              <a:srgbClr val="D9CDB6"/>
            </a:solidFill>
            <a:prstDash val="solid"/>
            <a:round/>
            <a:headEnd type="none" w="sm" len="sm"/>
            <a:tailEnd type="none" w="sm" len="sm"/>
          </a:ln>
        </p:spPr>
      </p:cxnSp>
      <p:sp>
        <p:nvSpPr>
          <p:cNvPr id="290" name="Google Shape;290;p18"/>
          <p:cNvSpPr/>
          <p:nvPr/>
        </p:nvSpPr>
        <p:spPr>
          <a:xfrm>
            <a:off x="812800" y="42341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IN HER WORDS</a:t>
            </a:r>
            <a:endParaRPr sz="1200" b="0" i="0" u="none" strike="noStrike" cap="none">
              <a:solidFill>
                <a:schemeClr val="dk1"/>
              </a:solidFill>
              <a:latin typeface="Calibri"/>
              <a:ea typeface="Calibri"/>
              <a:cs typeface="Calibri"/>
              <a:sym typeface="Calibri"/>
            </a:endParaRPr>
          </a:p>
        </p:txBody>
      </p:sp>
      <p:sp>
        <p:nvSpPr>
          <p:cNvPr id="291" name="Google Shape;291;p18"/>
          <p:cNvSpPr/>
          <p:nvPr/>
        </p:nvSpPr>
        <p:spPr>
          <a:xfrm>
            <a:off x="2413000" y="4234179"/>
            <a:ext cx="483997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“My children can plan now. That's the difference.”</a:t>
            </a:r>
            <a:endParaRPr sz="1500" b="0" i="0" u="none" strike="noStrike" cap="none">
              <a:solidFill>
                <a:schemeClr val="dk1"/>
              </a:solidFill>
              <a:latin typeface="Calibri"/>
              <a:ea typeface="Calibri"/>
              <a:cs typeface="Calibri"/>
              <a:sym typeface="Calibri"/>
            </a:endParaRPr>
          </a:p>
        </p:txBody>
      </p:sp>
      <p:cxnSp>
        <p:nvCxnSpPr>
          <p:cNvPr id="292" name="Google Shape;292;p18"/>
          <p:cNvCxnSpPr/>
          <p:nvPr/>
        </p:nvCxnSpPr>
        <p:spPr>
          <a:xfrm>
            <a:off x="812800" y="4596129"/>
            <a:ext cx="6350000" cy="0"/>
          </a:xfrm>
          <a:prstGeom prst="straightConnector1">
            <a:avLst/>
          </a:prstGeom>
          <a:noFill/>
          <a:ln w="12700" cap="flat" cmpd="sng">
            <a:solidFill>
              <a:srgbClr val="D9CDB6"/>
            </a:solidFill>
            <a:prstDash val="solid"/>
            <a:round/>
            <a:headEnd type="none" w="sm" len="sm"/>
            <a:tailEnd type="none" w="sm" len="sm"/>
          </a:ln>
        </p:spPr>
      </p:cxnSp>
      <p:cxnSp>
        <p:nvCxnSpPr>
          <p:cNvPr id="293" name="Google Shape;293;p18"/>
          <p:cNvCxnSpPr/>
          <p:nvPr/>
        </p:nvCxnSpPr>
        <p:spPr>
          <a:xfrm>
            <a:off x="812800" y="5320029"/>
            <a:ext cx="6350000" cy="0"/>
          </a:xfrm>
          <a:prstGeom prst="straightConnector1">
            <a:avLst/>
          </a:prstGeom>
          <a:noFill/>
          <a:ln w="12700" cap="flat" cmpd="sng">
            <a:solidFill>
              <a:srgbClr val="D9CDB6"/>
            </a:solidFill>
            <a:prstDash val="solid"/>
            <a:round/>
            <a:headEnd type="none" w="sm" len="sm"/>
            <a:tailEnd type="none" w="sm" len="sm"/>
          </a:ln>
        </p:spPr>
      </p:cxnSp>
      <p:sp>
        <p:nvSpPr>
          <p:cNvPr id="294" name="Google Shape;294;p18"/>
          <p:cNvSpPr/>
          <p:nvPr/>
        </p:nvSpPr>
        <p:spPr>
          <a:xfrm>
            <a:off x="812800" y="4691379"/>
            <a:ext cx="1447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NETWORK</a:t>
            </a:r>
            <a:endParaRPr sz="1200" b="0" i="0" u="none" strike="noStrike" cap="none">
              <a:solidFill>
                <a:schemeClr val="dk1"/>
              </a:solidFill>
              <a:latin typeface="Calibri"/>
              <a:ea typeface="Calibri"/>
              <a:cs typeface="Calibri"/>
              <a:sym typeface="Calibri"/>
            </a:endParaRPr>
          </a:p>
        </p:txBody>
      </p:sp>
      <p:sp>
        <p:nvSpPr>
          <p:cNvPr id="295" name="Google Shape;295;p18"/>
          <p:cNvSpPr/>
          <p:nvPr/>
        </p:nvSpPr>
        <p:spPr>
          <a:xfrm>
            <a:off x="2413000" y="4691379"/>
            <a:ext cx="483997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One of 3,500 pickers registered with LoopCycle Nusantara</a:t>
            </a:r>
            <a:endParaRPr sz="1500" b="0" i="0" u="none" strike="noStrike" cap="none">
              <a:solidFill>
                <a:schemeClr val="dk1"/>
              </a:solidFill>
              <a:latin typeface="Calibri"/>
              <a:ea typeface="Calibri"/>
              <a:cs typeface="Calibri"/>
              <a:sym typeface="Calibri"/>
            </a:endParaRPr>
          </a:p>
        </p:txBody>
      </p:sp>
      <p:sp>
        <p:nvSpPr>
          <p:cNvPr id="296" name="Google Shape;296;p18"/>
          <p:cNvSpPr/>
          <p:nvPr/>
        </p:nvSpPr>
        <p:spPr>
          <a:xfrm>
            <a:off x="7467600" y="2037079"/>
            <a:ext cx="3911600" cy="3289300"/>
          </a:xfrm>
          <a:prstGeom prst="roundRect">
            <a:avLst>
              <a:gd name="adj" fmla="val 4633"/>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8"/>
          <p:cNvSpPr/>
          <p:nvPr/>
        </p:nvSpPr>
        <p:spPr>
          <a:xfrm>
            <a:off x="7721600" y="2291079"/>
            <a:ext cx="350570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REEL IDEA</a:t>
            </a:r>
            <a:endParaRPr sz="1200" b="0" i="0" u="none" strike="noStrike" cap="none">
              <a:solidFill>
                <a:schemeClr val="dk1"/>
              </a:solidFill>
              <a:latin typeface="Calibri"/>
              <a:ea typeface="Calibri"/>
              <a:cs typeface="Calibri"/>
              <a:sym typeface="Calibri"/>
            </a:endParaRPr>
          </a:p>
        </p:txBody>
      </p:sp>
      <p:sp>
        <p:nvSpPr>
          <p:cNvPr id="298" name="Google Shape;298;p18"/>
          <p:cNvSpPr/>
          <p:nvPr/>
        </p:nvSpPr>
        <p:spPr>
          <a:xfrm>
            <a:off x="7721600" y="2631442"/>
            <a:ext cx="35057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A portrait interview.</a:t>
            </a:r>
            <a:endParaRPr sz="2200" b="0" i="0" u="none" strike="noStrike" cap="none">
              <a:solidFill>
                <a:schemeClr val="dk1"/>
              </a:solidFill>
              <a:latin typeface="Calibri"/>
              <a:ea typeface="Calibri"/>
              <a:cs typeface="Calibri"/>
              <a:sym typeface="Calibri"/>
            </a:endParaRPr>
          </a:p>
        </p:txBody>
      </p:sp>
      <p:sp>
        <p:nvSpPr>
          <p:cNvPr id="299" name="Google Shape;299;p18"/>
          <p:cNvSpPr/>
          <p:nvPr/>
        </p:nvSpPr>
        <p:spPr>
          <a:xfrm>
            <a:off x="7721600" y="3093721"/>
            <a:ext cx="3505708"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0" i="0" u="none" strike="noStrike" cap="none">
                <a:solidFill>
                  <a:srgbClr val="CFD8CF"/>
                </a:solidFill>
                <a:latin typeface="DM Sans"/>
                <a:ea typeface="DM Sans"/>
                <a:cs typeface="DM Sans"/>
                <a:sym typeface="DM Sans"/>
              </a:rPr>
              <a:t>Ibu Sari at her sorting table. Natural light, handheld, warm and unhurried. Subtitles on.</a:t>
            </a:r>
            <a:endParaRPr sz="1500" b="0" i="0" u="none" strike="noStrike" cap="none">
              <a:solidFill>
                <a:schemeClr val="dk1"/>
              </a:solidFill>
              <a:latin typeface="Calibri"/>
              <a:ea typeface="Calibri"/>
              <a:cs typeface="Calibri"/>
              <a:sym typeface="Calibri"/>
            </a:endParaRPr>
          </a:p>
        </p:txBody>
      </p:sp>
      <p:sp>
        <p:nvSpPr>
          <p:cNvPr id="300" name="Google Shape;300;p18"/>
          <p:cNvSpPr/>
          <p:nvPr/>
        </p:nvSpPr>
        <p:spPr>
          <a:xfrm>
            <a:off x="7721600" y="4615179"/>
            <a:ext cx="350570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Instagram Reel · about </a:t>
            </a:r>
            <a:r>
              <a:rPr lang="en-US" sz="1200">
                <a:solidFill>
                  <a:srgbClr val="E3A83E"/>
                </a:solidFill>
                <a:latin typeface="DM Sans"/>
                <a:ea typeface="DM Sans"/>
                <a:cs typeface="DM Sans"/>
                <a:sym typeface="DM Sans"/>
              </a:rPr>
              <a:t>10</a:t>
            </a:r>
            <a:r>
              <a:rPr lang="en-US" sz="1200" b="0" i="0" u="none" strike="noStrike" cap="none">
                <a:solidFill>
                  <a:srgbClr val="E3A83E"/>
                </a:solidFill>
                <a:latin typeface="DM Sans"/>
                <a:ea typeface="DM Sans"/>
                <a:cs typeface="DM Sans"/>
                <a:sym typeface="DM Sans"/>
              </a:rPr>
              <a:t> seconds</a:t>
            </a:r>
            <a:endParaRPr sz="12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Real footage of a real person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305"/>
        <p:cNvGrpSpPr/>
        <p:nvPr/>
      </p:nvGrpSpPr>
      <p:grpSpPr>
        <a:xfrm>
          <a:off x="0" y="0"/>
          <a:ext cx="0" cy="0"/>
          <a:chOff x="0" y="0"/>
          <a:chExt cx="0" cy="0"/>
        </a:xfrm>
      </p:grpSpPr>
      <p:sp>
        <p:nvSpPr>
          <p:cNvPr id="306" name="Google Shape;306;p19"/>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1 OF 4</a:t>
            </a:r>
            <a:endParaRPr sz="1200" b="0" i="0" u="none" strike="noStrike" cap="none">
              <a:solidFill>
                <a:schemeClr val="dk1"/>
              </a:solidFill>
              <a:latin typeface="Calibri"/>
              <a:ea typeface="Calibri"/>
              <a:cs typeface="Calibri"/>
              <a:sym typeface="Calibri"/>
            </a:endParaRPr>
          </a:p>
        </p:txBody>
      </p:sp>
      <p:sp>
        <p:nvSpPr>
          <p:cNvPr id="307" name="Google Shape;307;p19"/>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Write the caption and on-screen text</a:t>
            </a:r>
            <a:endParaRPr sz="3600" b="0" i="0" u="none" strike="noStrike" cap="none">
              <a:solidFill>
                <a:schemeClr val="dk1"/>
              </a:solidFill>
              <a:latin typeface="Calibri"/>
              <a:ea typeface="Calibri"/>
              <a:cs typeface="Calibri"/>
              <a:sym typeface="Calibri"/>
            </a:endParaRPr>
          </a:p>
        </p:txBody>
      </p:sp>
      <p:sp>
        <p:nvSpPr>
          <p:cNvPr id="308" name="Google Shape;308;p19"/>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09" name="Google Shape;309;p19"/>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New chat. Paste the prompt, then the Ibu Sari brief.</a:t>
            </a:r>
            <a:endParaRPr sz="1500" b="0" i="0" u="none" strike="noStrike" cap="none">
              <a:solidFill>
                <a:schemeClr val="dk1"/>
              </a:solidFill>
              <a:latin typeface="Calibri"/>
              <a:ea typeface="Calibri"/>
              <a:cs typeface="Calibri"/>
              <a:sym typeface="Calibri"/>
            </a:endParaRPr>
          </a:p>
        </p:txBody>
      </p:sp>
      <p:sp>
        <p:nvSpPr>
          <p:cNvPr id="310" name="Google Shape;310;p19"/>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11" name="Google Shape;311;p19"/>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Read the first draft aloud. Does it sound like us?</a:t>
            </a:r>
            <a:endParaRPr sz="1500" b="0" i="0" u="none" strike="noStrike" cap="none">
              <a:solidFill>
                <a:schemeClr val="dk1"/>
              </a:solidFill>
              <a:latin typeface="Calibri"/>
              <a:ea typeface="Calibri"/>
              <a:cs typeface="Calibri"/>
              <a:sym typeface="Calibri"/>
            </a:endParaRPr>
          </a:p>
        </p:txBody>
      </p:sp>
      <p:sp>
        <p:nvSpPr>
          <p:cNvPr id="312" name="Google Shape;312;p19"/>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13" name="Google Shape;313;p19"/>
          <p:cNvSpPr/>
          <p:nvPr/>
        </p:nvSpPr>
        <p:spPr>
          <a:xfrm>
            <a:off x="1244600" y="34594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“Less about us, more about her.”</a:t>
            </a:r>
            <a:endParaRPr sz="1500" b="0" i="0" u="none" strike="noStrike" cap="none">
              <a:solidFill>
                <a:schemeClr val="dk1"/>
              </a:solidFill>
              <a:latin typeface="Calibri"/>
              <a:ea typeface="Calibri"/>
              <a:cs typeface="Calibri"/>
              <a:sym typeface="Calibri"/>
            </a:endParaRPr>
          </a:p>
        </p:txBody>
      </p:sp>
      <p:sp>
        <p:nvSpPr>
          <p:cNvPr id="314" name="Google Shape;314;p19"/>
          <p:cNvSpPr/>
          <p:nvPr/>
        </p:nvSpPr>
        <p:spPr>
          <a:xfrm>
            <a:off x="812800" y="3916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15" name="Google Shape;315;p19"/>
          <p:cNvSpPr/>
          <p:nvPr/>
        </p:nvSpPr>
        <p:spPr>
          <a:xfrm>
            <a:off x="1244600" y="3916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every number and quote matches the brief, word for word.</a:t>
            </a:r>
            <a:endParaRPr sz="1500" b="0" i="0" u="none" strike="noStrike" cap="none">
              <a:solidFill>
                <a:schemeClr val="dk1"/>
              </a:solidFill>
              <a:latin typeface="Calibri"/>
              <a:ea typeface="Calibri"/>
              <a:cs typeface="Calibri"/>
              <a:sym typeface="Calibri"/>
            </a:endParaRPr>
          </a:p>
        </p:txBody>
      </p:sp>
      <p:sp>
        <p:nvSpPr>
          <p:cNvPr id="316" name="Google Shape;316;p19"/>
          <p:cNvSpPr/>
          <p:nvPr/>
        </p:nvSpPr>
        <p:spPr>
          <a:xfrm>
            <a:off x="5054600" y="2037075"/>
            <a:ext cx="6324600" cy="401070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18" name="Google Shape;318;p19"/>
          <p:cNvSpPr/>
          <p:nvPr/>
        </p:nvSpPr>
        <p:spPr>
          <a:xfrm>
            <a:off x="5308600" y="2631452"/>
            <a:ext cx="5991000" cy="32211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You are the social media writer for LoopCycle Nusantara, an Indonesian social enterprise that works with registered waste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the text for an Instagram reel about one of our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1. A caption: a hook, two short paragraphs, then a question that invites comments. Under 100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2. Three lines of on-screen text: an opening hook, a middle line and an end card.</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Tone: warm and respectful. She is the hero, not us. Use only the facts and quotes below, and never change her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[Paste the Ibu Sari brief]</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323"/>
        <p:cNvGrpSpPr/>
        <p:nvPr/>
      </p:nvGrpSpPr>
      <p:grpSpPr>
        <a:xfrm>
          <a:off x="0" y="0"/>
          <a:ext cx="0" cy="0"/>
          <a:chOff x="0" y="0"/>
          <a:chExt cx="0" cy="0"/>
        </a:xfrm>
      </p:grpSpPr>
      <p:sp>
        <p:nvSpPr>
          <p:cNvPr id="324" name="Google Shape;324;p20"/>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2 OF 4</a:t>
            </a:r>
            <a:endParaRPr sz="1200" b="0" i="0" u="none" strike="noStrike" cap="none">
              <a:solidFill>
                <a:schemeClr val="dk1"/>
              </a:solidFill>
              <a:latin typeface="Calibri"/>
              <a:ea typeface="Calibri"/>
              <a:cs typeface="Calibri"/>
              <a:sym typeface="Calibri"/>
            </a:endParaRPr>
          </a:p>
        </p:txBody>
      </p:sp>
      <p:sp>
        <p:nvSpPr>
          <p:cNvPr id="325" name="Google Shape;325;p20"/>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Plan the video around real footage</a:t>
            </a:r>
            <a:endParaRPr sz="3600" b="0" i="0" u="none" strike="noStrike" cap="none">
              <a:solidFill>
                <a:schemeClr val="dk1"/>
              </a:solidFill>
              <a:latin typeface="Calibri"/>
              <a:ea typeface="Calibri"/>
              <a:cs typeface="Calibri"/>
              <a:sym typeface="Calibri"/>
            </a:endParaRPr>
          </a:p>
        </p:txBody>
      </p:sp>
      <p:sp>
        <p:nvSpPr>
          <p:cNvPr id="326" name="Google Shape;326;p20"/>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27" name="Google Shape;327;p20"/>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28" name="Google Shape;328;p20"/>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29" name="Google Shape;329;p20"/>
          <p:cNvSpPr/>
          <p:nvPr/>
        </p:nvSpPr>
        <p:spPr>
          <a:xfrm>
            <a:off x="1244600" y="2494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 Note the key line: “</a:t>
            </a:r>
            <a:r>
              <a:rPr lang="en-US" sz="1200">
                <a:solidFill>
                  <a:schemeClr val="dk1"/>
                </a:solidFill>
                <a:latin typeface="DM Sans"/>
                <a:ea typeface="DM Sans"/>
                <a:cs typeface="DM Sans"/>
                <a:sym typeface="DM Sans"/>
              </a:rPr>
              <a:t>do not use real people to generate the reel.</a:t>
            </a:r>
            <a:r>
              <a:rPr lang="en-US" sz="1500" b="0" i="0" u="none" strike="noStrike" cap="none">
                <a:solidFill>
                  <a:schemeClr val="dk1"/>
                </a:solidFill>
                <a:latin typeface="DM Sans"/>
                <a:ea typeface="DM Sans"/>
                <a:cs typeface="DM Sans"/>
                <a:sym typeface="DM Sans"/>
              </a:rPr>
              <a:t>”</a:t>
            </a:r>
            <a:endParaRPr sz="1500" b="0" i="0" u="none" strike="noStrike" cap="none">
              <a:solidFill>
                <a:schemeClr val="dk1"/>
              </a:solidFill>
              <a:latin typeface="Calibri"/>
              <a:ea typeface="Calibri"/>
              <a:cs typeface="Calibri"/>
              <a:sym typeface="Calibri"/>
            </a:endParaRPr>
          </a:p>
        </p:txBody>
      </p:sp>
      <p:sp>
        <p:nvSpPr>
          <p:cNvPr id="330" name="Google Shape;330;p20"/>
          <p:cNvSpPr/>
          <p:nvPr/>
        </p:nvSpPr>
        <p:spPr>
          <a:xfrm>
            <a:off x="812800" y="3205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31" name="Google Shape;331;p20"/>
          <p:cNvSpPr/>
          <p:nvPr/>
        </p:nvSpPr>
        <p:spPr>
          <a:xfrm>
            <a:off x="1244600" y="3205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Hand the plan to whoever edits, or use AI only for text and the end card.</a:t>
            </a:r>
            <a:endParaRPr sz="1500" b="0" i="0" u="none" strike="noStrike" cap="none">
              <a:solidFill>
                <a:schemeClr val="dk1"/>
              </a:solidFill>
              <a:latin typeface="Calibri"/>
              <a:ea typeface="Calibri"/>
              <a:cs typeface="Calibri"/>
              <a:sym typeface="Calibri"/>
            </a:endParaRPr>
          </a:p>
        </p:txBody>
      </p:sp>
      <p:sp>
        <p:nvSpPr>
          <p:cNvPr id="332" name="Google Shape;332;p20"/>
          <p:cNvSpPr/>
          <p:nvPr/>
        </p:nvSpPr>
        <p:spPr>
          <a:xfrm>
            <a:off x="812800" y="3916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33" name="Google Shape;333;p20"/>
          <p:cNvSpPr/>
          <p:nvPr/>
        </p:nvSpPr>
        <p:spPr>
          <a:xfrm>
            <a:off x="1244600" y="3916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real person, real footage, and her consent to share her story.</a:t>
            </a:r>
            <a:endParaRPr sz="1500" b="0" i="0" u="none" strike="noStrike" cap="none">
              <a:solidFill>
                <a:schemeClr val="dk1"/>
              </a:solidFill>
              <a:latin typeface="Calibri"/>
              <a:ea typeface="Calibri"/>
              <a:cs typeface="Calibri"/>
              <a:sym typeface="Calibri"/>
            </a:endParaRPr>
          </a:p>
        </p:txBody>
      </p:sp>
      <p:sp>
        <p:nvSpPr>
          <p:cNvPr id="334" name="Google Shape;334;p20"/>
          <p:cNvSpPr/>
          <p:nvPr/>
        </p:nvSpPr>
        <p:spPr>
          <a:xfrm>
            <a:off x="5054600" y="2037085"/>
            <a:ext cx="6324600" cy="3279140"/>
          </a:xfrm>
          <a:prstGeom prst="roundRect">
            <a:avLst>
              <a:gd name="adj" fmla="val 4648"/>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36" name="Google Shape;336;p20"/>
          <p:cNvSpPr/>
          <p:nvPr/>
        </p:nvSpPr>
        <p:spPr>
          <a:xfrm>
            <a:off x="5308600" y="2631451"/>
            <a:ext cx="5991000" cy="26847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Now act as a documentary video editor. This reel uses real interview footage of Ibu Sari, so do not </a:t>
            </a:r>
            <a:r>
              <a:rPr lang="en-US" sz="1200">
                <a:solidFill>
                  <a:srgbClr val="F5F0E6"/>
                </a:solidFill>
                <a:latin typeface="DM Sans"/>
                <a:ea typeface="DM Sans"/>
                <a:cs typeface="DM Sans"/>
                <a:sym typeface="DM Sans"/>
              </a:rPr>
              <a:t>use</a:t>
            </a:r>
            <a:r>
              <a:rPr lang="en-US" sz="1200" b="0" i="0" u="none" strike="noStrike" cap="none">
                <a:solidFill>
                  <a:srgbClr val="F5F0E6"/>
                </a:solidFill>
                <a:latin typeface="DM Sans"/>
                <a:ea typeface="DM Sans"/>
                <a:cs typeface="DM Sans"/>
                <a:sym typeface="DM Sans"/>
              </a:rPr>
              <a:t> real people to generate the </a:t>
            </a:r>
            <a:r>
              <a:rPr lang="en-US" sz="1200">
                <a:solidFill>
                  <a:srgbClr val="F5F0E6"/>
                </a:solidFill>
                <a:latin typeface="DM Sans"/>
                <a:ea typeface="DM Sans"/>
                <a:cs typeface="DM Sans"/>
                <a:sym typeface="DM Sans"/>
              </a:rPr>
              <a:t>reel</a:t>
            </a:r>
            <a:r>
              <a:rPr lang="en-US" sz="1200" b="0" i="0" u="none" strike="noStrike" cap="none">
                <a:solidFill>
                  <a:srgbClr val="F5F0E6"/>
                </a:solidFill>
                <a:latin typeface="DM Sans"/>
                <a:ea typeface="DM Sans"/>
                <a:cs typeface="DM Sans"/>
                <a:sym typeface="DM Sans"/>
              </a:rPr>
              <a: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a </a:t>
            </a:r>
            <a:r>
              <a:rPr lang="en-US" sz="1200">
                <a:solidFill>
                  <a:srgbClr val="F5F0E6"/>
                </a:solidFill>
                <a:latin typeface="DM Sans"/>
                <a:ea typeface="DM Sans"/>
                <a:cs typeface="DM Sans"/>
                <a:sym typeface="DM Sans"/>
              </a:rPr>
              <a:t>10</a:t>
            </a:r>
            <a:r>
              <a:rPr lang="en-US" sz="1200" b="0" i="0" u="none" strike="noStrike" cap="none">
                <a:solidFill>
                  <a:srgbClr val="F5F0E6"/>
                </a:solidFill>
                <a:latin typeface="DM Sans"/>
                <a:ea typeface="DM Sans"/>
                <a:cs typeface="DM Sans"/>
                <a:sym typeface="DM Sans"/>
              </a:rPr>
              <a:t>-second edit plan for a vertical (9:16) reel, shot by shot with timings: which clip, on-screen text, subtitles, music mood and transitions.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Clips we have: her interview at the sorting table, weighing at the hub scale, the receipt slip handed over. End card: LoopCycle Nusantara · 3,500 registered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Also list any extra shots we should film at the hub.</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341"/>
        <p:cNvGrpSpPr/>
        <p:nvPr/>
      </p:nvGrpSpPr>
      <p:grpSpPr>
        <a:xfrm>
          <a:off x="0" y="0"/>
          <a:ext cx="0" cy="0"/>
          <a:chOff x="0" y="0"/>
          <a:chExt cx="0" cy="0"/>
        </a:xfrm>
      </p:grpSpPr>
      <p:sp>
        <p:nvSpPr>
          <p:cNvPr id="342" name="Google Shape;342;p21"/>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3 OF 4</a:t>
            </a:r>
            <a:endParaRPr sz="1200" b="0" i="0" u="none" strike="noStrike" cap="none">
              <a:solidFill>
                <a:schemeClr val="dk1"/>
              </a:solidFill>
              <a:latin typeface="Calibri"/>
              <a:ea typeface="Calibri"/>
              <a:cs typeface="Calibri"/>
              <a:sym typeface="Calibri"/>
            </a:endParaRPr>
          </a:p>
        </p:txBody>
      </p:sp>
      <p:sp>
        <p:nvSpPr>
          <p:cNvPr id="343" name="Google Shape;343;p21"/>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Find the right hashtags</a:t>
            </a:r>
            <a:endParaRPr sz="3600" b="0" i="0" u="none" strike="noStrike" cap="none">
              <a:solidFill>
                <a:schemeClr val="dk1"/>
              </a:solidFill>
              <a:latin typeface="Calibri"/>
              <a:ea typeface="Calibri"/>
              <a:cs typeface="Calibri"/>
              <a:sym typeface="Calibri"/>
            </a:endParaRPr>
          </a:p>
        </p:txBody>
      </p:sp>
      <p:sp>
        <p:nvSpPr>
          <p:cNvPr id="344" name="Google Shape;344;p21"/>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45" name="Google Shape;345;p21"/>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46" name="Google Shape;346;p21"/>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47" name="Google Shape;347;p21"/>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348" name="Google Shape;348;p21"/>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49" name="Google Shape;349;p21"/>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“Which of these would our pickers be proud to see?”</a:t>
            </a:r>
            <a:endParaRPr sz="1500" b="0" i="0" u="none" strike="noStrike" cap="none">
              <a:solidFill>
                <a:schemeClr val="dk1"/>
              </a:solidFill>
              <a:latin typeface="Calibri"/>
              <a:ea typeface="Calibri"/>
              <a:cs typeface="Calibri"/>
              <a:sym typeface="Calibri"/>
            </a:endParaRPr>
          </a:p>
        </p:txBody>
      </p:sp>
      <p:sp>
        <p:nvSpPr>
          <p:cNvPr id="350" name="Google Shape;350;p21"/>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51" name="Google Shape;351;p21"/>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search each tag on Instagram. Active, on-topic, not spammy?</a:t>
            </a:r>
            <a:endParaRPr sz="1500" b="0" i="0" u="none" strike="noStrike" cap="none">
              <a:solidFill>
                <a:schemeClr val="dk1"/>
              </a:solidFill>
              <a:latin typeface="Calibri"/>
              <a:ea typeface="Calibri"/>
              <a:cs typeface="Calibri"/>
              <a:sym typeface="Calibri"/>
            </a:endParaRPr>
          </a:p>
        </p:txBody>
      </p:sp>
      <p:sp>
        <p:nvSpPr>
          <p:cNvPr id="352" name="Google Shape;352;p21"/>
          <p:cNvSpPr/>
          <p:nvPr/>
        </p:nvSpPr>
        <p:spPr>
          <a:xfrm>
            <a:off x="5054600" y="2037075"/>
            <a:ext cx="6339300" cy="3706800"/>
          </a:xfrm>
          <a:prstGeom prst="roundRect">
            <a:avLst>
              <a:gd name="adj" fmla="val 5372"/>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 name="Google Shape;353;p21"/>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54" name="Google Shape;354;p21"/>
          <p:cNvSpPr/>
          <p:nvPr/>
        </p:nvSpPr>
        <p:spPr>
          <a:xfrm>
            <a:off x="5308600" y="2631452"/>
            <a:ext cx="5991000" cy="25194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a:solidFill>
                  <a:srgbClr val="F5F0E6"/>
                </a:solidFill>
                <a:latin typeface="DM Sans"/>
                <a:ea typeface="DM Sans"/>
                <a:cs typeface="DM Sans"/>
                <a:sym typeface="DM Sans"/>
              </a:rPr>
              <a:t>You are back to social media writer for LoopCycle Nusantara</a:t>
            </a:r>
            <a:br>
              <a:rPr lang="en-US" sz="1200">
                <a:solidFill>
                  <a:srgbClr val="F5F0E6"/>
                </a:solidFill>
                <a:latin typeface="DM Sans"/>
                <a:ea typeface="DM Sans"/>
                <a:cs typeface="DM Sans"/>
                <a:sym typeface="DM Sans"/>
              </a:rPr>
            </a:br>
            <a:r>
              <a:rPr lang="en-US" sz="1200" b="0" i="0" u="none" strike="noStrike" cap="none">
                <a:solidFill>
                  <a:srgbClr val="F5F0E6"/>
                </a:solidFill>
                <a:latin typeface="DM Sans"/>
                <a:ea typeface="DM Sans"/>
                <a:cs typeface="DM Sans"/>
                <a:sym typeface="DM Sans"/>
              </a:rPr>
              <a:t>Suggest 12 Instagram hashtags for this reel:</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3 for LoopCycle and a picker stories series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5 on the topic: waste pickers, fair trade, circular economy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4 local: Bandung, Cimahi, West Java, Indonesia</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Mix popular and niche tags. Give one line on why each fits, then mark the 5 you would use.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Flag any tag that could feel pity-driven or exploitative.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359"/>
        <p:cNvGrpSpPr/>
        <p:nvPr/>
      </p:nvGrpSpPr>
      <p:grpSpPr>
        <a:xfrm>
          <a:off x="0" y="0"/>
          <a:ext cx="0" cy="0"/>
          <a:chOff x="0" y="0"/>
          <a:chExt cx="0" cy="0"/>
        </a:xfrm>
      </p:grpSpPr>
      <p:sp>
        <p:nvSpPr>
          <p:cNvPr id="360" name="Google Shape;360;p22"/>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A6417"/>
              </a:buClr>
              <a:buSzPts val="1200"/>
              <a:buFont typeface="DM Sans"/>
              <a:buNone/>
            </a:pPr>
            <a:r>
              <a:rPr lang="en-US" sz="1200" b="1" i="0" u="none" strike="noStrike" cap="none">
                <a:solidFill>
                  <a:srgbClr val="8A6417"/>
                </a:solidFill>
                <a:latin typeface="DM Sans"/>
                <a:ea typeface="DM Sans"/>
                <a:cs typeface="DM Sans"/>
                <a:sym typeface="DM Sans"/>
              </a:rPr>
              <a:t>LIVE DEMO · STEP 4 OF 4</a:t>
            </a:r>
            <a:endParaRPr sz="1200" b="0" i="0" u="none" strike="noStrike" cap="none">
              <a:solidFill>
                <a:schemeClr val="dk1"/>
              </a:solidFill>
              <a:latin typeface="Calibri"/>
              <a:ea typeface="Calibri"/>
              <a:cs typeface="Calibri"/>
              <a:sym typeface="Calibri"/>
            </a:endParaRPr>
          </a:p>
        </p:txBody>
      </p:sp>
      <p:sp>
        <p:nvSpPr>
          <p:cNvPr id="361" name="Google Shape;361;p22"/>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Create three variations</a:t>
            </a:r>
            <a:endParaRPr sz="3600" b="0" i="0" u="none" strike="noStrike" cap="none">
              <a:solidFill>
                <a:schemeClr val="dk1"/>
              </a:solidFill>
              <a:latin typeface="Calibri"/>
              <a:ea typeface="Calibri"/>
              <a:cs typeface="Calibri"/>
              <a:sym typeface="Calibri"/>
            </a:endParaRPr>
          </a:p>
        </p:txBody>
      </p:sp>
      <p:sp>
        <p:nvSpPr>
          <p:cNvPr id="362" name="Google Shape;362;p22"/>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363" name="Google Shape;363;p22"/>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364" name="Google Shape;364;p22"/>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365" name="Google Shape;365;p22"/>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366" name="Google Shape;366;p22"/>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367" name="Google Shape;367;p22"/>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Ask: “Which would you post first, and why?”</a:t>
            </a:r>
            <a:endParaRPr sz="1500" b="0" i="0" u="none" strike="noStrike" cap="none">
              <a:solidFill>
                <a:schemeClr val="dk1"/>
              </a:solidFill>
              <a:latin typeface="Calibri"/>
              <a:ea typeface="Calibri"/>
              <a:cs typeface="Calibri"/>
              <a:sym typeface="Calibri"/>
            </a:endParaRPr>
          </a:p>
        </p:txBody>
      </p:sp>
      <p:sp>
        <p:nvSpPr>
          <p:cNvPr id="368" name="Google Shape;368;p22"/>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A6417"/>
              </a:buClr>
              <a:buSzPts val="2200"/>
              <a:buFont typeface="Fraunces"/>
              <a:buNone/>
            </a:pPr>
            <a:r>
              <a:rPr lang="en-US" sz="2200" b="0" i="0" u="none" strike="noStrike" cap="none">
                <a:solidFill>
                  <a:srgbClr val="8A6417"/>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369" name="Google Shape;369;p22"/>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are her quotes and the facts identical in all three?</a:t>
            </a:r>
            <a:endParaRPr sz="1500" b="0" i="0" u="none" strike="noStrike" cap="none">
              <a:solidFill>
                <a:schemeClr val="dk1"/>
              </a:solidFill>
              <a:latin typeface="Calibri"/>
              <a:ea typeface="Calibri"/>
              <a:cs typeface="Calibri"/>
              <a:sym typeface="Calibri"/>
            </a:endParaRPr>
          </a:p>
        </p:txBody>
      </p:sp>
      <p:sp>
        <p:nvSpPr>
          <p:cNvPr id="370" name="Google Shape;370;p22"/>
          <p:cNvSpPr/>
          <p:nvPr/>
        </p:nvSpPr>
        <p:spPr>
          <a:xfrm>
            <a:off x="5054600" y="2037073"/>
            <a:ext cx="6414900" cy="3039000"/>
          </a:xfrm>
          <a:prstGeom prst="roundRect">
            <a:avLst>
              <a:gd name="adj" fmla="val 58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PROMPT I'M USING</a:t>
            </a:r>
            <a:endParaRPr sz="1200" b="0" i="0" u="none" strike="noStrike" cap="none">
              <a:solidFill>
                <a:schemeClr val="dk1"/>
              </a:solidFill>
              <a:latin typeface="Calibri"/>
              <a:ea typeface="Calibri"/>
              <a:cs typeface="Calibri"/>
              <a:sym typeface="Calibri"/>
            </a:endParaRPr>
          </a:p>
        </p:txBody>
      </p:sp>
      <p:sp>
        <p:nvSpPr>
          <p:cNvPr id="372" name="Google Shape;372;p22"/>
          <p:cNvSpPr/>
          <p:nvPr/>
        </p:nvSpPr>
        <p:spPr>
          <a:xfrm>
            <a:off x="5308600" y="2631453"/>
            <a:ext cx="5991000" cy="23817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3 variations of the caption, each with 5 hashtags: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 Her voice: open with her own quote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B. The change: life before and after registering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 The bigger picture: one of 3,500 pickers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Keep every fact and quote identical. Under 100 words each. Label them A, B and C.</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Then add a short table comparing the hook, tone and best audience for each.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5532B"/>
        </a:solidFill>
        <a:effectLst/>
      </p:bgPr>
    </p:bg>
    <p:spTree>
      <p:nvGrpSpPr>
        <p:cNvPr id="1" name="Shape 394"/>
        <p:cNvGrpSpPr/>
        <p:nvPr/>
      </p:nvGrpSpPr>
      <p:grpSpPr>
        <a:xfrm>
          <a:off x="0" y="0"/>
          <a:ext cx="0" cy="0"/>
          <a:chOff x="0" y="0"/>
          <a:chExt cx="0" cy="0"/>
        </a:xfrm>
      </p:grpSpPr>
      <p:sp>
        <p:nvSpPr>
          <p:cNvPr id="395" name="Google Shape;395;p24"/>
          <p:cNvSpPr/>
          <p:nvPr/>
        </p:nvSpPr>
        <p:spPr>
          <a:xfrm>
            <a:off x="812800" y="1943100"/>
            <a:ext cx="10883392" cy="238760"/>
          </a:xfrm>
          <a:prstGeom prst="rect">
            <a:avLst/>
          </a:prstGeom>
          <a:noFill/>
          <a:ln>
            <a:noFill/>
          </a:ln>
        </p:spPr>
        <p:txBody>
          <a:bodyPr spcFirstLastPara="1" wrap="square" lIns="0" tIns="0" rIns="0" bIns="0" anchor="t" anchorCtr="0">
            <a:noAutofit/>
          </a:bodyPr>
          <a:lstStyle/>
          <a:p>
            <a:pPr>
              <a:lnSpc>
                <a:spcPct val="140000"/>
              </a:lnSpc>
              <a:buClr>
                <a:srgbClr val="FBF3E8"/>
              </a:buClr>
              <a:buSzPts val="1200"/>
            </a:pPr>
            <a:r>
              <a:rPr lang="en-US" sz="1200" b="1" dirty="0">
                <a:solidFill>
                  <a:srgbClr val="FBF3E8"/>
                </a:solidFill>
                <a:latin typeface="DM Sans"/>
                <a:sym typeface="DM Sans"/>
              </a:rPr>
              <a:t>PART THREE · HANDS-ON</a:t>
            </a:r>
            <a:endParaRPr sz="1200" b="1" dirty="0">
              <a:solidFill>
                <a:srgbClr val="FBF3E8"/>
              </a:solidFill>
              <a:latin typeface="DM Sans"/>
              <a:sym typeface="Calibri"/>
            </a:endParaRPr>
          </a:p>
        </p:txBody>
      </p:sp>
      <p:sp>
        <p:nvSpPr>
          <p:cNvPr id="396" name="Google Shape;396;p24"/>
          <p:cNvSpPr/>
          <p:nvPr/>
        </p:nvSpPr>
        <p:spPr>
          <a:xfrm>
            <a:off x="812800" y="2410458"/>
            <a:ext cx="10883392" cy="8255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BF3E8"/>
              </a:buClr>
              <a:buSzPts val="6000"/>
              <a:buFont typeface="Fraunces"/>
              <a:buNone/>
            </a:pPr>
            <a:r>
              <a:rPr lang="en-US" sz="6000" b="0" i="0" u="none" strike="noStrike" cap="none" dirty="0">
                <a:solidFill>
                  <a:srgbClr val="FBF3E8"/>
                </a:solidFill>
                <a:latin typeface="Fraunces"/>
                <a:ea typeface="Fraunces"/>
                <a:cs typeface="Fraunces"/>
                <a:sym typeface="Fraunces"/>
              </a:rPr>
              <a:t>Launch the Loop Tote.</a:t>
            </a:r>
            <a:endParaRPr sz="6000" b="0" i="0" u="none" strike="noStrike" cap="none" dirty="0">
              <a:solidFill>
                <a:schemeClr val="dk1"/>
              </a:solidFill>
              <a:latin typeface="Calibri"/>
              <a:ea typeface="Calibri"/>
              <a:cs typeface="Calibri"/>
              <a:sym typeface="Calibri"/>
            </a:endParaRPr>
          </a:p>
        </p:txBody>
      </p:sp>
      <p:sp>
        <p:nvSpPr>
          <p:cNvPr id="397" name="Google Shape;397;p24"/>
          <p:cNvSpPr/>
          <p:nvPr/>
        </p:nvSpPr>
        <p:spPr>
          <a:xfrm>
            <a:off x="812800" y="3464558"/>
            <a:ext cx="9156700" cy="7518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FBF3E8"/>
              </a:buClr>
              <a:buSzPts val="2200"/>
              <a:buFont typeface="DM Sans"/>
              <a:buNone/>
            </a:pPr>
            <a:r>
              <a:rPr lang="en-US" sz="2200" b="0" i="0" u="none" strike="noStrike" cap="none" dirty="0">
                <a:solidFill>
                  <a:srgbClr val="FBF3E8"/>
                </a:solidFill>
                <a:latin typeface="DM Sans"/>
                <a:ea typeface="DM Sans"/>
                <a:cs typeface="DM Sans"/>
                <a:sym typeface="DM Sans"/>
              </a:rPr>
              <a:t>Four prompts, one launch reel. Work at your own pace in ChatGPT, Claude or Gemini.</a:t>
            </a:r>
            <a:endParaRPr sz="2200" b="0" i="0" u="none" strike="noStrike" cap="none" dirty="0">
              <a:solidFill>
                <a:schemeClr val="dk1"/>
              </a:solidFill>
              <a:latin typeface="Calibri"/>
              <a:ea typeface="Calibri"/>
              <a:cs typeface="Calibri"/>
              <a:sym typeface="Calibri"/>
            </a:endParaRPr>
          </a:p>
        </p:txBody>
      </p:sp>
      <p:sp>
        <p:nvSpPr>
          <p:cNvPr id="398" name="Google Shape;398;p24"/>
          <p:cNvSpPr/>
          <p:nvPr/>
        </p:nvSpPr>
        <p:spPr>
          <a:xfrm>
            <a:off x="812800" y="4445000"/>
            <a:ext cx="1319213"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1 · Caption</a:t>
            </a:r>
            <a:endParaRPr sz="1500" b="0" i="0" u="none" strike="noStrike" cap="none">
              <a:solidFill>
                <a:schemeClr val="dk1"/>
              </a:solidFill>
              <a:latin typeface="Calibri"/>
              <a:ea typeface="Calibri"/>
              <a:cs typeface="Calibri"/>
              <a:sym typeface="Calibri"/>
            </a:endParaRPr>
          </a:p>
        </p:txBody>
      </p:sp>
      <p:sp>
        <p:nvSpPr>
          <p:cNvPr id="399" name="Google Shape;399;p24"/>
          <p:cNvSpPr/>
          <p:nvPr/>
        </p:nvSpPr>
        <p:spPr>
          <a:xfrm>
            <a:off x="2284413" y="4445000"/>
            <a:ext cx="1889337"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2 · Video prompt</a:t>
            </a:r>
            <a:endParaRPr sz="1500" b="0" i="0" u="none" strike="noStrike" cap="none">
              <a:solidFill>
                <a:schemeClr val="dk1"/>
              </a:solidFill>
              <a:latin typeface="Calibri"/>
              <a:ea typeface="Calibri"/>
              <a:cs typeface="Calibri"/>
              <a:sym typeface="Calibri"/>
            </a:endParaRPr>
          </a:p>
        </p:txBody>
      </p:sp>
      <p:sp>
        <p:nvSpPr>
          <p:cNvPr id="400" name="Google Shape;400;p24"/>
          <p:cNvSpPr/>
          <p:nvPr/>
        </p:nvSpPr>
        <p:spPr>
          <a:xfrm>
            <a:off x="4326149" y="4445000"/>
            <a:ext cx="1493097"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3 · Hashtags</a:t>
            </a:r>
            <a:endParaRPr sz="1500" b="0" i="0" u="none" strike="noStrike" cap="none">
              <a:solidFill>
                <a:schemeClr val="dk1"/>
              </a:solidFill>
              <a:latin typeface="Calibri"/>
              <a:ea typeface="Calibri"/>
              <a:cs typeface="Calibri"/>
              <a:sym typeface="Calibri"/>
            </a:endParaRPr>
          </a:p>
        </p:txBody>
      </p:sp>
      <p:sp>
        <p:nvSpPr>
          <p:cNvPr id="401" name="Google Shape;401;p24"/>
          <p:cNvSpPr/>
          <p:nvPr/>
        </p:nvSpPr>
        <p:spPr>
          <a:xfrm>
            <a:off x="5971646" y="4445000"/>
            <a:ext cx="2108200" cy="469900"/>
          </a:xfrm>
          <a:prstGeom prst="roundRect">
            <a:avLst>
              <a:gd name="adj" fmla="val 50000"/>
            </a:avLst>
          </a:prstGeom>
          <a:solidFill>
            <a:srgbClr val="FBF3E8"/>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8E3F1F"/>
              </a:buClr>
              <a:buSzPts val="1500"/>
              <a:buFont typeface="DM Sans"/>
              <a:buNone/>
            </a:pPr>
            <a:r>
              <a:rPr lang="en-US" sz="1500" b="1" i="0" u="none" strike="noStrike" cap="none">
                <a:solidFill>
                  <a:srgbClr val="8E3F1F"/>
                </a:solidFill>
                <a:latin typeface="DM Sans"/>
                <a:ea typeface="DM Sans"/>
                <a:cs typeface="DM Sans"/>
                <a:sym typeface="DM Sans"/>
              </a:rPr>
              <a:t>4 · Three variations</a:t>
            </a:r>
            <a:endParaRPr sz="1500" b="0" i="0" u="none" strike="noStrike" cap="none">
              <a:solidFill>
                <a:schemeClr val="dk1"/>
              </a:solidFill>
              <a:latin typeface="Calibri"/>
              <a:ea typeface="Calibri"/>
              <a:cs typeface="Calibri"/>
              <a:sym typeface="Calibri"/>
            </a:endParaRPr>
          </a:p>
        </p:txBody>
      </p:sp>
    </p:spTree>
  </p:cSld>
  <p:clrMapOvr>
    <a:overrideClrMapping bg1="lt1" tx1="dk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406"/>
        <p:cNvGrpSpPr/>
        <p:nvPr/>
      </p:nvGrpSpPr>
      <p:grpSpPr>
        <a:xfrm>
          <a:off x="0" y="0"/>
          <a:ext cx="0" cy="0"/>
          <a:chOff x="0" y="0"/>
          <a:chExt cx="0" cy="0"/>
        </a:xfrm>
      </p:grpSpPr>
      <p:sp>
        <p:nvSpPr>
          <p:cNvPr id="407" name="Google Shape;407;p25"/>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THE BRIEF</a:t>
            </a:r>
            <a:endParaRPr sz="1200" b="0" i="0" u="none" strike="noStrike" cap="none">
              <a:solidFill>
                <a:schemeClr val="dk1"/>
              </a:solidFill>
              <a:latin typeface="Calibri"/>
              <a:ea typeface="Calibri"/>
              <a:cs typeface="Calibri"/>
              <a:sym typeface="Calibri"/>
            </a:endParaRPr>
          </a:p>
        </p:txBody>
      </p:sp>
      <p:sp>
        <p:nvSpPr>
          <p:cNvPr id="408" name="Google Shape;408;p25"/>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Meet the Loop Tote</a:t>
            </a:r>
            <a:endParaRPr sz="3600" b="0" i="0" u="none" strike="noStrike" cap="none">
              <a:solidFill>
                <a:schemeClr val="dk1"/>
              </a:solidFill>
              <a:latin typeface="Calibri"/>
              <a:ea typeface="Calibri"/>
              <a:cs typeface="Calibri"/>
              <a:sym typeface="Calibri"/>
            </a:endParaRPr>
          </a:p>
        </p:txBody>
      </p:sp>
      <p:cxnSp>
        <p:nvCxnSpPr>
          <p:cNvPr id="409" name="Google Shape;409;p25"/>
          <p:cNvCxnSpPr/>
          <p:nvPr/>
        </p:nvCxnSpPr>
        <p:spPr>
          <a:xfrm>
            <a:off x="812800" y="2043435"/>
            <a:ext cx="6350000" cy="0"/>
          </a:xfrm>
          <a:prstGeom prst="straightConnector1">
            <a:avLst/>
          </a:prstGeom>
          <a:noFill/>
          <a:ln w="12700" cap="flat" cmpd="sng">
            <a:solidFill>
              <a:srgbClr val="D9CDB6"/>
            </a:solidFill>
            <a:prstDash val="solid"/>
            <a:round/>
            <a:headEnd type="none" w="sm" len="sm"/>
            <a:tailEnd type="none" w="sm" len="sm"/>
          </a:ln>
        </p:spPr>
      </p:cxnSp>
      <p:sp>
        <p:nvSpPr>
          <p:cNvPr id="410" name="Google Shape;410;p25"/>
          <p:cNvSpPr/>
          <p:nvPr/>
        </p:nvSpPr>
        <p:spPr>
          <a:xfrm>
            <a:off x="812800" y="21513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PRODUCT</a:t>
            </a:r>
            <a:endParaRPr sz="1200" b="0" i="0" u="none" strike="noStrike" cap="none">
              <a:solidFill>
                <a:schemeClr val="dk1"/>
              </a:solidFill>
              <a:latin typeface="Calibri"/>
              <a:ea typeface="Calibri"/>
              <a:cs typeface="Calibri"/>
              <a:sym typeface="Calibri"/>
            </a:endParaRPr>
          </a:p>
        </p:txBody>
      </p:sp>
      <p:sp>
        <p:nvSpPr>
          <p:cNvPr id="411" name="Google Shape;411;p25"/>
          <p:cNvSpPr/>
          <p:nvPr/>
        </p:nvSpPr>
        <p:spPr>
          <a:xfrm>
            <a:off x="2286000" y="21513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 sturdy everyday tote bag</a:t>
            </a:r>
            <a:endParaRPr sz="1500" b="0" i="0" u="none" strike="noStrike" cap="none">
              <a:solidFill>
                <a:schemeClr val="dk1"/>
              </a:solidFill>
              <a:latin typeface="Calibri"/>
              <a:ea typeface="Calibri"/>
              <a:cs typeface="Calibri"/>
              <a:sym typeface="Calibri"/>
            </a:endParaRPr>
          </a:p>
        </p:txBody>
      </p:sp>
      <p:cxnSp>
        <p:nvCxnSpPr>
          <p:cNvPr id="412" name="Google Shape;412;p25"/>
          <p:cNvCxnSpPr/>
          <p:nvPr/>
        </p:nvCxnSpPr>
        <p:spPr>
          <a:xfrm>
            <a:off x="812800" y="2526035"/>
            <a:ext cx="6350000" cy="0"/>
          </a:xfrm>
          <a:prstGeom prst="straightConnector1">
            <a:avLst/>
          </a:prstGeom>
          <a:noFill/>
          <a:ln w="12700" cap="flat" cmpd="sng">
            <a:solidFill>
              <a:srgbClr val="D9CDB6"/>
            </a:solidFill>
            <a:prstDash val="solid"/>
            <a:round/>
            <a:headEnd type="none" w="sm" len="sm"/>
            <a:tailEnd type="none" w="sm" len="sm"/>
          </a:ln>
        </p:spPr>
      </p:cxnSp>
      <p:sp>
        <p:nvSpPr>
          <p:cNvPr id="413" name="Google Shape;413;p25"/>
          <p:cNvSpPr/>
          <p:nvPr/>
        </p:nvSpPr>
        <p:spPr>
          <a:xfrm>
            <a:off x="812800" y="26339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MADE FROM</a:t>
            </a:r>
            <a:endParaRPr sz="1200" b="0" i="0" u="none" strike="noStrike" cap="none">
              <a:solidFill>
                <a:schemeClr val="dk1"/>
              </a:solidFill>
              <a:latin typeface="Calibri"/>
              <a:ea typeface="Calibri"/>
              <a:cs typeface="Calibri"/>
              <a:sym typeface="Calibri"/>
            </a:endParaRPr>
          </a:p>
        </p:txBody>
      </p:sp>
      <p:sp>
        <p:nvSpPr>
          <p:cNvPr id="414" name="Google Shape;414;p25"/>
          <p:cNvSpPr/>
          <p:nvPr/>
        </p:nvSpPr>
        <p:spPr>
          <a:xfrm>
            <a:off x="2286000" y="26339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14 plastic bottles per tote</a:t>
            </a:r>
            <a:endParaRPr sz="1500" b="0" i="0" u="none" strike="noStrike" cap="none">
              <a:solidFill>
                <a:schemeClr val="dk1"/>
              </a:solidFill>
              <a:latin typeface="Calibri"/>
              <a:ea typeface="Calibri"/>
              <a:cs typeface="Calibri"/>
              <a:sym typeface="Calibri"/>
            </a:endParaRPr>
          </a:p>
        </p:txBody>
      </p:sp>
      <p:cxnSp>
        <p:nvCxnSpPr>
          <p:cNvPr id="415" name="Google Shape;415;p25"/>
          <p:cNvCxnSpPr/>
          <p:nvPr/>
        </p:nvCxnSpPr>
        <p:spPr>
          <a:xfrm>
            <a:off x="812800" y="3008635"/>
            <a:ext cx="6350000" cy="0"/>
          </a:xfrm>
          <a:prstGeom prst="straightConnector1">
            <a:avLst/>
          </a:prstGeom>
          <a:noFill/>
          <a:ln w="12700" cap="flat" cmpd="sng">
            <a:solidFill>
              <a:srgbClr val="D9CDB6"/>
            </a:solidFill>
            <a:prstDash val="solid"/>
            <a:round/>
            <a:headEnd type="none" w="sm" len="sm"/>
            <a:tailEnd type="none" w="sm" len="sm"/>
          </a:ln>
        </p:spPr>
      </p:cxnSp>
      <p:sp>
        <p:nvSpPr>
          <p:cNvPr id="416" name="Google Shape;416;p25"/>
          <p:cNvSpPr/>
          <p:nvPr/>
        </p:nvSpPr>
        <p:spPr>
          <a:xfrm>
            <a:off x="812800" y="31165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SOURCED</a:t>
            </a:r>
            <a:endParaRPr sz="1200" b="0" i="0" u="none" strike="noStrike" cap="none">
              <a:solidFill>
                <a:schemeClr val="dk1"/>
              </a:solidFill>
              <a:latin typeface="Calibri"/>
              <a:ea typeface="Calibri"/>
              <a:cs typeface="Calibri"/>
              <a:sym typeface="Calibri"/>
            </a:endParaRPr>
          </a:p>
        </p:txBody>
      </p:sp>
      <p:sp>
        <p:nvSpPr>
          <p:cNvPr id="417" name="Google Shape;417;p25"/>
          <p:cNvSpPr/>
          <p:nvPr/>
        </p:nvSpPr>
        <p:spPr>
          <a:xfrm>
            <a:off x="2286000" y="31165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Collected by registered pickers across West Java</a:t>
            </a:r>
            <a:endParaRPr sz="1500" b="0" i="0" u="none" strike="noStrike" cap="none">
              <a:solidFill>
                <a:schemeClr val="dk1"/>
              </a:solidFill>
              <a:latin typeface="Calibri"/>
              <a:ea typeface="Calibri"/>
              <a:cs typeface="Calibri"/>
              <a:sym typeface="Calibri"/>
            </a:endParaRPr>
          </a:p>
        </p:txBody>
      </p:sp>
      <p:cxnSp>
        <p:nvCxnSpPr>
          <p:cNvPr id="418" name="Google Shape;418;p25"/>
          <p:cNvCxnSpPr/>
          <p:nvPr/>
        </p:nvCxnSpPr>
        <p:spPr>
          <a:xfrm>
            <a:off x="812800" y="3491235"/>
            <a:ext cx="6350000" cy="0"/>
          </a:xfrm>
          <a:prstGeom prst="straightConnector1">
            <a:avLst/>
          </a:prstGeom>
          <a:noFill/>
          <a:ln w="12700" cap="flat" cmpd="sng">
            <a:solidFill>
              <a:srgbClr val="D9CDB6"/>
            </a:solidFill>
            <a:prstDash val="solid"/>
            <a:round/>
            <a:headEnd type="none" w="sm" len="sm"/>
            <a:tailEnd type="none" w="sm" len="sm"/>
          </a:ln>
        </p:spPr>
      </p:cxnSp>
      <p:sp>
        <p:nvSpPr>
          <p:cNvPr id="419" name="Google Shape;419;p25"/>
          <p:cNvSpPr/>
          <p:nvPr/>
        </p:nvSpPr>
        <p:spPr>
          <a:xfrm>
            <a:off x="812800" y="35991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MADE</a:t>
            </a:r>
            <a:endParaRPr sz="1200" b="0" i="0" u="none" strike="noStrike" cap="none">
              <a:solidFill>
                <a:schemeClr val="dk1"/>
              </a:solidFill>
              <a:latin typeface="Calibri"/>
              <a:ea typeface="Calibri"/>
              <a:cs typeface="Calibri"/>
              <a:sym typeface="Calibri"/>
            </a:endParaRPr>
          </a:p>
        </p:txBody>
      </p:sp>
      <p:sp>
        <p:nvSpPr>
          <p:cNvPr id="420" name="Google Shape;420;p25"/>
          <p:cNvSpPr/>
          <p:nvPr/>
        </p:nvSpPr>
        <p:spPr>
          <a:xfrm>
            <a:off x="2286000" y="35991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Washed at our Bandung plant, then woven</a:t>
            </a:r>
            <a:endParaRPr sz="1500" b="0" i="0" u="none" strike="noStrike" cap="none">
              <a:solidFill>
                <a:schemeClr val="dk1"/>
              </a:solidFill>
              <a:latin typeface="Calibri"/>
              <a:ea typeface="Calibri"/>
              <a:cs typeface="Calibri"/>
              <a:sym typeface="Calibri"/>
            </a:endParaRPr>
          </a:p>
        </p:txBody>
      </p:sp>
      <p:cxnSp>
        <p:nvCxnSpPr>
          <p:cNvPr id="421" name="Google Shape;421;p25"/>
          <p:cNvCxnSpPr/>
          <p:nvPr/>
        </p:nvCxnSpPr>
        <p:spPr>
          <a:xfrm>
            <a:off x="812800" y="3973835"/>
            <a:ext cx="6350000" cy="0"/>
          </a:xfrm>
          <a:prstGeom prst="straightConnector1">
            <a:avLst/>
          </a:prstGeom>
          <a:noFill/>
          <a:ln w="12700" cap="flat" cmpd="sng">
            <a:solidFill>
              <a:srgbClr val="D9CDB6"/>
            </a:solidFill>
            <a:prstDash val="solid"/>
            <a:round/>
            <a:headEnd type="none" w="sm" len="sm"/>
            <a:tailEnd type="none" w="sm" len="sm"/>
          </a:ln>
        </p:spPr>
      </p:cxnSp>
      <p:sp>
        <p:nvSpPr>
          <p:cNvPr id="422" name="Google Shape;422;p25"/>
          <p:cNvSpPr/>
          <p:nvPr/>
        </p:nvSpPr>
        <p:spPr>
          <a:xfrm>
            <a:off x="812800" y="40817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COLOURS</a:t>
            </a:r>
            <a:endParaRPr sz="1200" b="0" i="0" u="none" strike="noStrike" cap="none">
              <a:solidFill>
                <a:schemeClr val="dk1"/>
              </a:solidFill>
              <a:latin typeface="Calibri"/>
              <a:ea typeface="Calibri"/>
              <a:cs typeface="Calibri"/>
              <a:sym typeface="Calibri"/>
            </a:endParaRPr>
          </a:p>
        </p:txBody>
      </p:sp>
      <p:sp>
        <p:nvSpPr>
          <p:cNvPr id="423" name="Google Shape;423;p25"/>
          <p:cNvSpPr/>
          <p:nvPr/>
        </p:nvSpPr>
        <p:spPr>
          <a:xfrm>
            <a:off x="2286000" y="40817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Sea-green, indigo, sand</a:t>
            </a:r>
            <a:endParaRPr sz="1500" b="0" i="0" u="none" strike="noStrike" cap="none">
              <a:solidFill>
                <a:schemeClr val="dk1"/>
              </a:solidFill>
              <a:latin typeface="Calibri"/>
              <a:ea typeface="Calibri"/>
              <a:cs typeface="Calibri"/>
              <a:sym typeface="Calibri"/>
            </a:endParaRPr>
          </a:p>
        </p:txBody>
      </p:sp>
      <p:cxnSp>
        <p:nvCxnSpPr>
          <p:cNvPr id="424" name="Google Shape;424;p25"/>
          <p:cNvCxnSpPr/>
          <p:nvPr/>
        </p:nvCxnSpPr>
        <p:spPr>
          <a:xfrm>
            <a:off x="812800" y="4456435"/>
            <a:ext cx="6350000" cy="0"/>
          </a:xfrm>
          <a:prstGeom prst="straightConnector1">
            <a:avLst/>
          </a:prstGeom>
          <a:noFill/>
          <a:ln w="12700" cap="flat" cmpd="sng">
            <a:solidFill>
              <a:srgbClr val="D9CDB6"/>
            </a:solidFill>
            <a:prstDash val="solid"/>
            <a:round/>
            <a:headEnd type="none" w="sm" len="sm"/>
            <a:tailEnd type="none" w="sm" len="sm"/>
          </a:ln>
        </p:spPr>
      </p:cxnSp>
      <p:sp>
        <p:nvSpPr>
          <p:cNvPr id="425" name="Google Shape;425;p25"/>
          <p:cNvSpPr/>
          <p:nvPr/>
        </p:nvSpPr>
        <p:spPr>
          <a:xfrm>
            <a:off x="812800" y="45643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IMPACT</a:t>
            </a:r>
            <a:endParaRPr sz="1200" b="0" i="0" u="none" strike="noStrike" cap="none">
              <a:solidFill>
                <a:schemeClr val="dk1"/>
              </a:solidFill>
              <a:latin typeface="Calibri"/>
              <a:ea typeface="Calibri"/>
              <a:cs typeface="Calibri"/>
              <a:sym typeface="Calibri"/>
            </a:endParaRPr>
          </a:p>
        </p:txBody>
      </p:sp>
      <p:sp>
        <p:nvSpPr>
          <p:cNvPr id="426" name="Google Shape;426;p25"/>
          <p:cNvSpPr/>
          <p:nvPr/>
        </p:nvSpPr>
        <p:spPr>
          <a:xfrm>
            <a:off x="2286000" y="45643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Every purchase pays pickers fair-trade rates</a:t>
            </a:r>
            <a:endParaRPr sz="1500" b="0" i="0" u="none" strike="noStrike" cap="none">
              <a:solidFill>
                <a:schemeClr val="dk1"/>
              </a:solidFill>
              <a:latin typeface="Calibri"/>
              <a:ea typeface="Calibri"/>
              <a:cs typeface="Calibri"/>
              <a:sym typeface="Calibri"/>
            </a:endParaRPr>
          </a:p>
        </p:txBody>
      </p:sp>
      <p:cxnSp>
        <p:nvCxnSpPr>
          <p:cNvPr id="427" name="Google Shape;427;p25"/>
          <p:cNvCxnSpPr/>
          <p:nvPr/>
        </p:nvCxnSpPr>
        <p:spPr>
          <a:xfrm>
            <a:off x="812800" y="4939035"/>
            <a:ext cx="6350000" cy="0"/>
          </a:xfrm>
          <a:prstGeom prst="straightConnector1">
            <a:avLst/>
          </a:prstGeom>
          <a:noFill/>
          <a:ln w="12700" cap="flat" cmpd="sng">
            <a:solidFill>
              <a:srgbClr val="D9CDB6"/>
            </a:solidFill>
            <a:prstDash val="solid"/>
            <a:round/>
            <a:headEnd type="none" w="sm" len="sm"/>
            <a:tailEnd type="none" w="sm" len="sm"/>
          </a:ln>
        </p:spPr>
      </p:cxnSp>
      <p:cxnSp>
        <p:nvCxnSpPr>
          <p:cNvPr id="428" name="Google Shape;428;p25"/>
          <p:cNvCxnSpPr/>
          <p:nvPr/>
        </p:nvCxnSpPr>
        <p:spPr>
          <a:xfrm>
            <a:off x="812800" y="5421635"/>
            <a:ext cx="6350000" cy="0"/>
          </a:xfrm>
          <a:prstGeom prst="straightConnector1">
            <a:avLst/>
          </a:prstGeom>
          <a:noFill/>
          <a:ln w="12700" cap="flat" cmpd="sng">
            <a:solidFill>
              <a:srgbClr val="D9CDB6"/>
            </a:solidFill>
            <a:prstDash val="solid"/>
            <a:round/>
            <a:headEnd type="none" w="sm" len="sm"/>
            <a:tailEnd type="none" w="sm" len="sm"/>
          </a:ln>
        </p:spPr>
      </p:cxnSp>
      <p:sp>
        <p:nvSpPr>
          <p:cNvPr id="429" name="Google Shape;429;p25"/>
          <p:cNvSpPr/>
          <p:nvPr/>
        </p:nvSpPr>
        <p:spPr>
          <a:xfrm>
            <a:off x="812800" y="5046985"/>
            <a:ext cx="1320800" cy="292100"/>
          </a:xfrm>
          <a:prstGeom prst="rect">
            <a:avLst/>
          </a:prstGeom>
          <a:noFill/>
          <a:ln>
            <a:noFill/>
          </a:ln>
        </p:spPr>
        <p:txBody>
          <a:bodyPr spcFirstLastPara="1" wrap="square" lIns="0" tIns="0" rIns="0" bIns="0" anchor="t" anchorCtr="0">
            <a:noAutofit/>
          </a:bodyPr>
          <a:lstStyle/>
          <a:p>
            <a:pPr marL="0" marR="0" lvl="0" indent="0" algn="l" rtl="0">
              <a:lnSpc>
                <a:spcPct val="175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LAUNCH</a:t>
            </a:r>
            <a:endParaRPr sz="1200" b="0" i="0" u="none" strike="noStrike" cap="none">
              <a:solidFill>
                <a:schemeClr val="dk1"/>
              </a:solidFill>
              <a:latin typeface="Calibri"/>
              <a:ea typeface="Calibri"/>
              <a:cs typeface="Calibri"/>
              <a:sym typeface="Calibri"/>
            </a:endParaRPr>
          </a:p>
        </p:txBody>
      </p:sp>
      <p:sp>
        <p:nvSpPr>
          <p:cNvPr id="430" name="Google Shape;430;p25"/>
          <p:cNvSpPr/>
          <p:nvPr/>
        </p:nvSpPr>
        <p:spPr>
          <a:xfrm>
            <a:off x="2286000" y="5046985"/>
            <a:ext cx="497078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a:solidFill>
                  <a:srgbClr val="1F2A24"/>
                </a:solidFill>
                <a:latin typeface="DM Sans"/>
                <a:ea typeface="DM Sans"/>
                <a:cs typeface="DM Sans"/>
                <a:sym typeface="DM Sans"/>
              </a:rPr>
              <a:t>https://looptote.netlify.app/</a:t>
            </a:r>
            <a:endParaRPr sz="1500" b="0" i="0" u="none" strike="noStrike" cap="none">
              <a:solidFill>
                <a:schemeClr val="dk1"/>
              </a:solidFill>
              <a:latin typeface="Calibri"/>
              <a:ea typeface="Calibri"/>
              <a:cs typeface="Calibri"/>
              <a:sym typeface="Calibri"/>
            </a:endParaRPr>
          </a:p>
        </p:txBody>
      </p:sp>
      <p:sp>
        <p:nvSpPr>
          <p:cNvPr id="431" name="Google Shape;431;p25"/>
          <p:cNvSpPr/>
          <p:nvPr/>
        </p:nvSpPr>
        <p:spPr>
          <a:xfrm>
            <a:off x="7467600" y="2037085"/>
            <a:ext cx="3911600" cy="3390900"/>
          </a:xfrm>
          <a:prstGeom prst="roundRect">
            <a:avLst>
              <a:gd name="adj" fmla="val 449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7721600" y="2291085"/>
            <a:ext cx="350570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REEL IDEA</a:t>
            </a:r>
            <a:endParaRPr sz="1200" b="0" i="0" u="none" strike="noStrike" cap="none">
              <a:solidFill>
                <a:schemeClr val="dk1"/>
              </a:solidFill>
              <a:latin typeface="Calibri"/>
              <a:ea typeface="Calibri"/>
              <a:cs typeface="Calibri"/>
              <a:sym typeface="Calibri"/>
            </a:endParaRPr>
          </a:p>
        </p:txBody>
      </p:sp>
      <p:sp>
        <p:nvSpPr>
          <p:cNvPr id="433" name="Google Shape;433;p25"/>
          <p:cNvSpPr/>
          <p:nvPr/>
        </p:nvSpPr>
        <p:spPr>
          <a:xfrm>
            <a:off x="7721600" y="2631442"/>
            <a:ext cx="35057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0E6"/>
              </a:buClr>
              <a:buSzPts val="2200"/>
              <a:buFont typeface="Fraunces"/>
              <a:buNone/>
            </a:pPr>
            <a:r>
              <a:rPr lang="en-US" sz="2200" b="0" i="0" u="none" strike="noStrike" cap="none">
                <a:solidFill>
                  <a:srgbClr val="F5F0E6"/>
                </a:solidFill>
                <a:latin typeface="Fraunces"/>
                <a:ea typeface="Fraunces"/>
                <a:cs typeface="Fraunces"/>
                <a:sym typeface="Fraunces"/>
              </a:rPr>
              <a:t>Fast, tactile product reveal.</a:t>
            </a:r>
            <a:endParaRPr sz="2200" b="0" i="0" u="none" strike="noStrike" cap="none">
              <a:solidFill>
                <a:schemeClr val="dk1"/>
              </a:solidFill>
              <a:latin typeface="Calibri"/>
              <a:ea typeface="Calibri"/>
              <a:cs typeface="Calibri"/>
              <a:sym typeface="Calibri"/>
            </a:endParaRPr>
          </a:p>
        </p:txBody>
      </p:sp>
      <p:sp>
        <p:nvSpPr>
          <p:cNvPr id="434" name="Google Shape;434;p25"/>
          <p:cNvSpPr/>
          <p:nvPr/>
        </p:nvSpPr>
        <p:spPr>
          <a:xfrm>
            <a:off x="7721600" y="3568915"/>
            <a:ext cx="3505800" cy="8256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FD8CF"/>
              </a:buClr>
              <a:buSzPts val="1500"/>
              <a:buFont typeface="DM Sans"/>
              <a:buNone/>
            </a:pPr>
            <a:r>
              <a:rPr lang="en-US" sz="1500" b="0" i="0" u="none" strike="noStrike" cap="none">
                <a:solidFill>
                  <a:srgbClr val="CFD8CF"/>
                </a:solidFill>
                <a:latin typeface="DM Sans"/>
                <a:ea typeface="DM Sans"/>
                <a:cs typeface="DM Sans"/>
                <a:sym typeface="DM Sans"/>
              </a:rPr>
              <a:t>A pile of 14 clean bottles on a table, then cut to the finished tote in three colours against a Bandung street.</a:t>
            </a:r>
            <a:endParaRPr sz="1500" b="0" i="0" u="none" strike="noStrike" cap="none">
              <a:solidFill>
                <a:schemeClr val="dk1"/>
              </a:solidFill>
              <a:latin typeface="Calibri"/>
              <a:ea typeface="Calibri"/>
              <a:cs typeface="Calibri"/>
              <a:sym typeface="Calibri"/>
            </a:endParaRPr>
          </a:p>
        </p:txBody>
      </p:sp>
      <p:sp>
        <p:nvSpPr>
          <p:cNvPr id="435" name="Google Shape;435;p25"/>
          <p:cNvSpPr/>
          <p:nvPr/>
        </p:nvSpPr>
        <p:spPr>
          <a:xfrm>
            <a:off x="7721600" y="4716785"/>
            <a:ext cx="350570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Instagram Reel · about </a:t>
            </a:r>
            <a:r>
              <a:rPr lang="en-US" sz="1200">
                <a:solidFill>
                  <a:srgbClr val="E3A83E"/>
                </a:solidFill>
                <a:latin typeface="DM Sans"/>
                <a:ea typeface="DM Sans"/>
                <a:cs typeface="DM Sans"/>
                <a:sym typeface="DM Sans"/>
              </a:rPr>
              <a:t>1</a:t>
            </a:r>
            <a:r>
              <a:rPr lang="en-US" sz="1200" b="0" i="0" u="none" strike="noStrike" cap="none">
                <a:solidFill>
                  <a:srgbClr val="E3A83E"/>
                </a:solidFill>
                <a:latin typeface="DM Sans"/>
                <a:ea typeface="DM Sans"/>
                <a:cs typeface="DM Sans"/>
                <a:sym typeface="DM Sans"/>
              </a:rPr>
              <a:t>0 seconds</a:t>
            </a:r>
            <a:endParaRPr sz="12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Launch: Sat 10 </a:t>
            </a:r>
            <a:r>
              <a:rPr lang="en-US" sz="1200">
                <a:solidFill>
                  <a:srgbClr val="E3A83E"/>
                </a:solidFill>
                <a:latin typeface="DM Sans"/>
                <a:ea typeface="DM Sans"/>
                <a:cs typeface="DM Sans"/>
                <a:sym typeface="DM Sans"/>
              </a:rPr>
              <a:t>Oct</a:t>
            </a:r>
            <a:r>
              <a:rPr lang="en-US" sz="1200" b="0" i="0" u="none" strike="noStrike" cap="none">
                <a:solidFill>
                  <a:srgbClr val="E3A83E"/>
                </a:solidFill>
                <a:latin typeface="DM Sans"/>
                <a:ea typeface="DM Sans"/>
                <a:cs typeface="DM Sans"/>
                <a:sym typeface="DM Sans"/>
              </a:rPr>
              <a: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440"/>
        <p:cNvGrpSpPr/>
        <p:nvPr/>
      </p:nvGrpSpPr>
      <p:grpSpPr>
        <a:xfrm>
          <a:off x="0" y="0"/>
          <a:ext cx="0" cy="0"/>
          <a:chOff x="0" y="0"/>
          <a:chExt cx="0" cy="0"/>
        </a:xfrm>
      </p:grpSpPr>
      <p:sp>
        <p:nvSpPr>
          <p:cNvPr id="441" name="Google Shape;441;p26"/>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1 OF 4</a:t>
            </a:r>
            <a:endParaRPr sz="1200" b="0" i="0" u="none" strike="noStrike" cap="none">
              <a:solidFill>
                <a:schemeClr val="dk1"/>
              </a:solidFill>
              <a:latin typeface="Calibri"/>
              <a:ea typeface="Calibri"/>
              <a:cs typeface="Calibri"/>
              <a:sym typeface="Calibri"/>
            </a:endParaRPr>
          </a:p>
        </p:txBody>
      </p:sp>
      <p:sp>
        <p:nvSpPr>
          <p:cNvPr id="442" name="Google Shape;442;p26"/>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Write the caption and on-screen text</a:t>
            </a:r>
            <a:endParaRPr sz="3600" b="0" i="0" u="none" strike="noStrike" cap="none">
              <a:solidFill>
                <a:schemeClr val="dk1"/>
              </a:solidFill>
              <a:latin typeface="Calibri"/>
              <a:ea typeface="Calibri"/>
              <a:cs typeface="Calibri"/>
              <a:sym typeface="Calibri"/>
            </a:endParaRPr>
          </a:p>
        </p:txBody>
      </p:sp>
      <p:sp>
        <p:nvSpPr>
          <p:cNvPr id="443" name="Google Shape;443;p26"/>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44" name="Google Shape;444;p26"/>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Open a new chat in ChatGPT, Claude or Gemini.</a:t>
            </a:r>
            <a:endParaRPr sz="1500" b="0" i="0" u="none" strike="noStrike" cap="none">
              <a:solidFill>
                <a:schemeClr val="dk1"/>
              </a:solidFill>
              <a:latin typeface="Calibri"/>
              <a:ea typeface="Calibri"/>
              <a:cs typeface="Calibri"/>
              <a:sym typeface="Calibri"/>
            </a:endParaRPr>
          </a:p>
        </p:txBody>
      </p:sp>
      <p:sp>
        <p:nvSpPr>
          <p:cNvPr id="445" name="Google Shape;445;p26"/>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46" name="Google Shape;446;p26"/>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Copy the prompt, fill in the [brackets] and paste the Loop Tote brief at the end.</a:t>
            </a:r>
            <a:endParaRPr sz="1500" b="0" i="0" u="none" strike="noStrike" cap="none">
              <a:solidFill>
                <a:schemeClr val="dk1"/>
              </a:solidFill>
              <a:latin typeface="Calibri"/>
              <a:ea typeface="Calibri"/>
              <a:cs typeface="Calibri"/>
              <a:sym typeface="Calibri"/>
            </a:endParaRPr>
          </a:p>
        </p:txBody>
      </p:sp>
      <p:sp>
        <p:nvSpPr>
          <p:cNvPr id="447" name="Google Shape;447;p26"/>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48" name="Google Shape;448;p26"/>
          <p:cNvSpPr/>
          <p:nvPr/>
        </p:nvSpPr>
        <p:spPr>
          <a:xfrm>
            <a:off x="1244600" y="3459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once: “Make the hook more surprising” or “Ask me 3 questions first.”</a:t>
            </a:r>
            <a:endParaRPr sz="1500" b="0" i="0" u="none" strike="noStrike" cap="none">
              <a:solidFill>
                <a:schemeClr val="dk1"/>
              </a:solidFill>
              <a:latin typeface="Calibri"/>
              <a:ea typeface="Calibri"/>
              <a:cs typeface="Calibri"/>
              <a:sym typeface="Calibri"/>
            </a:endParaRPr>
          </a:p>
        </p:txBody>
      </p:sp>
      <p:sp>
        <p:nvSpPr>
          <p:cNvPr id="449" name="Google Shape;449;p26"/>
          <p:cNvSpPr/>
          <p:nvPr/>
        </p:nvSpPr>
        <p:spPr>
          <a:xfrm>
            <a:off x="812800" y="4170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50" name="Google Shape;450;p26"/>
          <p:cNvSpPr/>
          <p:nvPr/>
        </p:nvSpPr>
        <p:spPr>
          <a:xfrm>
            <a:off x="1244600" y="4170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14 bottles, West Java, Bandung, three colours. Nothing invented?</a:t>
            </a:r>
            <a:endParaRPr sz="1500" b="0" i="0" u="none" strike="noStrike" cap="none">
              <a:solidFill>
                <a:schemeClr val="dk1"/>
              </a:solidFill>
              <a:latin typeface="Calibri"/>
              <a:ea typeface="Calibri"/>
              <a:cs typeface="Calibri"/>
              <a:sym typeface="Calibri"/>
            </a:endParaRPr>
          </a:p>
        </p:txBody>
      </p:sp>
      <p:sp>
        <p:nvSpPr>
          <p:cNvPr id="451" name="Google Shape;451;p26"/>
          <p:cNvSpPr/>
          <p:nvPr/>
        </p:nvSpPr>
        <p:spPr>
          <a:xfrm>
            <a:off x="5054600" y="2037085"/>
            <a:ext cx="6324600" cy="350012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53" name="Google Shape;453;p26"/>
          <p:cNvSpPr/>
          <p:nvPr/>
        </p:nvSpPr>
        <p:spPr>
          <a:xfrm>
            <a:off x="5308600" y="2631442"/>
            <a:ext cx="5991098" cy="26771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You are the social media writer for Loop Tote, an Indonesian impact brand that makes bags from recycled plastic bottles.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the text for our Instagram launch reel:</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1. A caption: a hook under 8 words, two short paragraphs, then a call to action. Under 90 words.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2. Three lines of on-screen text: a hook, a middle line and a closing line.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Audience: [who you want to reach]. Tone: warm and proud, not preachy. Use only the facts below and add no new numbers.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[Paste the Loop Tote brief]</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458"/>
        <p:cNvGrpSpPr/>
        <p:nvPr/>
      </p:nvGrpSpPr>
      <p:grpSpPr>
        <a:xfrm>
          <a:off x="0" y="0"/>
          <a:ext cx="0" cy="0"/>
          <a:chOff x="0" y="0"/>
          <a:chExt cx="0" cy="0"/>
        </a:xfrm>
      </p:grpSpPr>
      <p:sp>
        <p:nvSpPr>
          <p:cNvPr id="459" name="Google Shape;459;p27"/>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2 OF 4</a:t>
            </a:r>
            <a:endParaRPr sz="1200" b="0" i="0" u="none" strike="noStrike" cap="none">
              <a:solidFill>
                <a:schemeClr val="dk1"/>
              </a:solidFill>
              <a:latin typeface="Calibri"/>
              <a:ea typeface="Calibri"/>
              <a:cs typeface="Calibri"/>
              <a:sym typeface="Calibri"/>
            </a:endParaRPr>
          </a:p>
        </p:txBody>
      </p:sp>
      <p:sp>
        <p:nvSpPr>
          <p:cNvPr id="460" name="Google Shape;460;p27"/>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Turn it into a video prompt</a:t>
            </a:r>
            <a:endParaRPr sz="3600" b="0" i="0" u="none" strike="noStrike" cap="none">
              <a:solidFill>
                <a:schemeClr val="dk1"/>
              </a:solidFill>
              <a:latin typeface="Calibri"/>
              <a:ea typeface="Calibri"/>
              <a:cs typeface="Calibri"/>
              <a:sym typeface="Calibri"/>
            </a:endParaRPr>
          </a:p>
        </p:txBody>
      </p:sp>
      <p:sp>
        <p:nvSpPr>
          <p:cNvPr id="461" name="Google Shape;461;p27"/>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62" name="Google Shape;462;p27"/>
          <p:cNvSpPr/>
          <p:nvPr/>
        </p:nvSpPr>
        <p:spPr>
          <a:xfrm>
            <a:off x="1244600" y="20370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 so it remembers your caption.</a:t>
            </a:r>
            <a:endParaRPr sz="1500" b="0" i="0" u="none" strike="noStrike" cap="none">
              <a:solidFill>
                <a:schemeClr val="dk1"/>
              </a:solidFill>
              <a:latin typeface="Calibri"/>
              <a:ea typeface="Calibri"/>
              <a:cs typeface="Calibri"/>
              <a:sym typeface="Calibri"/>
            </a:endParaRPr>
          </a:p>
        </p:txBody>
      </p:sp>
      <p:sp>
        <p:nvSpPr>
          <p:cNvPr id="463" name="Google Shape;463;p27"/>
          <p:cNvSpPr/>
          <p:nvPr/>
        </p:nvSpPr>
        <p:spPr>
          <a:xfrm>
            <a:off x="812800" y="2748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64" name="Google Shape;464;p27"/>
          <p:cNvSpPr/>
          <p:nvPr/>
        </p:nvSpPr>
        <p:spPr>
          <a:xfrm>
            <a:off x="1244600" y="27482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 Adjust the scenes if you have a better idea.</a:t>
            </a:r>
            <a:endParaRPr sz="1500" b="0" i="0" u="none" strike="noStrike" cap="none">
              <a:solidFill>
                <a:schemeClr val="dk1"/>
              </a:solidFill>
              <a:latin typeface="Calibri"/>
              <a:ea typeface="Calibri"/>
              <a:cs typeface="Calibri"/>
              <a:sym typeface="Calibri"/>
            </a:endParaRPr>
          </a:p>
        </p:txBody>
      </p:sp>
      <p:sp>
        <p:nvSpPr>
          <p:cNvPr id="465" name="Google Shape;465;p27"/>
          <p:cNvSpPr/>
          <p:nvPr/>
        </p:nvSpPr>
        <p:spPr>
          <a:xfrm>
            <a:off x="812800" y="3459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66" name="Google Shape;466;p27"/>
          <p:cNvSpPr/>
          <p:nvPr/>
        </p:nvSpPr>
        <p:spPr>
          <a:xfrm>
            <a:off x="1244600" y="3459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Copy the result into your team's AI video tool and generate.</a:t>
            </a:r>
            <a:endParaRPr sz="1500" b="0" i="0" u="none" strike="noStrike" cap="none">
              <a:solidFill>
                <a:schemeClr val="dk1"/>
              </a:solidFill>
              <a:latin typeface="Calibri"/>
              <a:ea typeface="Calibri"/>
              <a:cs typeface="Calibri"/>
              <a:sym typeface="Calibri"/>
            </a:endParaRPr>
          </a:p>
        </p:txBody>
      </p:sp>
      <p:sp>
        <p:nvSpPr>
          <p:cNvPr id="467" name="Google Shape;467;p27"/>
          <p:cNvSpPr/>
          <p:nvPr/>
        </p:nvSpPr>
        <p:spPr>
          <a:xfrm>
            <a:off x="812800" y="4170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68" name="Google Shape;468;p27"/>
          <p:cNvSpPr/>
          <p:nvPr/>
        </p:nvSpPr>
        <p:spPr>
          <a:xfrm>
            <a:off x="1244600" y="4170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never show AI-made “pickers” as real people. Real faces need real footage.</a:t>
            </a:r>
            <a:endParaRPr sz="1500" b="0" i="0" u="none" strike="noStrike" cap="none">
              <a:solidFill>
                <a:schemeClr val="dk1"/>
              </a:solidFill>
              <a:latin typeface="Calibri"/>
              <a:ea typeface="Calibri"/>
              <a:cs typeface="Calibri"/>
              <a:sym typeface="Calibri"/>
            </a:endParaRPr>
          </a:p>
        </p:txBody>
      </p:sp>
      <p:sp>
        <p:nvSpPr>
          <p:cNvPr id="469" name="Google Shape;469;p27"/>
          <p:cNvSpPr/>
          <p:nvPr/>
        </p:nvSpPr>
        <p:spPr>
          <a:xfrm>
            <a:off x="5054600" y="2037074"/>
            <a:ext cx="6339300" cy="3859800"/>
          </a:xfrm>
          <a:prstGeom prst="roundRect">
            <a:avLst>
              <a:gd name="adj" fmla="val 4354"/>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71" name="Google Shape;471;p27"/>
          <p:cNvSpPr/>
          <p:nvPr/>
        </p:nvSpPr>
        <p:spPr>
          <a:xfrm>
            <a:off x="5308600" y="2631442"/>
            <a:ext cx="5991098" cy="26771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Now act as a video director. Write a prompt for an AI video tool to create a </a:t>
            </a:r>
            <a:r>
              <a:rPr lang="en-US" sz="1200">
                <a:solidFill>
                  <a:srgbClr val="F5F0E6"/>
                </a:solidFill>
                <a:latin typeface="DM Sans"/>
                <a:ea typeface="DM Sans"/>
                <a:cs typeface="DM Sans"/>
                <a:sym typeface="DM Sans"/>
              </a:rPr>
              <a:t>1</a:t>
            </a:r>
            <a:r>
              <a:rPr lang="en-US" sz="1200" b="0" i="0" u="none" strike="noStrike" cap="none">
                <a:solidFill>
                  <a:srgbClr val="F5F0E6"/>
                </a:solidFill>
                <a:latin typeface="DM Sans"/>
                <a:ea typeface="DM Sans"/>
                <a:cs typeface="DM Sans"/>
                <a:sym typeface="DM Sans"/>
              </a:rPr>
              <a:t>0-second vertical (9:16) Instagram reel for this launch.</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Describe it shot by shot with timings: what we see, camera movement, lighting, on-screen text and mood.</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Story: a pile of 14 clean plastic bottles on a table → washing, shredding, yarn, weaving → the finished tote in sea-green, indigo and sand, carried on a Bandung street.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Fast, tactile, bright daylight. Use the on-screen text you wrote. Under 150 words, plain language, no other brands or logos.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476"/>
        <p:cNvGrpSpPr/>
        <p:nvPr/>
      </p:nvGrpSpPr>
      <p:grpSpPr>
        <a:xfrm>
          <a:off x="0" y="0"/>
          <a:ext cx="0" cy="0"/>
          <a:chOff x="0" y="0"/>
          <a:chExt cx="0" cy="0"/>
        </a:xfrm>
      </p:grpSpPr>
      <p:sp>
        <p:nvSpPr>
          <p:cNvPr id="477" name="Google Shape;477;p28"/>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3 OF 4</a:t>
            </a:r>
            <a:endParaRPr sz="1200" b="0" i="0" u="none" strike="noStrike" cap="none">
              <a:solidFill>
                <a:schemeClr val="dk1"/>
              </a:solidFill>
              <a:latin typeface="Calibri"/>
              <a:ea typeface="Calibri"/>
              <a:cs typeface="Calibri"/>
              <a:sym typeface="Calibri"/>
            </a:endParaRPr>
          </a:p>
        </p:txBody>
      </p:sp>
      <p:sp>
        <p:nvSpPr>
          <p:cNvPr id="478" name="Google Shape;478;p28"/>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Find the right hashtags</a:t>
            </a:r>
            <a:endParaRPr sz="3600" b="0" i="0" u="none" strike="noStrike" cap="none">
              <a:solidFill>
                <a:schemeClr val="dk1"/>
              </a:solidFill>
              <a:latin typeface="Calibri"/>
              <a:ea typeface="Calibri"/>
              <a:cs typeface="Calibri"/>
              <a:sym typeface="Calibri"/>
            </a:endParaRPr>
          </a:p>
        </p:txBody>
      </p:sp>
      <p:sp>
        <p:nvSpPr>
          <p:cNvPr id="479" name="Google Shape;479;p28"/>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80" name="Google Shape;480;p28"/>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481" name="Google Shape;481;p28"/>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482" name="Google Shape;482;p28"/>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483" name="Google Shape;483;p28"/>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484" name="Google Shape;484;p28"/>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Refine: “Which of these are overused or too broad?”</a:t>
            </a:r>
            <a:endParaRPr sz="1500" b="0" i="0" u="none" strike="noStrike" cap="none">
              <a:solidFill>
                <a:schemeClr val="dk1"/>
              </a:solidFill>
              <a:latin typeface="Calibri"/>
              <a:ea typeface="Calibri"/>
              <a:cs typeface="Calibri"/>
              <a:sym typeface="Calibri"/>
            </a:endParaRPr>
          </a:p>
        </p:txBody>
      </p:sp>
      <p:sp>
        <p:nvSpPr>
          <p:cNvPr id="485" name="Google Shape;485;p28"/>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486" name="Google Shape;486;p28"/>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search each hashtag on Instagram. Is it active and on-topic?</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5054600" y="2037073"/>
            <a:ext cx="6382500" cy="2769000"/>
          </a:xfrm>
          <a:prstGeom prst="roundRect">
            <a:avLst>
              <a:gd name="adj" fmla="val 6363"/>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8"/>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489" name="Google Shape;489;p28"/>
          <p:cNvSpPr/>
          <p:nvPr/>
        </p:nvSpPr>
        <p:spPr>
          <a:xfrm>
            <a:off x="5308600" y="2631442"/>
            <a:ext cx="5991098" cy="15722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Suggest 12 Instagram hashtags for this post:</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3 for the brand and campaign (always include #LoopTote)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5 on the topic: recycled fashion, plastic, sustainability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 4 local ones for Indonesia and Bandung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Mix popular and niche tags. Give one line on why each fits, then mark the 5 you would use.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494"/>
        <p:cNvGrpSpPr/>
        <p:nvPr/>
      </p:nvGrpSpPr>
      <p:grpSpPr>
        <a:xfrm>
          <a:off x="0" y="0"/>
          <a:ext cx="0" cy="0"/>
          <a:chOff x="0" y="0"/>
          <a:chExt cx="0" cy="0"/>
        </a:xfrm>
      </p:grpSpPr>
      <p:sp>
        <p:nvSpPr>
          <p:cNvPr id="495" name="Google Shape;495;p29"/>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STEP 4 OF 4</a:t>
            </a:r>
            <a:endParaRPr sz="1200" b="0" i="0" u="none" strike="noStrike" cap="none">
              <a:solidFill>
                <a:schemeClr val="dk1"/>
              </a:solidFill>
              <a:latin typeface="Calibri"/>
              <a:ea typeface="Calibri"/>
              <a:cs typeface="Calibri"/>
              <a:sym typeface="Calibri"/>
            </a:endParaRPr>
          </a:p>
        </p:txBody>
      </p:sp>
      <p:sp>
        <p:nvSpPr>
          <p:cNvPr id="496" name="Google Shape;496;p29"/>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Create three variations</a:t>
            </a:r>
            <a:endParaRPr sz="3600" b="0" i="0" u="none" strike="noStrike" cap="none">
              <a:solidFill>
                <a:schemeClr val="dk1"/>
              </a:solidFill>
              <a:latin typeface="Calibri"/>
              <a:ea typeface="Calibri"/>
              <a:cs typeface="Calibri"/>
              <a:sym typeface="Calibri"/>
            </a:endParaRPr>
          </a:p>
        </p:txBody>
      </p:sp>
      <p:sp>
        <p:nvSpPr>
          <p:cNvPr id="497" name="Google Shape;497;p29"/>
          <p:cNvSpPr/>
          <p:nvPr/>
        </p:nvSpPr>
        <p:spPr>
          <a:xfrm>
            <a:off x="812800" y="20370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1</a:t>
            </a:r>
            <a:endParaRPr sz="2200" b="0" i="0" u="none" strike="noStrike" cap="none">
              <a:solidFill>
                <a:schemeClr val="dk1"/>
              </a:solidFill>
              <a:latin typeface="Calibri"/>
              <a:ea typeface="Calibri"/>
              <a:cs typeface="Calibri"/>
              <a:sym typeface="Calibri"/>
            </a:endParaRPr>
          </a:p>
        </p:txBody>
      </p:sp>
      <p:sp>
        <p:nvSpPr>
          <p:cNvPr id="498" name="Google Shape;498;p29"/>
          <p:cNvSpPr/>
          <p:nvPr/>
        </p:nvSpPr>
        <p:spPr>
          <a:xfrm>
            <a:off x="1244600" y="20370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Stay in the same chat.</a:t>
            </a:r>
            <a:endParaRPr sz="1500" b="0" i="0" u="none" strike="noStrike" cap="none">
              <a:solidFill>
                <a:schemeClr val="dk1"/>
              </a:solidFill>
              <a:latin typeface="Calibri"/>
              <a:ea typeface="Calibri"/>
              <a:cs typeface="Calibri"/>
              <a:sym typeface="Calibri"/>
            </a:endParaRPr>
          </a:p>
        </p:txBody>
      </p:sp>
      <p:sp>
        <p:nvSpPr>
          <p:cNvPr id="499" name="Google Shape;499;p29"/>
          <p:cNvSpPr/>
          <p:nvPr/>
        </p:nvSpPr>
        <p:spPr>
          <a:xfrm>
            <a:off x="812800" y="24942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2</a:t>
            </a:r>
            <a:endParaRPr sz="2200" b="0" i="0" u="none" strike="noStrike" cap="none">
              <a:solidFill>
                <a:schemeClr val="dk1"/>
              </a:solidFill>
              <a:latin typeface="Calibri"/>
              <a:ea typeface="Calibri"/>
              <a:cs typeface="Calibri"/>
              <a:sym typeface="Calibri"/>
            </a:endParaRPr>
          </a:p>
        </p:txBody>
      </p:sp>
      <p:sp>
        <p:nvSpPr>
          <p:cNvPr id="500" name="Google Shape;500;p29"/>
          <p:cNvSpPr/>
          <p:nvPr/>
        </p:nvSpPr>
        <p:spPr>
          <a:xfrm>
            <a:off x="1244600" y="2494285"/>
            <a:ext cx="361035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Paste the prompt.</a:t>
            </a:r>
            <a:endParaRPr sz="1500" b="0" i="0" u="none" strike="noStrike" cap="none">
              <a:solidFill>
                <a:schemeClr val="dk1"/>
              </a:solidFill>
              <a:latin typeface="Calibri"/>
              <a:ea typeface="Calibri"/>
              <a:cs typeface="Calibri"/>
              <a:sym typeface="Calibri"/>
            </a:endParaRPr>
          </a:p>
        </p:txBody>
      </p:sp>
      <p:sp>
        <p:nvSpPr>
          <p:cNvPr id="501" name="Google Shape;501;p29"/>
          <p:cNvSpPr/>
          <p:nvPr/>
        </p:nvSpPr>
        <p:spPr>
          <a:xfrm>
            <a:off x="812800" y="29514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3</a:t>
            </a:r>
            <a:endParaRPr sz="2200" b="0" i="0" u="none" strike="noStrike" cap="none">
              <a:solidFill>
                <a:schemeClr val="dk1"/>
              </a:solidFill>
              <a:latin typeface="Calibri"/>
              <a:ea typeface="Calibri"/>
              <a:cs typeface="Calibri"/>
              <a:sym typeface="Calibri"/>
            </a:endParaRPr>
          </a:p>
        </p:txBody>
      </p:sp>
      <p:sp>
        <p:nvSpPr>
          <p:cNvPr id="502" name="Google Shape;502;p29"/>
          <p:cNvSpPr/>
          <p:nvPr/>
        </p:nvSpPr>
        <p:spPr>
          <a:xfrm>
            <a:off x="1244600" y="29514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Ask: “Which would you post first, and why?”</a:t>
            </a:r>
            <a:endParaRPr sz="1500" b="0" i="0" u="none" strike="noStrike" cap="none">
              <a:solidFill>
                <a:schemeClr val="dk1"/>
              </a:solidFill>
              <a:latin typeface="Calibri"/>
              <a:ea typeface="Calibri"/>
              <a:cs typeface="Calibri"/>
              <a:sym typeface="Calibri"/>
            </a:endParaRPr>
          </a:p>
        </p:txBody>
      </p:sp>
      <p:sp>
        <p:nvSpPr>
          <p:cNvPr id="503" name="Google Shape;503;p29"/>
          <p:cNvSpPr/>
          <p:nvPr/>
        </p:nvSpPr>
        <p:spPr>
          <a:xfrm>
            <a:off x="812800" y="3662685"/>
            <a:ext cx="3556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5532B"/>
              </a:buClr>
              <a:buSzPts val="2200"/>
              <a:buFont typeface="Fraunces"/>
              <a:buNone/>
            </a:pPr>
            <a:r>
              <a:rPr lang="en-US" sz="2200" b="0" i="0" u="none" strike="noStrike" cap="none">
                <a:solidFill>
                  <a:srgbClr val="B5532B"/>
                </a:solidFill>
                <a:latin typeface="Fraunces"/>
                <a:ea typeface="Fraunces"/>
                <a:cs typeface="Fraunces"/>
                <a:sym typeface="Fraunces"/>
              </a:rPr>
              <a:t>4</a:t>
            </a:r>
            <a:endParaRPr sz="2200" b="0" i="0" u="none" strike="noStrike" cap="none">
              <a:solidFill>
                <a:schemeClr val="dk1"/>
              </a:solidFill>
              <a:latin typeface="Calibri"/>
              <a:ea typeface="Calibri"/>
              <a:cs typeface="Calibri"/>
              <a:sym typeface="Calibri"/>
            </a:endParaRPr>
          </a:p>
        </p:txBody>
      </p:sp>
      <p:sp>
        <p:nvSpPr>
          <p:cNvPr id="504" name="Google Shape;504;p29"/>
          <p:cNvSpPr/>
          <p:nvPr/>
        </p:nvSpPr>
        <p:spPr>
          <a:xfrm>
            <a:off x="1244600" y="3662685"/>
            <a:ext cx="361035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F2A24"/>
              </a:buClr>
              <a:buSzPts val="1500"/>
              <a:buFont typeface="DM Sans"/>
              <a:buNone/>
            </a:pPr>
            <a:r>
              <a:rPr lang="en-US" sz="1500" b="0" i="0" u="none" strike="noStrike" cap="none">
                <a:solidFill>
                  <a:srgbClr val="1F2A24"/>
                </a:solidFill>
                <a:latin typeface="DM Sans"/>
                <a:ea typeface="DM Sans"/>
                <a:cs typeface="DM Sans"/>
                <a:sym typeface="DM Sans"/>
              </a:rPr>
              <a:t>Check: are the facts identical in all three? Pick the one you would publish.</a:t>
            </a:r>
            <a:endParaRPr sz="1500" b="0" i="0" u="none" strike="noStrike" cap="none">
              <a:solidFill>
                <a:schemeClr val="dk1"/>
              </a:solidFill>
              <a:latin typeface="Calibri"/>
              <a:ea typeface="Calibri"/>
              <a:cs typeface="Calibri"/>
              <a:sym typeface="Calibri"/>
            </a:endParaRPr>
          </a:p>
        </p:txBody>
      </p:sp>
      <p:sp>
        <p:nvSpPr>
          <p:cNvPr id="505" name="Google Shape;505;p29"/>
          <p:cNvSpPr/>
          <p:nvPr/>
        </p:nvSpPr>
        <p:spPr>
          <a:xfrm>
            <a:off x="5054600" y="2037073"/>
            <a:ext cx="6350100" cy="3125400"/>
          </a:xfrm>
          <a:prstGeom prst="roundRect">
            <a:avLst>
              <a:gd name="adj" fmla="val 5825"/>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5308600" y="2291085"/>
            <a:ext cx="599109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COPY THIS PROMPT</a:t>
            </a:r>
            <a:endParaRPr sz="1200" b="0" i="0" u="none" strike="noStrike" cap="none">
              <a:solidFill>
                <a:schemeClr val="dk1"/>
              </a:solidFill>
              <a:latin typeface="Calibri"/>
              <a:ea typeface="Calibri"/>
              <a:cs typeface="Calibri"/>
              <a:sym typeface="Calibri"/>
            </a:endParaRPr>
          </a:p>
        </p:txBody>
      </p:sp>
      <p:sp>
        <p:nvSpPr>
          <p:cNvPr id="507" name="Google Shape;507;p29"/>
          <p:cNvSpPr/>
          <p:nvPr/>
        </p:nvSpPr>
        <p:spPr>
          <a:xfrm>
            <a:off x="5308600" y="2631442"/>
            <a:ext cx="5991098" cy="179324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Write 3 variations of the caption, each with 5 hashtags, from three angles:</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A. The people: the pickers of West Java and fair-trade pay</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B. The style: three colours for everyday life</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C. The number: 14 bottles, 1 bag</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Keep every fact the same. Under 90 words each. Label them A, B and C.</a:t>
            </a: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45000"/>
              </a:lnSpc>
              <a:spcBef>
                <a:spcPts val="0"/>
              </a:spcBef>
              <a:spcAft>
                <a:spcPts val="0"/>
              </a:spcAft>
              <a:buClr>
                <a:srgbClr val="F5F0E6"/>
              </a:buClr>
              <a:buSzPts val="1200"/>
              <a:buFont typeface="DM Sans"/>
              <a:buNone/>
            </a:pPr>
            <a:r>
              <a:rPr lang="en-US" sz="1200" b="0" i="0" u="none" strike="noStrike" cap="none">
                <a:solidFill>
                  <a:srgbClr val="F5F0E6"/>
                </a:solidFill>
                <a:latin typeface="DM Sans"/>
                <a:ea typeface="DM Sans"/>
                <a:cs typeface="DM Sans"/>
                <a:sym typeface="DM Sans"/>
              </a:rPr>
              <a:t>Then add a short table comparing the hook, tone and best audience for each.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5F0E6"/>
        </a:solidFill>
        <a:effectLst/>
      </p:bgPr>
    </p:bg>
    <p:spTree>
      <p:nvGrpSpPr>
        <p:cNvPr id="1" name="Shape 512"/>
        <p:cNvGrpSpPr/>
        <p:nvPr/>
      </p:nvGrpSpPr>
      <p:grpSpPr>
        <a:xfrm>
          <a:off x="0" y="0"/>
          <a:ext cx="0" cy="0"/>
          <a:chOff x="0" y="0"/>
          <a:chExt cx="0" cy="0"/>
        </a:xfrm>
      </p:grpSpPr>
      <p:sp>
        <p:nvSpPr>
          <p:cNvPr id="513" name="Google Shape;513;p30"/>
          <p:cNvSpPr/>
          <p:nvPr/>
        </p:nvSpPr>
        <p:spPr>
          <a:xfrm>
            <a:off x="812800" y="812800"/>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HANDS-ON · COMPARE</a:t>
            </a:r>
            <a:endParaRPr sz="1200" b="0" i="0" u="none" strike="noStrike" cap="none">
              <a:solidFill>
                <a:schemeClr val="dk1"/>
              </a:solidFill>
              <a:latin typeface="Calibri"/>
              <a:ea typeface="Calibri"/>
              <a:cs typeface="Calibri"/>
              <a:sym typeface="Calibri"/>
            </a:endParaRPr>
          </a:p>
        </p:txBody>
      </p:sp>
      <p:sp>
        <p:nvSpPr>
          <p:cNvPr id="514" name="Google Shape;514;p30"/>
          <p:cNvSpPr/>
          <p:nvPr/>
        </p:nvSpPr>
        <p:spPr>
          <a:xfrm>
            <a:off x="812800" y="1280158"/>
            <a:ext cx="10883392" cy="52832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E3A2F"/>
              </a:buClr>
              <a:buSzPts val="3600"/>
              <a:buFont typeface="Fraunces"/>
              <a:buNone/>
            </a:pPr>
            <a:r>
              <a:rPr lang="en-US" sz="3600" b="0" i="0" u="none" strike="noStrike" cap="none">
                <a:solidFill>
                  <a:srgbClr val="1E3A2F"/>
                </a:solidFill>
                <a:latin typeface="Fraunces"/>
                <a:ea typeface="Fraunces"/>
                <a:cs typeface="Fraunces"/>
                <a:sym typeface="Fraunces"/>
              </a:rPr>
              <a:t>How does yours compare?</a:t>
            </a:r>
            <a:endParaRPr sz="3600" b="0" i="0" u="none" strike="noStrike" cap="none">
              <a:solidFill>
                <a:schemeClr val="dk1"/>
              </a:solidFill>
              <a:latin typeface="Calibri"/>
              <a:ea typeface="Calibri"/>
              <a:cs typeface="Calibri"/>
              <a:sym typeface="Calibri"/>
            </a:endParaRPr>
          </a:p>
        </p:txBody>
      </p:sp>
      <p:sp>
        <p:nvSpPr>
          <p:cNvPr id="515" name="Google Shape;515;p30"/>
          <p:cNvSpPr/>
          <p:nvPr/>
        </p:nvSpPr>
        <p:spPr>
          <a:xfrm>
            <a:off x="812800" y="2037085"/>
            <a:ext cx="6350000" cy="2720340"/>
          </a:xfrm>
          <a:prstGeom prst="roundRect">
            <a:avLst>
              <a:gd name="adj" fmla="val 5602"/>
            </a:avLst>
          </a:prstGeom>
          <a:solidFill>
            <a:srgbClr val="1E3A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1066800" y="2291085"/>
            <a:ext cx="601726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THE BRAND'S LAUNCH CAPTION</a:t>
            </a:r>
            <a:endParaRPr sz="1200" b="0" i="0" u="none" strike="noStrike" cap="none">
              <a:solidFill>
                <a:schemeClr val="dk1"/>
              </a:solidFill>
              <a:latin typeface="Calibri"/>
              <a:ea typeface="Calibri"/>
              <a:cs typeface="Calibri"/>
              <a:sym typeface="Calibri"/>
            </a:endParaRPr>
          </a:p>
        </p:txBody>
      </p:sp>
      <p:sp>
        <p:nvSpPr>
          <p:cNvPr id="517" name="Google Shape;517;p30"/>
          <p:cNvSpPr/>
          <p:nvPr/>
        </p:nvSpPr>
        <p:spPr>
          <a:xfrm>
            <a:off x="1066800" y="2606042"/>
            <a:ext cx="6017260"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0E6"/>
              </a:buClr>
              <a:buSzPts val="1500"/>
              <a:buFont typeface="DM Sans"/>
              <a:buNone/>
            </a:pPr>
            <a:r>
              <a:rPr lang="en-US" sz="1500" b="1" i="0" u="none" strike="noStrike" cap="none">
                <a:solidFill>
                  <a:srgbClr val="F5F0E6"/>
                </a:solidFill>
                <a:latin typeface="DM Sans"/>
                <a:ea typeface="DM Sans"/>
                <a:cs typeface="DM Sans"/>
                <a:sym typeface="DM Sans"/>
              </a:rPr>
              <a:t>14 bottles. 1 bag. Meet the Loop Tote ♻️</a:t>
            </a:r>
            <a:endParaRPr sz="1500" b="0" i="0" u="none" strike="noStrike" cap="none">
              <a:solidFill>
                <a:schemeClr val="dk1"/>
              </a:solidFill>
              <a:latin typeface="Calibri"/>
              <a:ea typeface="Calibri"/>
              <a:cs typeface="Calibri"/>
              <a:sym typeface="Calibri"/>
            </a:endParaRPr>
          </a:p>
        </p:txBody>
      </p:sp>
      <p:sp>
        <p:nvSpPr>
          <p:cNvPr id="518" name="Google Shape;518;p30"/>
          <p:cNvSpPr/>
          <p:nvPr/>
        </p:nvSpPr>
        <p:spPr>
          <a:xfrm>
            <a:off x="1066800" y="2974342"/>
            <a:ext cx="6017260" cy="90932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0" i="0" u="none" strike="noStrike" cap="none">
                <a:solidFill>
                  <a:srgbClr val="CFD8CF"/>
                </a:solidFill>
                <a:latin typeface="DM Sans"/>
                <a:ea typeface="DM Sans"/>
                <a:cs typeface="DM Sans"/>
                <a:sym typeface="DM Sans"/>
              </a:rPr>
              <a:t>Every tote is made from 14 plastic bottles collected by registered pickers across West Java, washed at our Bandung plant and woven into a sturdy everyday bag. Now available in three colours. Every purchase pays pickers fair-trade rates, for real. Tap the link in bio to get yours.</a:t>
            </a:r>
            <a:endParaRPr sz="1200" b="0" i="0" u="none" strike="noStrike" cap="none">
              <a:solidFill>
                <a:schemeClr val="dk1"/>
              </a:solidFill>
              <a:latin typeface="Calibri"/>
              <a:ea typeface="Calibri"/>
              <a:cs typeface="Calibri"/>
              <a:sym typeface="Calibri"/>
            </a:endParaRPr>
          </a:p>
        </p:txBody>
      </p:sp>
      <p:sp>
        <p:nvSpPr>
          <p:cNvPr id="519" name="Google Shape;519;p30"/>
          <p:cNvSpPr/>
          <p:nvPr/>
        </p:nvSpPr>
        <p:spPr>
          <a:xfrm>
            <a:off x="1066800" y="3959858"/>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E3A83E"/>
              </a:buClr>
              <a:buSzPts val="1200"/>
              <a:buFont typeface="DM Sans"/>
              <a:buNone/>
            </a:pPr>
            <a:r>
              <a:rPr lang="en-US" sz="1200" b="0" i="0" u="none" strike="noStrike" cap="none">
                <a:solidFill>
                  <a:srgbClr val="E3A83E"/>
                </a:solidFill>
                <a:latin typeface="DM Sans"/>
                <a:ea typeface="DM Sans"/>
                <a:cs typeface="DM Sans"/>
                <a:sym typeface="DM Sans"/>
              </a:rPr>
              <a:t>#LoopTote #recycledfashion #sustainablestyle #plasticfree #madeinindonesia</a:t>
            </a:r>
            <a:endParaRPr sz="1200" b="0" i="0" u="none" strike="noStrike" cap="none">
              <a:solidFill>
                <a:schemeClr val="dk1"/>
              </a:solidFill>
              <a:latin typeface="Calibri"/>
              <a:ea typeface="Calibri"/>
              <a:cs typeface="Calibri"/>
              <a:sym typeface="Calibri"/>
            </a:endParaRPr>
          </a:p>
        </p:txBody>
      </p:sp>
      <p:sp>
        <p:nvSpPr>
          <p:cNvPr id="520" name="Google Shape;520;p30"/>
          <p:cNvSpPr/>
          <p:nvPr/>
        </p:nvSpPr>
        <p:spPr>
          <a:xfrm>
            <a:off x="1066800" y="4282442"/>
            <a:ext cx="6017260"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CFD8CF"/>
              </a:buClr>
              <a:buSzPts val="1200"/>
              <a:buFont typeface="DM Sans"/>
              <a:buNone/>
            </a:pPr>
            <a:r>
              <a:rPr lang="en-US" sz="1200" b="1" i="0" u="none" strike="noStrike" cap="none">
                <a:solidFill>
                  <a:srgbClr val="CFD8CF"/>
                </a:solidFill>
                <a:latin typeface="DM Sans"/>
                <a:ea typeface="DM Sans"/>
                <a:cs typeface="DM Sans"/>
                <a:sym typeface="DM Sans"/>
              </a:rPr>
              <a:t>Engagement question:</a:t>
            </a:r>
            <a:r>
              <a:rPr lang="en-US" sz="1200" b="0" i="0" u="none" strike="noStrike" cap="none">
                <a:solidFill>
                  <a:srgbClr val="CFD8CF"/>
                </a:solidFill>
                <a:latin typeface="DM Sans"/>
                <a:ea typeface="DM Sans"/>
                <a:cs typeface="DM Sans"/>
                <a:sym typeface="DM Sans"/>
              </a:rPr>
              <a:t> “Which colour are you? Sea-green, indigo or sand?”</a:t>
            </a:r>
            <a:endParaRPr sz="1200" b="0" i="0" u="none" strike="noStrike" cap="none">
              <a:solidFill>
                <a:schemeClr val="dk1"/>
              </a:solidFill>
              <a:latin typeface="Calibri"/>
              <a:ea typeface="Calibri"/>
              <a:cs typeface="Calibri"/>
              <a:sym typeface="Calibri"/>
            </a:endParaRPr>
          </a:p>
        </p:txBody>
      </p:sp>
      <p:sp>
        <p:nvSpPr>
          <p:cNvPr id="521" name="Google Shape;521;p30"/>
          <p:cNvSpPr/>
          <p:nvPr/>
        </p:nvSpPr>
        <p:spPr>
          <a:xfrm>
            <a:off x="7538720" y="2037085"/>
            <a:ext cx="3950208" cy="1377950"/>
          </a:xfrm>
          <a:prstGeom prst="rect">
            <a:avLst/>
          </a:prstGeom>
          <a:noFill/>
          <a:ln>
            <a:noFill/>
          </a:ln>
        </p:spPr>
        <p:txBody>
          <a:bodyPr spcFirstLastPara="1" wrap="square" lIns="0" tIns="0" rIns="0" bIns="0" anchor="t" anchorCtr="0">
            <a:noAutofit/>
          </a:bodyPr>
          <a:lstStyle/>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What did your version do better?</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What did the brand include that yours missed?</a:t>
            </a:r>
            <a:endParaRPr sz="1500" b="0" i="0" u="none" strike="noStrike" cap="none">
              <a:solidFill>
                <a:schemeClr val="dk1"/>
              </a:solidFill>
              <a:latin typeface="Calibri"/>
              <a:ea typeface="Calibri"/>
              <a:cs typeface="Calibri"/>
              <a:sym typeface="Calibri"/>
            </a:endParaRPr>
          </a:p>
          <a:p>
            <a:pPr marL="182880" marR="0" lvl="0" indent="-182880" algn="l" rtl="0">
              <a:lnSpc>
                <a:spcPct val="140000"/>
              </a:lnSpc>
              <a:spcBef>
                <a:spcPts val="0"/>
              </a:spcBef>
              <a:spcAft>
                <a:spcPts val="0"/>
              </a:spcAft>
              <a:buClr>
                <a:srgbClr val="1F2A24"/>
              </a:buClr>
              <a:buSzPts val="1500"/>
              <a:buFont typeface="DM Sans"/>
              <a:buChar char="•"/>
            </a:pPr>
            <a:r>
              <a:rPr lang="en-US" sz="1500" b="0" i="0" u="none" strike="noStrike" cap="none">
                <a:solidFill>
                  <a:srgbClr val="1F2A24"/>
                </a:solidFill>
                <a:latin typeface="DM Sans"/>
                <a:ea typeface="DM Sans"/>
                <a:cs typeface="DM Sans"/>
                <a:sym typeface="DM Sans"/>
              </a:rPr>
              <a:t>Which of your variations would you publish?</a:t>
            </a:r>
            <a:endParaRPr sz="1500" b="0" i="0" u="none" strike="noStrike" cap="none">
              <a:solidFill>
                <a:schemeClr val="dk1"/>
              </a:solidFill>
              <a:latin typeface="Calibri"/>
              <a:ea typeface="Calibri"/>
              <a:cs typeface="Calibri"/>
              <a:sym typeface="Calibri"/>
            </a:endParaRPr>
          </a:p>
        </p:txBody>
      </p:sp>
      <p:sp>
        <p:nvSpPr>
          <p:cNvPr id="522" name="Google Shape;522;p30"/>
          <p:cNvSpPr/>
          <p:nvPr/>
        </p:nvSpPr>
        <p:spPr>
          <a:xfrm>
            <a:off x="7470775" y="3784923"/>
            <a:ext cx="3905400" cy="1144200"/>
          </a:xfrm>
          <a:prstGeom prst="roundRect">
            <a:avLst>
              <a:gd name="adj" fmla="val 10821"/>
            </a:avLst>
          </a:prstGeom>
          <a:solidFill>
            <a:srgbClr val="FFFDF8"/>
          </a:solidFill>
          <a:ln w="9525" cap="flat" cmpd="sng">
            <a:solidFill>
              <a:srgbClr val="E2D9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7677150" y="3991298"/>
            <a:ext cx="3597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32B"/>
              </a:buClr>
              <a:buSzPts val="1200"/>
              <a:buFont typeface="DM Sans"/>
              <a:buNone/>
            </a:pPr>
            <a:r>
              <a:rPr lang="en-US" sz="1200" b="1" i="0" u="none" strike="noStrike" cap="none">
                <a:solidFill>
                  <a:srgbClr val="B5532B"/>
                </a:solidFill>
                <a:latin typeface="DM Sans"/>
                <a:ea typeface="DM Sans"/>
                <a:cs typeface="DM Sans"/>
                <a:sym typeface="DM Sans"/>
              </a:rPr>
              <a:t>BONUS PROMPT</a:t>
            </a:r>
            <a:endParaRPr sz="1200" b="0" i="0" u="none" strike="noStrike" cap="none">
              <a:solidFill>
                <a:schemeClr val="dk1"/>
              </a:solidFill>
              <a:latin typeface="Calibri"/>
              <a:ea typeface="Calibri"/>
              <a:cs typeface="Calibri"/>
              <a:sym typeface="Calibri"/>
            </a:endParaRPr>
          </a:p>
        </p:txBody>
      </p:sp>
      <p:sp>
        <p:nvSpPr>
          <p:cNvPr id="524" name="Google Shape;524;p30"/>
          <p:cNvSpPr/>
          <p:nvPr/>
        </p:nvSpPr>
        <p:spPr>
          <a:xfrm>
            <a:off x="7677150" y="4280855"/>
            <a:ext cx="3597300" cy="46740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1F2A24"/>
              </a:buClr>
              <a:buSzPts val="1200"/>
              <a:buFont typeface="DM Sans"/>
              <a:buNone/>
            </a:pPr>
            <a:r>
              <a:rPr lang="en-US" sz="1200" b="0" i="0" u="none" strike="noStrike" cap="none">
                <a:solidFill>
                  <a:srgbClr val="1F2A24"/>
                </a:solidFill>
                <a:latin typeface="DM Sans"/>
                <a:ea typeface="DM Sans"/>
                <a:cs typeface="DM Sans"/>
                <a:sym typeface="DM Sans"/>
              </a:rPr>
              <a:t>“Write alt text for this reel for people using screen readers, and one question to spark comments.”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5532B"/>
        </a:solidFill>
        <a:effectLst/>
      </p:bgPr>
    </p:bg>
    <p:spTree>
      <p:nvGrpSpPr>
        <p:cNvPr id="1" name=""/>
        <p:cNvGrpSpPr/>
        <p:nvPr/>
      </p:nvGrpSpPr>
      <p:grpSpPr>
        <a:xfrm>
          <a:off x="0" y="0"/>
          <a:ext cx="0" cy="0"/>
          <a:chOff x="0" y="0"/>
          <a:chExt cx="0" cy="0"/>
        </a:xfrm>
      </p:grpSpPr>
      <p:sp>
        <p:nvSpPr>
          <p:cNvPr id="2" name="TextBox 1"/>
          <p:cNvSpPr txBox="1"/>
          <p:nvPr/>
        </p:nvSpPr>
        <p:spPr>
          <a:xfrm>
            <a:off x="813816" y="1938528"/>
            <a:ext cx="10570464" cy="276999"/>
          </a:xfrm>
          <a:prstGeom prst="rect">
            <a:avLst/>
          </a:prstGeom>
          <a:noFill/>
        </p:spPr>
        <p:txBody>
          <a:bodyPr wrap="square">
            <a:spAutoFit/>
          </a:bodyPr>
          <a:lstStyle/>
          <a:p>
            <a:pPr algn="l"/>
            <a:r>
              <a:rPr sz="1200" b="1" i="0" dirty="0">
                <a:solidFill>
                  <a:srgbClr val="FBF3E8"/>
                </a:solidFill>
                <a:latin typeface="DM Sans" pitchFamily="2" charset="77"/>
              </a:rPr>
              <a:t>PART </a:t>
            </a:r>
            <a:r>
              <a:rPr lang="en-US" sz="1200" b="1" i="0" dirty="0">
                <a:solidFill>
                  <a:srgbClr val="FBF3E8"/>
                </a:solidFill>
                <a:latin typeface="DM Sans" pitchFamily="2" charset="77"/>
              </a:rPr>
              <a:t>Four</a:t>
            </a:r>
            <a:r>
              <a:rPr sz="1200" b="1" i="0" dirty="0">
                <a:solidFill>
                  <a:srgbClr val="FBF3E8"/>
                </a:solidFill>
                <a:latin typeface="DM Sans" pitchFamily="2" charset="77"/>
              </a:rPr>
              <a:t> · REVIEWS &amp; COMMENTS</a:t>
            </a:r>
          </a:p>
        </p:txBody>
      </p:sp>
      <p:sp>
        <p:nvSpPr>
          <p:cNvPr id="5" name="TextBox 4"/>
          <p:cNvSpPr txBox="1"/>
          <p:nvPr/>
        </p:nvSpPr>
        <p:spPr>
          <a:xfrm>
            <a:off x="658173" y="3933542"/>
            <a:ext cx="10067544" cy="769441"/>
          </a:xfrm>
          <a:prstGeom prst="rect">
            <a:avLst/>
          </a:prstGeom>
          <a:noFill/>
        </p:spPr>
        <p:txBody>
          <a:bodyPr wrap="square">
            <a:spAutoFit/>
          </a:bodyPr>
          <a:lstStyle/>
          <a:p>
            <a:pPr algn="l"/>
            <a:r>
              <a:rPr sz="2200" b="0" i="0" dirty="0">
                <a:solidFill>
                  <a:srgbClr val="FBF3E8"/>
                </a:solidFill>
                <a:latin typeface="DM Sans" pitchFamily="2" charset="77"/>
              </a:rPr>
              <a:t>5 questions, 5 prompts — 358 product reviews · 1,515 Instagram comments · 8 platforms</a:t>
            </a:r>
          </a:p>
        </p:txBody>
      </p:sp>
      <p:sp>
        <p:nvSpPr>
          <p:cNvPr id="6" name="Google Shape;396;p24">
            <a:extLst>
              <a:ext uri="{FF2B5EF4-FFF2-40B4-BE49-F238E27FC236}">
                <a16:creationId xmlns:a16="http://schemas.microsoft.com/office/drawing/2014/main" id="{E1A02949-8316-8370-B61D-B0393F14EC05}"/>
              </a:ext>
            </a:extLst>
          </p:cNvPr>
          <p:cNvSpPr/>
          <p:nvPr/>
        </p:nvSpPr>
        <p:spPr>
          <a:xfrm>
            <a:off x="728494" y="2697480"/>
            <a:ext cx="10883392" cy="82550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BF3E8"/>
              </a:buClr>
              <a:buSzPts val="6000"/>
              <a:buFont typeface="Fraunces"/>
              <a:buNone/>
            </a:pPr>
            <a:r>
              <a:rPr lang="en-US" sz="6000" b="0" i="0" u="none" strike="noStrike" cap="none" dirty="0">
                <a:solidFill>
                  <a:srgbClr val="FBF3E8"/>
                </a:solidFill>
                <a:latin typeface="Fraunces"/>
                <a:ea typeface="Fraunces"/>
                <a:cs typeface="Fraunces"/>
                <a:sym typeface="Fraunces"/>
              </a:rPr>
              <a:t>Analyze Customer Reviews</a:t>
            </a:r>
            <a:endParaRPr sz="6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SETUP</a:t>
            </a:r>
          </a:p>
        </p:txBody>
      </p:sp>
      <p:sp>
        <p:nvSpPr>
          <p:cNvPr id="3" name="TextBox 2"/>
          <p:cNvSpPr txBox="1"/>
          <p:nvPr/>
        </p:nvSpPr>
        <p:spPr>
          <a:xfrm>
            <a:off x="813816" y="1280160"/>
            <a:ext cx="10570464" cy="507831"/>
          </a:xfrm>
          <a:prstGeom prst="rect">
            <a:avLst/>
          </a:prstGeom>
          <a:noFill/>
        </p:spPr>
        <p:txBody>
          <a:bodyPr wrap="square">
            <a:spAutoFit/>
          </a:bodyPr>
          <a:lstStyle/>
          <a:p>
            <a:pPr algn="l"/>
            <a:r>
              <a:rPr lang="en-US" sz="2700" dirty="0">
                <a:solidFill>
                  <a:srgbClr val="1E3A2F"/>
                </a:solidFill>
              </a:rPr>
              <a:t>The Story So Far…</a:t>
            </a:r>
            <a:endParaRPr sz="2700" b="0" i="0" dirty="0">
              <a:solidFill>
                <a:srgbClr val="1E3A2F"/>
              </a:solidFill>
            </a:endParaRP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C847411-1613-0BF7-36B8-72E4CBBEB903}"/>
              </a:ext>
            </a:extLst>
          </p:cNvPr>
          <p:cNvPicPr>
            <a:picLocks noChangeAspect="1"/>
          </p:cNvPicPr>
          <p:nvPr/>
        </p:nvPicPr>
        <p:blipFill>
          <a:blip r:embed="rId2"/>
          <a:stretch>
            <a:fillRect/>
          </a:stretch>
        </p:blipFill>
        <p:spPr>
          <a:xfrm>
            <a:off x="2865547" y="3233759"/>
            <a:ext cx="2460341" cy="1684274"/>
          </a:xfrm>
          <a:prstGeom prst="rect">
            <a:avLst/>
          </a:prstGeom>
        </p:spPr>
      </p:pic>
      <p:pic>
        <p:nvPicPr>
          <p:cNvPr id="10" name="Picture 9">
            <a:extLst>
              <a:ext uri="{FF2B5EF4-FFF2-40B4-BE49-F238E27FC236}">
                <a16:creationId xmlns:a16="http://schemas.microsoft.com/office/drawing/2014/main" id="{9574D3B0-CE90-4E06-D659-9566F64CCACC}"/>
              </a:ext>
            </a:extLst>
          </p:cNvPr>
          <p:cNvPicPr>
            <a:picLocks noChangeAspect="1"/>
          </p:cNvPicPr>
          <p:nvPr/>
        </p:nvPicPr>
        <p:blipFill>
          <a:blip r:embed="rId3"/>
          <a:srcRect/>
          <a:stretch>
            <a:fillRect/>
          </a:stretch>
        </p:blipFill>
        <p:spPr>
          <a:xfrm>
            <a:off x="5889386" y="2368479"/>
            <a:ext cx="3454592" cy="3454592"/>
          </a:xfrm>
          <a:prstGeom prst="rect">
            <a:avLst/>
          </a:prstGeom>
        </p:spPr>
      </p:pic>
      <p:pic>
        <p:nvPicPr>
          <p:cNvPr id="14" name="Picture 13">
            <a:extLst>
              <a:ext uri="{FF2B5EF4-FFF2-40B4-BE49-F238E27FC236}">
                <a16:creationId xmlns:a16="http://schemas.microsoft.com/office/drawing/2014/main" id="{FC42A60E-57FC-18FB-0167-6EF6867F91CC}"/>
              </a:ext>
            </a:extLst>
          </p:cNvPr>
          <p:cNvPicPr>
            <a:picLocks noChangeAspect="1"/>
          </p:cNvPicPr>
          <p:nvPr/>
        </p:nvPicPr>
        <p:blipFill>
          <a:blip r:embed="rId4"/>
          <a:stretch>
            <a:fillRect/>
          </a:stretch>
        </p:blipFill>
        <p:spPr>
          <a:xfrm>
            <a:off x="303990" y="2615762"/>
            <a:ext cx="1806102" cy="3187430"/>
          </a:xfrm>
          <a:prstGeom prst="rect">
            <a:avLst/>
          </a:prstGeom>
        </p:spPr>
      </p:pic>
      <p:sp>
        <p:nvSpPr>
          <p:cNvPr id="15" name="Right Arrow 14">
            <a:extLst>
              <a:ext uri="{FF2B5EF4-FFF2-40B4-BE49-F238E27FC236}">
                <a16:creationId xmlns:a16="http://schemas.microsoft.com/office/drawing/2014/main" id="{934FE1E4-7F1F-1B3F-D208-141D9F834EF4}"/>
              </a:ext>
            </a:extLst>
          </p:cNvPr>
          <p:cNvSpPr/>
          <p:nvPr/>
        </p:nvSpPr>
        <p:spPr>
          <a:xfrm>
            <a:off x="2194772" y="3898192"/>
            <a:ext cx="616533" cy="369651"/>
          </a:xfrm>
          <a:prstGeom prst="rightArrow">
            <a:avLst/>
          </a:prstGeom>
          <a:solidFill>
            <a:srgbClr val="E3A8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035634F-3C40-A1C4-E05E-9DBD2B8849D7}"/>
              </a:ext>
            </a:extLst>
          </p:cNvPr>
          <p:cNvSpPr txBox="1"/>
          <p:nvPr/>
        </p:nvSpPr>
        <p:spPr>
          <a:xfrm>
            <a:off x="232144" y="6300882"/>
            <a:ext cx="2145296" cy="461665"/>
          </a:xfrm>
          <a:prstGeom prst="rect">
            <a:avLst/>
          </a:prstGeom>
          <a:noFill/>
        </p:spPr>
        <p:txBody>
          <a:bodyPr wrap="square" rtlCol="0">
            <a:spAutoFit/>
          </a:bodyPr>
          <a:lstStyle/>
          <a:p>
            <a:r>
              <a:rPr lang="en-US" sz="1200" dirty="0"/>
              <a:t>Designed an Insta Reel to launch Loop Tote</a:t>
            </a:r>
          </a:p>
        </p:txBody>
      </p:sp>
      <p:sp>
        <p:nvSpPr>
          <p:cNvPr id="17" name="TextBox 16">
            <a:extLst>
              <a:ext uri="{FF2B5EF4-FFF2-40B4-BE49-F238E27FC236}">
                <a16:creationId xmlns:a16="http://schemas.microsoft.com/office/drawing/2014/main" id="{E055AA04-0ED3-9BE3-705B-71F706DB19A6}"/>
              </a:ext>
            </a:extLst>
          </p:cNvPr>
          <p:cNvSpPr txBox="1"/>
          <p:nvPr/>
        </p:nvSpPr>
        <p:spPr>
          <a:xfrm>
            <a:off x="3255588" y="6393216"/>
            <a:ext cx="1680258" cy="276999"/>
          </a:xfrm>
          <a:prstGeom prst="rect">
            <a:avLst/>
          </a:prstGeom>
          <a:noFill/>
        </p:spPr>
        <p:txBody>
          <a:bodyPr wrap="square" rtlCol="0">
            <a:spAutoFit/>
          </a:bodyPr>
          <a:lstStyle/>
          <a:p>
            <a:r>
              <a:rPr lang="en-US" sz="1200" dirty="0"/>
              <a:t>Launched Loop Tote</a:t>
            </a:r>
          </a:p>
        </p:txBody>
      </p:sp>
      <p:sp>
        <p:nvSpPr>
          <p:cNvPr id="18" name="TextBox 17">
            <a:extLst>
              <a:ext uri="{FF2B5EF4-FFF2-40B4-BE49-F238E27FC236}">
                <a16:creationId xmlns:a16="http://schemas.microsoft.com/office/drawing/2014/main" id="{2895F7BE-C932-EEA7-CC4C-2A523FBA0C59}"/>
              </a:ext>
            </a:extLst>
          </p:cNvPr>
          <p:cNvSpPr txBox="1"/>
          <p:nvPr/>
        </p:nvSpPr>
        <p:spPr>
          <a:xfrm>
            <a:off x="6266016" y="6393216"/>
            <a:ext cx="2701331" cy="276999"/>
          </a:xfrm>
          <a:prstGeom prst="rect">
            <a:avLst/>
          </a:prstGeom>
          <a:noFill/>
        </p:spPr>
        <p:txBody>
          <a:bodyPr wrap="square" rtlCol="0">
            <a:spAutoFit/>
          </a:bodyPr>
          <a:lstStyle/>
          <a:p>
            <a:r>
              <a:rPr lang="en-US" sz="1200" dirty="0"/>
              <a:t>Loop Tote sold on various platforms</a:t>
            </a:r>
          </a:p>
        </p:txBody>
      </p:sp>
      <p:pic>
        <p:nvPicPr>
          <p:cNvPr id="20" name="Picture 19">
            <a:extLst>
              <a:ext uri="{FF2B5EF4-FFF2-40B4-BE49-F238E27FC236}">
                <a16:creationId xmlns:a16="http://schemas.microsoft.com/office/drawing/2014/main" id="{36BB1335-271A-B717-63DD-69A5FB7677CB}"/>
              </a:ext>
            </a:extLst>
          </p:cNvPr>
          <p:cNvPicPr>
            <a:picLocks noChangeAspect="1"/>
          </p:cNvPicPr>
          <p:nvPr/>
        </p:nvPicPr>
        <p:blipFill>
          <a:blip r:embed="rId5"/>
          <a:stretch>
            <a:fillRect/>
          </a:stretch>
        </p:blipFill>
        <p:spPr>
          <a:xfrm>
            <a:off x="9775957" y="2391271"/>
            <a:ext cx="2215815" cy="3898192"/>
          </a:xfrm>
          <a:prstGeom prst="rect">
            <a:avLst/>
          </a:prstGeom>
        </p:spPr>
      </p:pic>
      <p:sp>
        <p:nvSpPr>
          <p:cNvPr id="21" name="Right Arrow 20">
            <a:extLst>
              <a:ext uri="{FF2B5EF4-FFF2-40B4-BE49-F238E27FC236}">
                <a16:creationId xmlns:a16="http://schemas.microsoft.com/office/drawing/2014/main" id="{3E3497E2-AFBB-9EC8-6508-171DCA50894D}"/>
              </a:ext>
            </a:extLst>
          </p:cNvPr>
          <p:cNvSpPr/>
          <p:nvPr/>
        </p:nvSpPr>
        <p:spPr>
          <a:xfrm>
            <a:off x="5380130" y="3891071"/>
            <a:ext cx="616533" cy="369651"/>
          </a:xfrm>
          <a:prstGeom prst="rightArrow">
            <a:avLst/>
          </a:prstGeom>
          <a:solidFill>
            <a:srgbClr val="E3A8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E0370498-9926-6A10-67F3-39FADF8205B9}"/>
              </a:ext>
            </a:extLst>
          </p:cNvPr>
          <p:cNvSpPr/>
          <p:nvPr/>
        </p:nvSpPr>
        <p:spPr>
          <a:xfrm>
            <a:off x="9105182" y="3910949"/>
            <a:ext cx="616533" cy="369651"/>
          </a:xfrm>
          <a:prstGeom prst="rightArrow">
            <a:avLst/>
          </a:prstGeom>
          <a:solidFill>
            <a:srgbClr val="E3A8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776E40E-0617-C5AC-546C-D4CD5CE168D8}"/>
              </a:ext>
            </a:extLst>
          </p:cNvPr>
          <p:cNvSpPr txBox="1"/>
          <p:nvPr/>
        </p:nvSpPr>
        <p:spPr>
          <a:xfrm>
            <a:off x="9533198" y="6369157"/>
            <a:ext cx="2701331" cy="461665"/>
          </a:xfrm>
          <a:prstGeom prst="rect">
            <a:avLst/>
          </a:prstGeom>
          <a:noFill/>
        </p:spPr>
        <p:txBody>
          <a:bodyPr wrap="square" rtlCol="0">
            <a:spAutoFit/>
          </a:bodyPr>
          <a:lstStyle/>
          <a:p>
            <a:r>
              <a:rPr lang="en-US" sz="1200" dirty="0"/>
              <a:t>Reviews &amp; Comments from various platforms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72BE6-7229-ECBC-BBDB-2C74A2EA65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13F020-46C2-C8A3-88BC-3693A2993B4A}"/>
              </a:ext>
            </a:extLst>
          </p:cNvPr>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SETUP</a:t>
            </a:r>
          </a:p>
        </p:txBody>
      </p:sp>
      <p:sp>
        <p:nvSpPr>
          <p:cNvPr id="3" name="TextBox 2">
            <a:extLst>
              <a:ext uri="{FF2B5EF4-FFF2-40B4-BE49-F238E27FC236}">
                <a16:creationId xmlns:a16="http://schemas.microsoft.com/office/drawing/2014/main" id="{3013E8CB-0869-1BCF-E181-65EA74F9E64D}"/>
              </a:ext>
            </a:extLst>
          </p:cNvPr>
          <p:cNvSpPr txBox="1"/>
          <p:nvPr/>
        </p:nvSpPr>
        <p:spPr>
          <a:xfrm>
            <a:off x="813816" y="1280160"/>
            <a:ext cx="10570464" cy="507831"/>
          </a:xfrm>
          <a:prstGeom prst="rect">
            <a:avLst/>
          </a:prstGeom>
          <a:noFill/>
        </p:spPr>
        <p:txBody>
          <a:bodyPr wrap="square">
            <a:spAutoFit/>
          </a:bodyPr>
          <a:lstStyle/>
          <a:p>
            <a:pPr algn="l"/>
            <a:r>
              <a:rPr lang="en-US" sz="2700" b="0" i="0" dirty="0">
                <a:solidFill>
                  <a:srgbClr val="1E3A2F"/>
                </a:solidFill>
              </a:rPr>
              <a:t>We will try and answer the following 5 questions:</a:t>
            </a:r>
            <a:endParaRPr sz="2700" b="0" i="0" dirty="0">
              <a:solidFill>
                <a:srgbClr val="1E3A2F"/>
              </a:solidFill>
            </a:endParaRPr>
          </a:p>
        </p:txBody>
      </p:sp>
      <p:cxnSp>
        <p:nvCxnSpPr>
          <p:cNvPr id="4" name="Connector 3">
            <a:extLst>
              <a:ext uri="{FF2B5EF4-FFF2-40B4-BE49-F238E27FC236}">
                <a16:creationId xmlns:a16="http://schemas.microsoft.com/office/drawing/2014/main" id="{883DFAF3-64A8-0B3D-B181-46B5B81DC210}"/>
              </a:ext>
            </a:extLst>
          </p:cNvPr>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CD016EF-F91D-099E-F0F7-17BA1E2B029C}"/>
              </a:ext>
            </a:extLst>
          </p:cNvPr>
          <p:cNvSpPr txBox="1"/>
          <p:nvPr/>
        </p:nvSpPr>
        <p:spPr>
          <a:xfrm>
            <a:off x="810768" y="2383971"/>
            <a:ext cx="10570464" cy="438582"/>
          </a:xfrm>
          <a:prstGeom prst="rect">
            <a:avLst/>
          </a:prstGeom>
          <a:noFill/>
        </p:spPr>
        <p:txBody>
          <a:bodyPr wrap="square">
            <a:spAutoFit/>
          </a:bodyPr>
          <a:lstStyle/>
          <a:p>
            <a:pPr algn="l"/>
            <a:r>
              <a:rPr lang="en-US" sz="2250" b="0" i="0" dirty="0">
                <a:solidFill>
                  <a:srgbClr val="1E3A2F"/>
                </a:solidFill>
                <a:latin typeface="DM Sans" pitchFamily="2" charset="77"/>
              </a:rPr>
              <a:t>1. </a:t>
            </a:r>
            <a:r>
              <a:rPr sz="2250" b="0" i="0" dirty="0">
                <a:solidFill>
                  <a:srgbClr val="1E3A2F"/>
                </a:solidFill>
                <a:latin typeface="DM Sans" pitchFamily="2" charset="77"/>
              </a:rPr>
              <a:t>What are customers really saying?</a:t>
            </a:r>
          </a:p>
        </p:txBody>
      </p:sp>
      <p:sp>
        <p:nvSpPr>
          <p:cNvPr id="7" name="TextBox 6">
            <a:extLst>
              <a:ext uri="{FF2B5EF4-FFF2-40B4-BE49-F238E27FC236}">
                <a16:creationId xmlns:a16="http://schemas.microsoft.com/office/drawing/2014/main" id="{AECABAB5-F484-122A-A065-79772C034F61}"/>
              </a:ext>
            </a:extLst>
          </p:cNvPr>
          <p:cNvSpPr txBox="1"/>
          <p:nvPr/>
        </p:nvSpPr>
        <p:spPr>
          <a:xfrm>
            <a:off x="810768" y="3106348"/>
            <a:ext cx="10570464" cy="438582"/>
          </a:xfrm>
          <a:prstGeom prst="rect">
            <a:avLst/>
          </a:prstGeom>
          <a:noFill/>
        </p:spPr>
        <p:txBody>
          <a:bodyPr wrap="square">
            <a:spAutoFit/>
          </a:bodyPr>
          <a:lstStyle/>
          <a:p>
            <a:pPr algn="l"/>
            <a:r>
              <a:rPr lang="en-US" sz="2250" dirty="0">
                <a:solidFill>
                  <a:srgbClr val="1E3A2F"/>
                </a:solidFill>
                <a:latin typeface="DM Sans" pitchFamily="2" charset="77"/>
              </a:rPr>
              <a:t>2. </a:t>
            </a:r>
            <a:r>
              <a:rPr sz="2250" b="0" i="0" dirty="0">
                <a:solidFill>
                  <a:srgbClr val="1E3A2F"/>
                </a:solidFill>
                <a:latin typeface="DM Sans" pitchFamily="2" charset="77"/>
              </a:rPr>
              <a:t>Is the problem the product, or everything around it?</a:t>
            </a:r>
          </a:p>
        </p:txBody>
      </p:sp>
      <p:sp>
        <p:nvSpPr>
          <p:cNvPr id="8" name="TextBox 7">
            <a:extLst>
              <a:ext uri="{FF2B5EF4-FFF2-40B4-BE49-F238E27FC236}">
                <a16:creationId xmlns:a16="http://schemas.microsoft.com/office/drawing/2014/main" id="{AADE7309-C166-2280-5595-6F4A5E0D23F3}"/>
              </a:ext>
            </a:extLst>
          </p:cNvPr>
          <p:cNvSpPr txBox="1"/>
          <p:nvPr/>
        </p:nvSpPr>
        <p:spPr>
          <a:xfrm>
            <a:off x="810768" y="3828725"/>
            <a:ext cx="10570464" cy="438582"/>
          </a:xfrm>
          <a:prstGeom prst="rect">
            <a:avLst/>
          </a:prstGeom>
          <a:noFill/>
        </p:spPr>
        <p:txBody>
          <a:bodyPr wrap="square">
            <a:spAutoFit/>
          </a:bodyPr>
          <a:lstStyle/>
          <a:p>
            <a:pPr algn="l"/>
            <a:r>
              <a:rPr lang="en-US" sz="2250" dirty="0">
                <a:solidFill>
                  <a:srgbClr val="1E3A2F"/>
                </a:solidFill>
                <a:latin typeface="DM Sans" pitchFamily="2" charset="77"/>
              </a:rPr>
              <a:t>3. </a:t>
            </a:r>
            <a:r>
              <a:rPr sz="2250" b="0" i="0" dirty="0">
                <a:solidFill>
                  <a:srgbClr val="1E3A2F"/>
                </a:solidFill>
                <a:latin typeface="DM Sans" pitchFamily="2" charset="77"/>
              </a:rPr>
              <a:t>How do platforms differ, and are we responding where it matters?</a:t>
            </a:r>
          </a:p>
        </p:txBody>
      </p:sp>
      <p:sp>
        <p:nvSpPr>
          <p:cNvPr id="9" name="TextBox 8">
            <a:extLst>
              <a:ext uri="{FF2B5EF4-FFF2-40B4-BE49-F238E27FC236}">
                <a16:creationId xmlns:a16="http://schemas.microsoft.com/office/drawing/2014/main" id="{4FD9D4D5-C317-73E3-1053-4A4B293D4067}"/>
              </a:ext>
            </a:extLst>
          </p:cNvPr>
          <p:cNvSpPr txBox="1"/>
          <p:nvPr/>
        </p:nvSpPr>
        <p:spPr>
          <a:xfrm>
            <a:off x="810767" y="4551102"/>
            <a:ext cx="10998055" cy="438582"/>
          </a:xfrm>
          <a:prstGeom prst="rect">
            <a:avLst/>
          </a:prstGeom>
          <a:noFill/>
        </p:spPr>
        <p:txBody>
          <a:bodyPr wrap="square">
            <a:spAutoFit/>
          </a:bodyPr>
          <a:lstStyle/>
          <a:p>
            <a:pPr algn="l"/>
            <a:r>
              <a:rPr lang="en-US" sz="2250" b="0" i="0" dirty="0">
                <a:solidFill>
                  <a:srgbClr val="1E3A2F"/>
                </a:solidFill>
                <a:latin typeface="DM Sans" pitchFamily="2" charset="77"/>
              </a:rPr>
              <a:t>4. </a:t>
            </a:r>
            <a:r>
              <a:rPr sz="2250" b="0" i="0" dirty="0">
                <a:solidFill>
                  <a:srgbClr val="1E3A2F"/>
                </a:solidFill>
                <a:latin typeface="DM Sans" pitchFamily="2" charset="77"/>
              </a:rPr>
              <a:t>What are people saying on Instagram, and which comments stop them buying?</a:t>
            </a:r>
          </a:p>
        </p:txBody>
      </p:sp>
      <p:sp>
        <p:nvSpPr>
          <p:cNvPr id="10" name="TextBox 9">
            <a:extLst>
              <a:ext uri="{FF2B5EF4-FFF2-40B4-BE49-F238E27FC236}">
                <a16:creationId xmlns:a16="http://schemas.microsoft.com/office/drawing/2014/main" id="{6D600B88-4F31-75E3-A6FD-4905FCB7310A}"/>
              </a:ext>
            </a:extLst>
          </p:cNvPr>
          <p:cNvSpPr txBox="1"/>
          <p:nvPr/>
        </p:nvSpPr>
        <p:spPr>
          <a:xfrm>
            <a:off x="810768" y="5273479"/>
            <a:ext cx="10570464" cy="438582"/>
          </a:xfrm>
          <a:prstGeom prst="rect">
            <a:avLst/>
          </a:prstGeom>
          <a:noFill/>
        </p:spPr>
        <p:txBody>
          <a:bodyPr wrap="square">
            <a:spAutoFit/>
          </a:bodyPr>
          <a:lstStyle/>
          <a:p>
            <a:pPr algn="l"/>
            <a:r>
              <a:rPr lang="en-US" sz="2250" b="0" i="0" dirty="0">
                <a:solidFill>
                  <a:srgbClr val="1E3A2F"/>
                </a:solidFill>
                <a:latin typeface="DM Sans" pitchFamily="2" charset="77"/>
              </a:rPr>
              <a:t>5. </a:t>
            </a:r>
            <a:r>
              <a:rPr sz="2250" b="0" i="0" dirty="0">
                <a:solidFill>
                  <a:srgbClr val="1E3A2F"/>
                </a:solidFill>
                <a:latin typeface="DM Sans" pitchFamily="2" charset="77"/>
              </a:rPr>
              <a:t>What should we fix, say and measure next?</a:t>
            </a:r>
          </a:p>
        </p:txBody>
      </p:sp>
    </p:spTree>
    <p:extLst>
      <p:ext uri="{BB962C8B-B14F-4D97-AF65-F5344CB8AC3E}">
        <p14:creationId xmlns:p14="http://schemas.microsoft.com/office/powerpoint/2010/main" val="3003219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354AC-FBDF-4515-3E3B-66BAF522FD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04C47B-498B-8291-7AB2-9E899E489070}"/>
              </a:ext>
            </a:extLst>
          </p:cNvPr>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SETUP</a:t>
            </a:r>
          </a:p>
        </p:txBody>
      </p:sp>
      <p:sp>
        <p:nvSpPr>
          <p:cNvPr id="3" name="TextBox 2">
            <a:extLst>
              <a:ext uri="{FF2B5EF4-FFF2-40B4-BE49-F238E27FC236}">
                <a16:creationId xmlns:a16="http://schemas.microsoft.com/office/drawing/2014/main" id="{CFA12A0D-2488-8EA0-D173-4EEF7084203B}"/>
              </a:ext>
            </a:extLst>
          </p:cNvPr>
          <p:cNvSpPr txBox="1"/>
          <p:nvPr/>
        </p:nvSpPr>
        <p:spPr>
          <a:xfrm>
            <a:off x="813816" y="1280160"/>
            <a:ext cx="10570464" cy="507831"/>
          </a:xfrm>
          <a:prstGeom prst="rect">
            <a:avLst/>
          </a:prstGeom>
          <a:noFill/>
        </p:spPr>
        <p:txBody>
          <a:bodyPr wrap="square">
            <a:spAutoFit/>
          </a:bodyPr>
          <a:lstStyle/>
          <a:p>
            <a:pPr algn="l"/>
            <a:r>
              <a:rPr sz="2700" b="0" i="0" dirty="0">
                <a:solidFill>
                  <a:srgbClr val="1E3A2F"/>
                </a:solidFill>
              </a:rPr>
              <a:t>What </a:t>
            </a:r>
            <a:r>
              <a:rPr lang="en-US" sz="2700" b="0" i="0" dirty="0">
                <a:solidFill>
                  <a:srgbClr val="1E3A2F"/>
                </a:solidFill>
              </a:rPr>
              <a:t>we will be using</a:t>
            </a:r>
            <a:endParaRPr sz="2700" b="0" i="0" dirty="0">
              <a:solidFill>
                <a:srgbClr val="1E3A2F"/>
              </a:solidFill>
            </a:endParaRPr>
          </a:p>
        </p:txBody>
      </p:sp>
      <p:cxnSp>
        <p:nvCxnSpPr>
          <p:cNvPr id="4" name="Connector 3">
            <a:extLst>
              <a:ext uri="{FF2B5EF4-FFF2-40B4-BE49-F238E27FC236}">
                <a16:creationId xmlns:a16="http://schemas.microsoft.com/office/drawing/2014/main" id="{B52CBCF1-58A7-8386-CB12-234AC92A412F}"/>
              </a:ext>
            </a:extLst>
          </p:cNvPr>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7B037EC-1530-3B51-365F-E44AEC9402D7}"/>
              </a:ext>
            </a:extLst>
          </p:cNvPr>
          <p:cNvSpPr txBox="1"/>
          <p:nvPr/>
        </p:nvSpPr>
        <p:spPr>
          <a:xfrm>
            <a:off x="813816" y="2148840"/>
            <a:ext cx="5184648" cy="3754874"/>
          </a:xfrm>
          <a:prstGeom prst="rect">
            <a:avLst/>
          </a:prstGeom>
          <a:noFill/>
        </p:spPr>
        <p:txBody>
          <a:bodyPr wrap="square">
            <a:spAutoFit/>
          </a:bodyPr>
          <a:lstStyle/>
          <a:p>
            <a:pPr algn="l"/>
            <a:r>
              <a:rPr b="1" dirty="0">
                <a:solidFill>
                  <a:srgbClr val="B5532B"/>
                </a:solidFill>
              </a:rPr>
              <a:t>Files you need</a:t>
            </a:r>
          </a:p>
          <a:p>
            <a:pPr algn="l"/>
            <a:endParaRPr b="1" dirty="0">
              <a:solidFill>
                <a:srgbClr val="B5532B"/>
              </a:solidFill>
            </a:endParaRPr>
          </a:p>
          <a:p>
            <a:pPr algn="l"/>
            <a:r>
              <a:rPr b="1" dirty="0">
                <a:solidFill>
                  <a:srgbClr val="1E3A2F"/>
                </a:solidFill>
              </a:rPr>
              <a:t>Review files (one per platform)</a:t>
            </a:r>
          </a:p>
          <a:p>
            <a:r>
              <a:rPr lang="en-IN" dirty="0" err="1">
                <a:solidFill>
                  <a:srgbClr val="1E3A2F"/>
                </a:solidFill>
              </a:rPr>
              <a:t>loopcycle_reviews_amazon.csv</a:t>
            </a:r>
            <a:endParaRPr lang="en-IN" dirty="0">
              <a:solidFill>
                <a:srgbClr val="1E3A2F"/>
              </a:solidFill>
            </a:endParaRPr>
          </a:p>
          <a:p>
            <a:r>
              <a:rPr lang="en-IN" dirty="0" err="1">
                <a:solidFill>
                  <a:srgbClr val="1E3A2F"/>
                </a:solidFill>
              </a:rPr>
              <a:t>loopcycle_reviews_blibli.csv</a:t>
            </a:r>
            <a:endParaRPr lang="en-IN" dirty="0">
              <a:solidFill>
                <a:srgbClr val="1E3A2F"/>
              </a:solidFill>
            </a:endParaRPr>
          </a:p>
          <a:p>
            <a:r>
              <a:rPr lang="en-US" dirty="0" err="1">
                <a:solidFill>
                  <a:srgbClr val="1E3A2F"/>
                </a:solidFill>
              </a:rPr>
              <a:t>loopcycle_reviews_google_store.csv</a:t>
            </a:r>
            <a:endParaRPr lang="en-US" dirty="0">
              <a:solidFill>
                <a:srgbClr val="1E3A2F"/>
              </a:solidFill>
            </a:endParaRPr>
          </a:p>
          <a:p>
            <a:r>
              <a:rPr lang="en-US" dirty="0" err="1">
                <a:solidFill>
                  <a:srgbClr val="1E3A2F"/>
                </a:solidFill>
              </a:rPr>
              <a:t>loopcycle_reviews_lazada.csv</a:t>
            </a:r>
            <a:endParaRPr lang="en-US" dirty="0">
              <a:solidFill>
                <a:srgbClr val="1E3A2F"/>
              </a:solidFill>
            </a:endParaRPr>
          </a:p>
          <a:p>
            <a:r>
              <a:rPr lang="en-US" dirty="0" err="1">
                <a:solidFill>
                  <a:srgbClr val="1E3A2F"/>
                </a:solidFill>
              </a:rPr>
              <a:t>loopcycle_reviews_shopee.csv</a:t>
            </a:r>
            <a:endParaRPr lang="en-US" dirty="0">
              <a:solidFill>
                <a:srgbClr val="1E3A2F"/>
              </a:solidFill>
            </a:endParaRPr>
          </a:p>
          <a:p>
            <a:r>
              <a:rPr lang="en-US" dirty="0" err="1">
                <a:solidFill>
                  <a:srgbClr val="1E3A2F"/>
                </a:solidFill>
              </a:rPr>
              <a:t>loopcycle_reviews_shopify_website.csv</a:t>
            </a:r>
            <a:endParaRPr lang="en-US" dirty="0">
              <a:solidFill>
                <a:srgbClr val="1E3A2F"/>
              </a:solidFill>
            </a:endParaRPr>
          </a:p>
          <a:p>
            <a:r>
              <a:rPr lang="en-US" dirty="0" err="1">
                <a:solidFill>
                  <a:srgbClr val="1E3A2F"/>
                </a:solidFill>
              </a:rPr>
              <a:t>loopcycle_reviews_tiktok_shop.csv</a:t>
            </a:r>
            <a:endParaRPr lang="en-US" dirty="0">
              <a:solidFill>
                <a:srgbClr val="1E3A2F"/>
              </a:solidFill>
            </a:endParaRPr>
          </a:p>
          <a:p>
            <a:r>
              <a:rPr lang="en-US" dirty="0" err="1">
                <a:solidFill>
                  <a:srgbClr val="1E3A2F"/>
                </a:solidFill>
              </a:rPr>
              <a:t>loopcycle_reviews_tokopedia.csv</a:t>
            </a:r>
            <a:endParaRPr lang="en-US" b="0" dirty="0">
              <a:solidFill>
                <a:srgbClr val="1E3A2F"/>
              </a:solidFill>
            </a:endParaRPr>
          </a:p>
          <a:p>
            <a:pPr algn="l"/>
            <a:r>
              <a:rPr b="0" dirty="0">
                <a:solidFill>
                  <a:srgbClr val="1E3A2F"/>
                </a:solidFill>
              </a:rPr>
              <a:t>
(358 reviews in total — column names differ by platform)</a:t>
            </a:r>
          </a:p>
          <a:p>
            <a:pPr algn="l"/>
            <a:endParaRPr b="0" dirty="0">
              <a:solidFill>
                <a:srgbClr val="1E3A2F"/>
              </a:solidFill>
            </a:endParaRPr>
          </a:p>
          <a:p>
            <a:pPr algn="l"/>
            <a:r>
              <a:rPr lang="en-IN" b="1" dirty="0" err="1">
                <a:solidFill>
                  <a:srgbClr val="1E3A2F"/>
                </a:solidFill>
              </a:rPr>
              <a:t>loopcycle_i</a:t>
            </a:r>
            <a:r>
              <a:rPr b="1" dirty="0" err="1">
                <a:solidFill>
                  <a:srgbClr val="1E3A2F"/>
                </a:solidFill>
              </a:rPr>
              <a:t>nstagram</a:t>
            </a:r>
            <a:r>
              <a:rPr lang="en-IN" b="1" dirty="0">
                <a:solidFill>
                  <a:srgbClr val="1E3A2F"/>
                </a:solidFill>
              </a:rPr>
              <a:t>_c</a:t>
            </a:r>
            <a:r>
              <a:rPr b="1" dirty="0" err="1">
                <a:solidFill>
                  <a:srgbClr val="1E3A2F"/>
                </a:solidFill>
              </a:rPr>
              <a:t>omments</a:t>
            </a:r>
            <a:r>
              <a:rPr lang="en-IN" b="1" dirty="0">
                <a:solidFill>
                  <a:srgbClr val="1E3A2F"/>
                </a:solidFill>
              </a:rPr>
              <a:t>.csv</a:t>
            </a:r>
            <a:endParaRPr b="1" dirty="0">
              <a:solidFill>
                <a:srgbClr val="1E3A2F"/>
              </a:solidFill>
            </a:endParaRPr>
          </a:p>
          <a:p>
            <a:pPr algn="l"/>
            <a:r>
              <a:rPr b="0" dirty="0">
                <a:solidFill>
                  <a:srgbClr val="1E3A2F"/>
                </a:solidFill>
              </a:rPr>
              <a:t>1,515 comments on 8 Loop Tote posts, including brand replies.</a:t>
            </a:r>
          </a:p>
          <a:p>
            <a:pPr algn="l"/>
            <a:endParaRPr b="0" dirty="0">
              <a:solidFill>
                <a:srgbClr val="1E3A2F"/>
              </a:solidFill>
            </a:endParaRPr>
          </a:p>
        </p:txBody>
      </p:sp>
    </p:spTree>
    <p:extLst>
      <p:ext uri="{BB962C8B-B14F-4D97-AF65-F5344CB8AC3E}">
        <p14:creationId xmlns:p14="http://schemas.microsoft.com/office/powerpoint/2010/main" val="293746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SHARED CONTEXT</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a:solidFill>
                  <a:srgbClr val="1E3A2F"/>
                </a:solidFill>
              </a:rPr>
              <a:t>Paste this first — before any question</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5" y="2103121"/>
            <a:ext cx="6860613" cy="4553711"/>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147539"/>
            <a:ext cx="6693408" cy="4524315"/>
          </a:xfrm>
          <a:prstGeom prst="rect">
            <a:avLst/>
          </a:prstGeom>
          <a:noFill/>
        </p:spPr>
        <p:txBody>
          <a:bodyPr wrap="square">
            <a:spAutoFit/>
          </a:bodyPr>
          <a:lstStyle/>
          <a:p>
            <a:pPr algn="l"/>
            <a:r>
              <a:rPr sz="900" dirty="0">
                <a:solidFill>
                  <a:srgbClr val="FBF3E8"/>
                </a:solidFill>
              </a:rPr>
              <a:t>You are a customer-insight analyst helping a small social enterprise.</a:t>
            </a:r>
          </a:p>
          <a:p>
            <a:pPr algn="l"/>
            <a:endParaRPr lang="en-US" sz="900" dirty="0">
              <a:solidFill>
                <a:srgbClr val="FBF3E8"/>
              </a:solidFill>
            </a:endParaRPr>
          </a:p>
          <a:p>
            <a:pPr algn="l"/>
            <a:r>
              <a:rPr sz="900" dirty="0">
                <a:solidFill>
                  <a:srgbClr val="FBF3E8"/>
                </a:solidFill>
              </a:rPr>
              <a:t>Context: </a:t>
            </a:r>
            <a:r>
              <a:rPr sz="900" dirty="0" err="1">
                <a:solidFill>
                  <a:srgbClr val="FBF3E8"/>
                </a:solidFill>
              </a:rPr>
              <a:t>LoopCycle</a:t>
            </a:r>
            <a:r>
              <a:rPr sz="900" dirty="0">
                <a:solidFill>
                  <a:srgbClr val="FBF3E8"/>
                </a:solidFill>
              </a:rPr>
              <a:t> Nusantara (Bandung, Indonesia) sells the Loop Tote,</a:t>
            </a:r>
            <a:r>
              <a:rPr lang="en-US" sz="900" dirty="0">
                <a:solidFill>
                  <a:srgbClr val="FBF3E8"/>
                </a:solidFill>
              </a:rPr>
              <a:t> </a:t>
            </a:r>
            <a:r>
              <a:rPr sz="900" dirty="0">
                <a:solidFill>
                  <a:srgbClr val="FBF3E8"/>
                </a:solidFill>
              </a:rPr>
              <a:t>a tote bag made from 14 recycled bottles, sourced from registered waste</a:t>
            </a:r>
            <a:r>
              <a:rPr lang="en-US" sz="900" dirty="0">
                <a:solidFill>
                  <a:srgbClr val="FBF3E8"/>
                </a:solidFill>
              </a:rPr>
              <a:t> </a:t>
            </a:r>
            <a:r>
              <a:rPr sz="900" dirty="0">
                <a:solidFill>
                  <a:srgbClr val="FBF3E8"/>
                </a:solidFill>
              </a:rPr>
              <a:t>pickers. Our platforms: Shopee, Tokopedia, TikTok Shop, Lazada, Blibli,</a:t>
            </a:r>
            <a:r>
              <a:rPr lang="en-US" sz="900" dirty="0">
                <a:solidFill>
                  <a:srgbClr val="FBF3E8"/>
                </a:solidFill>
              </a:rPr>
              <a:t> </a:t>
            </a:r>
            <a:r>
              <a:rPr sz="900" dirty="0">
                <a:solidFill>
                  <a:srgbClr val="FBF3E8"/>
                </a:solidFill>
              </a:rPr>
              <a:t>Shopify website, Amazon, Google store, and Instagram (@</a:t>
            </a:r>
            <a:r>
              <a:rPr sz="900" dirty="0" err="1">
                <a:solidFill>
                  <a:srgbClr val="FBF3E8"/>
                </a:solidFill>
              </a:rPr>
              <a:t>loopcycle.nusantara</a:t>
            </a:r>
            <a:r>
              <a:rPr sz="900" dirty="0">
                <a:solidFill>
                  <a:srgbClr val="FBF3E8"/>
                </a:solidFill>
              </a:rPr>
              <a:t>).</a:t>
            </a:r>
          </a:p>
          <a:p>
            <a:pPr algn="l"/>
            <a:endParaRPr sz="900" dirty="0">
              <a:solidFill>
                <a:srgbClr val="FBF3E8"/>
              </a:solidFill>
            </a:endParaRPr>
          </a:p>
          <a:p>
            <a:pPr algn="l"/>
            <a:r>
              <a:rPr sz="900" dirty="0">
                <a:solidFill>
                  <a:srgbClr val="FBF3E8"/>
                </a:solidFill>
              </a:rPr>
              <a:t>Data (all English):</a:t>
            </a:r>
          </a:p>
          <a:p>
            <a:pPr algn="l"/>
            <a:r>
              <a:rPr sz="900" dirty="0">
                <a:solidFill>
                  <a:srgbClr val="FBF3E8"/>
                </a:solidFill>
              </a:rPr>
              <a:t>- 8 review CSV files (358 reviews total). Column names differ by platform.</a:t>
            </a:r>
          </a:p>
          <a:p>
            <a:pPr algn="l"/>
            <a:r>
              <a:rPr sz="900" dirty="0">
                <a:solidFill>
                  <a:srgbClr val="FBF3E8"/>
                </a:solidFill>
              </a:rPr>
              <a:t>  Amazon: rating | </a:t>
            </a:r>
            <a:r>
              <a:rPr sz="900" dirty="0" err="1">
                <a:solidFill>
                  <a:srgbClr val="FBF3E8"/>
                </a:solidFill>
              </a:rPr>
              <a:t>review_title</a:t>
            </a:r>
            <a:r>
              <a:rPr sz="900" dirty="0">
                <a:solidFill>
                  <a:srgbClr val="FBF3E8"/>
                </a:solidFill>
              </a:rPr>
              <a:t> + </a:t>
            </a:r>
            <a:r>
              <a:rPr sz="900" dirty="0" err="1">
                <a:solidFill>
                  <a:srgbClr val="FBF3E8"/>
                </a:solidFill>
              </a:rPr>
              <a:t>review_text</a:t>
            </a:r>
            <a:r>
              <a:rPr sz="900" dirty="0">
                <a:solidFill>
                  <a:srgbClr val="FBF3E8"/>
                </a:solidFill>
              </a:rPr>
              <a:t> | </a:t>
            </a:r>
            <a:r>
              <a:rPr sz="900" dirty="0" err="1">
                <a:solidFill>
                  <a:srgbClr val="FBF3E8"/>
                </a:solidFill>
              </a:rPr>
              <a:t>review_date</a:t>
            </a:r>
            <a:endParaRPr lang="en-US" sz="900" dirty="0">
              <a:solidFill>
                <a:srgbClr val="FBF3E8"/>
              </a:solidFill>
            </a:endParaRPr>
          </a:p>
          <a:p>
            <a:pPr algn="l"/>
            <a:endParaRPr sz="900" dirty="0">
              <a:solidFill>
                <a:srgbClr val="FBF3E8"/>
              </a:solidFill>
            </a:endParaRPr>
          </a:p>
          <a:p>
            <a:pPr algn="l"/>
            <a:r>
              <a:rPr sz="900" dirty="0">
                <a:solidFill>
                  <a:srgbClr val="FBF3E8"/>
                </a:solidFill>
              </a:rPr>
              <a:t>  Shopee: </a:t>
            </a:r>
            <a:r>
              <a:rPr sz="900" dirty="0" err="1">
                <a:solidFill>
                  <a:srgbClr val="FBF3E8"/>
                </a:solidFill>
              </a:rPr>
              <a:t>rating_star</a:t>
            </a:r>
            <a:r>
              <a:rPr sz="900" dirty="0">
                <a:solidFill>
                  <a:srgbClr val="FBF3E8"/>
                </a:solidFill>
              </a:rPr>
              <a:t> | comment | </a:t>
            </a:r>
            <a:r>
              <a:rPr sz="900" dirty="0" err="1">
                <a:solidFill>
                  <a:srgbClr val="FBF3E8"/>
                </a:solidFill>
              </a:rPr>
              <a:t>seller_reply</a:t>
            </a:r>
            <a:r>
              <a:rPr sz="900" dirty="0">
                <a:solidFill>
                  <a:srgbClr val="FBF3E8"/>
                </a:solidFill>
              </a:rPr>
              <a:t> | </a:t>
            </a:r>
            <a:r>
              <a:rPr sz="900" dirty="0" err="1">
                <a:solidFill>
                  <a:srgbClr val="FBF3E8"/>
                </a:solidFill>
              </a:rPr>
              <a:t>create_time</a:t>
            </a:r>
            <a:r>
              <a:rPr sz="900" dirty="0">
                <a:solidFill>
                  <a:srgbClr val="FBF3E8"/>
                </a:solidFill>
              </a:rPr>
              <a:t> (Unix)</a:t>
            </a:r>
          </a:p>
          <a:p>
            <a:pPr algn="l"/>
            <a:endParaRPr lang="en-US" sz="900" dirty="0">
              <a:solidFill>
                <a:srgbClr val="FBF3E8"/>
              </a:solidFill>
            </a:endParaRPr>
          </a:p>
          <a:p>
            <a:pPr algn="l"/>
            <a:r>
              <a:rPr sz="900" dirty="0">
                <a:solidFill>
                  <a:srgbClr val="FBF3E8"/>
                </a:solidFill>
              </a:rPr>
              <a:t>  Tokopedia: rating | </a:t>
            </a:r>
            <a:r>
              <a:rPr sz="900" dirty="0" err="1">
                <a:solidFill>
                  <a:srgbClr val="FBF3E8"/>
                </a:solidFill>
              </a:rPr>
              <a:t>review_message</a:t>
            </a:r>
            <a:r>
              <a:rPr sz="900" dirty="0">
                <a:solidFill>
                  <a:srgbClr val="FBF3E8"/>
                </a:solidFill>
              </a:rPr>
              <a:t> | </a:t>
            </a:r>
            <a:r>
              <a:rPr sz="900" dirty="0" err="1">
                <a:solidFill>
                  <a:srgbClr val="FBF3E8"/>
                </a:solidFill>
              </a:rPr>
              <a:t>seller_response</a:t>
            </a:r>
            <a:r>
              <a:rPr sz="900" dirty="0">
                <a:solidFill>
                  <a:srgbClr val="FBF3E8"/>
                </a:solidFill>
              </a:rPr>
              <a:t> | </a:t>
            </a:r>
            <a:r>
              <a:rPr sz="900" dirty="0" err="1">
                <a:solidFill>
                  <a:srgbClr val="FBF3E8"/>
                </a:solidFill>
              </a:rPr>
              <a:t>review_time</a:t>
            </a:r>
            <a:endParaRPr sz="900" dirty="0">
              <a:solidFill>
                <a:srgbClr val="FBF3E8"/>
              </a:solidFill>
            </a:endParaRPr>
          </a:p>
          <a:p>
            <a:pPr algn="l"/>
            <a:endParaRPr lang="en-US" sz="900" dirty="0">
              <a:solidFill>
                <a:srgbClr val="FBF3E8"/>
              </a:solidFill>
            </a:endParaRPr>
          </a:p>
          <a:p>
            <a:pPr algn="l"/>
            <a:r>
              <a:rPr sz="900" dirty="0">
                <a:solidFill>
                  <a:srgbClr val="FBF3E8"/>
                </a:solidFill>
              </a:rPr>
              <a:t>  TikTok Shop: </a:t>
            </a:r>
            <a:r>
              <a:rPr sz="900" dirty="0" err="1">
                <a:solidFill>
                  <a:srgbClr val="FBF3E8"/>
                </a:solidFill>
              </a:rPr>
              <a:t>review_rating</a:t>
            </a:r>
            <a:r>
              <a:rPr sz="900" dirty="0">
                <a:solidFill>
                  <a:srgbClr val="FBF3E8"/>
                </a:solidFill>
              </a:rPr>
              <a:t> | </a:t>
            </a:r>
            <a:r>
              <a:rPr sz="900" dirty="0" err="1">
                <a:solidFill>
                  <a:srgbClr val="FBF3E8"/>
                </a:solidFill>
              </a:rPr>
              <a:t>review_content</a:t>
            </a:r>
            <a:r>
              <a:rPr sz="900" dirty="0">
                <a:solidFill>
                  <a:srgbClr val="FBF3E8"/>
                </a:solidFill>
              </a:rPr>
              <a:t> | </a:t>
            </a:r>
            <a:r>
              <a:rPr sz="900" dirty="0" err="1">
                <a:solidFill>
                  <a:srgbClr val="FBF3E8"/>
                </a:solidFill>
              </a:rPr>
              <a:t>seller_reply</a:t>
            </a:r>
            <a:endParaRPr sz="900" dirty="0">
              <a:solidFill>
                <a:srgbClr val="FBF3E8"/>
              </a:solidFill>
            </a:endParaRPr>
          </a:p>
          <a:p>
            <a:pPr algn="l"/>
            <a:endParaRPr lang="en-US" sz="900" dirty="0">
              <a:solidFill>
                <a:srgbClr val="FBF3E8"/>
              </a:solidFill>
            </a:endParaRPr>
          </a:p>
          <a:p>
            <a:pPr algn="l"/>
            <a:r>
              <a:rPr sz="900" dirty="0">
                <a:solidFill>
                  <a:srgbClr val="FBF3E8"/>
                </a:solidFill>
              </a:rPr>
              <a:t>  Lazada: </a:t>
            </a:r>
            <a:r>
              <a:rPr sz="900" dirty="0" err="1">
                <a:solidFill>
                  <a:srgbClr val="FBF3E8"/>
                </a:solidFill>
              </a:rPr>
              <a:t>product_rating</a:t>
            </a:r>
            <a:r>
              <a:rPr sz="900" dirty="0">
                <a:solidFill>
                  <a:srgbClr val="FBF3E8"/>
                </a:solidFill>
              </a:rPr>
              <a:t> (+ </a:t>
            </a:r>
            <a:r>
              <a:rPr sz="900" dirty="0" err="1">
                <a:solidFill>
                  <a:srgbClr val="FBF3E8"/>
                </a:solidFill>
              </a:rPr>
              <a:t>seller_rating</a:t>
            </a:r>
            <a:r>
              <a:rPr sz="900" dirty="0">
                <a:solidFill>
                  <a:srgbClr val="FBF3E8"/>
                </a:solidFill>
              </a:rPr>
              <a:t>, </a:t>
            </a:r>
            <a:r>
              <a:rPr sz="900" dirty="0" err="1">
                <a:solidFill>
                  <a:srgbClr val="FBF3E8"/>
                </a:solidFill>
              </a:rPr>
              <a:t>delivery_rating</a:t>
            </a:r>
            <a:r>
              <a:rPr sz="900" dirty="0">
                <a:solidFill>
                  <a:srgbClr val="FBF3E8"/>
                </a:solidFill>
              </a:rPr>
              <a:t>) | </a:t>
            </a:r>
            <a:r>
              <a:rPr sz="900" dirty="0" err="1">
                <a:solidFill>
                  <a:srgbClr val="FBF3E8"/>
                </a:solidFill>
              </a:rPr>
              <a:t>review_title</a:t>
            </a:r>
            <a:endParaRPr sz="900" dirty="0">
              <a:solidFill>
                <a:srgbClr val="FBF3E8"/>
              </a:solidFill>
            </a:endParaRPr>
          </a:p>
          <a:p>
            <a:pPr algn="l"/>
            <a:endParaRPr lang="en-US" sz="900" dirty="0">
              <a:solidFill>
                <a:srgbClr val="FBF3E8"/>
              </a:solidFill>
            </a:endParaRPr>
          </a:p>
          <a:p>
            <a:pPr algn="l"/>
            <a:r>
              <a:rPr sz="900" dirty="0">
                <a:solidFill>
                  <a:srgbClr val="FBF3E8"/>
                </a:solidFill>
              </a:rPr>
              <a:t>  Blibli: rating | </a:t>
            </a:r>
            <a:r>
              <a:rPr sz="900" dirty="0" err="1">
                <a:solidFill>
                  <a:srgbClr val="FBF3E8"/>
                </a:solidFill>
              </a:rPr>
              <a:t>review_content</a:t>
            </a:r>
            <a:r>
              <a:rPr sz="900" dirty="0">
                <a:solidFill>
                  <a:srgbClr val="FBF3E8"/>
                </a:solidFill>
              </a:rPr>
              <a:t> | </a:t>
            </a:r>
            <a:r>
              <a:rPr sz="900" dirty="0" err="1">
                <a:solidFill>
                  <a:srgbClr val="FBF3E8"/>
                </a:solidFill>
              </a:rPr>
              <a:t>merchant_reply</a:t>
            </a:r>
            <a:r>
              <a:rPr sz="900" dirty="0">
                <a:solidFill>
                  <a:srgbClr val="FBF3E8"/>
                </a:solidFill>
              </a:rPr>
              <a:t> | </a:t>
            </a:r>
            <a:r>
              <a:rPr sz="900" dirty="0" err="1">
                <a:solidFill>
                  <a:srgbClr val="FBF3E8"/>
                </a:solidFill>
              </a:rPr>
              <a:t>review_date</a:t>
            </a:r>
            <a:r>
              <a:rPr sz="900" dirty="0">
                <a:solidFill>
                  <a:srgbClr val="FBF3E8"/>
                </a:solidFill>
              </a:rPr>
              <a:t> (dd/mm/</a:t>
            </a:r>
            <a:r>
              <a:rPr sz="900" dirty="0" err="1">
                <a:solidFill>
                  <a:srgbClr val="FBF3E8"/>
                </a:solidFill>
              </a:rPr>
              <a:t>yyyy</a:t>
            </a:r>
            <a:r>
              <a:rPr sz="900" dirty="0">
                <a:solidFill>
                  <a:srgbClr val="FBF3E8"/>
                </a:solidFill>
              </a:rPr>
              <a:t>)</a:t>
            </a:r>
          </a:p>
          <a:p>
            <a:pPr algn="l"/>
            <a:endParaRPr lang="en-US" sz="900" dirty="0">
              <a:solidFill>
                <a:srgbClr val="FBF3E8"/>
              </a:solidFill>
            </a:endParaRPr>
          </a:p>
          <a:p>
            <a:pPr algn="l"/>
            <a:r>
              <a:rPr sz="900" dirty="0">
                <a:solidFill>
                  <a:srgbClr val="FBF3E8"/>
                </a:solidFill>
              </a:rPr>
              <a:t>  Shopify website: rating | </a:t>
            </a:r>
            <a:r>
              <a:rPr sz="900" dirty="0" err="1">
                <a:solidFill>
                  <a:srgbClr val="FBF3E8"/>
                </a:solidFill>
              </a:rPr>
              <a:t>review_title</a:t>
            </a:r>
            <a:r>
              <a:rPr sz="900" dirty="0">
                <a:solidFill>
                  <a:srgbClr val="FBF3E8"/>
                </a:solidFill>
              </a:rPr>
              <a:t> + </a:t>
            </a:r>
            <a:r>
              <a:rPr sz="900" dirty="0" err="1">
                <a:solidFill>
                  <a:srgbClr val="FBF3E8"/>
                </a:solidFill>
              </a:rPr>
              <a:t>review_body</a:t>
            </a:r>
            <a:r>
              <a:rPr sz="900" dirty="0">
                <a:solidFill>
                  <a:srgbClr val="FBF3E8"/>
                </a:solidFill>
              </a:rPr>
              <a:t> | </a:t>
            </a:r>
            <a:r>
              <a:rPr sz="900" dirty="0" err="1">
                <a:solidFill>
                  <a:srgbClr val="FBF3E8"/>
                </a:solidFill>
              </a:rPr>
              <a:t>merchant_reply</a:t>
            </a:r>
            <a:endParaRPr sz="900" dirty="0">
              <a:solidFill>
                <a:srgbClr val="FBF3E8"/>
              </a:solidFill>
            </a:endParaRPr>
          </a:p>
          <a:p>
            <a:pPr algn="l"/>
            <a:endParaRPr lang="en-US" sz="900" dirty="0">
              <a:solidFill>
                <a:srgbClr val="FBF3E8"/>
              </a:solidFill>
            </a:endParaRPr>
          </a:p>
          <a:p>
            <a:pPr algn="l"/>
            <a:r>
              <a:rPr sz="900" dirty="0">
                <a:solidFill>
                  <a:srgbClr val="FBF3E8"/>
                </a:solidFill>
              </a:rPr>
              <a:t>  Google store: </a:t>
            </a:r>
            <a:r>
              <a:rPr sz="900" dirty="0" err="1">
                <a:solidFill>
                  <a:srgbClr val="FBF3E8"/>
                </a:solidFill>
              </a:rPr>
              <a:t>star_rating</a:t>
            </a:r>
            <a:r>
              <a:rPr sz="900" dirty="0">
                <a:solidFill>
                  <a:srgbClr val="FBF3E8"/>
                </a:solidFill>
              </a:rPr>
              <a:t> | </a:t>
            </a:r>
            <a:r>
              <a:rPr sz="900" dirty="0" err="1">
                <a:solidFill>
                  <a:srgbClr val="FBF3E8"/>
                </a:solidFill>
              </a:rPr>
              <a:t>review_text</a:t>
            </a:r>
            <a:r>
              <a:rPr sz="900" dirty="0">
                <a:solidFill>
                  <a:srgbClr val="FBF3E8"/>
                </a:solidFill>
              </a:rPr>
              <a:t> | </a:t>
            </a:r>
            <a:r>
              <a:rPr sz="900" dirty="0" err="1">
                <a:solidFill>
                  <a:srgbClr val="FBF3E8"/>
                </a:solidFill>
              </a:rPr>
              <a:t>owner_response</a:t>
            </a:r>
            <a:endParaRPr sz="900" dirty="0">
              <a:solidFill>
                <a:srgbClr val="FBF3E8"/>
              </a:solidFill>
            </a:endParaRPr>
          </a:p>
          <a:p>
            <a:pPr algn="l"/>
            <a:endParaRPr lang="en-US" sz="900" dirty="0">
              <a:solidFill>
                <a:srgbClr val="FBF3E8"/>
              </a:solidFill>
            </a:endParaRPr>
          </a:p>
          <a:p>
            <a:pPr algn="l"/>
            <a:r>
              <a:rPr sz="900" dirty="0">
                <a:solidFill>
                  <a:srgbClr val="FBF3E8"/>
                </a:solidFill>
              </a:rPr>
              <a:t>- </a:t>
            </a:r>
            <a:r>
              <a:rPr sz="900" dirty="0" err="1">
                <a:solidFill>
                  <a:srgbClr val="FBF3E8"/>
                </a:solidFill>
              </a:rPr>
              <a:t>loopcycle_instagram_comments.csv</a:t>
            </a:r>
            <a:r>
              <a:rPr sz="900" dirty="0">
                <a:solidFill>
                  <a:srgbClr val="FBF3E8"/>
                </a:solidFill>
              </a:rPr>
              <a:t>: 1,515 comments on 8 posts.</a:t>
            </a:r>
          </a:p>
          <a:p>
            <a:pPr algn="l"/>
            <a:r>
              <a:rPr sz="900" dirty="0">
                <a:solidFill>
                  <a:srgbClr val="FBF3E8"/>
                </a:solidFill>
              </a:rPr>
              <a:t>  Replies have a non-blank </a:t>
            </a:r>
            <a:r>
              <a:rPr sz="900" dirty="0" err="1">
                <a:solidFill>
                  <a:srgbClr val="FBF3E8"/>
                </a:solidFill>
              </a:rPr>
              <a:t>parent_comment_id</a:t>
            </a:r>
            <a:r>
              <a:rPr sz="900" dirty="0">
                <a:solidFill>
                  <a:srgbClr val="FBF3E8"/>
                </a:solidFill>
              </a:rPr>
              <a:t>.</a:t>
            </a:r>
            <a:endParaRPr lang="en-US" sz="900" dirty="0">
              <a:solidFill>
                <a:srgbClr val="FBF3E8"/>
              </a:solidFill>
            </a:endParaRPr>
          </a:p>
          <a:p>
            <a:pPr algn="l"/>
            <a:endParaRPr sz="900" dirty="0">
              <a:solidFill>
                <a:srgbClr val="FBF3E8"/>
              </a:solidFill>
            </a:endParaRPr>
          </a:p>
          <a:p>
            <a:pPr algn="l"/>
            <a:r>
              <a:rPr sz="900" dirty="0">
                <a:solidFill>
                  <a:srgbClr val="FBF3E8"/>
                </a:solidFill>
              </a:rPr>
              <a:t>- The last two columns (</a:t>
            </a:r>
            <a:r>
              <a:rPr sz="900" dirty="0" err="1">
                <a:solidFill>
                  <a:srgbClr val="FBF3E8"/>
                </a:solidFill>
              </a:rPr>
              <a:t>synthetic_sentiment_label</a:t>
            </a:r>
            <a:r>
              <a:rPr sz="900" dirty="0">
                <a:solidFill>
                  <a:srgbClr val="FBF3E8"/>
                </a:solidFill>
              </a:rPr>
              <a:t>, </a:t>
            </a:r>
            <a:r>
              <a:rPr sz="900" dirty="0" err="1">
                <a:solidFill>
                  <a:srgbClr val="FBF3E8"/>
                </a:solidFill>
              </a:rPr>
              <a:t>synthetic_topic</a:t>
            </a:r>
            <a:r>
              <a:rPr sz="900" dirty="0">
                <a:solidFill>
                  <a:srgbClr val="FBF3E8"/>
                </a:solidFill>
              </a:rPr>
              <a:t>)</a:t>
            </a:r>
          </a:p>
          <a:p>
            <a:pPr algn="l"/>
            <a:r>
              <a:rPr sz="900" dirty="0">
                <a:solidFill>
                  <a:srgbClr val="FBF3E8"/>
                </a:solidFill>
              </a:rPr>
              <a:t>  are answer keys — do not use them until I ask you to.</a:t>
            </a:r>
          </a:p>
          <a:p>
            <a:pPr algn="l"/>
            <a:endParaRPr sz="900" dirty="0">
              <a:solidFill>
                <a:srgbClr val="FBF3E8"/>
              </a:solidFill>
            </a:endParaRPr>
          </a:p>
          <a:p>
            <a:pPr algn="l"/>
            <a:r>
              <a:rPr sz="900" dirty="0">
                <a:solidFill>
                  <a:srgbClr val="FBF3E8"/>
                </a:solidFill>
              </a:rPr>
              <a:t>Rules: use only the data I give you. Show how many reviews or</a:t>
            </a:r>
            <a:r>
              <a:rPr lang="en-US" sz="900" dirty="0">
                <a:solidFill>
                  <a:srgbClr val="FBF3E8"/>
                </a:solidFill>
              </a:rPr>
              <a:t> </a:t>
            </a:r>
            <a:r>
              <a:rPr sz="900" dirty="0">
                <a:solidFill>
                  <a:srgbClr val="FBF3E8"/>
                </a:solidFill>
              </a:rPr>
              <a:t>comments sit behind every figure. Say clearly when a sample is too</a:t>
            </a:r>
            <a:r>
              <a:rPr lang="en-US" sz="900" dirty="0">
                <a:solidFill>
                  <a:srgbClr val="FBF3E8"/>
                </a:solidFill>
              </a:rPr>
              <a:t> </a:t>
            </a:r>
            <a:r>
              <a:rPr sz="900" dirty="0">
                <a:solidFill>
                  <a:srgbClr val="FBF3E8"/>
                </a:solidFill>
              </a:rPr>
              <a:t>small to draw conclusions. Never invent data or quotes.</a:t>
            </a:r>
          </a:p>
        </p:txBody>
      </p:sp>
      <p:sp>
        <p:nvSpPr>
          <p:cNvPr id="7" name="TextBox 6"/>
          <p:cNvSpPr txBox="1"/>
          <p:nvPr/>
        </p:nvSpPr>
        <p:spPr>
          <a:xfrm>
            <a:off x="7903028" y="2148840"/>
            <a:ext cx="4121331" cy="2000548"/>
          </a:xfrm>
          <a:prstGeom prst="rect">
            <a:avLst/>
          </a:prstGeom>
          <a:noFill/>
        </p:spPr>
        <p:txBody>
          <a:bodyPr wrap="square">
            <a:spAutoFit/>
          </a:bodyPr>
          <a:lstStyle/>
          <a:p>
            <a:pPr algn="l"/>
            <a:r>
              <a:rPr sz="1500">
                <a:solidFill>
                  <a:srgbClr val="B5532B"/>
                </a:solidFill>
              </a:rPr>
              <a:t>1</a:t>
            </a:r>
          </a:p>
          <a:p>
            <a:pPr algn="l"/>
            <a:r>
              <a:rPr sz="980">
                <a:solidFill>
                  <a:srgbClr val="1E3A2F"/>
                </a:solidFill>
              </a:rPr>
              <a:t>Open a new chat in ChatGPT, Claude or Gemini.</a:t>
            </a:r>
          </a:p>
          <a:p>
            <a:pPr algn="l"/>
            <a:r>
              <a:rPr sz="1500">
                <a:solidFill>
                  <a:srgbClr val="B5532B"/>
                </a:solidFill>
              </a:rPr>
              <a:t>2</a:t>
            </a:r>
          </a:p>
          <a:p>
            <a:pPr algn="l"/>
            <a:r>
              <a:rPr sz="980">
                <a:solidFill>
                  <a:srgbClr val="1E3A2F"/>
                </a:solidFill>
              </a:rPr>
              <a:t>Paste this context block first.</a:t>
            </a:r>
          </a:p>
          <a:p>
            <a:pPr algn="l"/>
            <a:r>
              <a:rPr sz="1500">
                <a:solidFill>
                  <a:srgbClr val="B5532B"/>
                </a:solidFill>
              </a:rPr>
              <a:t>3</a:t>
            </a:r>
          </a:p>
          <a:p>
            <a:pPr algn="l"/>
            <a:r>
              <a:rPr sz="980">
                <a:solidFill>
                  <a:srgbClr val="1E3A2F"/>
                </a:solidFill>
              </a:rPr>
              <a:t>Attach the review files and / or the Instagram comments file.</a:t>
            </a:r>
          </a:p>
          <a:p>
            <a:pPr algn="l"/>
            <a:r>
              <a:rPr sz="1500">
                <a:solidFill>
                  <a:srgbClr val="B5532B"/>
                </a:solidFill>
              </a:rPr>
              <a:t>4</a:t>
            </a:r>
          </a:p>
          <a:p>
            <a:pPr algn="l"/>
            <a:r>
              <a:rPr sz="980">
                <a:solidFill>
                  <a:srgbClr val="1E3A2F"/>
                </a:solidFill>
              </a:rPr>
              <a:t>Then paste your question prompt.</a:t>
            </a:r>
          </a:p>
          <a:p>
            <a:pPr algn="l"/>
            <a:r>
              <a:rPr sz="1500">
                <a:solidFill>
                  <a:srgbClr val="B5532B"/>
                </a:solidFill>
              </a:rPr>
              <a:t>5</a:t>
            </a:r>
          </a:p>
          <a:p>
            <a:pPr algn="l"/>
            <a:r>
              <a:rPr sz="980">
                <a:solidFill>
                  <a:srgbClr val="1E3A2F"/>
                </a:solidFill>
              </a:rPr>
              <a:t>Keep the same chat open for all 5 questions.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1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dirty="0">
                <a:solidFill>
                  <a:srgbClr val="1E3A2F"/>
                </a:solidFill>
              </a:rPr>
              <a:t>What are customers really saying?</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3390608"/>
          </a:xfrm>
          <a:prstGeom prst="rect">
            <a:avLst/>
          </a:prstGeom>
          <a:noFill/>
        </p:spPr>
        <p:txBody>
          <a:bodyPr wrap="square">
            <a:spAutoFit/>
          </a:bodyPr>
          <a:lstStyle/>
          <a:p>
            <a:pPr algn="l">
              <a:lnSpc>
                <a:spcPct val="150000"/>
              </a:lnSpc>
            </a:pPr>
            <a:r>
              <a:rPr sz="900" dirty="0">
                <a:solidFill>
                  <a:srgbClr val="FBF3E8"/>
                </a:solidFill>
              </a:rPr>
              <a:t>Using the attached review and comment files:</a:t>
            </a:r>
          </a:p>
          <a:p>
            <a:pPr algn="l">
              <a:lnSpc>
                <a:spcPct val="150000"/>
              </a:lnSpc>
            </a:pPr>
            <a:endParaRPr sz="900" dirty="0">
              <a:solidFill>
                <a:srgbClr val="FBF3E8"/>
              </a:solidFill>
            </a:endParaRPr>
          </a:p>
          <a:p>
            <a:pPr algn="l">
              <a:lnSpc>
                <a:spcPct val="150000"/>
              </a:lnSpc>
            </a:pPr>
            <a:r>
              <a:rPr sz="900" dirty="0">
                <a:solidFill>
                  <a:srgbClr val="FBF3E8"/>
                </a:solidFill>
              </a:rPr>
              <a:t>1. Combine the 8 review files. Flag which columns you used for</a:t>
            </a:r>
            <a:r>
              <a:rPr lang="en-US" sz="900" dirty="0">
                <a:solidFill>
                  <a:srgbClr val="FBF3E8"/>
                </a:solidFill>
              </a:rPr>
              <a:t> </a:t>
            </a:r>
            <a:r>
              <a:rPr sz="900" dirty="0">
                <a:solidFill>
                  <a:srgbClr val="FBF3E8"/>
                </a:solidFill>
              </a:rPr>
              <a:t>rating, review text, reply and date on each platform.</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2. Classify each review as: positive, neutral, negative,</a:t>
            </a:r>
            <a:r>
              <a:rPr lang="en-US" sz="900" dirty="0">
                <a:solidFill>
                  <a:srgbClr val="FBF3E8"/>
                </a:solidFill>
              </a:rPr>
              <a:t> </a:t>
            </a:r>
            <a:r>
              <a:rPr sz="900" dirty="0">
                <a:solidFill>
                  <a:srgbClr val="FBF3E8"/>
                </a:solidFill>
              </a:rPr>
              <a:t>or unrelated (complaint is not about the product).</a:t>
            </a:r>
            <a:r>
              <a:rPr lang="en-US" sz="900" dirty="0">
                <a:solidFill>
                  <a:srgbClr val="FBF3E8"/>
                </a:solidFill>
              </a:rPr>
              <a:t> </a:t>
            </a:r>
            <a:r>
              <a:rPr sz="900" dirty="0">
                <a:solidFill>
                  <a:srgbClr val="FBF3E8"/>
                </a:solidFill>
              </a:rPr>
              <a:t>Show your count for each label.</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3. For each label, list the top 3 topics with counts.</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4. List 5 reviews a human should read first and explain why.</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5. Now check your labels against </a:t>
            </a:r>
            <a:r>
              <a:rPr sz="900" dirty="0" err="1">
                <a:solidFill>
                  <a:srgbClr val="FBF3E8"/>
                </a:solidFill>
              </a:rPr>
              <a:t>synthetic_sentiment_label</a:t>
            </a:r>
            <a:r>
              <a:rPr sz="900" dirty="0">
                <a:solidFill>
                  <a:srgbClr val="FBF3E8"/>
                </a:solidFill>
              </a:rPr>
              <a:t>.</a:t>
            </a:r>
            <a:r>
              <a:rPr lang="en-US" sz="900" dirty="0">
                <a:solidFill>
                  <a:srgbClr val="FBF3E8"/>
                </a:solidFill>
              </a:rPr>
              <a:t> </a:t>
            </a:r>
            <a:r>
              <a:rPr sz="900" dirty="0">
                <a:solidFill>
                  <a:srgbClr val="FBF3E8"/>
                </a:solidFill>
              </a:rPr>
              <a:t>Show a confusion matrix and explain where you went wrong.</a:t>
            </a:r>
          </a:p>
          <a:p>
            <a:pPr algn="l">
              <a:lnSpc>
                <a:spcPct val="150000"/>
              </a:lnSpc>
            </a:pPr>
            <a:endParaRPr sz="900" dirty="0">
              <a:solidFill>
                <a:srgbClr val="FBF3E8"/>
              </a:solidFill>
            </a:endParaRPr>
          </a:p>
          <a:p>
            <a:pPr algn="l">
              <a:lnSpc>
                <a:spcPct val="150000"/>
              </a:lnSpc>
            </a:pPr>
            <a:r>
              <a:rPr sz="900" dirty="0">
                <a:solidFill>
                  <a:srgbClr val="FBF3E8"/>
                </a:solidFill>
              </a:rPr>
              <a:t>Files: all 8 review CSVs</a:t>
            </a:r>
          </a:p>
          <a:p>
            <a:pPr algn="l">
              <a:lnSpc>
                <a:spcPct val="150000"/>
              </a:lnSpc>
            </a:pPr>
            <a:r>
              <a:rPr sz="900" dirty="0">
                <a:solidFill>
                  <a:srgbClr val="FBF3E8"/>
                </a:solidFill>
              </a:rPr>
              <a:t>Do not use the synthetic_ columns until step 5.</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Attach all 8 review files.</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"Where did the star rating mislead you — e.g. a positive review with 4 stars or an unrelated review with 4 stars?"</a:t>
            </a:r>
          </a:p>
          <a:p>
            <a:pPr algn="l"/>
            <a:r>
              <a:rPr sz="1500">
                <a:solidFill>
                  <a:srgbClr val="B5532B"/>
                </a:solidFill>
              </a:rPr>
              <a:t>4</a:t>
            </a:r>
          </a:p>
          <a:p>
            <a:pPr algn="l"/>
            <a:r>
              <a:rPr sz="980">
                <a:solidFill>
                  <a:srgbClr val="1E3A2F"/>
                </a:solidFill>
              </a:rPr>
              <a:t>Ask: "Which reviews should a human read first, and why?"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2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dirty="0">
                <a:solidFill>
                  <a:srgbClr val="1E3A2F"/>
                </a:solidFill>
              </a:rPr>
              <a:t>Is the problem the product, or everything around it?</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2559611"/>
          </a:xfrm>
          <a:prstGeom prst="rect">
            <a:avLst/>
          </a:prstGeom>
          <a:noFill/>
        </p:spPr>
        <p:txBody>
          <a:bodyPr wrap="square">
            <a:spAutoFit/>
          </a:bodyPr>
          <a:lstStyle/>
          <a:p>
            <a:pPr algn="l">
              <a:lnSpc>
                <a:spcPct val="150000"/>
              </a:lnSpc>
            </a:pPr>
            <a:r>
              <a:rPr sz="900" dirty="0">
                <a:solidFill>
                  <a:srgbClr val="FBF3E8"/>
                </a:solidFill>
              </a:rPr>
              <a:t>Use the combined review table (or rebuild it).</a:t>
            </a:r>
          </a:p>
          <a:p>
            <a:pPr algn="l">
              <a:lnSpc>
                <a:spcPct val="150000"/>
              </a:lnSpc>
            </a:pPr>
            <a:endParaRPr sz="900" dirty="0">
              <a:solidFill>
                <a:srgbClr val="FBF3E8"/>
              </a:solidFill>
            </a:endParaRPr>
          </a:p>
          <a:p>
            <a:pPr algn="l">
              <a:lnSpc>
                <a:spcPct val="150000"/>
              </a:lnSpc>
            </a:pPr>
            <a:r>
              <a:rPr sz="900" dirty="0">
                <a:solidFill>
                  <a:srgbClr val="FBF3E8"/>
                </a:solidFill>
              </a:rPr>
              <a:t>1. Split reviews into: about the product, about delivery or</a:t>
            </a:r>
            <a:r>
              <a:rPr lang="en-US" sz="900" dirty="0">
                <a:solidFill>
                  <a:srgbClr val="FBF3E8"/>
                </a:solidFill>
              </a:rPr>
              <a:t> </a:t>
            </a:r>
            <a:r>
              <a:rPr sz="900" dirty="0">
                <a:solidFill>
                  <a:srgbClr val="FBF3E8"/>
                </a:solidFill>
              </a:rPr>
              <a:t>packaging, about seller service, about the store, or other.</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2. Calculate the average rating overall and for product-focused</a:t>
            </a:r>
            <a:r>
              <a:rPr lang="en-US" sz="900" dirty="0">
                <a:solidFill>
                  <a:srgbClr val="FBF3E8"/>
                </a:solidFill>
              </a:rPr>
              <a:t> </a:t>
            </a:r>
            <a:r>
              <a:rPr sz="900" dirty="0">
                <a:solidFill>
                  <a:srgbClr val="FBF3E8"/>
                </a:solidFill>
              </a:rPr>
              <a:t>reviews only. Show the difference.</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3. List the top product issues and top non-product issues with</a:t>
            </a:r>
            <a:r>
              <a:rPr lang="en-US" sz="900" dirty="0">
                <a:solidFill>
                  <a:srgbClr val="FBF3E8"/>
                </a:solidFill>
              </a:rPr>
              <a:t> </a:t>
            </a:r>
            <a:r>
              <a:rPr sz="900" dirty="0">
                <a:solidFill>
                  <a:srgbClr val="FBF3E8"/>
                </a:solidFill>
              </a:rPr>
              <a:t>counts and one example quote per issue.</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4. Show by platform how much of the low-rating problem is</a:t>
            </a:r>
            <a:r>
              <a:rPr lang="en-US" sz="900" dirty="0">
                <a:solidFill>
                  <a:srgbClr val="FBF3E8"/>
                </a:solidFill>
              </a:rPr>
              <a:t> </a:t>
            </a:r>
            <a:r>
              <a:rPr sz="900" dirty="0">
                <a:solidFill>
                  <a:srgbClr val="FBF3E8"/>
                </a:solidFill>
              </a:rPr>
              <a:t>non-product. Flag platforms where this is over 20%.</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5. Tell me which three things we should fix first, and why.</a:t>
            </a:r>
          </a:p>
          <a:p>
            <a:pPr algn="l">
              <a:lnSpc>
                <a:spcPct val="150000"/>
              </a:lnSpc>
            </a:pPr>
            <a:endParaRPr sz="900" dirty="0">
              <a:solidFill>
                <a:srgbClr val="FBF3E8"/>
              </a:solidFill>
            </a:endParaRP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Reuse the same chat (combined table already in context).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"Separate what is being complained about from how unhappy the customer is."</a:t>
            </a:r>
          </a:p>
          <a:p>
            <a:pPr algn="l"/>
            <a:r>
              <a:rPr sz="1500">
                <a:solidFill>
                  <a:srgbClr val="B5532B"/>
                </a:solidFill>
              </a:rPr>
              <a:t>4</a:t>
            </a:r>
          </a:p>
          <a:p>
            <a:pPr algn="l"/>
            <a:r>
              <a:rPr sz="980">
                <a:solidFill>
                  <a:srgbClr val="1E3A2F"/>
                </a:solidFill>
              </a:rPr>
              <a:t>Optionally attach loopcycle_tote_orders.csv for the join.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3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dirty="0">
                <a:solidFill>
                  <a:srgbClr val="1E3A2F"/>
                </a:solidFill>
              </a:rPr>
              <a:t>How do platforms differ, and are we responding where it matters?</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2975110"/>
          </a:xfrm>
          <a:prstGeom prst="rect">
            <a:avLst/>
          </a:prstGeom>
          <a:noFill/>
        </p:spPr>
        <p:txBody>
          <a:bodyPr wrap="square">
            <a:spAutoFit/>
          </a:bodyPr>
          <a:lstStyle/>
          <a:p>
            <a:pPr algn="l">
              <a:lnSpc>
                <a:spcPct val="150000"/>
              </a:lnSpc>
            </a:pPr>
            <a:r>
              <a:rPr sz="900" dirty="0">
                <a:solidFill>
                  <a:srgbClr val="FBF3E8"/>
                </a:solidFill>
              </a:rPr>
              <a:t>1. Compare each platform: number of reviews, average rating,</a:t>
            </a:r>
            <a:r>
              <a:rPr lang="en-US" sz="900" dirty="0">
                <a:solidFill>
                  <a:srgbClr val="FBF3E8"/>
                </a:solidFill>
              </a:rPr>
              <a:t> </a:t>
            </a:r>
            <a:r>
              <a:rPr sz="900" dirty="0">
                <a:solidFill>
                  <a:srgbClr val="FBF3E8"/>
                </a:solidFill>
              </a:rPr>
              <a:t>sentiment mix, average review length, reply rate.</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2. Show the seller reply rate by sentiment (positive, neutral,</a:t>
            </a:r>
            <a:r>
              <a:rPr lang="en-US" sz="900" dirty="0">
                <a:solidFill>
                  <a:srgbClr val="FBF3E8"/>
                </a:solidFill>
              </a:rPr>
              <a:t> </a:t>
            </a:r>
            <a:r>
              <a:rPr sz="900" dirty="0">
                <a:solidFill>
                  <a:srgbClr val="FBF3E8"/>
                </a:solidFill>
              </a:rPr>
              <a:t>negative, unrelated). Which groups do we reply to most?</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3. Which kinds of reviews get no reply? What is the risk or</a:t>
            </a:r>
            <a:r>
              <a:rPr lang="en-US" sz="900" dirty="0">
                <a:solidFill>
                  <a:srgbClr val="FBF3E8"/>
                </a:solidFill>
              </a:rPr>
              <a:t> </a:t>
            </a:r>
            <a:r>
              <a:rPr sz="900" dirty="0">
                <a:solidFill>
                  <a:srgbClr val="FBF3E8"/>
                </a:solidFill>
              </a:rPr>
              <a:t>opportunity in each case?</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4. Identify two things that look like platform differences but</a:t>
            </a:r>
            <a:r>
              <a:rPr lang="en-US" sz="900" dirty="0">
                <a:solidFill>
                  <a:srgbClr val="FBF3E8"/>
                </a:solidFill>
              </a:rPr>
              <a:t> </a:t>
            </a:r>
            <a:r>
              <a:rPr sz="900" dirty="0">
                <a:solidFill>
                  <a:srgbClr val="FBF3E8"/>
                </a:solidFill>
              </a:rPr>
              <a:t>could be caused by sample size or different review prompts.</a:t>
            </a:r>
            <a:r>
              <a:rPr lang="en-US" sz="900" dirty="0">
                <a:solidFill>
                  <a:srgbClr val="FBF3E8"/>
                </a:solidFill>
              </a:rPr>
              <a:t>3</a:t>
            </a:r>
          </a:p>
          <a:p>
            <a:pPr algn="l">
              <a:lnSpc>
                <a:spcPct val="150000"/>
              </a:lnSpc>
            </a:pPr>
            <a:endParaRPr sz="900" dirty="0">
              <a:solidFill>
                <a:srgbClr val="FBF3E8"/>
              </a:solidFill>
            </a:endParaRPr>
          </a:p>
          <a:p>
            <a:pPr algn="l">
              <a:lnSpc>
                <a:spcPct val="150000"/>
              </a:lnSpc>
            </a:pPr>
            <a:r>
              <a:rPr sz="900" dirty="0">
                <a:solidFill>
                  <a:srgbClr val="FBF3E8"/>
                </a:solidFill>
              </a:rPr>
              <a:t>5. Recommend a reply policy: which reviews we answer within</a:t>
            </a:r>
            <a:r>
              <a:rPr lang="en-US" sz="900" dirty="0">
                <a:solidFill>
                  <a:srgbClr val="FBF3E8"/>
                </a:solidFill>
              </a:rPr>
              <a:t> </a:t>
            </a:r>
            <a:r>
              <a:rPr sz="900" dirty="0">
                <a:solidFill>
                  <a:srgbClr val="FBF3E8"/>
                </a:solidFill>
              </a:rPr>
              <a:t>24 hours, which later, and which we can skip.</a:t>
            </a:r>
          </a:p>
          <a:p>
            <a:pPr algn="l">
              <a:lnSpc>
                <a:spcPct val="150000"/>
              </a:lnSpc>
            </a:pPr>
            <a:endParaRPr sz="900" dirty="0">
              <a:solidFill>
                <a:srgbClr val="FBF3E8"/>
              </a:solidFill>
            </a:endParaRPr>
          </a:p>
          <a:p>
            <a:pPr algn="l">
              <a:lnSpc>
                <a:spcPct val="150000"/>
              </a:lnSpc>
            </a:pPr>
            <a:r>
              <a:rPr sz="900" dirty="0">
                <a:solidFill>
                  <a:srgbClr val="FBF3E8"/>
                </a:solidFill>
              </a:rPr>
              <a:t>Follow-up: Write three reply templates (delivery delay,</a:t>
            </a:r>
            <a:r>
              <a:rPr lang="en-US" sz="900" dirty="0">
                <a:solidFill>
                  <a:srgbClr val="FBF3E8"/>
                </a:solidFill>
              </a:rPr>
              <a:t> </a:t>
            </a:r>
            <a:r>
              <a:rPr sz="900" dirty="0">
                <a:solidFill>
                  <a:srgbClr val="FBF3E8"/>
                </a:solidFill>
              </a:rPr>
              <a:t>product defect, neutral feedback) in our brand voice:</a:t>
            </a:r>
          </a:p>
          <a:p>
            <a:pPr algn="l">
              <a:lnSpc>
                <a:spcPct val="150000"/>
              </a:lnSpc>
            </a:pPr>
            <a:r>
              <a:rPr sz="900" dirty="0">
                <a:solidFill>
                  <a:srgbClr val="FBF3E8"/>
                </a:solidFill>
              </a:rPr>
              <a:t>warm, direct, no jargon.</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Reuse the same chat.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"Write three reply templates in our brand voice: warm, direct, no jargon."</a:t>
            </a:r>
          </a:p>
          <a:p>
            <a:pPr algn="l"/>
            <a:r>
              <a:rPr sz="1500">
                <a:solidFill>
                  <a:srgbClr val="B5532B"/>
                </a:solidFill>
              </a:rPr>
              <a:t>4</a:t>
            </a:r>
          </a:p>
          <a:p>
            <a:pPr algn="l"/>
            <a:r>
              <a:rPr sz="980">
                <a:solidFill>
                  <a:srgbClr val="1E3A2F"/>
                </a:solidFill>
              </a:rPr>
              <a:t>Ask: "Which platform comparison is least trustworthy because of sample size?"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4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dirty="0">
                <a:solidFill>
                  <a:srgbClr val="1E3A2F"/>
                </a:solidFill>
              </a:rPr>
              <a:t>What are people saying on Instagram, and which comments stop them buying?</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2975110"/>
          </a:xfrm>
          <a:prstGeom prst="rect">
            <a:avLst/>
          </a:prstGeom>
          <a:noFill/>
        </p:spPr>
        <p:txBody>
          <a:bodyPr wrap="square">
            <a:spAutoFit/>
          </a:bodyPr>
          <a:lstStyle/>
          <a:p>
            <a:pPr algn="l">
              <a:lnSpc>
                <a:spcPct val="150000"/>
              </a:lnSpc>
            </a:pPr>
            <a:r>
              <a:rPr sz="900" dirty="0">
                <a:solidFill>
                  <a:srgbClr val="FBF3E8"/>
                </a:solidFill>
              </a:rPr>
              <a:t>Use </a:t>
            </a:r>
            <a:r>
              <a:rPr sz="900" dirty="0" err="1">
                <a:solidFill>
                  <a:srgbClr val="FBF3E8"/>
                </a:solidFill>
              </a:rPr>
              <a:t>loopcycle_instagram_comments.csv</a:t>
            </a:r>
            <a:r>
              <a:rPr sz="900" dirty="0">
                <a:solidFill>
                  <a:srgbClr val="FBF3E8"/>
                </a:solidFill>
              </a:rPr>
              <a:t>.</a:t>
            </a:r>
            <a:r>
              <a:rPr lang="en-US" sz="900" dirty="0">
                <a:solidFill>
                  <a:srgbClr val="FBF3E8"/>
                </a:solidFill>
              </a:rPr>
              <a:t> </a:t>
            </a:r>
            <a:r>
              <a:rPr sz="900" dirty="0">
                <a:solidFill>
                  <a:srgbClr val="FBF3E8"/>
                </a:solidFill>
              </a:rPr>
              <a:t>Ignore the synthetic_ columns until step 5.</a:t>
            </a:r>
          </a:p>
          <a:p>
            <a:pPr algn="l">
              <a:lnSpc>
                <a:spcPct val="150000"/>
              </a:lnSpc>
            </a:pPr>
            <a:endParaRPr sz="900" dirty="0">
              <a:solidFill>
                <a:srgbClr val="FBF3E8"/>
              </a:solidFill>
            </a:endParaRPr>
          </a:p>
          <a:p>
            <a:pPr algn="l">
              <a:lnSpc>
                <a:spcPct val="150000"/>
              </a:lnSpc>
            </a:pPr>
            <a:r>
              <a:rPr sz="900" dirty="0">
                <a:solidFill>
                  <a:srgbClr val="FBF3E8"/>
                </a:solidFill>
              </a:rPr>
              <a:t>1. Separate top-level comments (</a:t>
            </a:r>
            <a:r>
              <a:rPr sz="900" dirty="0" err="1">
                <a:solidFill>
                  <a:srgbClr val="FBF3E8"/>
                </a:solidFill>
              </a:rPr>
              <a:t>parent_comment_id</a:t>
            </a:r>
            <a:r>
              <a:rPr sz="900" dirty="0">
                <a:solidFill>
                  <a:srgbClr val="FBF3E8"/>
                </a:solidFill>
              </a:rPr>
              <a:t> blank) from</a:t>
            </a:r>
            <a:r>
              <a:rPr lang="en-US" sz="900" dirty="0">
                <a:solidFill>
                  <a:srgbClr val="FBF3E8"/>
                </a:solidFill>
              </a:rPr>
              <a:t> </a:t>
            </a:r>
            <a:r>
              <a:rPr sz="900" dirty="0">
                <a:solidFill>
                  <a:srgbClr val="FBF3E8"/>
                </a:solidFill>
              </a:rPr>
              <a:t>replies. Count each group.</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2. Classify top-level comments as: praise, question, objection</a:t>
            </a:r>
            <a:r>
              <a:rPr lang="en-US" sz="900" dirty="0">
                <a:solidFill>
                  <a:srgbClr val="FBF3E8"/>
                </a:solidFill>
              </a:rPr>
              <a:t> </a:t>
            </a:r>
            <a:r>
              <a:rPr sz="900" dirty="0">
                <a:solidFill>
                  <a:srgbClr val="FBF3E8"/>
                </a:solidFill>
              </a:rPr>
              <a:t>(price / trust / quality / availability), or noise</a:t>
            </a:r>
            <a:r>
              <a:rPr lang="en-US" sz="900" dirty="0">
                <a:solidFill>
                  <a:srgbClr val="FBF3E8"/>
                </a:solidFill>
              </a:rPr>
              <a:t> </a:t>
            </a:r>
            <a:r>
              <a:rPr sz="900" dirty="0">
                <a:solidFill>
                  <a:srgbClr val="FBF3E8"/>
                </a:solidFill>
              </a:rPr>
              <a:t>(spam, quiz guesses, off-topic).</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3. For each group, calculate the share that received a brand reply.</a:t>
            </a:r>
            <a:r>
              <a:rPr lang="en-US" sz="900" dirty="0">
                <a:solidFill>
                  <a:srgbClr val="FBF3E8"/>
                </a:solidFill>
              </a:rPr>
              <a:t> </a:t>
            </a:r>
            <a:r>
              <a:rPr sz="900" dirty="0">
                <a:solidFill>
                  <a:srgbClr val="FBF3E8"/>
                </a:solidFill>
              </a:rPr>
              <a:t>Which groups do we reply to least?</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4. Compare posts: which attract the most questions, objections</a:t>
            </a:r>
            <a:r>
              <a:rPr lang="en-US" sz="900" dirty="0">
                <a:solidFill>
                  <a:srgbClr val="FBF3E8"/>
                </a:solidFill>
              </a:rPr>
              <a:t> </a:t>
            </a:r>
            <a:r>
              <a:rPr sz="900" dirty="0">
                <a:solidFill>
                  <a:srgbClr val="FBF3E8"/>
                </a:solidFill>
              </a:rPr>
              <a:t>and complaints?</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5. Check your classification against </a:t>
            </a:r>
            <a:r>
              <a:rPr sz="900" dirty="0" err="1">
                <a:solidFill>
                  <a:srgbClr val="FBF3E8"/>
                </a:solidFill>
              </a:rPr>
              <a:t>synthetic_topic</a:t>
            </a:r>
            <a:r>
              <a:rPr sz="900" dirty="0">
                <a:solidFill>
                  <a:srgbClr val="FBF3E8"/>
                </a:solidFill>
              </a:rPr>
              <a:t> and</a:t>
            </a:r>
            <a:r>
              <a:rPr lang="en-US" sz="900" dirty="0">
                <a:solidFill>
                  <a:srgbClr val="FBF3E8"/>
                </a:solidFill>
              </a:rPr>
              <a:t> </a:t>
            </a:r>
            <a:r>
              <a:rPr sz="900" dirty="0" err="1">
                <a:solidFill>
                  <a:srgbClr val="FBF3E8"/>
                </a:solidFill>
              </a:rPr>
              <a:t>synthetic_sentiment_label</a:t>
            </a:r>
            <a:r>
              <a:rPr sz="900" dirty="0">
                <a:solidFill>
                  <a:srgbClr val="FBF3E8"/>
                </a:solidFill>
              </a:rPr>
              <a:t>. Where did you go wrong</a:t>
            </a:r>
            <a:r>
              <a:rPr lang="en-IN" sz="900" dirty="0">
                <a:solidFill>
                  <a:srgbClr val="FBF3E8"/>
                </a:solidFill>
              </a:rPr>
              <a:t>?</a:t>
            </a:r>
          </a:p>
          <a:p>
            <a:pPr algn="l">
              <a:lnSpc>
                <a:spcPct val="150000"/>
              </a:lnSpc>
            </a:pPr>
            <a:endParaRPr sz="900" dirty="0">
              <a:solidFill>
                <a:srgbClr val="FBF3E8"/>
              </a:solidFill>
            </a:endParaRPr>
          </a:p>
          <a:p>
            <a:pPr algn="l">
              <a:lnSpc>
                <a:spcPct val="150000"/>
              </a:lnSpc>
            </a:pPr>
            <a:r>
              <a:rPr sz="900" dirty="0">
                <a:solidFill>
                  <a:srgbClr val="FBF3E8"/>
                </a:solidFill>
              </a:rPr>
              <a:t>6. Give 5 recommendations for managing comments, including</a:t>
            </a:r>
            <a:r>
              <a:rPr lang="en-US" sz="900" dirty="0">
                <a:solidFill>
                  <a:srgbClr val="FBF3E8"/>
                </a:solidFill>
              </a:rPr>
              <a:t> </a:t>
            </a:r>
            <a:r>
              <a:rPr sz="900" dirty="0">
                <a:solidFill>
                  <a:srgbClr val="FBF3E8"/>
                </a:solidFill>
              </a:rPr>
              <a:t>three reusable reply templates.</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Attach loopcycle_instagram_comments.csv.</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"Estimate how many potential buyers these unanswered comments might represent, and say what we cannot know from this data."</a:t>
            </a:r>
          </a:p>
          <a:p>
            <a:pPr algn="l"/>
            <a:r>
              <a:rPr sz="1500">
                <a:solidFill>
                  <a:srgbClr val="B5532B"/>
                </a:solidFill>
              </a:rPr>
              <a:t>4</a:t>
            </a:r>
          </a:p>
          <a:p>
            <a:pPr algn="l"/>
            <a:r>
              <a:rPr sz="980">
                <a:solidFill>
                  <a:srgbClr val="1E3A2F"/>
                </a:solidFill>
              </a:rPr>
              <a:t>Optionally attach loopcycle_post_kpis.csv for post context.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816" y="813816"/>
            <a:ext cx="10570464" cy="237744"/>
          </a:xfrm>
          <a:prstGeom prst="rect">
            <a:avLst/>
          </a:prstGeom>
          <a:noFill/>
        </p:spPr>
        <p:txBody>
          <a:bodyPr wrap="square">
            <a:spAutoFit/>
          </a:bodyPr>
          <a:lstStyle/>
          <a:p>
            <a:pPr algn="l"/>
            <a:r>
              <a:rPr sz="900" b="1" i="0">
                <a:solidFill>
                  <a:srgbClr val="B5532B"/>
                </a:solidFill>
              </a:rPr>
              <a:t>REVIEWS &amp; COMMENTS · QUESTION 5 OF 5</a:t>
            </a:r>
          </a:p>
        </p:txBody>
      </p:sp>
      <p:sp>
        <p:nvSpPr>
          <p:cNvPr id="3" name="TextBox 2"/>
          <p:cNvSpPr txBox="1"/>
          <p:nvPr/>
        </p:nvSpPr>
        <p:spPr>
          <a:xfrm>
            <a:off x="813816" y="1280160"/>
            <a:ext cx="10570464" cy="530352"/>
          </a:xfrm>
          <a:prstGeom prst="rect">
            <a:avLst/>
          </a:prstGeom>
          <a:noFill/>
        </p:spPr>
        <p:txBody>
          <a:bodyPr wrap="square">
            <a:spAutoFit/>
          </a:bodyPr>
          <a:lstStyle/>
          <a:p>
            <a:pPr algn="l"/>
            <a:r>
              <a:rPr sz="2250" b="0" i="0" dirty="0">
                <a:solidFill>
                  <a:srgbClr val="1E3A2F"/>
                </a:solidFill>
              </a:rPr>
              <a:t>What should we fix, say and measure next?</a:t>
            </a:r>
          </a:p>
        </p:txBody>
      </p:sp>
      <p:cxnSp>
        <p:nvCxnSpPr>
          <p:cNvPr id="4" name="Connector 3"/>
          <p:cNvCxnSpPr/>
          <p:nvPr/>
        </p:nvCxnSpPr>
        <p:spPr>
          <a:xfrm>
            <a:off x="813816" y="2039112"/>
            <a:ext cx="10570464" cy="0"/>
          </a:xfrm>
          <a:prstGeom prst="line">
            <a:avLst/>
          </a:prstGeom>
          <a:ln w="6350">
            <a:solidFill>
              <a:srgbClr val="CCC5B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13816" y="2148840"/>
            <a:ext cx="6236208" cy="450799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2258568"/>
            <a:ext cx="6016752" cy="2975110"/>
          </a:xfrm>
          <a:prstGeom prst="rect">
            <a:avLst/>
          </a:prstGeom>
          <a:noFill/>
        </p:spPr>
        <p:txBody>
          <a:bodyPr wrap="square">
            <a:spAutoFit/>
          </a:bodyPr>
          <a:lstStyle/>
          <a:p>
            <a:pPr algn="l">
              <a:lnSpc>
                <a:spcPct val="150000"/>
              </a:lnSpc>
            </a:pPr>
            <a:r>
              <a:rPr sz="900" dirty="0">
                <a:solidFill>
                  <a:srgbClr val="FBF3E8"/>
                </a:solidFill>
              </a:rPr>
              <a:t>Using the review and comment findings from this conversation:</a:t>
            </a:r>
          </a:p>
          <a:p>
            <a:pPr algn="l">
              <a:lnSpc>
                <a:spcPct val="150000"/>
              </a:lnSpc>
            </a:pPr>
            <a:endParaRPr sz="900" dirty="0">
              <a:solidFill>
                <a:srgbClr val="FBF3E8"/>
              </a:solidFill>
            </a:endParaRPr>
          </a:p>
          <a:p>
            <a:pPr algn="l">
              <a:lnSpc>
                <a:spcPct val="150000"/>
              </a:lnSpc>
            </a:pPr>
            <a:r>
              <a:rPr sz="900" dirty="0">
                <a:solidFill>
                  <a:srgbClr val="FBF3E8"/>
                </a:solidFill>
              </a:rPr>
              <a:t>1. Compare themes across reviews and comments: what appears</a:t>
            </a:r>
            <a:r>
              <a:rPr lang="en-US" sz="900" dirty="0">
                <a:solidFill>
                  <a:srgbClr val="FBF3E8"/>
                </a:solidFill>
              </a:rPr>
              <a:t> </a:t>
            </a:r>
            <a:r>
              <a:rPr sz="900" dirty="0">
                <a:solidFill>
                  <a:srgbClr val="FBF3E8"/>
                </a:solidFill>
              </a:rPr>
              <a:t>in both, only in reviews, or only in comments?</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2. Build a </a:t>
            </a:r>
            <a:r>
              <a:rPr sz="900" dirty="0" err="1">
                <a:solidFill>
                  <a:srgbClr val="FBF3E8"/>
                </a:solidFill>
              </a:rPr>
              <a:t>prioritised</a:t>
            </a:r>
            <a:r>
              <a:rPr sz="900" dirty="0">
                <a:solidFill>
                  <a:srgbClr val="FBF3E8"/>
                </a:solidFill>
              </a:rPr>
              <a:t> action list of at most 8 items across</a:t>
            </a:r>
            <a:r>
              <a:rPr lang="en-US" sz="900" dirty="0">
                <a:solidFill>
                  <a:srgbClr val="FBF3E8"/>
                </a:solidFill>
              </a:rPr>
              <a:t> </a:t>
            </a:r>
            <a:r>
              <a:rPr sz="900" dirty="0">
                <a:solidFill>
                  <a:srgbClr val="FBF3E8"/>
                </a:solidFill>
              </a:rPr>
              <a:t>product, logistics, content, and community management.</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3. Write the content we should publish: three FAQ-style</a:t>
            </a:r>
            <a:r>
              <a:rPr lang="en-US" sz="900" dirty="0">
                <a:solidFill>
                  <a:srgbClr val="FBF3E8"/>
                </a:solidFill>
              </a:rPr>
              <a:t> </a:t>
            </a:r>
            <a:r>
              <a:rPr sz="900" dirty="0">
                <a:solidFill>
                  <a:srgbClr val="FBF3E8"/>
                </a:solidFill>
              </a:rPr>
              <a:t>Instagram posts that address the top objections (price,</a:t>
            </a:r>
            <a:r>
              <a:rPr lang="en-US" sz="900" dirty="0">
                <a:solidFill>
                  <a:srgbClr val="FBF3E8"/>
                </a:solidFill>
              </a:rPr>
              <a:t> </a:t>
            </a:r>
            <a:r>
              <a:rPr sz="900" dirty="0">
                <a:solidFill>
                  <a:srgbClr val="FBF3E8"/>
                </a:solidFill>
              </a:rPr>
              <a:t>sustainability trust, quality).</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4. Propose 5 KPIs to track monthly (e.g. share of 1–2 star</a:t>
            </a:r>
            <a:r>
              <a:rPr lang="en-US" sz="900" dirty="0">
                <a:solidFill>
                  <a:srgbClr val="FBF3E8"/>
                </a:solidFill>
              </a:rPr>
              <a:t> </a:t>
            </a:r>
            <a:r>
              <a:rPr sz="900" dirty="0">
                <a:solidFill>
                  <a:srgbClr val="FBF3E8"/>
                </a:solidFill>
              </a:rPr>
              <a:t>reviews that are non-product, reply rate for objections).</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5. List what this data cannot tell us and what extra data</a:t>
            </a:r>
            <a:r>
              <a:rPr lang="en-US" sz="900" dirty="0">
                <a:solidFill>
                  <a:srgbClr val="FBF3E8"/>
                </a:solidFill>
              </a:rPr>
              <a:t> </a:t>
            </a:r>
            <a:r>
              <a:rPr sz="900" dirty="0">
                <a:solidFill>
                  <a:srgbClr val="FBF3E8"/>
                </a:solidFill>
              </a:rPr>
              <a:t>we should collect.</a:t>
            </a:r>
            <a:endParaRPr lang="en-US" sz="900" dirty="0">
              <a:solidFill>
                <a:srgbClr val="FBF3E8"/>
              </a:solidFill>
            </a:endParaRPr>
          </a:p>
          <a:p>
            <a:pPr algn="l">
              <a:lnSpc>
                <a:spcPct val="150000"/>
              </a:lnSpc>
            </a:pPr>
            <a:endParaRPr sz="900" dirty="0">
              <a:solidFill>
                <a:srgbClr val="FBF3E8"/>
              </a:solidFill>
            </a:endParaRPr>
          </a:p>
          <a:p>
            <a:pPr algn="l">
              <a:lnSpc>
                <a:spcPct val="150000"/>
              </a:lnSpc>
            </a:pPr>
            <a:r>
              <a:rPr sz="900" dirty="0">
                <a:solidFill>
                  <a:srgbClr val="FBF3E8"/>
                </a:solidFill>
              </a:rPr>
              <a:t>6. Finally, argue against your own priorities: what would</a:t>
            </a:r>
            <a:r>
              <a:rPr lang="en-US" sz="900" dirty="0">
                <a:solidFill>
                  <a:srgbClr val="FBF3E8"/>
                </a:solidFill>
              </a:rPr>
              <a:t> </a:t>
            </a:r>
            <a:r>
              <a:rPr sz="900" dirty="0">
                <a:solidFill>
                  <a:srgbClr val="FBF3E8"/>
                </a:solidFill>
              </a:rPr>
              <a:t>make them wrong?</a:t>
            </a:r>
          </a:p>
        </p:txBody>
      </p:sp>
      <p:sp>
        <p:nvSpPr>
          <p:cNvPr id="7" name="TextBox 6"/>
          <p:cNvSpPr txBox="1"/>
          <p:nvPr/>
        </p:nvSpPr>
        <p:spPr>
          <a:xfrm>
            <a:off x="7251192" y="2148840"/>
            <a:ext cx="4133088" cy="4507992"/>
          </a:xfrm>
          <a:prstGeom prst="rect">
            <a:avLst/>
          </a:prstGeom>
          <a:noFill/>
        </p:spPr>
        <p:txBody>
          <a:bodyPr wrap="square">
            <a:spAutoFit/>
          </a:bodyPr>
          <a:lstStyle/>
          <a:p>
            <a:pPr algn="l"/>
            <a:r>
              <a:rPr sz="1500">
                <a:solidFill>
                  <a:srgbClr val="B5532B"/>
                </a:solidFill>
              </a:rPr>
              <a:t>1</a:t>
            </a:r>
          </a:p>
          <a:p>
            <a:pPr algn="l"/>
            <a:r>
              <a:rPr sz="980">
                <a:solidFill>
                  <a:srgbClr val="1E3A2F"/>
                </a:solidFill>
              </a:rPr>
              <a:t>Stay in the same chat (all previous findings in context).</a:t>
            </a:r>
          </a:p>
          <a:p>
            <a:pPr algn="l"/>
            <a:r>
              <a:rPr sz="1500">
                <a:solidFill>
                  <a:srgbClr val="B5532B"/>
                </a:solidFill>
              </a:rPr>
              <a:t>2</a:t>
            </a:r>
          </a:p>
          <a:p>
            <a:pPr algn="l"/>
            <a:r>
              <a:rPr sz="980">
                <a:solidFill>
                  <a:srgbClr val="1E3A2F"/>
                </a:solidFill>
              </a:rPr>
              <a:t>Paste the prompt.</a:t>
            </a:r>
          </a:p>
          <a:p>
            <a:pPr algn="l"/>
            <a:r>
              <a:rPr sz="1500">
                <a:solidFill>
                  <a:srgbClr val="B5532B"/>
                </a:solidFill>
              </a:rPr>
              <a:t>3</a:t>
            </a:r>
          </a:p>
          <a:p>
            <a:pPr algn="l"/>
            <a:r>
              <a:rPr sz="980">
                <a:solidFill>
                  <a:srgbClr val="1E3A2F"/>
                </a:solidFill>
              </a:rPr>
              <a:t>Follow-up: "Turn this into a one-page brief for the founder."</a:t>
            </a:r>
          </a:p>
          <a:p>
            <a:pPr algn="l"/>
            <a:r>
              <a:rPr sz="1500">
                <a:solidFill>
                  <a:srgbClr val="B5532B"/>
                </a:solidFill>
              </a:rPr>
              <a:t>4</a:t>
            </a:r>
          </a:p>
          <a:p>
            <a:pPr algn="l"/>
            <a:r>
              <a:rPr sz="980">
                <a:solidFill>
                  <a:srgbClr val="1E3A2F"/>
                </a:solidFill>
              </a:rPr>
              <a:t>Ask: "Which three actions could we start this week without spending money?"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3A83E"/>
        </a:solidFill>
        <a:effectLst/>
      </p:bgPr>
    </p:bg>
    <p:spTree>
      <p:nvGrpSpPr>
        <p:cNvPr id="1" name="Shape 262">
          <a:extLst>
            <a:ext uri="{FF2B5EF4-FFF2-40B4-BE49-F238E27FC236}">
              <a16:creationId xmlns:a16="http://schemas.microsoft.com/office/drawing/2014/main" id="{939FF12C-E117-0764-8D17-B50C77F89D37}"/>
            </a:ext>
          </a:extLst>
        </p:cNvPr>
        <p:cNvGrpSpPr/>
        <p:nvPr/>
      </p:nvGrpSpPr>
      <p:grpSpPr>
        <a:xfrm>
          <a:off x="0" y="0"/>
          <a:ext cx="0" cy="0"/>
          <a:chOff x="0" y="0"/>
          <a:chExt cx="0" cy="0"/>
        </a:xfrm>
      </p:grpSpPr>
      <p:sp>
        <p:nvSpPr>
          <p:cNvPr id="263" name="Google Shape;263;p17">
            <a:extLst>
              <a:ext uri="{FF2B5EF4-FFF2-40B4-BE49-F238E27FC236}">
                <a16:creationId xmlns:a16="http://schemas.microsoft.com/office/drawing/2014/main" id="{C079AB7A-7C95-D4AA-2C49-9F3B33AAF906}"/>
              </a:ext>
            </a:extLst>
          </p:cNvPr>
          <p:cNvSpPr/>
          <p:nvPr/>
        </p:nvSpPr>
        <p:spPr>
          <a:xfrm>
            <a:off x="812800" y="2314803"/>
            <a:ext cx="10883392" cy="23876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40000"/>
              </a:lnSpc>
              <a:spcBef>
                <a:spcPts val="0"/>
              </a:spcBef>
              <a:spcAft>
                <a:spcPts val="0"/>
              </a:spcAft>
              <a:buClr>
                <a:srgbClr val="1E3A2F"/>
              </a:buClr>
              <a:buSzPts val="1200"/>
              <a:buFont typeface="DM Sans"/>
              <a:buNone/>
              <a:tabLst/>
              <a:defRPr/>
            </a:pPr>
            <a:r>
              <a:rPr kumimoji="0" lang="en-US" sz="1200" b="1" i="0" u="none" strike="noStrike" kern="0" cap="none" spc="0" normalizeH="0" baseline="0" noProof="0" dirty="0">
                <a:ln>
                  <a:noFill/>
                </a:ln>
                <a:solidFill>
                  <a:srgbClr val="1E3A2F"/>
                </a:solidFill>
                <a:effectLst/>
                <a:uLnTx/>
                <a:uFillTx/>
                <a:latin typeface="DM Sans"/>
                <a:ea typeface="DM Sans"/>
                <a:cs typeface="DM Sans"/>
                <a:sym typeface="DM Sans"/>
              </a:rPr>
              <a:t>LIVE DEMO ·</a:t>
            </a: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64" name="Google Shape;264;p17">
            <a:extLst>
              <a:ext uri="{FF2B5EF4-FFF2-40B4-BE49-F238E27FC236}">
                <a16:creationId xmlns:a16="http://schemas.microsoft.com/office/drawing/2014/main" id="{20F4FEB3-B55E-AD69-F8A6-599D86E23532}"/>
              </a:ext>
            </a:extLst>
          </p:cNvPr>
          <p:cNvSpPr/>
          <p:nvPr/>
        </p:nvSpPr>
        <p:spPr>
          <a:xfrm>
            <a:off x="812800" y="2844807"/>
            <a:ext cx="10883392" cy="16256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4999"/>
              </a:lnSpc>
              <a:spcBef>
                <a:spcPts val="0"/>
              </a:spcBef>
              <a:spcAft>
                <a:spcPts val="0"/>
              </a:spcAft>
              <a:buClr>
                <a:srgbClr val="1E3A2F"/>
              </a:buClr>
              <a:buSzPts val="6000"/>
              <a:buFont typeface="Fraunces"/>
              <a:buNone/>
              <a:tabLst/>
              <a:defRPr/>
            </a:pPr>
            <a:r>
              <a:rPr kumimoji="0" lang="en-US" sz="6000" b="0" i="0" u="none" strike="noStrike" kern="0" cap="none" spc="0" normalizeH="0" baseline="0" noProof="0" dirty="0">
                <a:ln>
                  <a:noFill/>
                </a:ln>
                <a:solidFill>
                  <a:srgbClr val="1E3A2F"/>
                </a:solidFill>
                <a:effectLst/>
                <a:uLnTx/>
                <a:uFillTx/>
                <a:latin typeface="Fraunces"/>
                <a:ea typeface="Fraunces"/>
                <a:cs typeface="Fraunces"/>
                <a:sym typeface="Fraunces"/>
              </a:rPr>
              <a:t>Chatbot Agent using </a:t>
            </a:r>
            <a:r>
              <a:rPr kumimoji="0" lang="en-US" sz="6000" b="0" i="0" u="none" strike="noStrike" kern="0" cap="none" spc="0" normalizeH="0" baseline="0" noProof="0" dirty="0" err="1">
                <a:ln>
                  <a:noFill/>
                </a:ln>
                <a:solidFill>
                  <a:srgbClr val="1E3A2F"/>
                </a:solidFill>
                <a:effectLst/>
                <a:uLnTx/>
                <a:uFillTx/>
                <a:latin typeface="Fraunces"/>
                <a:ea typeface="Fraunces"/>
                <a:cs typeface="Fraunces"/>
                <a:sym typeface="Fraunces"/>
              </a:rPr>
              <a:t>elevenLabs</a:t>
            </a:r>
            <a:endParaRPr kumimoji="0" sz="6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66" name="Google Shape;266;p17">
            <a:extLst>
              <a:ext uri="{FF2B5EF4-FFF2-40B4-BE49-F238E27FC236}">
                <a16:creationId xmlns:a16="http://schemas.microsoft.com/office/drawing/2014/main" id="{C000EEFA-596A-321F-67F3-D1908AE21E77}"/>
              </a:ext>
            </a:extLst>
          </p:cNvPr>
          <p:cNvSpPr/>
          <p:nvPr/>
        </p:nvSpPr>
        <p:spPr>
          <a:xfrm>
            <a:off x="728493" y="5558382"/>
            <a:ext cx="1319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40000"/>
              </a:lnSpc>
              <a:spcBef>
                <a:spcPts val="0"/>
              </a:spcBef>
              <a:spcAft>
                <a:spcPts val="0"/>
              </a:spcAft>
              <a:buClr>
                <a:srgbClr val="F5F0E6"/>
              </a:buClr>
              <a:buSzPts val="1500"/>
              <a:buFont typeface="DM Sans"/>
              <a:buNone/>
              <a:tabLst/>
              <a:defRPr/>
            </a:pPr>
            <a:r>
              <a:rPr kumimoji="0" lang="en-US" sz="1500" b="1" i="0" u="none" strike="noStrike" kern="0" cap="none" spc="0" normalizeH="0" baseline="0" noProof="0" dirty="0">
                <a:ln>
                  <a:noFill/>
                </a:ln>
                <a:solidFill>
                  <a:srgbClr val="F5F0E6"/>
                </a:solidFill>
                <a:effectLst/>
                <a:uLnTx/>
                <a:uFillTx/>
                <a:latin typeface="DM Sans"/>
                <a:ea typeface="DM Sans"/>
                <a:cs typeface="DM Sans"/>
                <a:sym typeface="DM Sans"/>
              </a:rPr>
              <a:t>1 · FAQ</a:t>
            </a:r>
            <a:endParaRPr kumimoji="0" sz="15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67" name="Google Shape;267;p17">
            <a:extLst>
              <a:ext uri="{FF2B5EF4-FFF2-40B4-BE49-F238E27FC236}">
                <a16:creationId xmlns:a16="http://schemas.microsoft.com/office/drawing/2014/main" id="{F1D7CDC2-9D44-6070-74A0-20C49D02E5B4}"/>
              </a:ext>
            </a:extLst>
          </p:cNvPr>
          <p:cNvSpPr/>
          <p:nvPr/>
        </p:nvSpPr>
        <p:spPr>
          <a:xfrm>
            <a:off x="2200106" y="5558382"/>
            <a:ext cx="16035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40000"/>
              </a:lnSpc>
              <a:spcBef>
                <a:spcPts val="0"/>
              </a:spcBef>
              <a:spcAft>
                <a:spcPts val="0"/>
              </a:spcAft>
              <a:buClr>
                <a:srgbClr val="F5F0E6"/>
              </a:buClr>
              <a:buSzPts val="1500"/>
              <a:buFont typeface="DM Sans"/>
              <a:buNone/>
              <a:tabLst/>
              <a:defRPr/>
            </a:pPr>
            <a:r>
              <a:rPr kumimoji="0" lang="en-US" sz="1500" b="1" i="0" u="none" strike="noStrike" kern="0" cap="none" spc="0" normalizeH="0" baseline="0" noProof="0" dirty="0">
                <a:ln>
                  <a:noFill/>
                </a:ln>
                <a:solidFill>
                  <a:srgbClr val="F5F0E6"/>
                </a:solidFill>
                <a:effectLst/>
                <a:uLnTx/>
                <a:uFillTx/>
                <a:latin typeface="DM Sans"/>
                <a:ea typeface="DM Sans"/>
                <a:cs typeface="DM Sans"/>
                <a:sym typeface="DM Sans"/>
              </a:rPr>
              <a:t>2 · </a:t>
            </a:r>
            <a:r>
              <a:rPr lang="en-US" sz="1500" b="1" dirty="0">
                <a:solidFill>
                  <a:srgbClr val="F5F0E6"/>
                </a:solidFill>
                <a:latin typeface="DM Sans"/>
                <a:ea typeface="DM Sans"/>
                <a:cs typeface="DM Sans"/>
                <a:sym typeface="DM Sans"/>
              </a:rPr>
              <a:t>Product</a:t>
            </a:r>
            <a:endParaRPr kumimoji="0" sz="15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68" name="Google Shape;268;p17">
            <a:extLst>
              <a:ext uri="{FF2B5EF4-FFF2-40B4-BE49-F238E27FC236}">
                <a16:creationId xmlns:a16="http://schemas.microsoft.com/office/drawing/2014/main" id="{2D46BF6A-E19E-8BD1-AA3F-FEA9CB649750}"/>
              </a:ext>
            </a:extLst>
          </p:cNvPr>
          <p:cNvSpPr/>
          <p:nvPr/>
        </p:nvSpPr>
        <p:spPr>
          <a:xfrm>
            <a:off x="3956092" y="5558382"/>
            <a:ext cx="1493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40000"/>
              </a:lnSpc>
              <a:spcBef>
                <a:spcPts val="0"/>
              </a:spcBef>
              <a:spcAft>
                <a:spcPts val="0"/>
              </a:spcAft>
              <a:buClr>
                <a:srgbClr val="F5F0E6"/>
              </a:buClr>
              <a:buSzPts val="1500"/>
              <a:buFont typeface="DM Sans"/>
              <a:buNone/>
              <a:tabLst/>
              <a:defRPr/>
            </a:pPr>
            <a:r>
              <a:rPr kumimoji="0" lang="en-US" sz="1500" b="1" i="0" u="none" strike="noStrike" kern="0" cap="none" spc="0" normalizeH="0" baseline="0" noProof="0" dirty="0">
                <a:ln>
                  <a:noFill/>
                </a:ln>
                <a:solidFill>
                  <a:srgbClr val="F5F0E6"/>
                </a:solidFill>
                <a:effectLst/>
                <a:uLnTx/>
                <a:uFillTx/>
                <a:latin typeface="DM Sans"/>
                <a:ea typeface="DM Sans"/>
                <a:cs typeface="DM Sans"/>
                <a:sym typeface="DM Sans"/>
              </a:rPr>
              <a:t>3 · Order</a:t>
            </a:r>
            <a:endParaRPr kumimoji="0" sz="15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69" name="Google Shape;269;p17">
            <a:extLst>
              <a:ext uri="{FF2B5EF4-FFF2-40B4-BE49-F238E27FC236}">
                <a16:creationId xmlns:a16="http://schemas.microsoft.com/office/drawing/2014/main" id="{C5500A51-EAED-5AD3-2972-580F9DCB8E5D}"/>
              </a:ext>
            </a:extLst>
          </p:cNvPr>
          <p:cNvSpPr/>
          <p:nvPr/>
        </p:nvSpPr>
        <p:spPr>
          <a:xfrm>
            <a:off x="5601589" y="5558382"/>
            <a:ext cx="2108100" cy="469800"/>
          </a:xfrm>
          <a:prstGeom prst="roundRect">
            <a:avLst>
              <a:gd name="adj" fmla="val 50000"/>
            </a:avLst>
          </a:prstGeom>
          <a:solidFill>
            <a:srgbClr val="1E3A2F"/>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40000"/>
              </a:lnSpc>
              <a:spcBef>
                <a:spcPts val="0"/>
              </a:spcBef>
              <a:spcAft>
                <a:spcPts val="0"/>
              </a:spcAft>
              <a:buClr>
                <a:srgbClr val="F5F0E6"/>
              </a:buClr>
              <a:buSzPts val="1500"/>
              <a:buFont typeface="DM Sans"/>
              <a:buNone/>
              <a:tabLst/>
              <a:defRPr/>
            </a:pPr>
            <a:r>
              <a:rPr kumimoji="0" lang="en-US" sz="1500" b="1" i="0" u="none" strike="noStrike" kern="0" cap="none" spc="0" normalizeH="0" baseline="0" noProof="0" dirty="0">
                <a:ln>
                  <a:noFill/>
                </a:ln>
                <a:solidFill>
                  <a:srgbClr val="F5F0E6"/>
                </a:solidFill>
                <a:effectLst/>
                <a:uLnTx/>
                <a:uFillTx/>
                <a:latin typeface="DM Sans"/>
                <a:ea typeface="DM Sans"/>
                <a:cs typeface="DM Sans"/>
                <a:sym typeface="DM Sans"/>
              </a:rPr>
              <a:t>4 · Returns</a:t>
            </a:r>
            <a:endParaRPr kumimoji="0" sz="15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5" name="TextBox 4">
            <a:extLst>
              <a:ext uri="{FF2B5EF4-FFF2-40B4-BE49-F238E27FC236}">
                <a16:creationId xmlns:a16="http://schemas.microsoft.com/office/drawing/2014/main" id="{3433939A-87D9-5689-2186-41414946ABBC}"/>
              </a:ext>
            </a:extLst>
          </p:cNvPr>
          <p:cNvSpPr txBox="1"/>
          <p:nvPr/>
        </p:nvSpPr>
        <p:spPr>
          <a:xfrm>
            <a:off x="812800" y="4936919"/>
            <a:ext cx="6096000" cy="33021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indent="0" defTabSz="914400" eaLnBrk="1" fontAlgn="auto" latinLnBrk="0" hangingPunct="1">
              <a:lnSpc>
                <a:spcPct val="140000"/>
              </a:lnSpc>
              <a:buClr>
                <a:srgbClr val="1E3A2F"/>
              </a:buClr>
              <a:buSzPts val="1200"/>
              <a:buFont typeface="DM Sans"/>
              <a:buNone/>
              <a:tabLst/>
              <a:defRPr kumimoji="0" sz="1200" b="1" kern="0" normalizeH="0" baseline="0">
                <a:ln>
                  <a:noFill/>
                </a:ln>
                <a:solidFill>
                  <a:srgbClr val="1E3A2F"/>
                </a:solidFill>
                <a:effectLst/>
                <a:uLnTx/>
                <a:uFillTx/>
                <a:latin typeface="DM Sans"/>
                <a:ea typeface="DM Sans"/>
                <a:cs typeface="DM Sans"/>
              </a:defRPr>
            </a:lvl1pPr>
          </a:lstStyle>
          <a:p>
            <a:r>
              <a:rPr lang="en-US" dirty="0"/>
              <a:t>https://</a:t>
            </a:r>
            <a:r>
              <a:rPr lang="en-US" dirty="0" err="1"/>
              <a:t>elevenlabs.io</a:t>
            </a:r>
            <a:r>
              <a:rPr lang="en-US" dirty="0"/>
              <a:t>/</a:t>
            </a:r>
          </a:p>
        </p:txBody>
      </p:sp>
    </p:spTree>
    <p:extLst>
      <p:ext uri="{BB962C8B-B14F-4D97-AF65-F5344CB8AC3E}">
        <p14:creationId xmlns:p14="http://schemas.microsoft.com/office/powerpoint/2010/main" val="23254697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E3A2F"/>
        </a:solidFill>
        <a:effectLst/>
      </p:bgPr>
    </p:bg>
    <p:spTree>
      <p:nvGrpSpPr>
        <p:cNvPr id="1" name="Shape 537"/>
        <p:cNvGrpSpPr/>
        <p:nvPr/>
      </p:nvGrpSpPr>
      <p:grpSpPr>
        <a:xfrm>
          <a:off x="0" y="0"/>
          <a:ext cx="0" cy="0"/>
          <a:chOff x="0" y="0"/>
          <a:chExt cx="0" cy="0"/>
        </a:xfrm>
      </p:grpSpPr>
      <p:pic>
        <p:nvPicPr>
          <p:cNvPr id="538" name="Google Shape;538;p32" descr="ellipse"/>
          <p:cNvPicPr preferRelativeResize="0"/>
          <p:nvPr/>
        </p:nvPicPr>
        <p:blipFill rotWithShape="1">
          <a:blip r:embed="rId3">
            <a:alphaModFix/>
          </a:blip>
          <a:srcRect/>
          <a:stretch/>
        </p:blipFill>
        <p:spPr>
          <a:xfrm>
            <a:off x="8763000" y="812800"/>
            <a:ext cx="2540000" cy="2540000"/>
          </a:xfrm>
          <a:prstGeom prst="rect">
            <a:avLst/>
          </a:prstGeom>
          <a:noFill/>
          <a:ln>
            <a:noFill/>
          </a:ln>
        </p:spPr>
      </p:pic>
      <p:pic>
        <p:nvPicPr>
          <p:cNvPr id="539" name="Google Shape;539;p32" descr="ellipse"/>
          <p:cNvPicPr preferRelativeResize="0"/>
          <p:nvPr/>
        </p:nvPicPr>
        <p:blipFill rotWithShape="1">
          <a:blip r:embed="rId4">
            <a:alphaModFix/>
          </a:blip>
          <a:srcRect/>
          <a:stretch/>
        </p:blipFill>
        <p:spPr>
          <a:xfrm>
            <a:off x="8255000" y="2794000"/>
            <a:ext cx="889000" cy="889000"/>
          </a:xfrm>
          <a:prstGeom prst="rect">
            <a:avLst/>
          </a:prstGeom>
          <a:noFill/>
          <a:ln>
            <a:noFill/>
          </a:ln>
        </p:spPr>
      </p:pic>
      <p:sp>
        <p:nvSpPr>
          <p:cNvPr id="540" name="Google Shape;540;p32"/>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3A83E"/>
              </a:buClr>
              <a:buSzPts val="1200"/>
              <a:buFont typeface="DM Sans"/>
              <a:buNone/>
            </a:pPr>
            <a:r>
              <a:rPr lang="en-US" sz="1200" b="1" i="0" u="none" strike="noStrike" cap="none">
                <a:solidFill>
                  <a:srgbClr val="E3A83E"/>
                </a:solidFill>
                <a:latin typeface="DM Sans"/>
                <a:ea typeface="DM Sans"/>
                <a:cs typeface="DM Sans"/>
                <a:sym typeface="DM Sans"/>
              </a:rPr>
              <a:t>MASTERCLASS · AI FOR CONTENT CREATION</a:t>
            </a:r>
            <a:endParaRPr sz="1200" b="0" i="0" u="none" strike="noStrike" cap="none">
              <a:solidFill>
                <a:schemeClr val="dk1"/>
              </a:solidFill>
              <a:latin typeface="Calibri"/>
              <a:ea typeface="Calibri"/>
              <a:cs typeface="Calibri"/>
              <a:sym typeface="Calibri"/>
            </a:endParaRPr>
          </a:p>
        </p:txBody>
      </p:sp>
      <p:sp>
        <p:nvSpPr>
          <p:cNvPr id="541" name="Google Shape;541;p32"/>
          <p:cNvSpPr/>
          <p:nvPr/>
        </p:nvSpPr>
        <p:spPr>
          <a:xfrm>
            <a:off x="812800" y="2793990"/>
            <a:ext cx="7521600" cy="1625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5F0E6"/>
              </a:buClr>
              <a:buSzPts val="6000"/>
              <a:buFont typeface="Fraunces"/>
              <a:buNone/>
            </a:pPr>
            <a:r>
              <a:rPr lang="en-US" sz="6000">
                <a:solidFill>
                  <a:srgbClr val="F5F0E6"/>
                </a:solidFill>
                <a:latin typeface="Fraunces"/>
                <a:ea typeface="Fraunces"/>
                <a:cs typeface="Fraunces"/>
                <a:sym typeface="Fraunces"/>
              </a:rPr>
              <a:t>Thank You</a:t>
            </a:r>
            <a:endParaRPr sz="6000" b="0" i="0" u="none" strike="noStrike" cap="none">
              <a:solidFill>
                <a:schemeClr val="dk1"/>
              </a:solidFill>
              <a:latin typeface="Calibri"/>
              <a:ea typeface="Calibri"/>
              <a:cs typeface="Calibri"/>
              <a:sym typeface="Calibri"/>
            </a:endParaRPr>
          </a:p>
        </p:txBody>
      </p:sp>
      <p:sp>
        <p:nvSpPr>
          <p:cNvPr id="542" name="Google Shape;542;p32"/>
          <p:cNvSpPr/>
          <p:nvPr/>
        </p:nvSpPr>
        <p:spPr>
          <a:xfrm>
            <a:off x="812800" y="583184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A9B8AD"/>
              </a:buClr>
              <a:buSzPts val="1200"/>
              <a:buFont typeface="DM Sans"/>
              <a:buNone/>
            </a:pPr>
            <a:r>
              <a:rPr lang="en-US" sz="1200">
                <a:solidFill>
                  <a:srgbClr val="A9B8AD"/>
                </a:solidFill>
                <a:latin typeface="DM Sans"/>
                <a:ea typeface="DM Sans"/>
                <a:cs typeface="DM Sans"/>
                <a:sym typeface="DM Sans"/>
              </a:rPr>
              <a:t>ASEAN Oct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emplate/>
  <TotalTime>85</TotalTime>
  <Words>5889</Words>
  <Application>Microsoft Macintosh PowerPoint</Application>
  <PresentationFormat>Widescreen</PresentationFormat>
  <Paragraphs>594</Paragraphs>
  <Slides>39</Slides>
  <Notes>29</Notes>
  <HiddenSlides>14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Fraunces</vt:lpstr>
      <vt:lpstr>Arial</vt:lpstr>
      <vt:lpstr>DM Sans</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Prasad, Bharath</cp:lastModifiedBy>
  <cp:revision>9</cp:revision>
  <dcterms:modified xsi:type="dcterms:W3CDTF">2026-10-09T07:24:32Z</dcterms:modified>
</cp:coreProperties>
</file>